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notesMaster" Target="notesMasters/notesMaster1.xml" /><Relationship Id="rId176" Type="http://schemas.openxmlformats.org/officeDocument/2006/relationships/viewProps" Target="viewProps.xml" /><Relationship Id="rId175" Type="http://schemas.openxmlformats.org/officeDocument/2006/relationships/presProps" Target="presProps.xml" /><Relationship Id="rId1" Type="http://schemas.openxmlformats.org/officeDocument/2006/relationships/slideMaster" Target="slideMasters/slideMaster1.xml" /><Relationship Id="rId178" Type="http://schemas.openxmlformats.org/officeDocument/2006/relationships/tableStyles" Target="tableStyles.xml" /><Relationship Id="rId17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7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117.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120.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121.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124.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12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127.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128.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133.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135.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138.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141.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143.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44.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47.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50.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152.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153.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156.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157.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160.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166.xml" /><Relationship Id="rId1" Type="http://schemas.openxmlformats.org/officeDocument/2006/relationships/notesMaster" Target="../notesMasters/notesMaster1.xml" /></Relationships>
</file>

<file path=ppt/notesSlides/_rels/notesSlide71.xml.rels><?xml version="1.0" encoding="UTF-8"?><Relationships xmlns="http://schemas.openxmlformats.org/package/2006/relationships"><Relationship Id="rId2" Type="http://schemas.openxmlformats.org/officeDocument/2006/relationships/slide" Target="../slides/slide167.xml" /><Relationship Id="rId1" Type="http://schemas.openxmlformats.org/officeDocument/2006/relationships/notesMaster" Target="../notesMasters/notesMaster1.xml" /></Relationships>
</file>

<file path=ppt/notesSlides/_rels/notesSlide72.xml.rels><?xml version="1.0" encoding="UTF-8"?><Relationships xmlns="http://schemas.openxmlformats.org/package/2006/relationships"><Relationship Id="rId2" Type="http://schemas.openxmlformats.org/officeDocument/2006/relationships/slide" Target="../slides/slide17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the first module. We will establish the fundamental mathematical and conceptual toolkit for signal and systems analysis. Pay close attention to the definitions, as they are the building blocks for everything that follows.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signal is just a function. For example, the temperature in this room over the course of the day is a signal. An MR signal is a function of time. An image is a function of spatial coordinates.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a continuous signal as a smooth, unbroken line, like a wave. A discrete signal is a series of individual points, like readings taken every second. Computers can only work with discrete signals.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left, we see the smooth </a:t>
            </a:r>
            <a:r>
              <a:rPr>
                <a:latin typeface="Courier"/>
              </a:rPr>
              <a:t>sin(t)</a:t>
            </a:r>
            <a:r>
              <a:rPr/>
              <a:t>. On the right, we see samples of that same function. The process of converting from continuous to discrete is called </a:t>
            </a:r>
            <a:r>
              <a:rPr b="1"/>
              <a:t>sampling</a:t>
            </a:r>
            <a:r>
              <a:rPr/>
              <a:t>, a topic we will cover in great detail.</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functions are like the primary colors of signal processing. We can combine them to create almost any signal we need.</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perfect box centered at zero with a width of 1. This function can model a pulse, a pixel, or an imaging aperture.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Notice the central lobe and the decaying side lobes. The zero crossings are at integer values of t. This shape is fundamental to understanding image resolution and aliasing.</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Answer: C) 0. The function is only 1 when the absolute value of t is less than or equal to 0.5. Since 1 &gt; 0.5, the value is 0.</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Since the delta function is an idealization, we can’t plot it literally. We represent it as an arrow at t=0 to signify an impulse with an area of 1 concentrated at that single point.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property is the foundation of sampling theory. Multiplying a signal by a delta function is like taking a perfect, instantaneous sample of that signal at that exact point.</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Imagine a comb’s teeth; each tooth is a delta function. When we multiply a continuous signal by a comb function, we are left with a series of discrete samples—the value of the signal at the location of each “tooth.”</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LSI systems are the cornerstone of this field. If we know a system is LSI, we can predict its output for any input, simply by knowing its response to a single impulse.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simple terms: if you double the input, you double the output. If you add two inputs together, the output is the sum of the outputs you would have gotten from each one separately. No surprises.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crucial assumption. It means that the rules of the system don’t change depending on when or where you apply the input. An X-ray system should produce the same image of a phantom today as it did yesterday (assuming the same technique).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analyze. Let the transformation T be applying interest. - Homogeneity: T{a * x} = 1.05 * (a</a:t>
            </a:r>
            <a:r>
              <a:rPr i="1"/>
              <a:t>x). And a </a:t>
            </a:r>
            <a:r>
              <a:rPr/>
              <a:t> T{x} = a * (1.05 * x). These are equal. Homogeneity holds. - Additivity: T{x1 + x2} = 1.05 * (x1 + x2). And T{x1} + T{x2} = 1.05</a:t>
            </a:r>
            <a:r>
              <a:rPr i="1"/>
              <a:t>x1 + 1.05</a:t>
            </a:r>
            <a:r>
              <a:rPr/>
              <a:t>x2. These are equal. Additivity holds. - Yes, it is a linear system.</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single most important concept for LSI systems. If you know the system’s response to a perfect impulse (the IRF), you can calculate its response to literally any input.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equation looks intimidating, but it has a very intuitive meaning. It’s a “weighted average” of the input signal, where the weighting function is the system’s impulse response, flipped and shifted.</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“flip, shift, multiply, integrate” process is the mechanical-graphical way to understand convolution. We will visualize this process to make it clearer.</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result is clear. The red “Smoothed” signal is a less noisy version of the original gray signal. The convolution has averaged out the rapid fluctuations, an example of low-pass filtering.</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Fourier analysis is like taking a musical chord and figuring out the individual notes that make it up. It’s one of the most powerful tools in all of science and engineering.</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equation that takes us from the time domain to the frequency domain. The </a:t>
            </a:r>
            <a:r>
              <a:rPr>
                <a:latin typeface="Courier"/>
              </a:rPr>
              <a:t>exp(-i*2*pi*k*t)</a:t>
            </a:r>
            <a:r>
              <a:rPr/>
              <a:t> term is Euler’s formula, which represents sines and cosines. This integral measures “how much” of each frequency </a:t>
            </a:r>
            <a:r>
              <a:rPr>
                <a:latin typeface="Courier"/>
              </a:rPr>
              <a:t>k</a:t>
            </a:r>
            <a:r>
              <a:rPr/>
              <a:t> is present in the signal </a:t>
            </a:r>
            <a:r>
              <a:rPr>
                <a:latin typeface="Courier"/>
              </a:rPr>
              <a:t>x(t)</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output </a:t>
            </a:r>
            <a:r>
              <a:rPr>
                <a:latin typeface="Courier"/>
              </a:rPr>
              <a:t>X(k)</a:t>
            </a:r>
            <a:r>
              <a:rPr/>
              <a:t> is complex, which can be tricky. For visualization, we almost always look at the magnitude, </a:t>
            </a:r>
            <a:r>
              <a:rPr>
                <a:latin typeface="Courier"/>
              </a:rPr>
              <a:t>|X(k)|</a:t>
            </a:r>
            <a:r>
              <a:rPr/>
              <a:t>, which is called the amplitude spectrum.</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it as a prism for signals. A prism takes in white light (a complex signal) and splits it into its constituent colors (the frequency spectrum). The Fourier Transform does the same for any signal.</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 the left is our signal. On the right is its Fourier spectrum. Notice the strong, sharp peak at exactly 5 Hz, just as we expected. The FT correctly identified the frequency content of the signal. The second peak near 95Hz is its alias due to Nyquist theorem.</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Instead of temporal frequency, we now have spatial frequencies. </a:t>
            </a:r>
            <a:r>
              <a:rPr>
                <a:latin typeface="Courier"/>
              </a:rPr>
              <a:t>kx</a:t>
            </a:r>
            <a:r>
              <a:rPr/>
              <a:t> represents how fast the image intensity changes in the x-direction, and </a:t>
            </a:r>
            <a:r>
              <a:rPr>
                <a:latin typeface="Courier"/>
              </a:rPr>
              <a:t>ky</a:t>
            </a:r>
            <a:r>
              <a:rPr/>
              <a:t> for the y-direction. High spatial frequencies correspond to sharp edges, and low frequencies correspond to smooth areas.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Just as the 1D FT of a Rect is a Sinc, the 2D FT of a 2D Rect is a 2D Sinc. On the right, you can see the bright central lobe and the fainter side lobes extending in the kx and ky directions. This is a fundamental relationship in imaging.</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theorem is a huge deal. Convolution is a computationally expensive operation (that big integral). Multiplication is extremely fast for a computer. The convolution theorem allows us to replace a slow convolution with two FFTs, a single multiplication, and an inverse FFT. This is the basis for fast filtering algorithms used in every imaging modality.</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have laid the entire groundwork for the course. Make sure you are comfortable with these concepts before we move on to stochastic systems, where things get a bit less predictable.</a:t>
            </a:r>
          </a:p>
        </p:txBody>
      </p:sp>
      <p:sp>
        <p:nvSpPr>
          <p:cNvPr id="4" name="Slide Number Placeholder 3"/>
          <p:cNvSpPr>
            <a:spLocks noGrp="1"/>
          </p:cNvSpPr>
          <p:nvPr>
            <p:ph type="sldNum" sz="quarter" idx="10"/>
          </p:nvPr>
        </p:nvSpPr>
        <p:spPr/>
        <p:txBody>
          <a:bodyPr/>
          <a:lstStyle/>
          <a:p>
            <a:fld id="{18BDFEC3-8487-43E8-A154-7C12CBC1FFF2}" type="slidenum">
              <a:rPr lang="en-US"/>
              <a:t>76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we move from the predictable world of deterministic signals to the unpredictable world of stochastic processes. Noise is a fundamental component of all medical images, and understanding its properties is critical to evaluating and improving image quality.</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real world, no system is truly deterministic. There’s always some random fluctuation. In this module, we will learn how to characterize and quantify that randomness.</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will focus on Poisson and Gaussian noise as they are the most common and form the basis for understanding more complex noise models.</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noise of counting statistics. If you expect to detect an average of 100 photons in a pixel, the standard deviation of that measurement will be the square root of 100, which is 10. This signal-dependent nature is a defining feature.</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you can see, the distribution is centered around our mean of 25. The subtitle confirms the core property of Poisson noise: the sample mean is very close to the sample variance.</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noise is additive and constant. It comes from the electronics in the imaging chain. Whether the signal is bright or dark, the amount of electronic noise added is generally the same.</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histogram perfectly follows the classic bell curve shape, overlaid in blue. This is characteristic of electronic noise in detectors.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SNR is the currency of imaging. We are constantly trading other parameters—like scan time or radiation dose—to improve SNR. An SNR of 1 means the noise is as strong as the signal, making the signal very hard to detect.</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While SNR tells you about the quality in one area, CNR tells you about your ability to tell two areas apart. This is often more clinically relevant. Can I distinguish this tumor from the surrounding healthy tissue? That is a CNR question.</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Whether or not you can easily see the square depends on the CNR. If we increase the difference in means or decrease the noise, the square becomes more obvious. This leads us to our next topic…</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very practical rule. If your calculated CNR for a lesion is only 1 or 2, a radiologist is very likely to miss it. We need to design our imaging systems and protocols to ensure the CNR for the targets of interest exceeds this threshold of 5.</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Answer: C) 4. SNR = Mean / Std Dev = 100 / 25 = 4. According to the Rose Criterion, this signal would be detectable, but perhaps not with high confidence.</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Just like a signal has a frequency spectrum, the noise in an image also has a frequency spectrum. The NPS is a critical tool for characterizing the texture and correlation of noise.</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“white light,” which has all colors (frequencies) equally. “White noise” has all spatial frequencies equally. If an image is blurry, it’s because high frequencies have been removed. If the </a:t>
            </a:r>
            <a:r>
              <a:rPr i="1"/>
              <a:t>noise</a:t>
            </a:r>
            <a:r>
              <a:rPr/>
              <a:t> is blurry, it means the high-frequency components of the noise have been removed, leading to a non-flat NPS that drops off at high frequencies.</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DQE is the gold standard for detector characterization. It combines the effects of signal response, noise (NPS), and resolution (MTF). A high DQE means the detector is very good at producing a high-quality image with minimal dose.</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now covered the unpredictable aspects of imaging. We understand where noise comes from, how to describe it, and how to measure its impact on image quality. Next, we will combine our knowledge of deterministic systems and stochastic noise to understand how tomographic images are formed.</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Module 3. Tomography is the process of creating a cross-sectional image from projection data. This is the physical and mathematical basis for CT, PET, and SPECT imaging. We will explore how we can reconstruct a 2D image from a series of 1D measurements.</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Imagine you have a semi-transparent object. You shine a light through it from many different angles and measure the shadows it casts. Tomographic reconstruction is the art of figuring out the internal structure of the object just by looking at those shadows.</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is our test object. It’s a simple representation of a head-like structure with a gray matter background, two high-density bone-like objects, and a low-density lesion-like object. Our goal is to reconstruct this image after only measuring its projections.</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equation looks complex, but it’s just a line integral. For a fixed angle </a:t>
            </a:r>
            <a:r>
              <a:rPr>
                <a:latin typeface="Courier"/>
              </a:rPr>
              <a:t>θ</a:t>
            </a:r>
            <a:r>
              <a:rPr/>
              <a:t>, we are summing up all the pixel values along lines that are a distance </a:t>
            </a:r>
            <a:r>
              <a:rPr>
                <a:latin typeface="Courier"/>
              </a:rPr>
              <a:t>s</a:t>
            </a:r>
            <a:r>
              <a:rPr/>
              <a:t> from the center. A CT scanner physically performs this integration by shining X-rays through the patient.</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plot shows the 1D “shadow” the phantom casts at that specific angle. You can see how the shape of the projection changes dramatically with the angle, encoding information about the object’s internal structure.</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sinogram is the raw data of a CT scanner. It’s the domain where the measurement physically happens. The job of a reconstruction algorithm is to turn this sinogram back into a meaningful cross-sectional image.</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sinogram. Each of the bright sine waves corresponds to one of the high-density objects in our phantom. The wider, darker sine wave corresponds to the low-density object. All the information required to reconstruct the image is encoded here.</a:t>
            </a:r>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profound and powerful link. It connects the 1D measurements we can actually make (the projections) to the 2D frequency spectrum of the object we want to reconstruct. This theorem is the foundation of the most common reconstruction algorithm: filtered backprojection.</a:t>
            </a:r>
          </a:p>
        </p:txBody>
      </p:sp>
      <p:sp>
        <p:nvSpPr>
          <p:cNvPr id="4" name="Slide Number Placeholder 3"/>
          <p:cNvSpPr>
            <a:spLocks noGrp="1"/>
          </p:cNvSpPr>
          <p:nvPr>
            <p:ph type="sldNum" sz="quarter" idx="10"/>
          </p:nvPr>
        </p:nvSpPr>
        <p:spPr/>
        <p:txBody>
          <a:bodyPr/>
          <a:lstStyle/>
          <a:p>
            <a:fld id="{18BDFEC3-8487-43E8-A154-7C12CBC1FFF2}" type="slidenum">
              <a:rPr lang="en-US"/>
              <a:t>121</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of it as reversing the projection process. If a detector at one position measured a high value, we assume that high value must have come from somewhere along the line that hit that detector. So we draw that line on our blank image canvas. We do this for all projections and hope the true image emerges.</a:t>
            </a:r>
          </a:p>
        </p:txBody>
      </p:sp>
      <p:sp>
        <p:nvSpPr>
          <p:cNvPr id="4" name="Slide Number Placeholder 3"/>
          <p:cNvSpPr>
            <a:spLocks noGrp="1"/>
          </p:cNvSpPr>
          <p:nvPr>
            <p:ph type="sldNum" sz="quarter" idx="10"/>
          </p:nvPr>
        </p:nvSpPr>
        <p:spPr/>
        <p:txBody>
          <a:bodyPr/>
          <a:lstStyle/>
          <a:p>
            <a:fld id="{18BDFEC3-8487-43E8-A154-7C12CBC1FFF2}" type="slidenum">
              <a:rPr lang="en-US"/>
              <a:t>124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smearing process intrinsically adds a blur. Each point in the original object gets smeared out into a star-like shape in the reconstructed image. The final image is the true image convolved with this blurring function.</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result is a crude, blurry outline of the original phantom. You can see the vertical and horizontal smearing. If we added more angles, the image would get less streaky and more blurry, eventually converging on that 1/r blurred version of the true object.</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key insight. Simple backprojection gets the low-frequency information right but suppresses the high frequencies. To correct this, we need to boost the high frequencies before or during backprojection. The ramp filter does exactly that. Its shape, </a:t>
            </a:r>
            <a:r>
              <a:rPr>
                <a:latin typeface="Courier"/>
              </a:rPr>
              <a:t>|k|</a:t>
            </a:r>
            <a:r>
              <a:rPr/>
              <a:t>, looks like a ramp, hence the name.</a:t>
            </a:r>
          </a:p>
        </p:txBody>
      </p:sp>
      <p:sp>
        <p:nvSpPr>
          <p:cNvPr id="4" name="Slide Number Placeholder 3"/>
          <p:cNvSpPr>
            <a:spLocks noGrp="1"/>
          </p:cNvSpPr>
          <p:nvPr>
            <p:ph type="sldNum" sz="quarter" idx="10"/>
          </p:nvPr>
        </p:nvSpPr>
        <p:spPr/>
        <p:txBody>
          <a:bodyPr/>
          <a:lstStyle/>
          <a:p>
            <a:fld id="{18BDFEC3-8487-43E8-A154-7C12CBC1FFF2}" type="slidenum">
              <a:rPr lang="en-US"/>
              <a:t>128</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complete recipe for CT reconstruction. The “filtering” step, which corrects for the backprojection blur, is the crucial addition that makes the whole process work.</a:t>
            </a:r>
          </a:p>
        </p:txBody>
      </p:sp>
      <p:sp>
        <p:nvSpPr>
          <p:cNvPr id="4" name="Slide Number Placeholder 3"/>
          <p:cNvSpPr>
            <a:spLocks noGrp="1"/>
          </p:cNvSpPr>
          <p:nvPr>
            <p:ph type="sldNum" sz="quarter" idx="10"/>
          </p:nvPr>
        </p:nvSpPr>
        <p:spPr/>
        <p:txBody>
          <a:bodyPr/>
          <a:lstStyle/>
          <a:p>
            <a:fld id="{18BDFEC3-8487-43E8-A154-7C12CBC1FFF2}" type="slidenum">
              <a:rPr lang="en-US"/>
              <a:t>133</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Iterative methods are like a game of “guess and check.” You start with a guess, see how well it matches your data, and then intelligently improve your guess. This process is much slower than FBP but can produce better images in challenging situations, like low-dose CT.</a:t>
            </a:r>
          </a:p>
        </p:txBody>
      </p:sp>
      <p:sp>
        <p:nvSpPr>
          <p:cNvPr id="4" name="Slide Number Placeholder 3"/>
          <p:cNvSpPr>
            <a:spLocks noGrp="1"/>
          </p:cNvSpPr>
          <p:nvPr>
            <p:ph type="sldNum" sz="quarter" idx="10"/>
          </p:nvPr>
        </p:nvSpPr>
        <p:spPr/>
        <p:txBody>
          <a:bodyPr/>
          <a:lstStyle/>
          <a:p>
            <a:fld id="{18BDFEC3-8487-43E8-A154-7C12CBC1FFF2}" type="slidenum">
              <a:rPr lang="en-US"/>
              <a:t>135</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any realistic image size, the matrix A is far too enormous to solve by direct inversion. This is why we must use iterative algorithms like MLEM to find an approximate solution.</a:t>
            </a:r>
          </a:p>
        </p:txBody>
      </p:sp>
      <p:sp>
        <p:nvSpPr>
          <p:cNvPr id="4" name="Slide Number Placeholder 3"/>
          <p:cNvSpPr>
            <a:spLocks noGrp="1"/>
          </p:cNvSpPr>
          <p:nvPr>
            <p:ph type="sldNum" sz="quarter" idx="10"/>
          </p:nvPr>
        </p:nvSpPr>
        <p:spPr/>
        <p:txBody>
          <a:bodyPr/>
          <a:lstStyle/>
          <a:p>
            <a:fld id="{18BDFEC3-8487-43E8-A154-7C12CBC1FFF2}" type="slidenum">
              <a:rPr lang="en-US"/>
              <a:t>138</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won’t go into the details of the MLEM update equation, but the key takeaway is that it’s an iterative method that is particularly well-suited to the Poisson noise statistics found in nuclear medicine.</a:t>
            </a:r>
          </a:p>
        </p:txBody>
      </p:sp>
      <p:sp>
        <p:nvSpPr>
          <p:cNvPr id="4" name="Slide Number Placeholder 3"/>
          <p:cNvSpPr>
            <a:spLocks noGrp="1"/>
          </p:cNvSpPr>
          <p:nvPr>
            <p:ph type="sldNum" sz="quarter" idx="10"/>
          </p:nvPr>
        </p:nvSpPr>
        <p:spPr/>
        <p:txBody>
          <a:bodyPr/>
          <a:lstStyle/>
          <a:p>
            <a:fld id="{18BDFEC3-8487-43E8-A154-7C12CBC1FFF2}" type="slidenum">
              <a:rPr lang="en-US"/>
              <a:t>141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 now understand the fundamental principles of how a CT scanner works, from data acquisition (projections) to the final image (reconstruction). In the final module, we will touch on more advanced applications and modern topics that build on these foundations.</a:t>
            </a:r>
          </a:p>
        </p:txBody>
      </p:sp>
      <p:sp>
        <p:nvSpPr>
          <p:cNvPr id="4" name="Slide Number Placeholder 3"/>
          <p:cNvSpPr>
            <a:spLocks noGrp="1"/>
          </p:cNvSpPr>
          <p:nvPr>
            <p:ph type="sldNum" sz="quarter" idx="10"/>
          </p:nvPr>
        </p:nvSpPr>
        <p:spPr/>
        <p:txBody>
          <a:bodyPr/>
          <a:lstStyle/>
          <a:p>
            <a:fld id="{18BDFEC3-8487-43E8-A154-7C12CBC1FFF2}" type="slidenum">
              <a:rPr lang="en-US"/>
              <a:t>143</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this final module, we will briefly touch upon several advanced topics and other imaging modalities. The goal is not to cover them in exhaustive detail, but to show how the fundamental concepts of signals, systems, and transforms that we’ve learned apply across all of medical imaging.</a:t>
            </a:r>
          </a:p>
        </p:txBody>
      </p:sp>
      <p:sp>
        <p:nvSpPr>
          <p:cNvPr id="4" name="Slide Number Placeholder 3"/>
          <p:cNvSpPr>
            <a:spLocks noGrp="1"/>
          </p:cNvSpPr>
          <p:nvPr>
            <p:ph type="sldNum" sz="quarter" idx="10"/>
          </p:nvPr>
        </p:nvSpPr>
        <p:spPr/>
        <p:txBody>
          <a:bodyPr/>
          <a:lstStyle/>
          <a:p>
            <a:fld id="{18BDFEC3-8487-43E8-A154-7C12CBC1FFF2}" type="slidenum">
              <a:rPr lang="en-US"/>
              <a:t>144</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MRI is one of the most direct applications of the Fourier Transform in medical imaging. The scanner literally “collects” the Fourier space of the patient’s tissues.</a:t>
            </a:r>
          </a:p>
        </p:txBody>
      </p:sp>
      <p:sp>
        <p:nvSpPr>
          <p:cNvPr id="4" name="Slide Number Placeholder 3"/>
          <p:cNvSpPr>
            <a:spLocks noGrp="1"/>
          </p:cNvSpPr>
          <p:nvPr>
            <p:ph type="sldNum" sz="quarter" idx="10"/>
          </p:nvPr>
        </p:nvSpPr>
        <p:spPr/>
        <p:txBody>
          <a:bodyPr/>
          <a:lstStyle/>
          <a:p>
            <a:fld id="{18BDFEC3-8487-43E8-A154-7C12CBC1FFF2}" type="slidenum">
              <a:rPr lang="en-US"/>
              <a:t>147</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a critical concept. The center of k-space contains the low-frequency information (overall contrast and brightness). The periphery of k-space contains the high-frequency information (edges and fine details).</a:t>
            </a:r>
          </a:p>
        </p:txBody>
      </p:sp>
      <p:sp>
        <p:nvSpPr>
          <p:cNvPr id="4" name="Slide Number Placeholder 3"/>
          <p:cNvSpPr>
            <a:spLocks noGrp="1"/>
          </p:cNvSpPr>
          <p:nvPr>
            <p:ph type="sldNum" sz="quarter" idx="10"/>
          </p:nvPr>
        </p:nvSpPr>
        <p:spPr/>
        <p:txBody>
          <a:bodyPr/>
          <a:lstStyle/>
          <a:p>
            <a:fld id="{18BDFEC3-8487-43E8-A154-7C12CBC1FFF2}" type="slidenum">
              <a:rPr lang="en-US"/>
              <a:t>150</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results perfectly illustrate the properties of k-space. - </a:t>
            </a:r>
            <a:r>
              <a:rPr b="1"/>
              <a:t>Original:</a:t>
            </a:r>
            <a:r>
              <a:rPr/>
              <a:t> Our clear phantom. - </a:t>
            </a:r>
            <a:r>
              <a:rPr b="1"/>
              <a:t>Low-Pass:</a:t>
            </a:r>
            <a:r>
              <a:rPr/>
              <a:t> Keeping only the center of k-space removes the high frequencies, resulting in a blurry image that only preserves the basic contrast. - </a:t>
            </a:r>
            <a:r>
              <a:rPr b="1"/>
              <a:t>High-Pass:</a:t>
            </a:r>
            <a:r>
              <a:rPr/>
              <a:t> Keeping only the periphery of k-space removes the low frequencies, resulting in an image that only shows the sharp edges.</a:t>
            </a:r>
          </a:p>
        </p:txBody>
      </p:sp>
      <p:sp>
        <p:nvSpPr>
          <p:cNvPr id="4" name="Slide Number Placeholder 3"/>
          <p:cNvSpPr>
            <a:spLocks noGrp="1"/>
          </p:cNvSpPr>
          <p:nvPr>
            <p:ph type="sldNum" sz="quarter" idx="10"/>
          </p:nvPr>
        </p:nvSpPr>
        <p:spPr/>
        <p:txBody>
          <a:bodyPr/>
          <a:lstStyle/>
          <a:p>
            <a:fld id="{18BDFEC3-8487-43E8-A154-7C12CBC1FFF2}" type="slidenum">
              <a:rPr lang="en-US"/>
              <a:t>152</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Answer: Widespread blurring or “ghosting” artifacts. The center of k-space holds the most signal energy and determines the overall contrast of the image. Corrupting this data has a severe, global impact on the image quality, much more so than corrupting the periphery.</a:t>
            </a:r>
          </a:p>
        </p:txBody>
      </p:sp>
      <p:sp>
        <p:nvSpPr>
          <p:cNvPr id="4" name="Slide Number Placeholder 3"/>
          <p:cNvSpPr>
            <a:spLocks noGrp="1"/>
          </p:cNvSpPr>
          <p:nvPr>
            <p:ph type="sldNum" sz="quarter" idx="10"/>
          </p:nvPr>
        </p:nvSpPr>
        <p:spPr/>
        <p:txBody>
          <a:bodyPr/>
          <a:lstStyle/>
          <a:p>
            <a:fld id="{18BDFEC3-8487-43E8-A154-7C12CBC1FFF2}" type="slidenum">
              <a:rPr lang="en-US"/>
              <a:t>153</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Ultrasound is a beautiful example of using time-shifting and superposition—core concepts from our systems analysis—to physically shape and direct energy.</a:t>
            </a:r>
          </a:p>
        </p:txBody>
      </p:sp>
      <p:sp>
        <p:nvSpPr>
          <p:cNvPr id="4" name="Slide Number Placeholder 3"/>
          <p:cNvSpPr>
            <a:spLocks noGrp="1"/>
          </p:cNvSpPr>
          <p:nvPr>
            <p:ph type="sldNum" sz="quarter" idx="10"/>
          </p:nvPr>
        </p:nvSpPr>
        <p:spPr/>
        <p:txBody>
          <a:bodyPr/>
          <a:lstStyle/>
          <a:p>
            <a:fld id="{18BDFEC3-8487-43E8-A154-7C12CBC1FFF2}" type="slidenum">
              <a:rPr lang="en-US"/>
              <a:t>156</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“delay and sum” process is a form of spatial filtering. It allows the ultrasound machine to scan a beam through the tissue to build up an image line by line, all without any moving parts.</a:t>
            </a:r>
          </a:p>
        </p:txBody>
      </p:sp>
      <p:sp>
        <p:nvSpPr>
          <p:cNvPr id="4" name="Slide Number Placeholder 3"/>
          <p:cNvSpPr>
            <a:spLocks noGrp="1"/>
          </p:cNvSpPr>
          <p:nvPr>
            <p:ph type="sldNum" sz="quarter" idx="10"/>
          </p:nvPr>
        </p:nvSpPr>
        <p:spPr/>
        <p:txBody>
          <a:bodyPr/>
          <a:lstStyle/>
          <a:p>
            <a:fld id="{18BDFEC3-8487-43E8-A154-7C12CBC1FFF2}" type="slidenum">
              <a:rPr lang="en-US"/>
              <a:t>157</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Compressed Sensing (CS) has had a huge impact on MRI. It allows us to intentionally undersample k-space (i.e., scan faster) and then use a sophisticated non-linear reconstruction algorithm to recover a high-quality image. It breaks the old rules of sampling, but only if the signal has a sparse structure.</a:t>
            </a:r>
          </a:p>
        </p:txBody>
      </p:sp>
      <p:sp>
        <p:nvSpPr>
          <p:cNvPr id="4" name="Slide Number Placeholder 3"/>
          <p:cNvSpPr>
            <a:spLocks noGrp="1"/>
          </p:cNvSpPr>
          <p:nvPr>
            <p:ph type="sldNum" sz="quarter" idx="10"/>
          </p:nvPr>
        </p:nvSpPr>
        <p:spPr/>
        <p:txBody>
          <a:bodyPr/>
          <a:lstStyle/>
          <a:p>
            <a:fld id="{18BDFEC3-8487-43E8-A154-7C12CBC1FFF2}" type="slidenum">
              <a:rPr lang="en-US"/>
              <a:t>160</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Think back to our convolution examples. We designed a simple averaging filter for denoising. A CNN might learn thousands of different, complex filter shapes that are perfectly optimized for a specific type of noise from a CT image, or for highlighting the texture of a tumor. They are essentially “learned filters.”</a:t>
            </a:r>
          </a:p>
        </p:txBody>
      </p:sp>
      <p:sp>
        <p:nvSpPr>
          <p:cNvPr id="4" name="Slide Number Placeholder 3"/>
          <p:cNvSpPr>
            <a:spLocks noGrp="1"/>
          </p:cNvSpPr>
          <p:nvPr>
            <p:ph type="sldNum" sz="quarter" idx="10"/>
          </p:nvPr>
        </p:nvSpPr>
        <p:spPr/>
        <p:txBody>
          <a:bodyPr/>
          <a:lstStyle/>
          <a:p>
            <a:fld id="{18BDFEC3-8487-43E8-A154-7C12CBC1FFF2}" type="slidenum">
              <a:rPr lang="en-US"/>
              <a:t>166</a:t>
            </a:fld>
            <a:endParaRPr lang="en-US"/>
          </a:p>
        </p:txBody>
      </p:sp>
    </p:spTree>
  </p:cSld>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field is moving incredibly quickly, but the core mathematical operations inside these complex networks are still convolutions and non-linear transformations—concepts that are extensions of the material we have covered in this course.</a:t>
            </a:r>
          </a:p>
        </p:txBody>
      </p:sp>
      <p:sp>
        <p:nvSpPr>
          <p:cNvPr id="4" name="Slide Number Placeholder 3"/>
          <p:cNvSpPr>
            <a:spLocks noGrp="1"/>
          </p:cNvSpPr>
          <p:nvPr>
            <p:ph type="sldNum" sz="quarter" idx="10"/>
          </p:nvPr>
        </p:nvSpPr>
        <p:spPr/>
        <p:txBody>
          <a:bodyPr/>
          <a:lstStyle/>
          <a:p>
            <a:fld id="{18BDFEC3-8487-43E8-A154-7C12CBC1FFF2}" type="slidenum">
              <a:rPr lang="en-US"/>
              <a:t>167</a:t>
            </a:fld>
            <a:endParaRPr lang="en-US"/>
          </a:p>
        </p:txBody>
      </p:sp>
    </p:spTree>
  </p:cSld>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Congratulations on completing the course. You now have the foundational knowledge to understand the physics and mathematics behind virtually any medical imaging system.</a:t>
            </a:r>
          </a:p>
        </p:txBody>
      </p:sp>
      <p:sp>
        <p:nvSpPr>
          <p:cNvPr id="4" name="Slide Number Placeholder 3"/>
          <p:cNvSpPr>
            <a:spLocks noGrp="1"/>
          </p:cNvSpPr>
          <p:nvPr>
            <p:ph type="sldNum" sz="quarter" idx="10"/>
          </p:nvPr>
        </p:nvSpPr>
        <p:spPr/>
        <p:txBody>
          <a:bodyPr/>
          <a:lstStyle/>
          <a:p>
            <a:fld id="{18BDFEC3-8487-43E8-A154-7C12CBC1FFF2}" type="slidenum">
              <a:rPr lang="en-US"/>
              <a:t>172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9.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45.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6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0.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Signal Processing &amp; Systems in Medical Physics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Graduate Medical Physics Program</a:t>
            </a:r>
          </a:p>
        </p:txBody>
      </p:sp>
      <p:sp>
        <p:nvSpPr>
          <p:cNvPr id="4" name="Date Placeholder 3"/>
          <p:cNvSpPr>
            <a:spLocks noGrp="1"/>
          </p:cNvSpPr>
          <p:nvPr>
            <p:ph idx="10" sz="half" type="dt"/>
          </p:nvPr>
        </p:nvSpPr>
        <p:spPr/>
        <p:txBody>
          <a:bodyPr/>
          <a:lstStyle/>
          <a:p>
            <a:pPr lvl="0" indent="0" marL="0">
              <a:buNone/>
            </a:pPr>
            <a:r>
              <a:rPr/>
              <a:t>2025-12-19</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1: Deterministic Systems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Signals</a:t>
            </a:r>
          </a:p>
        </p:txBody>
      </p:sp>
      <p:sp>
        <p:nvSpPr>
          <p:cNvPr id="3" name="Content Placeholder 2"/>
          <p:cNvSpPr>
            <a:spLocks noGrp="1"/>
          </p:cNvSpPr>
          <p:nvPr>
            <p:ph idx="1"/>
          </p:nvPr>
        </p:nvSpPr>
        <p:spPr/>
        <p:txBody>
          <a:bodyPr/>
          <a:lstStyle/>
          <a:p>
            <a:pPr lvl="0"/>
            <a:r>
              <a:rPr b="1"/>
              <a:t>What is a signal?</a:t>
            </a:r>
            <a:r>
              <a:rPr/>
              <a:t> A signal is a function that conveys information about a phenomenon.</a:t>
            </a:r>
          </a:p>
          <a:p>
            <a:pPr lvl="0"/>
            <a:r>
              <a:rPr/>
              <a:t>In medical physics, signals are representations of physical quantities.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Signals: Examples</a:t>
            </a:r>
          </a:p>
        </p:txBody>
      </p:sp>
      <p:sp>
        <p:nvSpPr>
          <p:cNvPr id="3" name="Content Placeholder 2"/>
          <p:cNvSpPr>
            <a:spLocks noGrp="1"/>
          </p:cNvSpPr>
          <p:nvPr>
            <p:ph idx="1"/>
          </p:nvPr>
        </p:nvSpPr>
        <p:spPr/>
        <p:txBody>
          <a:bodyPr/>
          <a:lstStyle/>
          <a:p>
            <a:pPr lvl="0"/>
            <a:r>
              <a:rPr/>
              <a:t>Voltage from a detector</a:t>
            </a:r>
          </a:p>
          <a:p>
            <a:pPr lvl="0"/>
            <a:r>
              <a:rPr/>
              <a:t>X-ray intensity pattern</a:t>
            </a:r>
          </a:p>
          <a:p>
            <a:pPr lvl="0"/>
            <a:r>
              <a:rPr/>
              <a:t>Magnetic resonance signal over time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Continuous vs. Discrete Signals</a:t>
            </a:r>
          </a:p>
        </p:txBody>
      </p:sp>
      <p:sp>
        <p:nvSpPr>
          <p:cNvPr id="3" name="Content Placeholder 2"/>
          <p:cNvSpPr>
            <a:spLocks noGrp="1"/>
          </p:cNvSpPr>
          <p:nvPr>
            <p:ph idx="1"/>
          </p:nvPr>
        </p:nvSpPr>
        <p:spPr/>
        <p:txBody>
          <a:bodyPr/>
          <a:lstStyle/>
          <a:p>
            <a:pPr lvl="0"/>
            <a:r>
              <a:rPr b="1"/>
              <a:t>Continuous-Time Signal:</a:t>
            </a:r>
            <a:r>
              <a:rPr/>
              <a:t> Defined for all points in time. Represented as </a:t>
            </a:r>
            <a:r>
              <a:rPr>
                <a:latin typeface="Courier"/>
              </a:rPr>
              <a:t>x(t)</a:t>
            </a:r>
            <a:r>
              <a:rPr/>
              <a:t>.</a:t>
            </a:r>
          </a:p>
          <a:p>
            <a:pPr lvl="0"/>
            <a:r>
              <a:rPr b="1"/>
              <a:t>Discrete-Time Signal:</a:t>
            </a:r>
            <a:r>
              <a:rPr/>
              <a:t> Defined only at specific, discrete points in time. Represented as </a:t>
            </a:r>
            <a:r>
              <a:rPr>
                <a:latin typeface="Courier"/>
              </a:rPr>
              <a:t>x[n]</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Continuous vs. Discrete Signals</a:t>
            </a:r>
          </a:p>
        </p:txBody>
      </p:sp>
      <p:sp>
        <p:nvSpPr>
          <p:cNvPr id="3" name="Content Placeholder 2"/>
          <p:cNvSpPr>
            <a:spLocks noGrp="1"/>
          </p:cNvSpPr>
          <p:nvPr>
            <p:ph idx="1"/>
          </p:nvPr>
        </p:nvSpPr>
        <p:spPr/>
        <p:txBody>
          <a:bodyPr/>
          <a:lstStyle/>
          <a:p>
            <a:pPr lvl="0"/>
            <a:r>
              <a:rPr/>
              <a:t>This distinction is crucial for understanding digital acquisition and processing.</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Visualization: Continuous vs. Discrete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Continuous Signal</a:t>
            </a:r>
            <a:br/>
            <a:r>
              <a:rPr>
                <a:latin typeface="Courier"/>
              </a:rPr>
              <a:t>t_cont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40A070"/>
                </a:solidFill>
                <a:latin typeface="Courier"/>
              </a:rPr>
              <a:t>500</a:t>
            </a:r>
            <a:r>
              <a:rPr>
                <a:latin typeface="Courier"/>
              </a:rPr>
              <a:t>)</a:t>
            </a:r>
            <a:br/>
            <a:r>
              <a:rPr>
                <a:latin typeface="Courier"/>
              </a:rPr>
              <a:t>x_cont </a:t>
            </a:r>
            <a:r>
              <a:rPr>
                <a:solidFill>
                  <a:srgbClr val="666666"/>
                </a:solidFill>
                <a:latin typeface="Courier"/>
              </a:rPr>
              <a:t>=</a:t>
            </a:r>
            <a:r>
              <a:rPr>
                <a:latin typeface="Courier"/>
              </a:rPr>
              <a:t> np.sin(t_cont)</a:t>
            </a:r>
            <a:br/>
            <a:br/>
            <a:r>
              <a:rPr i="1">
                <a:solidFill>
                  <a:srgbClr val="60A0B0"/>
                </a:solidFill>
                <a:latin typeface="Courier"/>
              </a:rPr>
              <a:t># Plot</a:t>
            </a:r>
            <a:br/>
            <a:r>
              <a:rPr>
                <a:latin typeface="Courier"/>
              </a:rPr>
              <a:t>plt.figure()</a:t>
            </a:r>
            <a:br/>
            <a:r>
              <a:rPr>
                <a:latin typeface="Courier"/>
              </a:rPr>
              <a:t>plt.plot(t_cont, x_cont)</a:t>
            </a:r>
            <a:br/>
            <a:r>
              <a:rPr>
                <a:latin typeface="Courier"/>
              </a:rPr>
              <a:t>plt.title(</a:t>
            </a:r>
            <a:r>
              <a:rPr>
                <a:solidFill>
                  <a:srgbClr val="4070A0"/>
                </a:solidFill>
                <a:latin typeface="Courier"/>
              </a:rPr>
              <a:t>"Continuous Signal: x(t) = sin(t)"</a:t>
            </a:r>
            <a:r>
              <a:rPr>
                <a:latin typeface="Courier"/>
              </a:rPr>
              <a:t>)</a:t>
            </a:r>
            <a:br/>
            <a:r>
              <a:rPr>
                <a:latin typeface="Courier"/>
              </a:rPr>
              <a:t>plt.xlabel(</a:t>
            </a:r>
            <a:r>
              <a:rPr>
                <a:solidFill>
                  <a:srgbClr val="4070A0"/>
                </a:solidFill>
                <a:latin typeface="Courier"/>
              </a:rPr>
              <a:t>"Time (t)"</a:t>
            </a:r>
            <a:r>
              <a:rPr>
                <a:latin typeface="Courier"/>
              </a:rPr>
              <a:t>)</a:t>
            </a:r>
            <a:br/>
            <a:r>
              <a:rPr>
                <a:latin typeface="Courier"/>
              </a:rPr>
              <a:t>plt.ylabel(</a:t>
            </a:r>
            <a:r>
              <a:rPr>
                <a:solidFill>
                  <a:srgbClr val="4070A0"/>
                </a:solidFill>
                <a:latin typeface="Courier"/>
              </a:rPr>
              <a:t>"Amplitude"</a:t>
            </a:r>
            <a:r>
              <a:rPr>
                <a:latin typeface="Courier"/>
              </a:rPr>
              <a:t>)</a:t>
            </a:r>
            <a:br/>
            <a:r>
              <a:rPr>
                <a:latin typeface="Courier"/>
              </a:rPr>
              <a:t>plt.grid(</a:t>
            </a:r>
            <a:r>
              <a:rPr>
                <a:solidFill>
                  <a:srgbClr val="19177C"/>
                </a:solidFill>
                <a:latin typeface="Courier"/>
              </a:rPr>
              <a:t>True</a:t>
            </a:r>
            <a:r>
              <a:rPr>
                <a:latin typeface="Courier"/>
              </a:rPr>
              <a:t>)</a:t>
            </a:r>
            <a:br/>
            <a:r>
              <a:rPr>
                <a:latin typeface="Courier"/>
              </a:rPr>
              <a:t>continuous_discrete_plot_fig </a:t>
            </a:r>
            <a:r>
              <a:rPr>
                <a:solidFill>
                  <a:srgbClr val="666666"/>
                </a:solidFill>
                <a:latin typeface="Courier"/>
              </a:rPr>
              <a:t>=</a:t>
            </a:r>
            <a:r>
              <a:rPr>
                <a:latin typeface="Courier"/>
              </a:rPr>
              <a:t> plt.gcf()</a:t>
            </a:r>
          </a:p>
        </p:txBody>
      </p:sp>
      <p:pic>
        <p:nvPicPr>
          <p:cNvPr descr="presentation_files/figure-pptx/continuous_discrete_plot_code-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Visualization: Continuous vs. Discrete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Visualization: Continuous vs. Discrete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Discrete Signal</a:t>
            </a:r>
            <a:br/>
            <a:r>
              <a:rPr>
                <a:latin typeface="Courier"/>
              </a:rPr>
              <a:t>n_discrete </a:t>
            </a:r>
            <a:r>
              <a:rPr>
                <a:solidFill>
                  <a:srgbClr val="666666"/>
                </a:solidFill>
                <a:latin typeface="Courier"/>
              </a:rPr>
              <a:t>=</a:t>
            </a:r>
            <a:r>
              <a:rPr>
                <a:latin typeface="Courier"/>
              </a:rPr>
              <a:t> np.arange(</a:t>
            </a:r>
            <a:r>
              <a:rPr>
                <a:solidFill>
                  <a:srgbClr val="40A070"/>
                </a:solidFill>
                <a:latin typeface="Courier"/>
              </a:rPr>
              <a:t>16</a:t>
            </a:r>
            <a:r>
              <a:rPr>
                <a:latin typeface="Courier"/>
              </a:rPr>
              <a:t>)</a:t>
            </a:r>
            <a:br/>
            <a:r>
              <a:rPr>
                <a:latin typeface="Courier"/>
              </a:rPr>
              <a:t>t_discrete </a:t>
            </a:r>
            <a:r>
              <a:rPr>
                <a:solidFill>
                  <a:srgbClr val="666666"/>
                </a:solidFill>
                <a:latin typeface="Courier"/>
              </a:rPr>
              <a:t>=</a:t>
            </a:r>
            <a:r>
              <a:rPr>
                <a:latin typeface="Courier"/>
              </a:rPr>
              <a:t> n_discrete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a:t>
            </a:r>
            <a:r>
              <a:rPr>
                <a:solidFill>
                  <a:srgbClr val="40A070"/>
                </a:solidFill>
                <a:latin typeface="Courier"/>
              </a:rPr>
              <a:t>16</a:t>
            </a:r>
            <a:r>
              <a:rPr>
                <a:latin typeface="Courier"/>
              </a:rPr>
              <a:t>)</a:t>
            </a:r>
            <a:br/>
            <a:r>
              <a:rPr>
                <a:latin typeface="Courier"/>
              </a:rPr>
              <a:t>x_discrete </a:t>
            </a:r>
            <a:r>
              <a:rPr>
                <a:solidFill>
                  <a:srgbClr val="666666"/>
                </a:solidFill>
                <a:latin typeface="Courier"/>
              </a:rPr>
              <a:t>=</a:t>
            </a:r>
            <a:r>
              <a:rPr>
                <a:latin typeface="Courier"/>
              </a:rPr>
              <a:t> np.sin(t_discrete)</a:t>
            </a:r>
            <a:br/>
            <a:br/>
            <a:r>
              <a:rPr i="1">
                <a:solidFill>
                  <a:srgbClr val="60A0B0"/>
                </a:solidFill>
                <a:latin typeface="Courier"/>
              </a:rPr>
              <a:t># Plot</a:t>
            </a:r>
            <a:br/>
            <a:r>
              <a:rPr>
                <a:latin typeface="Courier"/>
              </a:rPr>
              <a:t>plt.figure()</a:t>
            </a:r>
            <a:br/>
            <a:r>
              <a:rPr>
                <a:latin typeface="Courier"/>
              </a:rPr>
              <a:t>(markers, stemlines, baseline) </a:t>
            </a:r>
            <a:r>
              <a:rPr>
                <a:solidFill>
                  <a:srgbClr val="666666"/>
                </a:solidFill>
                <a:latin typeface="Courier"/>
              </a:rPr>
              <a:t>=</a:t>
            </a:r>
            <a:r>
              <a:rPr>
                <a:latin typeface="Courier"/>
              </a:rPr>
              <a:t> plt.stem(t_discrete, x_discrete, linefmt</a:t>
            </a:r>
            <a:r>
              <a:rPr>
                <a:solidFill>
                  <a:srgbClr val="666666"/>
                </a:solidFill>
                <a:latin typeface="Courier"/>
              </a:rPr>
              <a:t>=</a:t>
            </a:r>
            <a:r>
              <a:rPr>
                <a:solidFill>
                  <a:srgbClr val="4070A0"/>
                </a:solidFill>
                <a:latin typeface="Courier"/>
              </a:rPr>
              <a:t>'--'</a:t>
            </a:r>
            <a:r>
              <a:rPr>
                <a:latin typeface="Courier"/>
              </a:rPr>
              <a:t>)</a:t>
            </a:r>
            <a:br/>
            <a:r>
              <a:rPr>
                <a:latin typeface="Courier"/>
              </a:rPr>
              <a:t>plt.setp(markers, color</a:t>
            </a:r>
            <a:r>
              <a:rPr>
                <a:solidFill>
                  <a:srgbClr val="666666"/>
                </a:solidFill>
                <a:latin typeface="Courier"/>
              </a:rPr>
              <a:t>=</a:t>
            </a:r>
            <a:r>
              <a:rPr>
                <a:solidFill>
                  <a:srgbClr val="4070A0"/>
                </a:solidFill>
                <a:latin typeface="Courier"/>
              </a:rPr>
              <a:t>'red'</a:t>
            </a:r>
            <a:r>
              <a:rPr>
                <a:latin typeface="Courier"/>
              </a:rPr>
              <a:t>)</a:t>
            </a:r>
          </a:p>
          <a:p>
            <a:pPr lvl="0" indent="0">
              <a:buNone/>
            </a:pPr>
            <a:r>
              <a:rPr>
                <a:latin typeface="Courier"/>
              </a:rPr>
              <a:t>## [None]</a:t>
            </a:r>
          </a:p>
          <a:p>
            <a:pPr lvl="0" indent="0">
              <a:buNone/>
            </a:pPr>
            <a:r>
              <a:rPr>
                <a:latin typeface="Courier"/>
              </a:rPr>
              <a:t>plt.title(</a:t>
            </a:r>
            <a:r>
              <a:rPr>
                <a:solidFill>
                  <a:srgbClr val="4070A0"/>
                </a:solidFill>
                <a:latin typeface="Courier"/>
              </a:rPr>
              <a:t>"Discrete Signal: x[n] = sin(2πn/16)"</a:t>
            </a:r>
            <a:r>
              <a:rPr>
                <a:latin typeface="Courier"/>
              </a:rPr>
              <a:t>)</a:t>
            </a:r>
            <a:br/>
            <a:r>
              <a:rPr>
                <a:latin typeface="Courier"/>
              </a:rPr>
              <a:t>plt.xlabel(</a:t>
            </a:r>
            <a:r>
              <a:rPr>
                <a:solidFill>
                  <a:srgbClr val="4070A0"/>
                </a:solidFill>
                <a:latin typeface="Courier"/>
              </a:rPr>
              <a:t>"Sample (n)"</a:t>
            </a:r>
            <a:r>
              <a:rPr>
                <a:latin typeface="Courier"/>
              </a:rPr>
              <a:t>)</a:t>
            </a:r>
            <a:br/>
            <a:r>
              <a:rPr>
                <a:latin typeface="Courier"/>
              </a:rPr>
              <a:t>plt.ylabel(</a:t>
            </a:r>
            <a:r>
              <a:rPr>
                <a:solidFill>
                  <a:srgbClr val="4070A0"/>
                </a:solidFill>
                <a:latin typeface="Courier"/>
              </a:rPr>
              <a:t>"Amplitude"</a:t>
            </a:r>
            <a:r>
              <a:rPr>
                <a:latin typeface="Courier"/>
              </a:rPr>
              <a:t>)</a:t>
            </a:r>
            <a:br/>
            <a:r>
              <a:rPr>
                <a:latin typeface="Courier"/>
              </a:rPr>
              <a:t>plt.grid(</a:t>
            </a:r>
            <a:r>
              <a:rPr>
                <a:solidFill>
                  <a:srgbClr val="19177C"/>
                </a:solidFill>
                <a:latin typeface="Courier"/>
              </a:rPr>
              <a:t>True</a:t>
            </a:r>
            <a:r>
              <a:rPr>
                <a:latin typeface="Courier"/>
              </a:rPr>
              <a:t>)</a:t>
            </a:r>
            <a:br/>
            <a:r>
              <a:rPr>
                <a:latin typeface="Courier"/>
              </a:rPr>
              <a:t>discrete_plot_fig </a:t>
            </a:r>
            <a:r>
              <a:rPr>
                <a:solidFill>
                  <a:srgbClr val="666666"/>
                </a:solidFill>
                <a:latin typeface="Courier"/>
              </a:rPr>
              <a:t>=</a:t>
            </a:r>
            <a:r>
              <a:rPr>
                <a:latin typeface="Courier"/>
              </a:rPr>
              <a:t> plt.gcf()</a:t>
            </a:r>
          </a:p>
        </p:txBody>
      </p:sp>
      <p:pic>
        <p:nvPicPr>
          <p:cNvPr descr="presentation_files/figure-pptx/discrete_plot_code-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Visualization: Continuous vs. Discrete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Functions in Signal Processing</a:t>
            </a:r>
          </a:p>
        </p:txBody>
      </p:sp>
      <p:sp>
        <p:nvSpPr>
          <p:cNvPr id="3" name="Content Placeholder 2"/>
          <p:cNvSpPr>
            <a:spLocks noGrp="1"/>
          </p:cNvSpPr>
          <p:nvPr>
            <p:ph idx="1"/>
          </p:nvPr>
        </p:nvSpPr>
        <p:spPr/>
        <p:txBody>
          <a:bodyPr/>
          <a:lstStyle/>
          <a:p>
            <a:pPr lvl="0"/>
            <a:r>
              <a:rPr/>
              <a:t>We use a set of “building block” functions to model and analyze more complex signals.</a:t>
            </a:r>
          </a:p>
          <a:p>
            <a:pPr lvl="0"/>
            <a:r>
              <a:rPr/>
              <a:t>Understanding these is essential for a deep intuition of systems.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Functions in Signal Processing</a:t>
            </a:r>
          </a:p>
        </p:txBody>
      </p:sp>
      <p:sp>
        <p:nvSpPr>
          <p:cNvPr id="3" name="Content Placeholder 2"/>
          <p:cNvSpPr>
            <a:spLocks noGrp="1"/>
          </p:cNvSpPr>
          <p:nvPr>
            <p:ph idx="1"/>
          </p:nvPr>
        </p:nvSpPr>
        <p:spPr/>
        <p:txBody>
          <a:bodyPr/>
          <a:lstStyle/>
          <a:p>
            <a:pPr lvl="0"/>
            <a:r>
              <a:rPr/>
              <a:t>Key Functions:</a:t>
            </a:r>
          </a:p>
          <a:p>
            <a:pPr lvl="1"/>
            <a:r>
              <a:rPr/>
              <a:t>The Rectangular Function (Rect)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Functions in Signal processing</a:t>
            </a:r>
          </a:p>
        </p:txBody>
      </p:sp>
      <p:sp>
        <p:nvSpPr>
          <p:cNvPr id="3" name="Content Placeholder 2"/>
          <p:cNvSpPr>
            <a:spLocks noGrp="1"/>
          </p:cNvSpPr>
          <p:nvPr>
            <p:ph idx="1"/>
          </p:nvPr>
        </p:nvSpPr>
        <p:spPr/>
        <p:txBody>
          <a:bodyPr/>
          <a:lstStyle/>
          <a:p>
            <a:pPr lvl="0"/>
            <a:r>
              <a:rPr/>
              <a:t>Key Functions:</a:t>
            </a:r>
          </a:p>
          <a:p>
            <a:pPr lvl="1"/>
            <a:r>
              <a:rPr/>
              <a:t>The Sinc Function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Functions in Signal processing</a:t>
            </a:r>
          </a:p>
        </p:txBody>
      </p:sp>
      <p:sp>
        <p:nvSpPr>
          <p:cNvPr id="3" name="Content Placeholder 2"/>
          <p:cNvSpPr>
            <a:spLocks noGrp="1"/>
          </p:cNvSpPr>
          <p:nvPr>
            <p:ph idx="1"/>
          </p:nvPr>
        </p:nvSpPr>
        <p:spPr/>
        <p:txBody>
          <a:bodyPr/>
          <a:lstStyle/>
          <a:p>
            <a:pPr lvl="0"/>
            <a:r>
              <a:rPr/>
              <a:t>Key Functions:</a:t>
            </a:r>
          </a:p>
          <a:p>
            <a:pPr lvl="1"/>
            <a:r>
              <a:rPr/>
              <a:t>The Dirac Delta Function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Standard Functions in Signal processing</a:t>
            </a:r>
          </a:p>
        </p:txBody>
      </p:sp>
      <p:sp>
        <p:nvSpPr>
          <p:cNvPr id="3" name="Content Placeholder 2"/>
          <p:cNvSpPr>
            <a:spLocks noGrp="1"/>
          </p:cNvSpPr>
          <p:nvPr>
            <p:ph idx="1"/>
          </p:nvPr>
        </p:nvSpPr>
        <p:spPr/>
        <p:txBody>
          <a:bodyPr/>
          <a:lstStyle/>
          <a:p>
            <a:pPr lvl="0"/>
            <a:r>
              <a:rPr/>
              <a:t>Key Functions:</a:t>
            </a:r>
          </a:p>
          <a:p>
            <a:pPr lvl="1"/>
            <a:r>
              <a:rPr/>
              <a:t>The Comb Function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Rectangular Function: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Rectangular function, </a:t>
                </a:r>
                <a:r>
                  <a:rPr>
                    <a:latin typeface="Courier"/>
                  </a:rPr>
                  <a:t>rect(t)</a:t>
                </a:r>
                <a:r>
                  <a:rPr/>
                  <a:t>, is a simple but vital function.</a:t>
                </a:r>
              </a:p>
              <a:p>
                <a:pPr lvl="0" indent="0" marL="0">
                  <a:buNone/>
                </a:pPr>
                <a14:m>
                  <m:oMathPara xmlns:m="http://schemas.openxmlformats.org/officeDocument/2006/math">
                    <m:oMathParaPr>
                      <m:jc m:val="center"/>
                    </m:oMathParaPr>
                    <m:oMath>
                      <m:r>
                        <m:rPr>
                          <m:nor/>
                          <m:sty m:val="p"/>
                        </m:rPr>
                        <m:t>rect</m:t>
                      </m:r>
                      <m:d>
                        <m:dPr>
                          <m:begChr m:val="("/>
                          <m:endChr m:val=")"/>
                          <m:sepChr m:val=""/>
                          <m:grow/>
                        </m:dPr>
                        <m:e>
                          <m:r>
                            <m:t>t</m:t>
                          </m:r>
                        </m:e>
                      </m:d>
                      <m:r>
                        <m:rPr>
                          <m:sty m:val="p"/>
                        </m:rPr>
                        <m:t>=</m:t>
                      </m:r>
                      <m:d>
                        <m:dPr>
                          <m:begChr m:val="{"/>
                          <m:endChr m:val=""/>
                          <m:sepChr m:val=""/>
                          <m:grow/>
                        </m:dPr>
                        <m:e>
                          <m:m>
                            <m:mPr>
                              <m:baseJc m:val="center"/>
                              <m:plcHide m:val="on"/>
                              <m:mcs>
                                <m:mc>
                                  <m:mcPr>
                                    <m:mcJc m:val="left"/>
                                    <m:count m:val="1"/>
                                  </m:mcPr>
                                </m:mc>
                                <m:mc>
                                  <m:mcPr>
                                    <m:mcJc m:val="left"/>
                                    <m:count m:val="1"/>
                                  </m:mcPr>
                                </m:mc>
                              </m:mcs>
                            </m:mPr>
                            <m:mr>
                              <m:e>
                                <m:r>
                                  <m:t>1</m:t>
                                </m:r>
                              </m:e>
                              <m:e>
                                <m:d>
                                  <m:dPr>
                                    <m:begChr m:val="|"/>
                                    <m:endChr m:val="|"/>
                                    <m:sepChr m:val=""/>
                                    <m:grow/>
                                  </m:dPr>
                                  <m:e>
                                    <m:r>
                                      <m:t>t</m:t>
                                    </m:r>
                                  </m:e>
                                </m:d>
                                <m:r>
                                  <m:rPr>
                                    <m:sty m:val="p"/>
                                  </m:rPr>
                                  <m:t>≤</m:t>
                                </m:r>
                                <m:r>
                                  <m:t>1</m:t>
                                </m:r>
                                <m:r>
                                  <m:rPr>
                                    <m:sty m:val="p"/>
                                  </m:rPr>
                                  <m:t>/</m:t>
                                </m:r>
                                <m:r>
                                  <m:t>2</m:t>
                                </m:r>
                              </m:e>
                            </m:mr>
                            <m:mr>
                              <m:e>
                                <m:r>
                                  <m:t>0</m:t>
                                </m:r>
                              </m:e>
                              <m:e>
                                <m:d>
                                  <m:dPr>
                                    <m:begChr m:val="|"/>
                                    <m:endChr m:val="|"/>
                                    <m:sepChr m:val=""/>
                                    <m:grow/>
                                  </m:dPr>
                                  <m:e>
                                    <m:r>
                                      <m:t>t</m:t>
                                    </m:r>
                                  </m:e>
                                </m:d>
                                <m:r>
                                  <m:rPr>
                                    <m:sty m:val="p"/>
                                  </m:rPr>
                                  <m:t>&gt;</m:t>
                                </m:r>
                                <m:r>
                                  <m:t>1</m:t>
                                </m:r>
                                <m:r>
                                  <m:rPr>
                                    <m:sty m:val="p"/>
                                  </m:rPr>
                                  <m:t>/</m:t>
                                </m:r>
                                <m:r>
                                  <m:t>2</m:t>
                                </m:r>
                              </m:e>
                            </m:mr>
                          </m:m>
                        </m:e>
                      </m:d>
                    </m:oMath>
                  </m:oMathPara>
                </a14:m>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Rectangular Function: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b="1">
                <a:solidFill>
                  <a:srgbClr val="007020"/>
                </a:solidFill>
                <a:latin typeface="Courier"/>
              </a:rPr>
              <a:t>def</a:t>
            </a:r>
            <a:r>
              <a:rPr>
                <a:latin typeface="Courier"/>
              </a:rPr>
              <a:t> rect_func(t):</a:t>
            </a:r>
            <a:br/>
            <a:r>
              <a:rPr>
                <a:latin typeface="Courier"/>
              </a:rPr>
              <a:t>  </a:t>
            </a:r>
            <a:r>
              <a:rPr b="1">
                <a:solidFill>
                  <a:srgbClr val="007020"/>
                </a:solidFill>
                <a:latin typeface="Courier"/>
              </a:rPr>
              <a:t>return</a:t>
            </a:r>
            <a:r>
              <a:rPr>
                <a:latin typeface="Courier"/>
              </a:rPr>
              <a:t> np.where(np.</a:t>
            </a:r>
            <a:r>
              <a:rPr>
                <a:solidFill>
                  <a:srgbClr val="008000"/>
                </a:solidFill>
                <a:latin typeface="Courier"/>
              </a:rPr>
              <a:t>abs</a:t>
            </a:r>
            <a:r>
              <a:rPr>
                <a:latin typeface="Courier"/>
              </a:rPr>
              <a:t>(t) </a:t>
            </a:r>
            <a:r>
              <a:rPr>
                <a:solidFill>
                  <a:srgbClr val="666666"/>
                </a:solidFill>
                <a:latin typeface="Courier"/>
              </a:rPr>
              <a:t>&lt;=</a:t>
            </a:r>
            <a:r>
              <a:rPr>
                <a:latin typeface="Courier"/>
              </a:rPr>
              <a:t> </a:t>
            </a:r>
            <a:r>
              <a:rPr>
                <a:solidFill>
                  <a:srgbClr val="40A070"/>
                </a:solidFill>
                <a:latin typeface="Courier"/>
              </a:rPr>
              <a:t>0.5</a:t>
            </a:r>
            <a:r>
              <a:rPr>
                <a:latin typeface="Courier"/>
              </a:rPr>
              <a:t>, </a:t>
            </a:r>
            <a:r>
              <a:rPr>
                <a:solidFill>
                  <a:srgbClr val="40A070"/>
                </a:solidFill>
                <a:latin typeface="Courier"/>
              </a:rPr>
              <a:t>1</a:t>
            </a:r>
            <a:r>
              <a:rPr>
                <a:latin typeface="Courier"/>
              </a:rPr>
              <a:t>, </a:t>
            </a:r>
            <a:r>
              <a:rPr>
                <a:solidFill>
                  <a:srgbClr val="40A070"/>
                </a:solidFill>
                <a:latin typeface="Courier"/>
              </a:rPr>
              <a:t>0</a:t>
            </a:r>
            <a:r>
              <a:rPr>
                <a:latin typeface="Courier"/>
              </a:rPr>
              <a:t>)</a:t>
            </a:r>
            <a:br/>
            <a:br/>
            <a:r>
              <a:rPr>
                <a:latin typeface="Courier"/>
              </a:rPr>
              <a:t>t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2</a:t>
            </a:r>
            <a:r>
              <a:rPr>
                <a:latin typeface="Courier"/>
              </a:rPr>
              <a:t>, </a:t>
            </a:r>
            <a:r>
              <a:rPr>
                <a:solidFill>
                  <a:srgbClr val="40A070"/>
                </a:solidFill>
                <a:latin typeface="Courier"/>
              </a:rPr>
              <a:t>2</a:t>
            </a:r>
            <a:r>
              <a:rPr>
                <a:latin typeface="Courier"/>
              </a:rPr>
              <a:t>, </a:t>
            </a:r>
            <a:r>
              <a:rPr>
                <a:solidFill>
                  <a:srgbClr val="40A070"/>
                </a:solidFill>
                <a:latin typeface="Courier"/>
              </a:rPr>
              <a:t>1000</a:t>
            </a:r>
            <a:r>
              <a:rPr>
                <a:latin typeface="Courier"/>
              </a:rPr>
              <a:t>)</a:t>
            </a:r>
            <a:br/>
            <a:r>
              <a:rPr>
                <a:latin typeface="Courier"/>
              </a:rPr>
              <a:t>rect_data </a:t>
            </a:r>
            <a:r>
              <a:rPr>
                <a:solidFill>
                  <a:srgbClr val="666666"/>
                </a:solidFill>
                <a:latin typeface="Courier"/>
              </a:rPr>
              <a:t>=</a:t>
            </a:r>
            <a:r>
              <a:rPr>
                <a:latin typeface="Courier"/>
              </a:rPr>
              <a:t> rect_func(t)</a:t>
            </a:r>
            <a:br/>
            <a:br/>
            <a:r>
              <a:rPr>
                <a:latin typeface="Courier"/>
              </a:rPr>
              <a:t>plt.figure()</a:t>
            </a:r>
            <a:br/>
            <a:r>
              <a:rPr>
                <a:latin typeface="Courier"/>
              </a:rPr>
              <a:t>plt.plot(t, rect_data)</a:t>
            </a:r>
            <a:br/>
            <a:r>
              <a:rPr>
                <a:latin typeface="Courier"/>
              </a:rPr>
              <a:t>plt.title(</a:t>
            </a:r>
            <a:r>
              <a:rPr>
                <a:solidFill>
                  <a:srgbClr val="4070A0"/>
                </a:solidFill>
                <a:latin typeface="Courier"/>
              </a:rPr>
              <a:t>"The Rectangular Function"</a:t>
            </a:r>
            <a:r>
              <a:rPr>
                <a:latin typeface="Courier"/>
              </a:rPr>
              <a:t>)</a:t>
            </a:r>
            <a:br/>
            <a:r>
              <a:rPr>
                <a:latin typeface="Courier"/>
              </a:rPr>
              <a:t>plt.ylim(</a:t>
            </a:r>
            <a:r>
              <a:rPr>
                <a:solidFill>
                  <a:srgbClr val="40A070"/>
                </a:solidFill>
                <a:latin typeface="Courier"/>
              </a:rPr>
              <a:t>0</a:t>
            </a:r>
            <a:r>
              <a:rPr>
                <a:latin typeface="Courier"/>
              </a:rPr>
              <a:t>, </a:t>
            </a:r>
            <a:r>
              <a:rPr>
                <a:solidFill>
                  <a:srgbClr val="40A070"/>
                </a:solidFill>
                <a:latin typeface="Courier"/>
              </a:rPr>
              <a:t>1.2</a:t>
            </a:r>
            <a:r>
              <a:rPr>
                <a:latin typeface="Courier"/>
              </a:rPr>
              <a:t>)</a:t>
            </a:r>
          </a:p>
          <a:p>
            <a:pPr lvl="0" indent="0">
              <a:buNone/>
            </a:pPr>
            <a:r>
              <a:rPr>
                <a:latin typeface="Courier"/>
              </a:rPr>
              <a:t>## (0.0, 1.2)</a:t>
            </a:r>
          </a:p>
          <a:p>
            <a:pPr lvl="0" indent="0">
              <a:buNone/>
            </a:pPr>
            <a:r>
              <a:rPr>
                <a:latin typeface="Courier"/>
              </a:rPr>
              <a:t>rect_function_plot_fig </a:t>
            </a:r>
            <a:r>
              <a:rPr>
                <a:solidFill>
                  <a:srgbClr val="666666"/>
                </a:solidFill>
                <a:latin typeface="Courier"/>
              </a:rPr>
              <a:t>=</a:t>
            </a:r>
            <a:r>
              <a:rPr>
                <a:latin typeface="Courier"/>
              </a:rPr>
              <a:t> plt.gcf()</a:t>
            </a:r>
          </a:p>
        </p:txBody>
      </p:sp>
      <p:pic>
        <p:nvPicPr>
          <p:cNvPr descr="presentation_files/figure-pptx/rect_function_plot_code-5.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Rectangular Function: Visualization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Sinc Function: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Sinc function is the Fourier Transform of the Rect function. It is incredibly important in imaging and sampling theory.</a:t>
                </a:r>
              </a:p>
              <a:p>
                <a:pPr lvl="0" indent="0" marL="0">
                  <a:buNone/>
                </a:pPr>
                <a14:m>
                  <m:oMathPara xmlns:m="http://schemas.openxmlformats.org/officeDocument/2006/math">
                    <m:oMathParaPr>
                      <m:jc m:val="center"/>
                    </m:oMathParaPr>
                    <m:oMath>
                      <m:r>
                        <m:rPr>
                          <m:nor/>
                          <m:sty m:val="p"/>
                        </m:rPr>
                        <m:t>sinc</m:t>
                      </m:r>
                      <m:d>
                        <m:dPr>
                          <m:begChr m:val="("/>
                          <m:endChr m:val=")"/>
                          <m:sepChr m:val=""/>
                          <m:grow/>
                        </m:dPr>
                        <m:e>
                          <m:r>
                            <m:t>t</m:t>
                          </m:r>
                        </m:e>
                      </m:d>
                      <m:r>
                        <m:rPr>
                          <m:sty m:val="p"/>
                        </m:rPr>
                        <m:t>=</m:t>
                      </m:r>
                      <m:f>
                        <m:fPr>
                          <m:type m:val="bar"/>
                        </m:fPr>
                        <m:num>
                          <m:r>
                            <m:rPr>
                              <m:sty m:val="p"/>
                            </m:rPr>
                            <m:t>sin</m:t>
                          </m:r>
                          <m:d>
                            <m:dPr>
                              <m:begChr m:val="("/>
                              <m:endChr m:val=")"/>
                              <m:sepChr m:val=""/>
                              <m:grow/>
                            </m:dPr>
                            <m:e>
                              <m:r>
                                <m:t>π</m:t>
                              </m:r>
                              <m:r>
                                <m:t>t</m:t>
                              </m:r>
                            </m:e>
                          </m:d>
                        </m:num>
                        <m:den>
                          <m:r>
                            <m:t>π</m:t>
                          </m:r>
                          <m:r>
                            <m:t>t</m:t>
                          </m:r>
                        </m:den>
                      </m:f>
                    </m:oMath>
                  </m:oMathPara>
                </a14:m>
              </a:p>
            </p:txBody>
          </p:sp>
        </mc:Choice>
      </mc:AlternateContent>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Sinc Function: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t_sinc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40A070"/>
                </a:solidFill>
                <a:latin typeface="Courier"/>
              </a:rPr>
              <a:t>2000</a:t>
            </a:r>
            <a:r>
              <a:rPr>
                <a:latin typeface="Courier"/>
              </a:rPr>
              <a:t>)</a:t>
            </a:r>
            <a:br/>
            <a:r>
              <a:rPr i="1">
                <a:solidFill>
                  <a:srgbClr val="60A0B0"/>
                </a:solidFill>
                <a:latin typeface="Courier"/>
              </a:rPr>
              <a:t># The numpy sinc function is normalized, so we need to adjust for that</a:t>
            </a:r>
            <a:br/>
            <a:r>
              <a:rPr>
                <a:latin typeface="Courier"/>
              </a:rPr>
              <a:t>sinc_data </a:t>
            </a:r>
            <a:r>
              <a:rPr>
                <a:solidFill>
                  <a:srgbClr val="666666"/>
                </a:solidFill>
                <a:latin typeface="Courier"/>
              </a:rPr>
              <a:t>=</a:t>
            </a:r>
            <a:r>
              <a:rPr>
                <a:latin typeface="Courier"/>
              </a:rPr>
              <a:t> np.sinc(t_sinc)</a:t>
            </a:r>
            <a:br/>
            <a:br/>
            <a:r>
              <a:rPr>
                <a:latin typeface="Courier"/>
              </a:rPr>
              <a:t>plt.figure()</a:t>
            </a:r>
            <a:br/>
            <a:r>
              <a:rPr>
                <a:latin typeface="Courier"/>
              </a:rPr>
              <a:t>plt.plot(t_sinc, sinc_data)</a:t>
            </a:r>
            <a:br/>
            <a:r>
              <a:rPr>
                <a:latin typeface="Courier"/>
              </a:rPr>
              <a:t>plt.axhline(</a:t>
            </a:r>
            <a:r>
              <a:rPr>
                <a:solidFill>
                  <a:srgbClr val="40A070"/>
                </a:solidFill>
                <a:latin typeface="Courier"/>
              </a:rPr>
              <a:t>0</a:t>
            </a:r>
            <a:r>
              <a:rPr>
                <a:latin typeface="Courier"/>
              </a:rPr>
              <a:t>, color</a:t>
            </a:r>
            <a:r>
              <a:rPr>
                <a:solidFill>
                  <a:srgbClr val="666666"/>
                </a:solidFill>
                <a:latin typeface="Courier"/>
              </a:rPr>
              <a:t>=</a:t>
            </a:r>
            <a:r>
              <a:rPr>
                <a:solidFill>
                  <a:srgbClr val="4070A0"/>
                </a:solidFill>
                <a:latin typeface="Courier"/>
              </a:rPr>
              <a:t>'grey'</a:t>
            </a:r>
            <a:r>
              <a:rPr>
                <a:latin typeface="Courier"/>
              </a:rPr>
              <a:t>, linestyle</a:t>
            </a:r>
            <a:r>
              <a:rPr>
                <a:solidFill>
                  <a:srgbClr val="666666"/>
                </a:solidFill>
                <a:latin typeface="Courier"/>
              </a:rPr>
              <a:t>=</a:t>
            </a:r>
            <a:r>
              <a:rPr>
                <a:solidFill>
                  <a:srgbClr val="4070A0"/>
                </a:solidFill>
                <a:latin typeface="Courier"/>
              </a:rPr>
              <a:t>'--'</a:t>
            </a:r>
            <a:r>
              <a:rPr>
                <a:latin typeface="Courier"/>
              </a:rPr>
              <a:t>)</a:t>
            </a:r>
            <a:br/>
            <a:r>
              <a:rPr>
                <a:latin typeface="Courier"/>
              </a:rPr>
              <a:t>plt.title(</a:t>
            </a:r>
            <a:r>
              <a:rPr>
                <a:solidFill>
                  <a:srgbClr val="4070A0"/>
                </a:solidFill>
                <a:latin typeface="Courier"/>
              </a:rPr>
              <a:t>"The Sinc Function"</a:t>
            </a:r>
            <a:r>
              <a:rPr>
                <a:latin typeface="Courier"/>
              </a:rPr>
              <a:t>)</a:t>
            </a:r>
            <a:br/>
            <a:r>
              <a:rPr>
                <a:latin typeface="Courier"/>
              </a:rPr>
              <a:t>sinc_function_plot_fig </a:t>
            </a:r>
            <a:r>
              <a:rPr>
                <a:solidFill>
                  <a:srgbClr val="666666"/>
                </a:solidFill>
                <a:latin typeface="Courier"/>
              </a:rPr>
              <a:t>=</a:t>
            </a:r>
            <a:r>
              <a:rPr>
                <a:latin typeface="Courier"/>
              </a:rPr>
              <a:t> plt.gcf()</a:t>
            </a:r>
          </a:p>
        </p:txBody>
      </p:sp>
      <p:pic>
        <p:nvPicPr>
          <p:cNvPr descr="presentation_files/figure-pptx/sinc_function_plot_code-7.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Sinc Function: Visualization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Pop Quiz!</a:t>
            </a:r>
          </a:p>
        </p:txBody>
      </p:sp>
      <p:sp>
        <p:nvSpPr>
          <p:cNvPr id="3" name="Content Placeholder 2"/>
          <p:cNvSpPr>
            <a:spLocks noGrp="1"/>
          </p:cNvSpPr>
          <p:nvPr>
            <p:ph idx="1"/>
          </p:nvPr>
        </p:nvSpPr>
        <p:spPr/>
        <p:txBody>
          <a:bodyPr/>
          <a:lstStyle/>
          <a:p>
            <a:pPr lvl="0" indent="0" marL="0">
              <a:buNone/>
            </a:pPr>
            <a:r>
              <a:rPr/>
              <a:t>What is the value of </a:t>
            </a:r>
            <a:r>
              <a:rPr>
                <a:latin typeface="Courier"/>
              </a:rPr>
              <a:t>rect(1)</a:t>
            </a:r>
            <a:r>
              <a:rPr/>
              <a:t>?</a:t>
            </a:r>
          </a:p>
          <a:p>
            <a:pPr lvl="0" indent="-342900" marL="342900">
              <a:buAutoNum type="alphaUcParenR"/>
            </a:pPr>
            <a:r>
              <a:rPr/>
              <a:t>1</a:t>
            </a:r>
          </a:p>
          <a:p>
            <a:pPr lvl="0" indent="-342900" marL="342900">
              <a:buAutoNum type="alphaUcParenR"/>
            </a:pPr>
            <a:r>
              <a:rPr/>
              <a:t>0.5</a:t>
            </a:r>
          </a:p>
          <a:p>
            <a:pPr lvl="0" indent="-342900" marL="342900">
              <a:buAutoNum type="alphaUcParenR"/>
            </a:pPr>
            <a:r>
              <a:rPr/>
              <a:t>0</a:t>
            </a:r>
          </a:p>
          <a:p>
            <a:pPr lvl="0" indent="-342900" marL="342900">
              <a:buAutoNum type="alphaUcParenR"/>
            </a:pPr>
            <a:r>
              <a:rPr/>
              <a:t>Undefined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Dirac Delta Function: Concept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Dirac Delta, </a:t>
                </a:r>
                <a:r>
                  <a:rPr>
                    <a:latin typeface="Courier"/>
                  </a:rPr>
                  <a:t>δ(t)</a:t>
                </a:r>
                <a:r>
                  <a:rPr/>
                  <a:t>, is a “generalized function.” It’s not a true function in the classical sense.</a:t>
                </a:r>
              </a:p>
              <a:p>
                <a:pPr lvl="0"/>
                <a:r>
                  <a:rPr/>
                  <a:t>It is infinitely tall.</a:t>
                </a:r>
              </a:p>
              <a:p>
                <a:pPr lvl="0"/>
                <a:r>
                  <a:rPr/>
                  <a:t>It is infinitesimally narrow.</a:t>
                </a:r>
              </a:p>
              <a:p>
                <a:pPr lvl="0"/>
                <a:r>
                  <a:rPr/>
                  <a:t>Its total area is exactly 1.</a:t>
                </a:r>
              </a:p>
              <a:p>
                <a:pPr lvl="0" indent="0" marL="0">
                  <a:buNone/>
                </a:pPr>
                <a14:m>
                  <m:oMathPara xmlns:m="http://schemas.openxmlformats.org/officeDocument/2006/math">
                    <m:oMathParaPr>
                      <m:jc m:val="center"/>
                    </m:oMathParaPr>
                    <m:oMath>
                      <m:r>
                        <m:t>δ</m:t>
                      </m:r>
                      <m:d>
                        <m:dPr>
                          <m:begChr m:val="("/>
                          <m:endChr m:val=")"/>
                          <m:sepChr m:val=""/>
                          <m:grow/>
                        </m:dPr>
                        <m:e>
                          <m:r>
                            <m:t>t</m:t>
                          </m:r>
                        </m:e>
                      </m:d>
                      <m:r>
                        <m:rPr>
                          <m:sty m:val="p"/>
                        </m:rPr>
                        <m:t>=</m:t>
                      </m:r>
                      <m:r>
                        <m:t>0</m:t>
                      </m:r>
                      <m:r>
                        <m:rPr>
                          <m:nor/>
                          <m:sty m:val="p"/>
                        </m:rPr>
                        <m:t> for </m:t>
                      </m:r>
                      <m:r>
                        <m:t>t</m:t>
                      </m:r>
                      <m:r>
                        <m:rPr>
                          <m:sty m:val="p"/>
                        </m:rPr>
                        <m:t>≠</m:t>
                      </m:r>
                      <m:r>
                        <m:t>0</m:t>
                      </m:r>
                      <m:r>
                        <m:rPr>
                          <m:sty m:val="p"/>
                        </m:rPr>
                        <m:t>,</m:t>
                      </m:r>
                      <m:r>
                        <m:t> </m:t>
                      </m:r>
                      <m:r>
                        <m:rPr>
                          <m:nor/>
                          <m:sty m:val="p"/>
                        </m:rPr>
                        <m:t>and</m:t>
                      </m:r>
                      <m:r>
                        <m:t> </m:t>
                      </m:r>
                      <m:nary>
                        <m:naryPr>
                          <m:chr m:val="∫"/>
                          <m:limLoc m:val="subSup"/>
                          <m:subHide m:val="off"/>
                          <m:supHide m:val="off"/>
                        </m:naryPr>
                        <m:sub>
                          <m:r>
                            <m:rPr>
                              <m:sty m:val="p"/>
                            </m:rPr>
                            <m:t>−</m:t>
                          </m:r>
                          <m:r>
                            <m:rPr>
                              <m:sty m:val="p"/>
                            </m:rPr>
                            <m:t>∞</m:t>
                          </m:r>
                        </m:sub>
                        <m:sup>
                          <m:r>
                            <m:rPr>
                              <m:sty m:val="p"/>
                            </m:rPr>
                            <m:t>∞</m:t>
                          </m:r>
                        </m:sup>
                        <m:e>
                          <m:r>
                            <m:t>δ</m:t>
                          </m:r>
                        </m:e>
                      </m:nary>
                      <m:d>
                        <m:dPr>
                          <m:begChr m:val="("/>
                          <m:endChr m:val=")"/>
                          <m:sepChr m:val=""/>
                          <m:grow/>
                        </m:dPr>
                        <m:e>
                          <m:r>
                            <m:t>t</m:t>
                          </m:r>
                        </m:e>
                      </m:d>
                      <m:r>
                        <m:t>d</m:t>
                      </m:r>
                      <m:r>
                        <m:t>t</m:t>
                      </m:r>
                      <m:r>
                        <m:rPr>
                          <m:sty m:val="p"/>
                        </m:rPr>
                        <m:t>=</m:t>
                      </m:r>
                      <m:r>
                        <m:t>1</m:t>
                      </m:r>
                    </m:oMath>
                  </m:oMathPara>
                </a14:m>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Dirac Delta Function: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plt.figure()</a:t>
            </a:r>
            <a:br/>
            <a:r>
              <a:rPr>
                <a:latin typeface="Courier"/>
              </a:rPr>
              <a:t>plt.arrow(</a:t>
            </a:r>
            <a:r>
              <a:rPr>
                <a:solidFill>
                  <a:srgbClr val="40A070"/>
                </a:solidFill>
                <a:latin typeface="Courier"/>
              </a:rPr>
              <a:t>0</a:t>
            </a:r>
            <a:r>
              <a:rPr>
                <a:latin typeface="Courier"/>
              </a:rPr>
              <a:t>, </a:t>
            </a:r>
            <a:r>
              <a:rPr>
                <a:solidFill>
                  <a:srgbClr val="40A070"/>
                </a:solidFill>
                <a:latin typeface="Courier"/>
              </a:rPr>
              <a:t>0</a:t>
            </a:r>
            <a:r>
              <a:rPr>
                <a:latin typeface="Courier"/>
              </a:rPr>
              <a:t>, </a:t>
            </a:r>
            <a:r>
              <a:rPr>
                <a:solidFill>
                  <a:srgbClr val="40A070"/>
                </a:solidFill>
                <a:latin typeface="Courier"/>
              </a:rPr>
              <a:t>0</a:t>
            </a:r>
            <a:r>
              <a:rPr>
                <a:latin typeface="Courier"/>
              </a:rPr>
              <a:t>, </a:t>
            </a:r>
            <a:r>
              <a:rPr>
                <a:solidFill>
                  <a:srgbClr val="40A070"/>
                </a:solidFill>
                <a:latin typeface="Courier"/>
              </a:rPr>
              <a:t>1</a:t>
            </a:r>
            <a:r>
              <a:rPr>
                <a:latin typeface="Courier"/>
              </a:rPr>
              <a:t>, head_width</a:t>
            </a:r>
            <a:r>
              <a:rPr>
                <a:solidFill>
                  <a:srgbClr val="666666"/>
                </a:solidFill>
                <a:latin typeface="Courier"/>
              </a:rPr>
              <a:t>=</a:t>
            </a:r>
            <a:r>
              <a:rPr>
                <a:solidFill>
                  <a:srgbClr val="40A070"/>
                </a:solidFill>
                <a:latin typeface="Courier"/>
              </a:rPr>
              <a:t>0.2</a:t>
            </a:r>
            <a:r>
              <a:rPr>
                <a:latin typeface="Courier"/>
              </a:rPr>
              <a:t>, head_length</a:t>
            </a:r>
            <a:r>
              <a:rPr>
                <a:solidFill>
                  <a:srgbClr val="666666"/>
                </a:solidFill>
                <a:latin typeface="Courier"/>
              </a:rPr>
              <a:t>=</a:t>
            </a:r>
            <a:r>
              <a:rPr>
                <a:solidFill>
                  <a:srgbClr val="40A070"/>
                </a:solidFill>
                <a:latin typeface="Courier"/>
              </a:rPr>
              <a:t>0.15</a:t>
            </a:r>
            <a:r>
              <a:rPr>
                <a:latin typeface="Courier"/>
              </a:rPr>
              <a:t>, fc</a:t>
            </a:r>
            <a:r>
              <a:rPr>
                <a:solidFill>
                  <a:srgbClr val="666666"/>
                </a:solidFill>
                <a:latin typeface="Courier"/>
              </a:rPr>
              <a:t>=</a:t>
            </a:r>
            <a:r>
              <a:rPr>
                <a:solidFill>
                  <a:srgbClr val="4070A0"/>
                </a:solidFill>
                <a:latin typeface="Courier"/>
              </a:rPr>
              <a:t>'black'</a:t>
            </a:r>
            <a:r>
              <a:rPr>
                <a:latin typeface="Courier"/>
              </a:rPr>
              <a:t>, ec</a:t>
            </a:r>
            <a:r>
              <a:rPr>
                <a:solidFill>
                  <a:srgbClr val="666666"/>
                </a:solidFill>
                <a:latin typeface="Courier"/>
              </a:rPr>
              <a:t>=</a:t>
            </a:r>
            <a:r>
              <a:rPr>
                <a:solidFill>
                  <a:srgbClr val="4070A0"/>
                </a:solidFill>
                <a:latin typeface="Courier"/>
              </a:rPr>
              <a:t>'black'</a:t>
            </a:r>
            <a:r>
              <a:rPr>
                <a:latin typeface="Courier"/>
              </a:rPr>
              <a:t>, length_includes_head</a:t>
            </a:r>
            <a:r>
              <a:rPr>
                <a:solidFill>
                  <a:srgbClr val="666666"/>
                </a:solidFill>
                <a:latin typeface="Courier"/>
              </a:rPr>
              <a:t>=</a:t>
            </a:r>
            <a:r>
              <a:rPr>
                <a:solidFill>
                  <a:srgbClr val="19177C"/>
                </a:solidFill>
                <a:latin typeface="Courier"/>
              </a:rPr>
              <a:t>True</a:t>
            </a:r>
            <a:r>
              <a:rPr>
                <a:latin typeface="Courier"/>
              </a:rPr>
              <a:t>)</a:t>
            </a:r>
            <a:br/>
            <a:r>
              <a:rPr>
                <a:latin typeface="Courier"/>
              </a:rPr>
              <a:t>plt.axhline(</a:t>
            </a:r>
            <a:r>
              <a:rPr>
                <a:solidFill>
                  <a:srgbClr val="40A070"/>
                </a:solidFill>
                <a:latin typeface="Courier"/>
              </a:rPr>
              <a:t>0</a:t>
            </a:r>
            <a:r>
              <a:rPr>
                <a:latin typeface="Courier"/>
              </a:rPr>
              <a:t>, color</a:t>
            </a:r>
            <a:r>
              <a:rPr>
                <a:solidFill>
                  <a:srgbClr val="666666"/>
                </a:solidFill>
                <a:latin typeface="Courier"/>
              </a:rPr>
              <a:t>=</a:t>
            </a:r>
            <a:r>
              <a:rPr>
                <a:solidFill>
                  <a:srgbClr val="4070A0"/>
                </a:solidFill>
                <a:latin typeface="Courier"/>
              </a:rPr>
              <a:t>'black'</a:t>
            </a:r>
            <a:r>
              <a:rPr>
                <a:latin typeface="Courier"/>
              </a:rPr>
              <a:t>)</a:t>
            </a:r>
            <a:br/>
            <a:r>
              <a:rPr>
                <a:latin typeface="Courier"/>
              </a:rPr>
              <a:t>plt.xlim(</a:t>
            </a:r>
            <a:r>
              <a:rPr>
                <a:solidFill>
                  <a:srgbClr val="666666"/>
                </a:solidFill>
                <a:latin typeface="Courier"/>
              </a:rPr>
              <a:t>-</a:t>
            </a:r>
            <a:r>
              <a:rPr>
                <a:solidFill>
                  <a:srgbClr val="40A070"/>
                </a:solidFill>
                <a:latin typeface="Courier"/>
              </a:rPr>
              <a:t>2</a:t>
            </a:r>
            <a:r>
              <a:rPr>
                <a:latin typeface="Courier"/>
              </a:rPr>
              <a:t>, </a:t>
            </a:r>
            <a:r>
              <a:rPr>
                <a:solidFill>
                  <a:srgbClr val="40A070"/>
                </a:solidFill>
                <a:latin typeface="Courier"/>
              </a:rPr>
              <a:t>2</a:t>
            </a:r>
            <a:r>
              <a:rPr>
                <a:latin typeface="Courier"/>
              </a:rPr>
              <a:t>)</a:t>
            </a:r>
          </a:p>
          <a:p>
            <a:pPr lvl="0" indent="0">
              <a:buNone/>
            </a:pPr>
            <a:r>
              <a:rPr>
                <a:latin typeface="Courier"/>
              </a:rPr>
              <a:t>## (-2.0, 2.0)</a:t>
            </a:r>
          </a:p>
          <a:p>
            <a:pPr lvl="0" indent="0">
              <a:buNone/>
            </a:pPr>
            <a:r>
              <a:rPr>
                <a:latin typeface="Courier"/>
              </a:rPr>
              <a:t>plt.ylim(</a:t>
            </a:r>
            <a:r>
              <a:rPr>
                <a:solidFill>
                  <a:srgbClr val="40A070"/>
                </a:solidFill>
                <a:latin typeface="Courier"/>
              </a:rPr>
              <a:t>0</a:t>
            </a:r>
            <a:r>
              <a:rPr>
                <a:latin typeface="Courier"/>
              </a:rPr>
              <a:t>, </a:t>
            </a:r>
            <a:r>
              <a:rPr>
                <a:solidFill>
                  <a:srgbClr val="40A070"/>
                </a:solidFill>
                <a:latin typeface="Courier"/>
              </a:rPr>
              <a:t>1.2</a:t>
            </a:r>
            <a:r>
              <a:rPr>
                <a:latin typeface="Courier"/>
              </a:rPr>
              <a:t>)</a:t>
            </a:r>
          </a:p>
          <a:p>
            <a:pPr lvl="0" indent="0">
              <a:buNone/>
            </a:pPr>
            <a:r>
              <a:rPr>
                <a:latin typeface="Courier"/>
              </a:rPr>
              <a:t>## (0.0, 1.2)</a:t>
            </a:r>
          </a:p>
          <a:p>
            <a:pPr lvl="0" indent="0">
              <a:buNone/>
            </a:pPr>
            <a:r>
              <a:rPr>
                <a:latin typeface="Courier"/>
              </a:rPr>
              <a:t>plt.title(</a:t>
            </a:r>
            <a:r>
              <a:rPr>
                <a:solidFill>
                  <a:srgbClr val="4070A0"/>
                </a:solidFill>
                <a:latin typeface="Courier"/>
              </a:rPr>
              <a:t>"The Dirac Delta Function δ(t)"</a:t>
            </a:r>
            <a:r>
              <a:rPr>
                <a:latin typeface="Courier"/>
              </a:rPr>
              <a:t>)</a:t>
            </a:r>
            <a:br/>
            <a:r>
              <a:rPr>
                <a:latin typeface="Courier"/>
              </a:rPr>
              <a:t>plt.xlabel(</a:t>
            </a:r>
            <a:r>
              <a:rPr>
                <a:solidFill>
                  <a:srgbClr val="4070A0"/>
                </a:solidFill>
                <a:latin typeface="Courier"/>
              </a:rPr>
              <a:t>"t"</a:t>
            </a:r>
            <a:r>
              <a:rPr>
                <a:latin typeface="Courier"/>
              </a:rPr>
              <a:t>)</a:t>
            </a:r>
            <a:br/>
            <a:r>
              <a:rPr>
                <a:latin typeface="Courier"/>
              </a:rPr>
              <a:t>plt.tick_params(axis</a:t>
            </a:r>
            <a:r>
              <a:rPr>
                <a:solidFill>
                  <a:srgbClr val="666666"/>
                </a:solidFill>
                <a:latin typeface="Courier"/>
              </a:rPr>
              <a:t>=</a:t>
            </a:r>
            <a:r>
              <a:rPr>
                <a:solidFill>
                  <a:srgbClr val="4070A0"/>
                </a:solidFill>
                <a:latin typeface="Courier"/>
              </a:rPr>
              <a:t>'y'</a:t>
            </a:r>
            <a:r>
              <a:rPr>
                <a:latin typeface="Courier"/>
              </a:rPr>
              <a:t>, which</a:t>
            </a:r>
            <a:r>
              <a:rPr>
                <a:solidFill>
                  <a:srgbClr val="666666"/>
                </a:solidFill>
                <a:latin typeface="Courier"/>
              </a:rPr>
              <a:t>=</a:t>
            </a:r>
            <a:r>
              <a:rPr>
                <a:solidFill>
                  <a:srgbClr val="4070A0"/>
                </a:solidFill>
                <a:latin typeface="Courier"/>
              </a:rPr>
              <a:t>'both'</a:t>
            </a:r>
            <a:r>
              <a:rPr>
                <a:latin typeface="Courier"/>
              </a:rPr>
              <a:t>, left</a:t>
            </a:r>
            <a:r>
              <a:rPr>
                <a:solidFill>
                  <a:srgbClr val="666666"/>
                </a:solidFill>
                <a:latin typeface="Courier"/>
              </a:rPr>
              <a:t>=</a:t>
            </a:r>
            <a:r>
              <a:rPr>
                <a:solidFill>
                  <a:srgbClr val="19177C"/>
                </a:solidFill>
                <a:latin typeface="Courier"/>
              </a:rPr>
              <a:t>False</a:t>
            </a:r>
            <a:r>
              <a:rPr>
                <a:latin typeface="Courier"/>
              </a:rPr>
              <a:t>, right</a:t>
            </a:r>
            <a:r>
              <a:rPr>
                <a:solidFill>
                  <a:srgbClr val="666666"/>
                </a:solidFill>
                <a:latin typeface="Courier"/>
              </a:rPr>
              <a:t>=</a:t>
            </a:r>
            <a:r>
              <a:rPr>
                <a:solidFill>
                  <a:srgbClr val="19177C"/>
                </a:solidFill>
                <a:latin typeface="Courier"/>
              </a:rPr>
              <a:t>False</a:t>
            </a:r>
            <a:r>
              <a:rPr>
                <a:latin typeface="Courier"/>
              </a:rPr>
              <a:t>, labelleft</a:t>
            </a:r>
            <a:r>
              <a:rPr>
                <a:solidFill>
                  <a:srgbClr val="666666"/>
                </a:solidFill>
                <a:latin typeface="Courier"/>
              </a:rPr>
              <a:t>=</a:t>
            </a:r>
            <a:r>
              <a:rPr>
                <a:solidFill>
                  <a:srgbClr val="19177C"/>
                </a:solidFill>
                <a:latin typeface="Courier"/>
              </a:rPr>
              <a:t>False</a:t>
            </a:r>
            <a:r>
              <a:rPr>
                <a:latin typeface="Courier"/>
              </a:rPr>
              <a:t>)</a:t>
            </a:r>
            <a:br/>
            <a:r>
              <a:rPr>
                <a:latin typeface="Courier"/>
              </a:rPr>
              <a:t>dirac_delta_plot_fig </a:t>
            </a:r>
            <a:r>
              <a:rPr>
                <a:solidFill>
                  <a:srgbClr val="666666"/>
                </a:solidFill>
                <a:latin typeface="Courier"/>
              </a:rPr>
              <a:t>=</a:t>
            </a:r>
            <a:r>
              <a:rPr>
                <a:latin typeface="Courier"/>
              </a:rPr>
              <a:t> plt.gcf()</a:t>
            </a:r>
          </a:p>
        </p:txBody>
      </p:sp>
      <p:pic>
        <p:nvPicPr>
          <p:cNvPr descr="presentation_files/figure-pptx/dirac_delta_plot_code-9.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Dirac Delta Function: Visualization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Dirac Delta: Sifting Property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most important property of the delta function is the </a:t>
                </a:r>
                <a:r>
                  <a:rPr b="1"/>
                  <a:t>sifting property</a:t>
                </a:r>
                <a:r>
                  <a:rPr/>
                  <a:t>. It “pulls out” the value of a function at a single point.</a:t>
                </a:r>
              </a:p>
              <a:p>
                <a:pPr lvl="0" indent="0" marL="0">
                  <a:buNone/>
                </a:pPr>
                <a14:m>
                  <m:oMathPara xmlns:m="http://schemas.openxmlformats.org/officeDocument/2006/math">
                    <m:oMathParaPr>
                      <m:jc m:val="center"/>
                    </m:oMathParaPr>
                    <m:oMath>
                      <m:nary>
                        <m:naryPr>
                          <m:chr m:val="∫"/>
                          <m:limLoc m:val="subSup"/>
                          <m:subHide m:val="off"/>
                          <m:supHide m:val="off"/>
                        </m:naryPr>
                        <m:sub>
                          <m:r>
                            <m:rPr>
                              <m:sty m:val="p"/>
                            </m:rPr>
                            <m:t>−</m:t>
                          </m:r>
                          <m:r>
                            <m:rPr>
                              <m:sty m:val="p"/>
                            </m:rPr>
                            <m:t>∞</m:t>
                          </m:r>
                        </m:sub>
                        <m:sup>
                          <m:r>
                            <m:rPr>
                              <m:sty m:val="p"/>
                            </m:rPr>
                            <m:t>∞</m:t>
                          </m:r>
                        </m:sup>
                        <m:e>
                          <m:r>
                            <m:t>f</m:t>
                          </m:r>
                        </m:e>
                      </m:nary>
                      <m:d>
                        <m:dPr>
                          <m:begChr m:val="("/>
                          <m:endChr m:val=")"/>
                          <m:sepChr m:val=""/>
                          <m:grow/>
                        </m:dPr>
                        <m:e>
                          <m:r>
                            <m:t>t</m:t>
                          </m:r>
                        </m:e>
                      </m:d>
                      <m:r>
                        <m:t>δ</m:t>
                      </m:r>
                      <m:d>
                        <m:dPr>
                          <m:begChr m:val="("/>
                          <m:endChr m:val=")"/>
                          <m:sepChr m:val=""/>
                          <m:grow/>
                        </m:dPr>
                        <m:e>
                          <m:r>
                            <m:t>t</m:t>
                          </m:r>
                          <m:r>
                            <m:rPr>
                              <m:sty m:val="p"/>
                            </m:rPr>
                            <m:t>−</m:t>
                          </m:r>
                          <m:sSub>
                            <m:e>
                              <m:r>
                                <m:t>t</m:t>
                              </m:r>
                            </m:e>
                            <m:sub>
                              <m:r>
                                <m:t>0</m:t>
                              </m:r>
                            </m:sub>
                          </m:sSub>
                        </m:e>
                      </m:d>
                      <m:r>
                        <m:t>d</m:t>
                      </m:r>
                      <m:r>
                        <m:t>t</m:t>
                      </m:r>
                      <m:r>
                        <m:rPr>
                          <m:sty m:val="p"/>
                        </m:rPr>
                        <m:t>=</m:t>
                      </m:r>
                      <m:r>
                        <m:t>f</m:t>
                      </m:r>
                      <m:d>
                        <m:dPr>
                          <m:begChr m:val="("/>
                          <m:endChr m:val=")"/>
                          <m:sepChr m:val=""/>
                          <m:grow/>
                        </m:dPr>
                        <m:e>
                          <m:sSub>
                            <m:e>
                              <m:r>
                                <m:t>t</m:t>
                              </m:r>
                            </m:e>
                            <m:sub>
                              <m:r>
                                <m:t>0</m:t>
                              </m:r>
                            </m:sub>
                          </m:sSub>
                        </m:e>
                      </m:d>
                    </m:oMath>
                  </m:oMathPara>
                </a14:m>
              </a:p>
            </p:txBody>
          </p:sp>
        </mc:Choice>
      </mc:AlternateContent>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Comb Function (Shah Function)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Comb function is an infinite series of Dirac delta functions spaced at regular intervals.</a:t>
                </a:r>
              </a:p>
              <a:p>
                <a:pPr lvl="0" indent="0" marL="0">
                  <a:buNone/>
                </a:pPr>
                <a14:m>
                  <m:oMathPara xmlns:m="http://schemas.openxmlformats.org/officeDocument/2006/math">
                    <m:oMathParaPr>
                      <m:jc m:val="center"/>
                    </m:oMathParaPr>
                    <m:oMath>
                      <m:r>
                        <m:rPr>
                          <m:nor/>
                          <m:sty m:val="p"/>
                        </m:rPr>
                        <m:t>comb</m:t>
                      </m:r>
                      <m:d>
                        <m:dPr>
                          <m:begChr m:val="("/>
                          <m:endChr m:val=")"/>
                          <m:sepChr m:val=""/>
                          <m:grow/>
                        </m:dPr>
                        <m:e>
                          <m:r>
                            <m:t>t</m:t>
                          </m:r>
                        </m:e>
                      </m:d>
                      <m:r>
                        <m:rPr>
                          <m:sty m:val="p"/>
                        </m:rPr>
                        <m:t>=</m:t>
                      </m:r>
                      <m:nary>
                        <m:naryPr>
                          <m:chr m:val="∑"/>
                          <m:limLoc m:val="undOvr"/>
                          <m:subHide m:val="off"/>
                          <m:supHide m:val="off"/>
                        </m:naryPr>
                        <m:sub>
                          <m:r>
                            <m:t>n</m:t>
                          </m:r>
                          <m:r>
                            <m:rPr>
                              <m:sty m:val="p"/>
                            </m:rPr>
                            <m:t>=</m:t>
                          </m:r>
                          <m:r>
                            <m:rPr>
                              <m:sty m:val="p"/>
                            </m:rPr>
                            <m:t>−</m:t>
                          </m:r>
                          <m:r>
                            <m:rPr>
                              <m:sty m:val="p"/>
                            </m:rPr>
                            <m:t>∞</m:t>
                          </m:r>
                        </m:sub>
                        <m:sup>
                          <m:r>
                            <m:rPr>
                              <m:sty m:val="p"/>
                            </m:rPr>
                            <m:t>∞</m:t>
                          </m:r>
                        </m:sup>
                        <m:e>
                          <m:r>
                            <m:t>δ</m:t>
                          </m:r>
                        </m:e>
                      </m:nary>
                      <m:d>
                        <m:dPr>
                          <m:begChr m:val="("/>
                          <m:endChr m:val=")"/>
                          <m:sepChr m:val=""/>
                          <m:grow/>
                        </m:dPr>
                        <m:e>
                          <m:r>
                            <m:t>t</m:t>
                          </m:r>
                          <m:r>
                            <m:rPr>
                              <m:sty m:val="p"/>
                            </m:rPr>
                            <m:t>−</m:t>
                          </m:r>
                          <m:r>
                            <m:t>n</m:t>
                          </m:r>
                          <m:r>
                            <m:t>T</m:t>
                          </m:r>
                        </m:e>
                      </m:d>
                    </m:oMath>
                  </m:oMathPara>
                </a14:m>
              </a:p>
              <a:p>
                <a:pPr lvl="0"/>
                <a:r>
                  <a:rPr/>
                  <a:t>It is also known as the Shah function or an impulse train.</a:t>
                </a:r>
              </a:p>
              <a:p>
                <a:pPr lvl="0"/>
                <a:r>
                  <a:rPr/>
                  <a:t>It is the mathematical model for the process of sampling.</a:t>
                </a:r>
              </a:p>
            </p:txBody>
          </p:sp>
        </mc:Choice>
      </mc:AlternateContent>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Comb Function: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x </a:t>
            </a:r>
            <a:r>
              <a:rPr>
                <a:solidFill>
                  <a:srgbClr val="666666"/>
                </a:solidFill>
                <a:latin typeface="Courier"/>
              </a:rPr>
              <a:t>=</a:t>
            </a:r>
            <a:r>
              <a:rPr>
                <a:latin typeface="Courier"/>
              </a:rPr>
              <a:t> np.arange(</a:t>
            </a:r>
            <a:r>
              <a:rPr>
                <a:solidFill>
                  <a:srgbClr val="666666"/>
                </a:solidFill>
                <a:latin typeface="Courier"/>
              </a:rPr>
              <a:t>-</a:t>
            </a:r>
            <a:r>
              <a:rPr>
                <a:solidFill>
                  <a:srgbClr val="40A070"/>
                </a:solidFill>
                <a:latin typeface="Courier"/>
              </a:rPr>
              <a:t>3</a:t>
            </a:r>
            <a:r>
              <a:rPr>
                <a:latin typeface="Courier"/>
              </a:rPr>
              <a:t>, </a:t>
            </a:r>
            <a:r>
              <a:rPr>
                <a:solidFill>
                  <a:srgbClr val="40A070"/>
                </a:solidFill>
                <a:latin typeface="Courier"/>
              </a:rPr>
              <a:t>4</a:t>
            </a:r>
            <a:r>
              <a:rPr>
                <a:latin typeface="Courier"/>
              </a:rPr>
              <a:t>)</a:t>
            </a:r>
            <a:br/>
            <a:br/>
            <a:r>
              <a:rPr>
                <a:latin typeface="Courier"/>
              </a:rPr>
              <a:t>plt.figure()</a:t>
            </a:r>
            <a:br/>
            <a:r>
              <a:rPr b="1">
                <a:solidFill>
                  <a:srgbClr val="007020"/>
                </a:solidFill>
                <a:latin typeface="Courier"/>
              </a:rPr>
              <a:t>for</a:t>
            </a:r>
            <a:r>
              <a:rPr>
                <a:latin typeface="Courier"/>
              </a:rPr>
              <a:t> val </a:t>
            </a:r>
            <a:r>
              <a:rPr b="1">
                <a:solidFill>
                  <a:srgbClr val="007020"/>
                </a:solidFill>
                <a:latin typeface="Courier"/>
              </a:rPr>
              <a:t>in</a:t>
            </a:r>
            <a:r>
              <a:rPr>
                <a:latin typeface="Courier"/>
              </a:rPr>
              <a:t> x:</a:t>
            </a:r>
            <a:br/>
            <a:r>
              <a:rPr>
                <a:latin typeface="Courier"/>
              </a:rPr>
              <a:t>    plt.arrow(val, </a:t>
            </a:r>
            <a:r>
              <a:rPr>
                <a:solidFill>
                  <a:srgbClr val="40A070"/>
                </a:solidFill>
                <a:latin typeface="Courier"/>
              </a:rPr>
              <a:t>0</a:t>
            </a:r>
            <a:r>
              <a:rPr>
                <a:latin typeface="Courier"/>
              </a:rPr>
              <a:t>, </a:t>
            </a:r>
            <a:r>
              <a:rPr>
                <a:solidFill>
                  <a:srgbClr val="40A070"/>
                </a:solidFill>
                <a:latin typeface="Courier"/>
              </a:rPr>
              <a:t>0</a:t>
            </a:r>
            <a:r>
              <a:rPr>
                <a:latin typeface="Courier"/>
              </a:rPr>
              <a:t>, </a:t>
            </a:r>
            <a:r>
              <a:rPr>
                <a:solidFill>
                  <a:srgbClr val="40A070"/>
                </a:solidFill>
                <a:latin typeface="Courier"/>
              </a:rPr>
              <a:t>1</a:t>
            </a:r>
            <a:r>
              <a:rPr>
                <a:latin typeface="Courier"/>
              </a:rPr>
              <a:t>, head_width</a:t>
            </a:r>
            <a:r>
              <a:rPr>
                <a:solidFill>
                  <a:srgbClr val="666666"/>
                </a:solidFill>
                <a:latin typeface="Courier"/>
              </a:rPr>
              <a:t>=</a:t>
            </a:r>
            <a:r>
              <a:rPr>
                <a:solidFill>
                  <a:srgbClr val="40A070"/>
                </a:solidFill>
                <a:latin typeface="Courier"/>
              </a:rPr>
              <a:t>0.2</a:t>
            </a:r>
            <a:r>
              <a:rPr>
                <a:latin typeface="Courier"/>
              </a:rPr>
              <a:t>, head_length</a:t>
            </a:r>
            <a:r>
              <a:rPr>
                <a:solidFill>
                  <a:srgbClr val="666666"/>
                </a:solidFill>
                <a:latin typeface="Courier"/>
              </a:rPr>
              <a:t>=</a:t>
            </a:r>
            <a:r>
              <a:rPr>
                <a:solidFill>
                  <a:srgbClr val="40A070"/>
                </a:solidFill>
                <a:latin typeface="Courier"/>
              </a:rPr>
              <a:t>0.15</a:t>
            </a:r>
            <a:r>
              <a:rPr>
                <a:latin typeface="Courier"/>
              </a:rPr>
              <a:t>, fc</a:t>
            </a:r>
            <a:r>
              <a:rPr>
                <a:solidFill>
                  <a:srgbClr val="666666"/>
                </a:solidFill>
                <a:latin typeface="Courier"/>
              </a:rPr>
              <a:t>=</a:t>
            </a:r>
            <a:r>
              <a:rPr>
                <a:solidFill>
                  <a:srgbClr val="4070A0"/>
                </a:solidFill>
                <a:latin typeface="Courier"/>
              </a:rPr>
              <a:t>'black'</a:t>
            </a:r>
            <a:r>
              <a:rPr>
                <a:latin typeface="Courier"/>
              </a:rPr>
              <a:t>, ec</a:t>
            </a:r>
            <a:r>
              <a:rPr>
                <a:solidFill>
                  <a:srgbClr val="666666"/>
                </a:solidFill>
                <a:latin typeface="Courier"/>
              </a:rPr>
              <a:t>=</a:t>
            </a:r>
            <a:r>
              <a:rPr>
                <a:solidFill>
                  <a:srgbClr val="4070A0"/>
                </a:solidFill>
                <a:latin typeface="Courier"/>
              </a:rPr>
              <a:t>'black'</a:t>
            </a:r>
            <a:r>
              <a:rPr>
                <a:latin typeface="Courier"/>
              </a:rPr>
              <a:t>, length_includes_head</a:t>
            </a:r>
            <a:r>
              <a:rPr>
                <a:solidFill>
                  <a:srgbClr val="666666"/>
                </a:solidFill>
                <a:latin typeface="Courier"/>
              </a:rPr>
              <a:t>=</a:t>
            </a:r>
            <a:r>
              <a:rPr>
                <a:solidFill>
                  <a:srgbClr val="19177C"/>
                </a:solidFill>
                <a:latin typeface="Courier"/>
              </a:rPr>
              <a:t>True</a:t>
            </a:r>
            <a:r>
              <a:rPr>
                <a:latin typeface="Courier"/>
              </a:rPr>
              <a:t>)</a:t>
            </a:r>
            <a:br/>
            <a:r>
              <a:rPr>
                <a:latin typeface="Courier"/>
              </a:rPr>
              <a:t>plt.axhline(</a:t>
            </a:r>
            <a:r>
              <a:rPr>
                <a:solidFill>
                  <a:srgbClr val="40A070"/>
                </a:solidFill>
                <a:latin typeface="Courier"/>
              </a:rPr>
              <a:t>0</a:t>
            </a:r>
            <a:r>
              <a:rPr>
                <a:latin typeface="Courier"/>
              </a:rPr>
              <a:t>, color</a:t>
            </a:r>
            <a:r>
              <a:rPr>
                <a:solidFill>
                  <a:srgbClr val="666666"/>
                </a:solidFill>
                <a:latin typeface="Courier"/>
              </a:rPr>
              <a:t>=</a:t>
            </a:r>
            <a:r>
              <a:rPr>
                <a:solidFill>
                  <a:srgbClr val="4070A0"/>
                </a:solidFill>
                <a:latin typeface="Courier"/>
              </a:rPr>
              <a:t>'black'</a:t>
            </a:r>
            <a:r>
              <a:rPr>
                <a:latin typeface="Courier"/>
              </a:rPr>
              <a:t>)</a:t>
            </a:r>
            <a:br/>
            <a:r>
              <a:rPr>
                <a:latin typeface="Courier"/>
              </a:rPr>
              <a:t>plt.xlim(</a:t>
            </a:r>
            <a:r>
              <a:rPr>
                <a:solidFill>
                  <a:srgbClr val="666666"/>
                </a:solidFill>
                <a:latin typeface="Courier"/>
              </a:rPr>
              <a:t>-</a:t>
            </a:r>
            <a:r>
              <a:rPr>
                <a:solidFill>
                  <a:srgbClr val="40A070"/>
                </a:solidFill>
                <a:latin typeface="Courier"/>
              </a:rPr>
              <a:t>4</a:t>
            </a:r>
            <a:r>
              <a:rPr>
                <a:latin typeface="Courier"/>
              </a:rPr>
              <a:t>, </a:t>
            </a:r>
            <a:r>
              <a:rPr>
                <a:solidFill>
                  <a:srgbClr val="40A070"/>
                </a:solidFill>
                <a:latin typeface="Courier"/>
              </a:rPr>
              <a:t>4</a:t>
            </a:r>
            <a:r>
              <a:rPr>
                <a:latin typeface="Courier"/>
              </a:rPr>
              <a:t>)</a:t>
            </a:r>
          </a:p>
          <a:p>
            <a:pPr lvl="0" indent="0">
              <a:buNone/>
            </a:pPr>
            <a:r>
              <a:rPr>
                <a:latin typeface="Courier"/>
              </a:rPr>
              <a:t>## (-4.0, 4.0)</a:t>
            </a:r>
          </a:p>
          <a:p>
            <a:pPr lvl="0" indent="0">
              <a:buNone/>
            </a:pPr>
            <a:r>
              <a:rPr>
                <a:latin typeface="Courier"/>
              </a:rPr>
              <a:t>plt.ylim(</a:t>
            </a:r>
            <a:r>
              <a:rPr>
                <a:solidFill>
                  <a:srgbClr val="40A070"/>
                </a:solidFill>
                <a:latin typeface="Courier"/>
              </a:rPr>
              <a:t>0</a:t>
            </a:r>
            <a:r>
              <a:rPr>
                <a:latin typeface="Courier"/>
              </a:rPr>
              <a:t>, </a:t>
            </a:r>
            <a:r>
              <a:rPr>
                <a:solidFill>
                  <a:srgbClr val="40A070"/>
                </a:solidFill>
                <a:latin typeface="Courier"/>
              </a:rPr>
              <a:t>1.2</a:t>
            </a:r>
            <a:r>
              <a:rPr>
                <a:latin typeface="Courier"/>
              </a:rPr>
              <a:t>)</a:t>
            </a:r>
          </a:p>
          <a:p>
            <a:pPr lvl="0" indent="0">
              <a:buNone/>
            </a:pPr>
            <a:r>
              <a:rPr>
                <a:latin typeface="Courier"/>
              </a:rPr>
              <a:t>## (0.0, 1.2)</a:t>
            </a:r>
          </a:p>
          <a:p>
            <a:pPr lvl="0" indent="0">
              <a:buNone/>
            </a:pPr>
            <a:r>
              <a:rPr>
                <a:latin typeface="Courier"/>
              </a:rPr>
              <a:t>plt.title(</a:t>
            </a:r>
            <a:r>
              <a:rPr>
                <a:solidFill>
                  <a:srgbClr val="4070A0"/>
                </a:solidFill>
                <a:latin typeface="Courier"/>
              </a:rPr>
              <a:t>"The Comb Function"</a:t>
            </a:r>
            <a:r>
              <a:rPr>
                <a:latin typeface="Courier"/>
              </a:rPr>
              <a:t>)</a:t>
            </a:r>
            <a:br/>
            <a:r>
              <a:rPr>
                <a:latin typeface="Courier"/>
              </a:rPr>
              <a:t>plt.xlabel(</a:t>
            </a:r>
            <a:r>
              <a:rPr>
                <a:solidFill>
                  <a:srgbClr val="4070A0"/>
                </a:solidFill>
                <a:latin typeface="Courier"/>
              </a:rPr>
              <a:t>"t"</a:t>
            </a:r>
            <a:r>
              <a:rPr>
                <a:latin typeface="Courier"/>
              </a:rPr>
              <a:t>)</a:t>
            </a:r>
            <a:br/>
            <a:r>
              <a:rPr>
                <a:latin typeface="Courier"/>
              </a:rPr>
              <a:t>plt.tick_params(axis</a:t>
            </a:r>
            <a:r>
              <a:rPr>
                <a:solidFill>
                  <a:srgbClr val="666666"/>
                </a:solidFill>
                <a:latin typeface="Courier"/>
              </a:rPr>
              <a:t>=</a:t>
            </a:r>
            <a:r>
              <a:rPr>
                <a:solidFill>
                  <a:srgbClr val="4070A0"/>
                </a:solidFill>
                <a:latin typeface="Courier"/>
              </a:rPr>
              <a:t>'y'</a:t>
            </a:r>
            <a:r>
              <a:rPr>
                <a:latin typeface="Courier"/>
              </a:rPr>
              <a:t>, which</a:t>
            </a:r>
            <a:r>
              <a:rPr>
                <a:solidFill>
                  <a:srgbClr val="666666"/>
                </a:solidFill>
                <a:latin typeface="Courier"/>
              </a:rPr>
              <a:t>=</a:t>
            </a:r>
            <a:r>
              <a:rPr>
                <a:solidFill>
                  <a:srgbClr val="4070A0"/>
                </a:solidFill>
                <a:latin typeface="Courier"/>
              </a:rPr>
              <a:t>'both'</a:t>
            </a:r>
            <a:r>
              <a:rPr>
                <a:latin typeface="Courier"/>
              </a:rPr>
              <a:t>, left</a:t>
            </a:r>
            <a:r>
              <a:rPr>
                <a:solidFill>
                  <a:srgbClr val="666666"/>
                </a:solidFill>
                <a:latin typeface="Courier"/>
              </a:rPr>
              <a:t>=</a:t>
            </a:r>
            <a:r>
              <a:rPr>
                <a:solidFill>
                  <a:srgbClr val="19177C"/>
                </a:solidFill>
                <a:latin typeface="Courier"/>
              </a:rPr>
              <a:t>False</a:t>
            </a:r>
            <a:r>
              <a:rPr>
                <a:latin typeface="Courier"/>
              </a:rPr>
              <a:t>, right</a:t>
            </a:r>
            <a:r>
              <a:rPr>
                <a:solidFill>
                  <a:srgbClr val="666666"/>
                </a:solidFill>
                <a:latin typeface="Courier"/>
              </a:rPr>
              <a:t>=</a:t>
            </a:r>
            <a:r>
              <a:rPr>
                <a:solidFill>
                  <a:srgbClr val="19177C"/>
                </a:solidFill>
                <a:latin typeface="Courier"/>
              </a:rPr>
              <a:t>False</a:t>
            </a:r>
            <a:r>
              <a:rPr>
                <a:latin typeface="Courier"/>
              </a:rPr>
              <a:t>, labelleft</a:t>
            </a:r>
            <a:r>
              <a:rPr>
                <a:solidFill>
                  <a:srgbClr val="666666"/>
                </a:solidFill>
                <a:latin typeface="Courier"/>
              </a:rPr>
              <a:t>=</a:t>
            </a:r>
            <a:r>
              <a:rPr>
                <a:solidFill>
                  <a:srgbClr val="19177C"/>
                </a:solidFill>
                <a:latin typeface="Courier"/>
              </a:rPr>
              <a:t>False</a:t>
            </a:r>
            <a:r>
              <a:rPr>
                <a:latin typeface="Courier"/>
              </a:rPr>
              <a:t>)</a:t>
            </a:r>
            <a:br/>
            <a:r>
              <a:rPr>
                <a:latin typeface="Courier"/>
              </a:rPr>
              <a:t>comb_function_plot_fig </a:t>
            </a:r>
            <a:r>
              <a:rPr>
                <a:solidFill>
                  <a:srgbClr val="666666"/>
                </a:solidFill>
                <a:latin typeface="Courier"/>
              </a:rPr>
              <a:t>=</a:t>
            </a:r>
            <a:r>
              <a:rPr>
                <a:latin typeface="Courier"/>
              </a:rPr>
              <a:t> plt.gcf()</a:t>
            </a:r>
          </a:p>
        </p:txBody>
      </p:sp>
      <p:pic>
        <p:nvPicPr>
          <p:cNvPr descr="presentation_files/figure-pptx/comb_function_plot_code-1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Comb Function: Visualization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Sampling and Aliasing</a:t>
            </a:r>
          </a:p>
        </p:txBody>
      </p:sp>
      <p:sp>
        <p:nvSpPr>
          <p:cNvPr id="3" name="Content Placeholder 2"/>
          <p:cNvSpPr>
            <a:spLocks noGrp="1"/>
          </p:cNvSpPr>
          <p:nvPr>
            <p:ph idx="1"/>
          </p:nvPr>
        </p:nvSpPr>
        <p:spPr/>
        <p:txBody>
          <a:bodyPr/>
          <a:lstStyle/>
          <a:p>
            <a:pPr lvl="0"/>
            <a:r>
              <a:rPr/>
              <a:t>When we convert a continuous signal to a discrete one, we are </a:t>
            </a:r>
            <a:r>
              <a:rPr b="1"/>
              <a:t>sampling</a:t>
            </a:r>
            <a:r>
              <a:rPr/>
              <a:t> it.</a:t>
            </a:r>
          </a:p>
          <a:p>
            <a:pPr lvl="0"/>
            <a:r>
              <a:rPr/>
              <a:t>How often do we need to sample to perfectly capture the signal?</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Nyquist-Shannon Sampling Theorem</a:t>
            </a:r>
          </a:p>
        </p:txBody>
      </p:sp>
      <p:sp>
        <p:nvSpPr>
          <p:cNvPr id="3" name="Content Placeholder 2"/>
          <p:cNvSpPr>
            <a:spLocks noGrp="1"/>
          </p:cNvSpPr>
          <p:nvPr>
            <p:ph idx="1"/>
          </p:nvPr>
        </p:nvSpPr>
        <p:spPr/>
        <p:txBody>
          <a:bodyPr/>
          <a:lstStyle/>
          <a:p>
            <a:pPr lvl="0"/>
            <a:r>
              <a:rPr b="1"/>
              <a:t>Theorem:</a:t>
            </a:r>
            <a:r>
              <a:rPr/>
              <a:t> A continuous signal can be perfectly reconstructed from its samples if the sampling frequency (</a:t>
            </a:r>
            <a:r>
              <a:rPr>
                <a:latin typeface="Courier"/>
              </a:rPr>
              <a:t>fs</a:t>
            </a:r>
            <a:r>
              <a:rPr/>
              <a:t>) is greater than twice the highest frequency (</a:t>
            </a:r>
            <a:r>
              <a:rPr>
                <a:latin typeface="Courier"/>
              </a:rPr>
              <a:t>fmax</a:t>
            </a:r>
            <a:r>
              <a:rPr/>
              <a:t>) in the signal.</a:t>
            </a:r>
          </a:p>
          <a:p>
            <a:pPr lvl="0"/>
            <a:r>
              <a:rPr>
                <a:latin typeface="Courier"/>
              </a:rPr>
              <a:t>fs &gt; 2 * fmax</a:t>
            </a:r>
          </a:p>
          <a:p>
            <a:pPr lvl="0"/>
            <a:r>
              <a:rPr/>
              <a:t>The frequency </a:t>
            </a:r>
            <a:r>
              <a:rPr>
                <a:latin typeface="Courier"/>
              </a:rPr>
              <a:t>2 * fmax</a:t>
            </a:r>
            <a:r>
              <a:rPr/>
              <a:t> is called the </a:t>
            </a:r>
            <a:r>
              <a:rPr b="1"/>
              <a:t>Nyquist Rate</a:t>
            </a:r>
            <a: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Aliasing: The Consequence of Undersampling</a:t>
            </a:r>
          </a:p>
        </p:txBody>
      </p:sp>
      <p:sp>
        <p:nvSpPr>
          <p:cNvPr id="3" name="Content Placeholder 2"/>
          <p:cNvSpPr>
            <a:spLocks noGrp="1"/>
          </p:cNvSpPr>
          <p:nvPr>
            <p:ph idx="1"/>
          </p:nvPr>
        </p:nvSpPr>
        <p:spPr/>
        <p:txBody>
          <a:bodyPr/>
          <a:lstStyle/>
          <a:p>
            <a:pPr lvl="0"/>
            <a:r>
              <a:rPr/>
              <a:t>If you sample below the Nyquist rate (</a:t>
            </a:r>
            <a:r>
              <a:rPr>
                <a:latin typeface="Courier"/>
              </a:rPr>
              <a:t>fs &lt; 2 * fmax</a:t>
            </a:r>
            <a:r>
              <a:rPr/>
              <a:t>), you get </a:t>
            </a:r>
            <a:r>
              <a:rPr b="1"/>
              <a:t>aliasing</a:t>
            </a:r>
            <a:r>
              <a:rPr/>
              <a:t>.</a:t>
            </a:r>
          </a:p>
          <a:p>
            <a:pPr lvl="0"/>
            <a:r>
              <a:rPr/>
              <a:t>A high frequency in the original signal will masquerade as a lower frequency in the sampled version.</a:t>
            </a:r>
          </a:p>
          <a:p>
            <a:pPr lvl="0"/>
            <a:r>
              <a:rPr/>
              <a:t>This is a form of irreversible information loss.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Aliasing: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Define a high-frequency signal</a:t>
            </a:r>
            <a:br/>
            <a:r>
              <a:rPr>
                <a:latin typeface="Courier"/>
              </a:rPr>
              <a:t>f_high </a:t>
            </a:r>
            <a:r>
              <a:rPr>
                <a:solidFill>
                  <a:srgbClr val="666666"/>
                </a:solidFill>
                <a:latin typeface="Courier"/>
              </a:rPr>
              <a:t>=</a:t>
            </a:r>
            <a:r>
              <a:rPr>
                <a:latin typeface="Courier"/>
              </a:rPr>
              <a:t> </a:t>
            </a:r>
            <a:r>
              <a:rPr>
                <a:solidFill>
                  <a:srgbClr val="40A070"/>
                </a:solidFill>
                <a:latin typeface="Courier"/>
              </a:rPr>
              <a:t>10</a:t>
            </a:r>
            <a:r>
              <a:rPr>
                <a:latin typeface="Courier"/>
              </a:rPr>
              <a:t> </a:t>
            </a:r>
            <a:r>
              <a:rPr i="1">
                <a:solidFill>
                  <a:srgbClr val="60A0B0"/>
                </a:solidFill>
                <a:latin typeface="Courier"/>
              </a:rPr>
              <a:t># Hz</a:t>
            </a:r>
            <a:br/>
            <a:r>
              <a:rPr>
                <a:latin typeface="Courier"/>
              </a:rPr>
              <a:t>t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1000</a:t>
            </a:r>
            <a:r>
              <a:rPr>
                <a:latin typeface="Courier"/>
              </a:rPr>
              <a:t>)</a:t>
            </a:r>
            <a:br/>
            <a:r>
              <a:rPr>
                <a:latin typeface="Courier"/>
              </a:rPr>
              <a:t>signal_cont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f_high </a:t>
            </a:r>
            <a:r>
              <a:rPr>
                <a:solidFill>
                  <a:srgbClr val="666666"/>
                </a:solidFill>
                <a:latin typeface="Courier"/>
              </a:rPr>
              <a:t>*</a:t>
            </a:r>
            <a:r>
              <a:rPr>
                <a:latin typeface="Courier"/>
              </a:rPr>
              <a:t> t)</a:t>
            </a:r>
            <a:br/>
            <a:br/>
            <a:r>
              <a:rPr i="1">
                <a:solidFill>
                  <a:srgbClr val="60A0B0"/>
                </a:solidFill>
                <a:latin typeface="Courier"/>
              </a:rPr>
              <a:t># Case 1: Adequate Sampling (fs &gt; 2 * fmax)</a:t>
            </a:r>
            <a:br/>
            <a:r>
              <a:rPr>
                <a:latin typeface="Courier"/>
              </a:rPr>
              <a:t>fs_good </a:t>
            </a:r>
            <a:r>
              <a:rPr>
                <a:solidFill>
                  <a:srgbClr val="666666"/>
                </a:solidFill>
                <a:latin typeface="Courier"/>
              </a:rPr>
              <a:t>=</a:t>
            </a:r>
            <a:r>
              <a:rPr>
                <a:latin typeface="Courier"/>
              </a:rPr>
              <a:t> </a:t>
            </a:r>
            <a:r>
              <a:rPr>
                <a:solidFill>
                  <a:srgbClr val="40A070"/>
                </a:solidFill>
                <a:latin typeface="Courier"/>
              </a:rPr>
              <a:t>25</a:t>
            </a:r>
            <a:r>
              <a:rPr>
                <a:latin typeface="Courier"/>
              </a:rPr>
              <a:t> </a:t>
            </a:r>
            <a:r>
              <a:rPr i="1">
                <a:solidFill>
                  <a:srgbClr val="60A0B0"/>
                </a:solidFill>
                <a:latin typeface="Courier"/>
              </a:rPr>
              <a:t># Sampling freq &gt; 2 * 10</a:t>
            </a:r>
            <a:br/>
            <a:r>
              <a:rPr>
                <a:latin typeface="Courier"/>
              </a:rPr>
              <a:t>t_good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a:t>
            </a:r>
            <a:r>
              <a:rPr>
                <a:solidFill>
                  <a:srgbClr val="666666"/>
                </a:solidFill>
                <a:latin typeface="Courier"/>
              </a:rPr>
              <a:t>/</a:t>
            </a:r>
            <a:r>
              <a:rPr>
                <a:latin typeface="Courier"/>
              </a:rPr>
              <a:t>fs_good)</a:t>
            </a:r>
            <a:br/>
            <a:r>
              <a:rPr>
                <a:latin typeface="Courier"/>
              </a:rPr>
              <a:t>signal_good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f_high </a:t>
            </a:r>
            <a:r>
              <a:rPr>
                <a:solidFill>
                  <a:srgbClr val="666666"/>
                </a:solidFill>
                <a:latin typeface="Courier"/>
              </a:rPr>
              <a:t>*</a:t>
            </a:r>
            <a:r>
              <a:rPr>
                <a:latin typeface="Courier"/>
              </a:rPr>
              <a:t> t_good)</a:t>
            </a:r>
            <a:br/>
            <a:br/>
            <a:r>
              <a:rPr i="1">
                <a:solidFill>
                  <a:srgbClr val="60A0B0"/>
                </a:solidFill>
                <a:latin typeface="Courier"/>
              </a:rPr>
              <a:t># Case 2: Undersampling (fs &lt; 2 * fmax)</a:t>
            </a:r>
            <a:br/>
            <a:r>
              <a:rPr>
                <a:latin typeface="Courier"/>
              </a:rPr>
              <a:t>fs_bad </a:t>
            </a:r>
            <a:r>
              <a:rPr>
                <a:solidFill>
                  <a:srgbClr val="666666"/>
                </a:solidFill>
                <a:latin typeface="Courier"/>
              </a:rPr>
              <a:t>=</a:t>
            </a:r>
            <a:r>
              <a:rPr>
                <a:latin typeface="Courier"/>
              </a:rPr>
              <a:t> </a:t>
            </a:r>
            <a:r>
              <a:rPr>
                <a:solidFill>
                  <a:srgbClr val="40A070"/>
                </a:solidFill>
                <a:latin typeface="Courier"/>
              </a:rPr>
              <a:t>12</a:t>
            </a:r>
            <a:r>
              <a:rPr>
                <a:latin typeface="Courier"/>
              </a:rPr>
              <a:t> </a:t>
            </a:r>
            <a:r>
              <a:rPr i="1">
                <a:solidFill>
                  <a:srgbClr val="60A0B0"/>
                </a:solidFill>
                <a:latin typeface="Courier"/>
              </a:rPr>
              <a:t># Sampling freq &lt; 2 * 10</a:t>
            </a:r>
            <a:br/>
            <a:r>
              <a:rPr>
                <a:latin typeface="Courier"/>
              </a:rPr>
              <a:t>t_bad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a:t>
            </a:r>
            <a:r>
              <a:rPr>
                <a:solidFill>
                  <a:srgbClr val="666666"/>
                </a:solidFill>
                <a:latin typeface="Courier"/>
              </a:rPr>
              <a:t>/</a:t>
            </a:r>
            <a:r>
              <a:rPr>
                <a:latin typeface="Courier"/>
              </a:rPr>
              <a:t>fs_bad)</a:t>
            </a:r>
            <a:br/>
            <a:r>
              <a:rPr>
                <a:latin typeface="Courier"/>
              </a:rPr>
              <a:t>signal_bad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f_high </a:t>
            </a:r>
            <a:r>
              <a:rPr>
                <a:solidFill>
                  <a:srgbClr val="666666"/>
                </a:solidFill>
                <a:latin typeface="Courier"/>
              </a:rPr>
              <a:t>*</a:t>
            </a:r>
            <a:r>
              <a:rPr>
                <a:latin typeface="Courier"/>
              </a:rPr>
              <a:t> t_bad)</a:t>
            </a:r>
            <a:br/>
            <a:r>
              <a:rPr i="1">
                <a:solidFill>
                  <a:srgbClr val="60A0B0"/>
                </a:solidFill>
                <a:latin typeface="Courier"/>
              </a:rPr>
              <a:t># The aliased frequency will appear at |f_high - fs_bad| = |10 - 12| = 2 Hz</a:t>
            </a:r>
            <a:br/>
            <a:r>
              <a:rPr>
                <a:latin typeface="Courier"/>
              </a:rPr>
              <a:t>aliased_signal_cont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t)</a:t>
            </a:r>
            <a:br/>
            <a:br/>
            <a:r>
              <a:rPr i="1">
                <a:solidFill>
                  <a:srgbClr val="60A0B0"/>
                </a:solidFill>
                <a:latin typeface="Courier"/>
              </a:rPr>
              <a:t># Create plots</a:t>
            </a:r>
            <a:br/>
            <a:r>
              <a:rPr>
                <a:latin typeface="Courier"/>
              </a:rPr>
              <a:t>plt.figure()</a:t>
            </a:r>
            <a:br/>
            <a:r>
              <a:rPr>
                <a:latin typeface="Courier"/>
              </a:rPr>
              <a:t>plt.plot(t, signal_cont, color</a:t>
            </a:r>
            <a:r>
              <a:rPr>
                <a:solidFill>
                  <a:srgbClr val="666666"/>
                </a:solidFill>
                <a:latin typeface="Courier"/>
              </a:rPr>
              <a:t>=</a:t>
            </a:r>
            <a:r>
              <a:rPr>
                <a:solidFill>
                  <a:srgbClr val="4070A0"/>
                </a:solidFill>
                <a:latin typeface="Courier"/>
              </a:rPr>
              <a:t>'gray'</a:t>
            </a:r>
            <a:r>
              <a:rPr>
                <a:latin typeface="Courier"/>
              </a:rPr>
              <a:t>)</a:t>
            </a:r>
            <a:br/>
            <a:r>
              <a:rPr>
                <a:latin typeface="Courier"/>
              </a:rPr>
              <a:t>plt.plot(t_good, signal_good, </a:t>
            </a:r>
            <a:r>
              <a:rPr>
                <a:solidFill>
                  <a:srgbClr val="4070A0"/>
                </a:solidFill>
                <a:latin typeface="Courier"/>
              </a:rPr>
              <a:t>'ro'</a:t>
            </a:r>
            <a:r>
              <a:rPr>
                <a:latin typeface="Courier"/>
              </a:rPr>
              <a:t>)</a:t>
            </a:r>
            <a:br/>
            <a:r>
              <a:rPr>
                <a:latin typeface="Courier"/>
              </a:rPr>
              <a:t>plt.title(</a:t>
            </a:r>
            <a:r>
              <a:rPr>
                <a:solidFill>
                  <a:srgbClr val="4070A0"/>
                </a:solidFill>
                <a:latin typeface="Courier"/>
              </a:rPr>
              <a:t>"Adequate Sampling (fs &gt; 2*fmax)"</a:t>
            </a:r>
            <a:r>
              <a:rPr>
                <a:latin typeface="Courier"/>
              </a:rPr>
              <a:t>)</a:t>
            </a:r>
            <a:br/>
            <a:r>
              <a:rPr>
                <a:latin typeface="Courier"/>
              </a:rPr>
              <a:t>aliasing_plot_good_fig </a:t>
            </a:r>
            <a:r>
              <a:rPr>
                <a:solidFill>
                  <a:srgbClr val="666666"/>
                </a:solidFill>
                <a:latin typeface="Courier"/>
              </a:rPr>
              <a:t>=</a:t>
            </a:r>
            <a:r>
              <a:rPr>
                <a:latin typeface="Courier"/>
              </a:rPr>
              <a:t> plt.gcf()</a:t>
            </a:r>
            <a:br/>
            <a:br/>
            <a:r>
              <a:rPr>
                <a:latin typeface="Courier"/>
              </a:rPr>
              <a:t>plt.figure()</a:t>
            </a:r>
            <a:br/>
            <a:r>
              <a:rPr>
                <a:latin typeface="Courier"/>
              </a:rPr>
              <a:t>plt.plot(t, signal_cont, color</a:t>
            </a:r>
            <a:r>
              <a:rPr>
                <a:solidFill>
                  <a:srgbClr val="666666"/>
                </a:solidFill>
                <a:latin typeface="Courier"/>
              </a:rPr>
              <a:t>=</a:t>
            </a:r>
            <a:r>
              <a:rPr>
                <a:solidFill>
                  <a:srgbClr val="4070A0"/>
                </a:solidFill>
                <a:latin typeface="Courier"/>
              </a:rPr>
              <a:t>"gray"</a:t>
            </a:r>
            <a:r>
              <a:rPr>
                <a:latin typeface="Courier"/>
              </a:rPr>
              <a:t>, linestyle</a:t>
            </a:r>
            <a:r>
              <a:rPr>
                <a:solidFill>
                  <a:srgbClr val="666666"/>
                </a:solidFill>
                <a:latin typeface="Courier"/>
              </a:rPr>
              <a:t>=</a:t>
            </a:r>
            <a:r>
              <a:rPr>
                <a:solidFill>
                  <a:srgbClr val="4070A0"/>
                </a:solidFill>
                <a:latin typeface="Courier"/>
              </a:rPr>
              <a:t>"dashed"</a:t>
            </a:r>
            <a:r>
              <a:rPr>
                <a:latin typeface="Courier"/>
              </a:rPr>
              <a:t>)</a:t>
            </a:r>
            <a:br/>
            <a:r>
              <a:rPr>
                <a:latin typeface="Courier"/>
              </a:rPr>
              <a:t>plt.plot(t, aliased_signal_cont, color</a:t>
            </a:r>
            <a:r>
              <a:rPr>
                <a:solidFill>
                  <a:srgbClr val="666666"/>
                </a:solidFill>
                <a:latin typeface="Courier"/>
              </a:rPr>
              <a:t>=</a:t>
            </a:r>
            <a:r>
              <a:rPr>
                <a:solidFill>
                  <a:srgbClr val="4070A0"/>
                </a:solidFill>
                <a:latin typeface="Courier"/>
              </a:rPr>
              <a:t>"blue"</a:t>
            </a:r>
            <a:r>
              <a:rPr>
                <a:latin typeface="Courier"/>
              </a:rPr>
              <a:t>)</a:t>
            </a:r>
            <a:br/>
            <a:r>
              <a:rPr>
                <a:latin typeface="Courier"/>
              </a:rPr>
              <a:t>plt.plot(t_bad, signal_bad, </a:t>
            </a:r>
            <a:r>
              <a:rPr>
                <a:solidFill>
                  <a:srgbClr val="4070A0"/>
                </a:solidFill>
                <a:latin typeface="Courier"/>
              </a:rPr>
              <a:t>"ro"</a:t>
            </a:r>
            <a:r>
              <a:rPr>
                <a:latin typeface="Courier"/>
              </a:rPr>
              <a:t>)</a:t>
            </a:r>
            <a:br/>
            <a:r>
              <a:rPr>
                <a:latin typeface="Courier"/>
              </a:rPr>
              <a:t>plt.title(</a:t>
            </a:r>
            <a:r>
              <a:rPr>
                <a:solidFill>
                  <a:srgbClr val="4070A0"/>
                </a:solidFill>
                <a:latin typeface="Courier"/>
              </a:rPr>
              <a:t>"Undersampling (fs &lt; 2*fmax)"</a:t>
            </a:r>
            <a:r>
              <a:rPr>
                <a:latin typeface="Courier"/>
              </a:rPr>
              <a:t>)</a:t>
            </a:r>
            <a:br/>
            <a:r>
              <a:rPr>
                <a:latin typeface="Courier"/>
              </a:rPr>
              <a:t>aliasing_plot_bad_fig </a:t>
            </a:r>
            <a:r>
              <a:rPr>
                <a:solidFill>
                  <a:srgbClr val="666666"/>
                </a:solidFill>
                <a:latin typeface="Courier"/>
              </a:rPr>
              <a:t>=</a:t>
            </a:r>
            <a:r>
              <a:rPr>
                <a:latin typeface="Courier"/>
              </a:rPr>
              <a:t> plt.gcf()</a:t>
            </a:r>
          </a:p>
        </p:txBody>
      </p:sp>
      <p:pic>
        <p:nvPicPr>
          <p:cNvPr descr="presentation_files/figure-pptx/aliasing_code-1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Aliasing: Adequate Sampling</a:t>
            </a:r>
          </a:p>
        </p:txBody>
      </p:sp>
      <p:pic>
        <p:nvPicPr>
          <p:cNvPr descr="presentation_files/figure-pptx/aliasing_plot_good-15.png" id="0" name="Picture 1"/>
          <p:cNvPicPr>
            <a:picLocks noGrp="1" noChangeAspect="1"/>
          </p:cNvPicPr>
          <p:nvPr/>
        </p:nvPicPr>
        <p:blipFill>
          <a:blip r:embed="rId2"/>
          <a:stretch>
            <a:fillRect/>
          </a:stretch>
        </p:blipFill>
        <p:spPr bwMode="auto">
          <a:xfrm>
            <a:off x="2768600" y="1193800"/>
            <a:ext cx="3606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A 10 Hz signal sampled at 25 Hz. The samples still capture the wave’s shape.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Aliasing: Undersampling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LSI Systems</a:t>
            </a:r>
          </a:p>
        </p:txBody>
      </p:sp>
      <p:sp>
        <p:nvSpPr>
          <p:cNvPr id="3" name="Content Placeholder 2"/>
          <p:cNvSpPr>
            <a:spLocks noGrp="1"/>
          </p:cNvSpPr>
          <p:nvPr>
            <p:ph idx="1"/>
          </p:nvPr>
        </p:nvSpPr>
        <p:spPr/>
        <p:txBody>
          <a:bodyPr/>
          <a:lstStyle/>
          <a:p>
            <a:pPr lvl="0"/>
            <a:r>
              <a:rPr b="1"/>
              <a:t>System:</a:t>
            </a:r>
            <a:r>
              <a:rPr/>
              <a:t> A process that transforms an input signal </a:t>
            </a:r>
            <a:r>
              <a:rPr>
                <a:latin typeface="Courier"/>
              </a:rPr>
              <a:t>x(t)</a:t>
            </a:r>
            <a:r>
              <a:rPr/>
              <a:t> into an output signal </a:t>
            </a:r>
            <a:r>
              <a:rPr>
                <a:latin typeface="Courier"/>
              </a:rPr>
              <a:t>y(t)</a:t>
            </a:r>
            <a:r>
              <a:rPr/>
              <a: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LSI Systems</a:t>
            </a:r>
          </a:p>
        </p:txBody>
      </p:sp>
      <p:sp>
        <p:nvSpPr>
          <p:cNvPr id="3" name="Content Placeholder 2"/>
          <p:cNvSpPr>
            <a:spLocks noGrp="1"/>
          </p:cNvSpPr>
          <p:nvPr>
            <p:ph idx="1"/>
          </p:nvPr>
        </p:nvSpPr>
        <p:spPr/>
        <p:txBody>
          <a:bodyPr/>
          <a:lstStyle/>
          <a:p>
            <a:pPr lvl="0"/>
            <a:r>
              <a:rPr b="1"/>
              <a:t>LSI System:</a:t>
            </a:r>
            <a:r>
              <a:rPr/>
              <a:t> A system that is both </a:t>
            </a:r>
            <a:r>
              <a:rPr b="1"/>
              <a:t>Linear</a:t>
            </a:r>
            <a:r>
              <a:rPr/>
              <a:t> and </a:t>
            </a:r>
            <a:r>
              <a:rPr b="1"/>
              <a:t>Shift-Invariant</a:t>
            </a:r>
            <a:r>
              <a:rPr/>
              <a: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LSI Systems</a:t>
            </a:r>
          </a:p>
        </p:txBody>
      </p:sp>
      <p:sp>
        <p:nvSpPr>
          <p:cNvPr id="3" name="Content Placeholder 2"/>
          <p:cNvSpPr>
            <a:spLocks noGrp="1"/>
          </p:cNvSpPr>
          <p:nvPr>
            <p:ph idx="1"/>
          </p:nvPr>
        </p:nvSpPr>
        <p:spPr/>
        <p:txBody>
          <a:bodyPr/>
          <a:lstStyle/>
          <a:p>
            <a:pPr lvl="0"/>
            <a:r>
              <a:rPr/>
              <a:t>These properties make systems much easier to analyze.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LSI Systems</a:t>
            </a:r>
          </a:p>
        </p:txBody>
      </p:sp>
      <p:sp>
        <p:nvSpPr>
          <p:cNvPr id="3" name="Content Placeholder 2"/>
          <p:cNvSpPr>
            <a:spLocks noGrp="1"/>
          </p:cNvSpPr>
          <p:nvPr>
            <p:ph idx="1"/>
          </p:nvPr>
        </p:nvSpPr>
        <p:spPr/>
        <p:txBody>
          <a:bodyPr/>
          <a:lstStyle/>
          <a:p>
            <a:pPr lvl="0"/>
            <a:r>
              <a:rPr/>
              <a:t>Most imaging systems are approximated as LSI systems.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Linearity</a:t>
            </a:r>
          </a:p>
        </p:txBody>
      </p:sp>
      <p:sp>
        <p:nvSpPr>
          <p:cNvPr id="3" name="Content Placeholder 2"/>
          <p:cNvSpPr>
            <a:spLocks noGrp="1"/>
          </p:cNvSpPr>
          <p:nvPr>
            <p:ph idx="1"/>
          </p:nvPr>
        </p:nvSpPr>
        <p:spPr/>
        <p:txBody>
          <a:bodyPr/>
          <a:lstStyle/>
          <a:p>
            <a:pPr lvl="0"/>
            <a:r>
              <a:rPr/>
              <a:t>A system is </a:t>
            </a:r>
            <a:r>
              <a:rPr b="1"/>
              <a:t>linear</a:t>
            </a:r>
            <a:r>
              <a:rPr/>
              <a:t> if it obeys the principle of superposition.</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Linearity</a:t>
            </a:r>
          </a:p>
        </p:txBody>
      </p:sp>
      <p:sp>
        <p:nvSpPr>
          <p:cNvPr id="3" name="Content Placeholder 2"/>
          <p:cNvSpPr>
            <a:spLocks noGrp="1"/>
          </p:cNvSpPr>
          <p:nvPr>
            <p:ph idx="1"/>
          </p:nvPr>
        </p:nvSpPr>
        <p:spPr/>
        <p:txBody>
          <a:bodyPr/>
          <a:lstStyle/>
          <a:p>
            <a:pPr lvl="0" indent="-342900" marL="342900">
              <a:buAutoNum type="arabicPeriod"/>
            </a:pPr>
            <a:r>
              <a:rPr b="1"/>
              <a:t>Homogeneity:</a:t>
            </a:r>
            <a:r>
              <a:rPr/>
              <a:t> </a:t>
            </a:r>
            <a:r>
              <a:rPr>
                <a:latin typeface="Courier"/>
              </a:rPr>
              <a:t>T{a * x(t)} = a * T{x(t)}</a:t>
            </a:r>
          </a:p>
          <a:p>
            <a:pPr lvl="1"/>
            <a:r>
              <a:rPr/>
              <a:t>(Scaling the input scales the output by the same amount)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Linearity</a:t>
            </a:r>
          </a:p>
        </p:txBody>
      </p:sp>
      <p:sp>
        <p:nvSpPr>
          <p:cNvPr id="3" name="Content Placeholder 2"/>
          <p:cNvSpPr>
            <a:spLocks noGrp="1"/>
          </p:cNvSpPr>
          <p:nvPr>
            <p:ph idx="1"/>
          </p:nvPr>
        </p:nvSpPr>
        <p:spPr/>
        <p:txBody>
          <a:bodyPr/>
          <a:lstStyle/>
          <a:p>
            <a:pPr lvl="0" indent="-342900" marL="342900">
              <a:buAutoNum startAt="2" type="arabicPeriod"/>
            </a:pPr>
            <a:r>
              <a:rPr b="1"/>
              <a:t>Additivity:</a:t>
            </a:r>
            <a:r>
              <a:rPr/>
              <a:t> </a:t>
            </a:r>
            <a:r>
              <a:rPr>
                <a:latin typeface="Courier"/>
              </a:rPr>
              <a:t>T{x1(t) + x2(t)} = T{x1(t)} + T{x2(t)}</a:t>
            </a:r>
          </a:p>
          <a:p>
            <a:pPr lvl="1"/>
            <a:r>
              <a:rPr/>
              <a:t>(The response to a sum of inputs is the sum of their individual responses)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Shift-Invariance (or Time-Invariance)</a:t>
            </a:r>
          </a:p>
        </p:txBody>
      </p:sp>
      <p:sp>
        <p:nvSpPr>
          <p:cNvPr id="3" name="Content Placeholder 2"/>
          <p:cNvSpPr>
            <a:spLocks noGrp="1"/>
          </p:cNvSpPr>
          <p:nvPr>
            <p:ph idx="1"/>
          </p:nvPr>
        </p:nvSpPr>
        <p:spPr/>
        <p:txBody>
          <a:bodyPr/>
          <a:lstStyle/>
          <a:p>
            <a:pPr lvl="0"/>
            <a:r>
              <a:rPr/>
              <a:t>A system is </a:t>
            </a:r>
            <a:r>
              <a:rPr b="1"/>
              <a:t>shift-invariant</a:t>
            </a:r>
            <a:r>
              <a:rPr/>
              <a:t> if a shift in the input signal causes an identical shift in the output signal.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Shift-Invariance (or Time-Invariance)</a:t>
            </a:r>
          </a:p>
        </p:txBody>
      </p:sp>
      <p:sp>
        <p:nvSpPr>
          <p:cNvPr id="3" name="Content Placeholder 2"/>
          <p:cNvSpPr>
            <a:spLocks noGrp="1"/>
          </p:cNvSpPr>
          <p:nvPr>
            <p:ph idx="1"/>
          </p:nvPr>
        </p:nvSpPr>
        <p:spPr/>
        <p:txBody>
          <a:bodyPr/>
          <a:lstStyle/>
          <a:p>
            <a:pPr lvl="0"/>
            <a:r>
              <a:rPr/>
              <a:t>If </a:t>
            </a:r>
            <a:r>
              <a:rPr>
                <a:latin typeface="Courier"/>
              </a:rPr>
              <a:t>y(t) = T{x(t)}</a:t>
            </a:r>
            <a:r>
              <a:rPr/>
              <a:t>, then </a:t>
            </a:r>
            <a:r>
              <a:rPr>
                <a:latin typeface="Courier"/>
              </a:rPr>
              <a:t>y(t - t_0) = T{x(t - t_0)}</a:t>
            </a:r>
            <a:r>
              <a:rPr/>
              <a:t>.</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Shift-Invariance (or Time-Invariance)</a:t>
            </a:r>
          </a:p>
        </p:txBody>
      </p:sp>
      <p:sp>
        <p:nvSpPr>
          <p:cNvPr id="3" name="Content Placeholder 2"/>
          <p:cNvSpPr>
            <a:spLocks noGrp="1"/>
          </p:cNvSpPr>
          <p:nvPr>
            <p:ph idx="1"/>
          </p:nvPr>
        </p:nvSpPr>
        <p:spPr/>
        <p:txBody>
          <a:bodyPr/>
          <a:lstStyle/>
          <a:p>
            <a:pPr lvl="0"/>
            <a:r>
              <a:rPr/>
              <a:t>The behavior of the system does not change over time or space.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Question</a:t>
            </a:r>
          </a:p>
        </p:txBody>
      </p:sp>
      <p:sp>
        <p:nvSpPr>
          <p:cNvPr id="3" name="Content Placeholder 2"/>
          <p:cNvSpPr>
            <a:spLocks noGrp="1"/>
          </p:cNvSpPr>
          <p:nvPr>
            <p:ph idx="1"/>
          </p:nvPr>
        </p:nvSpPr>
        <p:spPr/>
        <p:txBody>
          <a:bodyPr/>
          <a:lstStyle/>
          <a:p>
            <a:pPr lvl="0" indent="0" marL="0">
              <a:buNone/>
            </a:pPr>
            <a:r>
              <a:rPr/>
              <a:t>Is the financial process of adding 5% interest to a bank account a </a:t>
            </a:r>
            <a:r>
              <a:rPr b="1"/>
              <a:t>linear</a:t>
            </a:r>
            <a:r>
              <a:rPr/>
              <a:t> system? Why or why not?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Core of LSI Systems</a:t>
            </a:r>
          </a:p>
        </p:txBody>
      </p:sp>
      <p:sp>
        <p:nvSpPr>
          <p:cNvPr id="3" name="Content Placeholder 2"/>
          <p:cNvSpPr>
            <a:spLocks noGrp="1"/>
          </p:cNvSpPr>
          <p:nvPr>
            <p:ph idx="1"/>
          </p:nvPr>
        </p:nvSpPr>
        <p:spPr/>
        <p:txBody>
          <a:bodyPr/>
          <a:lstStyle/>
          <a:p>
            <a:pPr lvl="0"/>
            <a:r>
              <a:rPr/>
              <a:t>Convolution is the mathematical operation that describes the output of an LSI system.</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Core of LSI Systems</a:t>
            </a:r>
          </a:p>
        </p:txBody>
      </p:sp>
      <p:sp>
        <p:nvSpPr>
          <p:cNvPr id="3" name="Content Placeholder 2"/>
          <p:cNvSpPr>
            <a:spLocks noGrp="1"/>
          </p:cNvSpPr>
          <p:nvPr>
            <p:ph idx="1"/>
          </p:nvPr>
        </p:nvSpPr>
        <p:spPr/>
        <p:txBody>
          <a:bodyPr/>
          <a:lstStyle/>
          <a:p>
            <a:pPr lvl="0"/>
            <a:r>
              <a:rPr/>
              <a:t>Every LSI system is completely characterized by its </a:t>
            </a:r>
            <a:r>
              <a:rPr b="1"/>
              <a:t>Impulse Response Function (IRF)</a:t>
            </a:r>
            <a:r>
              <a:rPr/>
              <a:t>, </a:t>
            </a:r>
            <a:r>
              <a:rPr>
                <a:latin typeface="Courier"/>
              </a:rPr>
              <a:t>h(t)</a:t>
            </a:r>
            <a:r>
              <a:rPr/>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Core of LSI Systems</a:t>
            </a:r>
          </a:p>
        </p:txBody>
      </p:sp>
      <p:sp>
        <p:nvSpPr>
          <p:cNvPr id="3" name="Content Placeholder 2"/>
          <p:cNvSpPr>
            <a:spLocks noGrp="1"/>
          </p:cNvSpPr>
          <p:nvPr>
            <p:ph idx="1"/>
          </p:nvPr>
        </p:nvSpPr>
        <p:spPr/>
        <p:txBody>
          <a:bodyPr/>
          <a:lstStyle/>
          <a:p>
            <a:pPr lvl="0"/>
            <a:r>
              <a:rPr/>
              <a:t>The output </a:t>
            </a:r>
            <a:r>
              <a:rPr>
                <a:latin typeface="Courier"/>
              </a:rPr>
              <a:t>y(t)</a:t>
            </a:r>
            <a:r>
              <a:rPr/>
              <a:t> is the convolution of the input </a:t>
            </a:r>
            <a:r>
              <a:rPr>
                <a:latin typeface="Courier"/>
              </a:rPr>
              <a:t>x(t)</a:t>
            </a:r>
            <a:r>
              <a:rPr/>
              <a:t> with the system’s IRF </a:t>
            </a:r>
            <a:r>
              <a:rPr>
                <a:latin typeface="Courier"/>
              </a:rPr>
              <a:t>h(t)</a:t>
            </a:r>
            <a:r>
              <a:rPr/>
              <a:t>.</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convolution integral is defined as:</a:t>
                </a:r>
              </a:p>
              <a:p>
                <a:pPr lvl="0" indent="0" marL="0">
                  <a:buNone/>
                </a:pPr>
                <a14:m>
                  <m:oMathPara xmlns:m="http://schemas.openxmlformats.org/officeDocument/2006/math">
                    <m:oMathParaPr>
                      <m:jc m:val="center"/>
                    </m:oMathParaPr>
                    <m:oMath>
                      <m:r>
                        <m:t>y</m:t>
                      </m:r>
                      <m:d>
                        <m:dPr>
                          <m:begChr m:val="("/>
                          <m:endChr m:val=")"/>
                          <m:sepChr m:val=""/>
                          <m:grow/>
                        </m:dPr>
                        <m:e>
                          <m:r>
                            <m:t>t</m:t>
                          </m:r>
                        </m:e>
                      </m:d>
                      <m:r>
                        <m:rPr>
                          <m:sty m:val="p"/>
                        </m:rPr>
                        <m:t>=</m:t>
                      </m:r>
                      <m:r>
                        <m:t>x</m:t>
                      </m:r>
                      <m:d>
                        <m:dPr>
                          <m:begChr m:val="("/>
                          <m:endChr m:val=")"/>
                          <m:sepChr m:val=""/>
                          <m:grow/>
                        </m:dPr>
                        <m:e>
                          <m:r>
                            <m:t>t</m:t>
                          </m:r>
                        </m:e>
                      </m:d>
                      <m:r>
                        <m:rPr>
                          <m:sty m:val="p"/>
                        </m:rPr>
                        <m:t>*</m:t>
                      </m:r>
                      <m:r>
                        <m:t>h</m:t>
                      </m:r>
                      <m:d>
                        <m:dPr>
                          <m:begChr m:val="("/>
                          <m:endChr m:val=")"/>
                          <m:sepChr m:val=""/>
                          <m:grow/>
                        </m:dPr>
                        <m:e>
                          <m:r>
                            <m:t>t</m:t>
                          </m:r>
                        </m:e>
                      </m:d>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τ</m:t>
                          </m:r>
                        </m:e>
                      </m:d>
                      <m:r>
                        <m:t>h</m:t>
                      </m:r>
                      <m:d>
                        <m:dPr>
                          <m:begChr m:val="("/>
                          <m:endChr m:val=")"/>
                          <m:sepChr m:val=""/>
                          <m:grow/>
                        </m:dPr>
                        <m:e>
                          <m:r>
                            <m:t>t</m:t>
                          </m:r>
                          <m:r>
                            <m:rPr>
                              <m:sty m:val="p"/>
                            </m:rPr>
                            <m:t>−</m:t>
                          </m:r>
                          <m:r>
                            <m:t>τ</m:t>
                          </m:r>
                        </m:e>
                      </m:d>
                      <m:r>
                        <m:t>d</m:t>
                      </m:r>
                      <m:r>
                        <m:t>τ</m:t>
                      </m:r>
                    </m:oMath>
                  </m:oMathPara>
                </a14:m>
              </a:p>
              <a:p>
                <a:pPr lvl="0"/>
                <a:r>
                  <a:rPr>
                    <a:latin typeface="Courier"/>
                  </a:rPr>
                  <a:t>*</a:t>
                </a:r>
                <a:r>
                  <a:rPr/>
                  <a:t> denotes the convolution operation.</a:t>
                </a:r>
              </a:p>
              <a:p>
                <a:pPr lvl="0"/>
                <a:r>
                  <a:rPr>
                    <a:latin typeface="Courier"/>
                  </a:rPr>
                  <a:t>τ</a:t>
                </a:r>
                <a:r>
                  <a:rPr/>
                  <a:t> is a dummy variable of integration.</a:t>
                </a:r>
              </a:p>
            </p:txBody>
          </p:sp>
        </mc:Choice>
      </mc:AlternateContent>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Intuition</a:t>
            </a:r>
          </a:p>
        </p:txBody>
      </p:sp>
      <p:sp>
        <p:nvSpPr>
          <p:cNvPr id="3" name="Content Placeholder 2"/>
          <p:cNvSpPr>
            <a:spLocks noGrp="1"/>
          </p:cNvSpPr>
          <p:nvPr>
            <p:ph idx="1"/>
          </p:nvPr>
        </p:nvSpPr>
        <p:spPr/>
        <p:txBody>
          <a:bodyPr/>
          <a:lstStyle/>
          <a:p>
            <a:pPr lvl="0" indent="0" marL="0">
              <a:buNone/>
            </a:pPr>
            <a:r>
              <a:rPr/>
              <a:t>Think of </a:t>
            </a:r>
            <a:r>
              <a:rPr>
                <a:latin typeface="Courier"/>
              </a:rPr>
              <a:t>h(t)</a:t>
            </a:r>
            <a:r>
              <a:rPr/>
              <a:t> as a “smearing” or “blurring” function. The convolution integral slides the flipped </a:t>
            </a:r>
            <a:r>
              <a:rPr>
                <a:latin typeface="Courier"/>
              </a:rPr>
              <a:t>h(-τ)</a:t>
            </a:r>
            <a:r>
              <a:rPr/>
              <a:t> along the input </a:t>
            </a:r>
            <a:r>
              <a:rPr>
                <a:latin typeface="Courier"/>
              </a:rPr>
              <a:t>x(τ)</a:t>
            </a:r>
            <a:r>
              <a:rPr/>
              <a:t> and, at each position </a:t>
            </a:r>
            <a:r>
              <a:rPr>
                <a:latin typeface="Courier"/>
              </a:rPr>
              <a:t>t</a:t>
            </a:r>
            <a:r>
              <a:rPr/>
              <a:t>, calculates the overlapping area.</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Intuition</a:t>
            </a:r>
          </a:p>
        </p:txBody>
      </p:sp>
      <p:sp>
        <p:nvSpPr>
          <p:cNvPr id="3" name="Content Placeholder 2"/>
          <p:cNvSpPr>
            <a:spLocks noGrp="1"/>
          </p:cNvSpPr>
          <p:nvPr>
            <p:ph idx="1"/>
          </p:nvPr>
        </p:nvSpPr>
        <p:spPr/>
        <p:txBody>
          <a:bodyPr/>
          <a:lstStyle/>
          <a:p>
            <a:pPr lvl="0" indent="-342900" marL="342900">
              <a:buAutoNum type="arabicPeriod"/>
            </a:pPr>
            <a:r>
              <a:rPr b="1"/>
              <a:t>Flip:</a:t>
            </a:r>
            <a:r>
              <a:rPr/>
              <a:t> Take the impulse response </a:t>
            </a:r>
            <a:r>
              <a:rPr>
                <a:latin typeface="Courier"/>
              </a:rPr>
              <a:t>h(τ)</a:t>
            </a:r>
            <a:r>
              <a:rPr/>
              <a:t> and flip it to get </a:t>
            </a:r>
            <a:r>
              <a:rPr>
                <a:latin typeface="Courier"/>
              </a:rPr>
              <a:t>h(-τ)</a:t>
            </a:r>
            <a:r>
              <a:rPr/>
              <a:t>.</a:t>
            </a:r>
          </a:p>
          <a:p>
            <a:pPr lvl="0" indent="-342900" marL="342900">
              <a:buAutoNum type="arabicPeriod"/>
            </a:pPr>
            <a:r>
              <a:rPr b="1"/>
              <a:t>Shift:</a:t>
            </a:r>
            <a:r>
              <a:rPr/>
              <a:t> Shift it by </a:t>
            </a:r>
            <a:r>
              <a:rPr>
                <a:latin typeface="Courier"/>
              </a:rPr>
              <a:t>t</a:t>
            </a:r>
            <a:r>
              <a:rPr/>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The Intuition</a:t>
            </a:r>
          </a:p>
        </p:txBody>
      </p:sp>
      <p:sp>
        <p:nvSpPr>
          <p:cNvPr id="3" name="Content Placeholder 2"/>
          <p:cNvSpPr>
            <a:spLocks noGrp="1"/>
          </p:cNvSpPr>
          <p:nvPr>
            <p:ph idx="1"/>
          </p:nvPr>
        </p:nvSpPr>
        <p:spPr/>
        <p:txBody>
          <a:bodyPr/>
          <a:lstStyle/>
          <a:p>
            <a:pPr lvl="0" indent="-342900" marL="342900">
              <a:buAutoNum startAt="3" type="arabicPeriod"/>
            </a:pPr>
            <a:r>
              <a:rPr b="1"/>
              <a:t>Multiply:</a:t>
            </a:r>
            <a:r>
              <a:rPr/>
              <a:t> Multiply the input </a:t>
            </a:r>
            <a:r>
              <a:rPr>
                <a:latin typeface="Courier"/>
              </a:rPr>
              <a:t>x(τ)</a:t>
            </a:r>
            <a:r>
              <a:rPr/>
              <a:t> by the shifted, flipped </a:t>
            </a:r>
            <a:r>
              <a:rPr>
                <a:latin typeface="Courier"/>
              </a:rPr>
              <a:t>h(t - τ)</a:t>
            </a:r>
            <a:r>
              <a:rPr/>
              <a:t>.</a:t>
            </a:r>
          </a:p>
          <a:p>
            <a:pPr lvl="0" indent="-342900" marL="342900">
              <a:buAutoNum startAt="3" type="arabicPeriod"/>
            </a:pPr>
            <a:r>
              <a:rPr b="1"/>
              <a:t>Integrate:</a:t>
            </a:r>
            <a:r>
              <a:rPr/>
              <a:t> Calculate the area under the product. This area is the value of the output </a:t>
            </a:r>
            <a:r>
              <a:rPr>
                <a:latin typeface="Courier"/>
              </a:rPr>
              <a:t>y(t)</a:t>
            </a:r>
            <a:r>
              <a:rPr/>
              <a:t> at that specific </a:t>
            </a:r>
            <a:r>
              <a:rPr>
                <a:latin typeface="Courier"/>
              </a:rPr>
              <a:t>t</a:t>
            </a:r>
            <a:r>
              <a:rPr/>
              <a: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Convolution: Graphical Example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b="1">
                <a:solidFill>
                  <a:srgbClr val="007020"/>
                </a:solidFill>
                <a:latin typeface="Courier"/>
              </a:rPr>
              <a:t>def</a:t>
            </a:r>
            <a:r>
              <a:rPr>
                <a:latin typeface="Courier"/>
              </a:rPr>
              <a:t> x_func(t):</a:t>
            </a:r>
            <a:br/>
            <a:r>
              <a:rPr>
                <a:latin typeface="Courier"/>
              </a:rPr>
              <a:t>    </a:t>
            </a:r>
            <a:r>
              <a:rPr b="1">
                <a:solidFill>
                  <a:srgbClr val="007020"/>
                </a:solidFill>
                <a:latin typeface="Courier"/>
              </a:rPr>
              <a:t>return</a:t>
            </a:r>
            <a:r>
              <a:rPr>
                <a:latin typeface="Courier"/>
              </a:rPr>
              <a:t> np.where((t </a:t>
            </a:r>
            <a:r>
              <a:rPr>
                <a:solidFill>
                  <a:srgbClr val="666666"/>
                </a:solidFill>
                <a:latin typeface="Courier"/>
              </a:rPr>
              <a:t>&gt;=</a:t>
            </a:r>
            <a:r>
              <a:rPr>
                <a:latin typeface="Courier"/>
              </a:rPr>
              <a:t> </a:t>
            </a:r>
            <a:r>
              <a:rPr>
                <a:solidFill>
                  <a:srgbClr val="40A070"/>
                </a:solidFill>
                <a:latin typeface="Courier"/>
              </a:rPr>
              <a:t>0</a:t>
            </a:r>
            <a:r>
              <a:rPr>
                <a:latin typeface="Courier"/>
              </a:rPr>
              <a:t>) </a:t>
            </a:r>
            <a:r>
              <a:rPr>
                <a:solidFill>
                  <a:srgbClr val="666666"/>
                </a:solidFill>
                <a:latin typeface="Courier"/>
              </a:rPr>
              <a:t>&amp;</a:t>
            </a:r>
            <a:r>
              <a:rPr>
                <a:latin typeface="Courier"/>
              </a:rPr>
              <a:t> (t </a:t>
            </a:r>
            <a:r>
              <a:rPr>
                <a:solidFill>
                  <a:srgbClr val="666666"/>
                </a:solidFill>
                <a:latin typeface="Courier"/>
              </a:rPr>
              <a:t>&lt;=</a:t>
            </a:r>
            <a:r>
              <a:rPr>
                <a:latin typeface="Courier"/>
              </a:rPr>
              <a:t> </a:t>
            </a:r>
            <a:r>
              <a:rPr>
                <a:solidFill>
                  <a:srgbClr val="40A070"/>
                </a:solidFill>
                <a:latin typeface="Courier"/>
              </a:rPr>
              <a:t>2</a:t>
            </a:r>
            <a:r>
              <a:rPr>
                <a:latin typeface="Courier"/>
              </a:rPr>
              <a:t>), </a:t>
            </a:r>
            <a:r>
              <a:rPr>
                <a:solidFill>
                  <a:srgbClr val="40A070"/>
                </a:solidFill>
                <a:latin typeface="Courier"/>
              </a:rPr>
              <a:t>1</a:t>
            </a:r>
            <a:r>
              <a:rPr>
                <a:latin typeface="Courier"/>
              </a:rPr>
              <a:t>, </a:t>
            </a:r>
            <a:r>
              <a:rPr>
                <a:solidFill>
                  <a:srgbClr val="40A070"/>
                </a:solidFill>
                <a:latin typeface="Courier"/>
              </a:rPr>
              <a:t>0</a:t>
            </a:r>
            <a:r>
              <a:rPr>
                <a:latin typeface="Courier"/>
              </a:rPr>
              <a:t>)</a:t>
            </a:r>
            <a:br/>
            <a:br/>
            <a:r>
              <a:rPr b="1">
                <a:solidFill>
                  <a:srgbClr val="007020"/>
                </a:solidFill>
                <a:latin typeface="Courier"/>
              </a:rPr>
              <a:t>def</a:t>
            </a:r>
            <a:r>
              <a:rPr>
                <a:latin typeface="Courier"/>
              </a:rPr>
              <a:t> h_func(t):</a:t>
            </a:r>
            <a:br/>
            <a:r>
              <a:rPr>
                <a:latin typeface="Courier"/>
              </a:rPr>
              <a:t>    </a:t>
            </a:r>
            <a:r>
              <a:rPr b="1">
                <a:solidFill>
                  <a:srgbClr val="007020"/>
                </a:solidFill>
                <a:latin typeface="Courier"/>
              </a:rPr>
              <a:t>return</a:t>
            </a:r>
            <a:r>
              <a:rPr>
                <a:latin typeface="Courier"/>
              </a:rPr>
              <a:t> np.piecewise(t, [(t </a:t>
            </a:r>
            <a:r>
              <a:rPr>
                <a:solidFill>
                  <a:srgbClr val="666666"/>
                </a:solidFill>
                <a:latin typeface="Courier"/>
              </a:rPr>
              <a:t>&gt;=</a:t>
            </a:r>
            <a:r>
              <a:rPr>
                <a:latin typeface="Courier"/>
              </a:rPr>
              <a:t> </a:t>
            </a:r>
            <a:r>
              <a:rPr>
                <a:solidFill>
                  <a:srgbClr val="40A070"/>
                </a:solidFill>
                <a:latin typeface="Courier"/>
              </a:rPr>
              <a:t>0</a:t>
            </a:r>
            <a:r>
              <a:rPr>
                <a:latin typeface="Courier"/>
              </a:rPr>
              <a:t>) </a:t>
            </a:r>
            <a:r>
              <a:rPr>
                <a:solidFill>
                  <a:srgbClr val="666666"/>
                </a:solidFill>
                <a:latin typeface="Courier"/>
              </a:rPr>
              <a:t>&amp;</a:t>
            </a:r>
            <a:r>
              <a:rPr>
                <a:latin typeface="Courier"/>
              </a:rPr>
              <a:t> (t </a:t>
            </a:r>
            <a:r>
              <a:rPr>
                <a:solidFill>
                  <a:srgbClr val="666666"/>
                </a:solidFill>
                <a:latin typeface="Courier"/>
              </a:rPr>
              <a:t>&lt;=</a:t>
            </a:r>
            <a:r>
              <a:rPr>
                <a:latin typeface="Courier"/>
              </a:rPr>
              <a:t> </a:t>
            </a:r>
            <a:r>
              <a:rPr>
                <a:solidFill>
                  <a:srgbClr val="40A070"/>
                </a:solidFill>
                <a:latin typeface="Courier"/>
              </a:rPr>
              <a:t>1</a:t>
            </a:r>
            <a:r>
              <a:rPr>
                <a:latin typeface="Courier"/>
              </a:rPr>
              <a:t>), (t </a:t>
            </a:r>
            <a:r>
              <a:rPr>
                <a:solidFill>
                  <a:srgbClr val="666666"/>
                </a:solidFill>
                <a:latin typeface="Courier"/>
              </a:rPr>
              <a:t>&gt;</a:t>
            </a:r>
            <a:r>
              <a:rPr>
                <a:latin typeface="Courier"/>
              </a:rPr>
              <a:t> </a:t>
            </a:r>
            <a:r>
              <a:rPr>
                <a:solidFill>
                  <a:srgbClr val="40A070"/>
                </a:solidFill>
                <a:latin typeface="Courier"/>
              </a:rPr>
              <a:t>1</a:t>
            </a:r>
            <a:r>
              <a:rPr>
                <a:latin typeface="Courier"/>
              </a:rPr>
              <a:t>) </a:t>
            </a:r>
            <a:r>
              <a:rPr>
                <a:solidFill>
                  <a:srgbClr val="666666"/>
                </a:solidFill>
                <a:latin typeface="Courier"/>
              </a:rPr>
              <a:t>&amp;</a:t>
            </a:r>
            <a:r>
              <a:rPr>
                <a:latin typeface="Courier"/>
              </a:rPr>
              <a:t> (t </a:t>
            </a:r>
            <a:r>
              <a:rPr>
                <a:solidFill>
                  <a:srgbClr val="666666"/>
                </a:solidFill>
                <a:latin typeface="Courier"/>
              </a:rPr>
              <a:t>&lt;=</a:t>
            </a:r>
            <a:r>
              <a:rPr>
                <a:latin typeface="Courier"/>
              </a:rPr>
              <a:t> </a:t>
            </a:r>
            <a:r>
              <a:rPr>
                <a:solidFill>
                  <a:srgbClr val="40A070"/>
                </a:solidFill>
                <a:latin typeface="Courier"/>
              </a:rPr>
              <a:t>2</a:t>
            </a:r>
            <a:r>
              <a:rPr>
                <a:latin typeface="Courier"/>
              </a:rPr>
              <a:t>)], [</a:t>
            </a:r>
            <a:r>
              <a:rPr b="1">
                <a:solidFill>
                  <a:srgbClr val="007020"/>
                </a:solidFill>
                <a:latin typeface="Courier"/>
              </a:rPr>
              <a:t>lambda</a:t>
            </a:r>
            <a:r>
              <a:rPr>
                <a:latin typeface="Courier"/>
              </a:rPr>
              <a:t> t: t, </a:t>
            </a:r>
            <a:r>
              <a:rPr b="1">
                <a:solidFill>
                  <a:srgbClr val="007020"/>
                </a:solidFill>
                <a:latin typeface="Courier"/>
              </a:rPr>
              <a:t>lambda</a:t>
            </a:r>
            <a:r>
              <a:rPr>
                <a:latin typeface="Courier"/>
              </a:rPr>
              <a:t> t: </a:t>
            </a:r>
            <a:r>
              <a:rPr>
                <a:solidFill>
                  <a:srgbClr val="40A070"/>
                </a:solidFill>
                <a:latin typeface="Courier"/>
              </a:rPr>
              <a:t>2</a:t>
            </a:r>
            <a:r>
              <a:rPr>
                <a:latin typeface="Courier"/>
              </a:rPr>
              <a:t> </a:t>
            </a:r>
            <a:r>
              <a:rPr>
                <a:solidFill>
                  <a:srgbClr val="666666"/>
                </a:solidFill>
                <a:latin typeface="Courier"/>
              </a:rPr>
              <a:t>-</a:t>
            </a:r>
            <a:r>
              <a:rPr>
                <a:latin typeface="Courier"/>
              </a:rPr>
              <a:t> t])</a:t>
            </a:r>
            <a:br/>
            <a:br/>
            <a:r>
              <a:rPr>
                <a:latin typeface="Courier"/>
              </a:rPr>
              <a:t>t_viz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5</a:t>
            </a:r>
            <a:r>
              <a:rPr>
                <a:latin typeface="Courier"/>
              </a:rPr>
              <a:t>, </a:t>
            </a:r>
            <a:r>
              <a:rPr>
                <a:solidFill>
                  <a:srgbClr val="40A070"/>
                </a:solidFill>
                <a:latin typeface="Courier"/>
              </a:rPr>
              <a:t>1000</a:t>
            </a:r>
            <a:r>
              <a:rPr>
                <a:latin typeface="Courier"/>
              </a:rPr>
              <a:t>)</a:t>
            </a:r>
            <a:br/>
            <a:r>
              <a:rPr>
                <a:latin typeface="Courier"/>
              </a:rPr>
              <a:t>x_val </a:t>
            </a:r>
            <a:r>
              <a:rPr>
                <a:solidFill>
                  <a:srgbClr val="666666"/>
                </a:solidFill>
                <a:latin typeface="Courier"/>
              </a:rPr>
              <a:t>=</a:t>
            </a:r>
            <a:r>
              <a:rPr>
                <a:latin typeface="Courier"/>
              </a:rPr>
              <a:t> x_func(t_viz)</a:t>
            </a:r>
            <a:br/>
            <a:r>
              <a:rPr>
                <a:latin typeface="Courier"/>
              </a:rPr>
              <a:t>h_val </a:t>
            </a:r>
            <a:r>
              <a:rPr>
                <a:solidFill>
                  <a:srgbClr val="666666"/>
                </a:solidFill>
                <a:latin typeface="Courier"/>
              </a:rPr>
              <a:t>=</a:t>
            </a:r>
            <a:r>
              <a:rPr>
                <a:latin typeface="Courier"/>
              </a:rPr>
              <a:t> h_func(t_viz)</a:t>
            </a:r>
            <a:br/>
            <a:br/>
            <a:r>
              <a:rPr>
                <a:latin typeface="Courier"/>
              </a:rPr>
              <a:t>plt.figure()</a:t>
            </a:r>
            <a:br/>
            <a:r>
              <a:rPr>
                <a:latin typeface="Courier"/>
              </a:rPr>
              <a:t>plt.plot(t_viz, x_val, label</a:t>
            </a:r>
            <a:r>
              <a:rPr>
                <a:solidFill>
                  <a:srgbClr val="666666"/>
                </a:solidFill>
                <a:latin typeface="Courier"/>
              </a:rPr>
              <a:t>=</a:t>
            </a:r>
            <a:r>
              <a:rPr>
                <a:solidFill>
                  <a:srgbClr val="4070A0"/>
                </a:solidFill>
                <a:latin typeface="Courier"/>
              </a:rPr>
              <a:t>'x(t)'</a:t>
            </a:r>
            <a:r>
              <a:rPr>
                <a:latin typeface="Courier"/>
              </a:rPr>
              <a:t>)</a:t>
            </a:r>
            <a:br/>
            <a:r>
              <a:rPr>
                <a:latin typeface="Courier"/>
              </a:rPr>
              <a:t>plt.plot(t_viz, h_val, label</a:t>
            </a:r>
            <a:r>
              <a:rPr>
                <a:solidFill>
                  <a:srgbClr val="666666"/>
                </a:solidFill>
                <a:latin typeface="Courier"/>
              </a:rPr>
              <a:t>=</a:t>
            </a:r>
            <a:r>
              <a:rPr>
                <a:solidFill>
                  <a:srgbClr val="4070A0"/>
                </a:solidFill>
                <a:latin typeface="Courier"/>
              </a:rPr>
              <a:t>'h(t)'</a:t>
            </a:r>
            <a:r>
              <a:rPr>
                <a:latin typeface="Courier"/>
              </a:rPr>
              <a:t>)</a:t>
            </a:r>
            <a:br/>
            <a:r>
              <a:rPr>
                <a:latin typeface="Courier"/>
              </a:rPr>
              <a:t>plt.title(</a:t>
            </a:r>
            <a:r>
              <a:rPr>
                <a:solidFill>
                  <a:srgbClr val="4070A0"/>
                </a:solidFill>
                <a:latin typeface="Courier"/>
              </a:rPr>
              <a:t>"Input Signal and Impulse Response"</a:t>
            </a:r>
            <a:r>
              <a:rPr>
                <a:latin typeface="Courier"/>
              </a:rPr>
              <a:t>)</a:t>
            </a:r>
            <a:br/>
            <a:r>
              <a:rPr>
                <a:latin typeface="Courier"/>
              </a:rPr>
              <a:t>plt.legend()</a:t>
            </a:r>
            <a:br/>
            <a:r>
              <a:rPr>
                <a:latin typeface="Courier"/>
              </a:rPr>
              <a:t>conv_viz_setup_fig </a:t>
            </a:r>
            <a:r>
              <a:rPr>
                <a:solidFill>
                  <a:srgbClr val="666666"/>
                </a:solidFill>
                <a:latin typeface="Courier"/>
              </a:rPr>
              <a:t>=</a:t>
            </a:r>
            <a:r>
              <a:rPr>
                <a:latin typeface="Courier"/>
              </a:rPr>
              <a:t> plt.gcf()</a:t>
            </a:r>
            <a:br/>
            <a:br/>
            <a:r>
              <a:rPr>
                <a:latin typeface="Courier"/>
              </a:rPr>
              <a:t>t_val </a:t>
            </a:r>
            <a:r>
              <a:rPr>
                <a:solidFill>
                  <a:srgbClr val="666666"/>
                </a:solidFill>
                <a:latin typeface="Courier"/>
              </a:rPr>
              <a:t>=</a:t>
            </a:r>
            <a:r>
              <a:rPr>
                <a:latin typeface="Courier"/>
              </a:rPr>
              <a:t> </a:t>
            </a:r>
            <a:r>
              <a:rPr>
                <a:solidFill>
                  <a:srgbClr val="40A070"/>
                </a:solidFill>
                <a:latin typeface="Courier"/>
              </a:rPr>
              <a:t>0.5</a:t>
            </a:r>
            <a:br/>
            <a:r>
              <a:rPr>
                <a:latin typeface="Courier"/>
              </a:rPr>
              <a:t>h_flipped_shifted </a:t>
            </a:r>
            <a:r>
              <a:rPr>
                <a:solidFill>
                  <a:srgbClr val="666666"/>
                </a:solidFill>
                <a:latin typeface="Courier"/>
              </a:rPr>
              <a:t>=</a:t>
            </a:r>
            <a:r>
              <a:rPr>
                <a:latin typeface="Courier"/>
              </a:rPr>
              <a:t> h_func(t_val </a:t>
            </a:r>
            <a:r>
              <a:rPr>
                <a:solidFill>
                  <a:srgbClr val="666666"/>
                </a:solidFill>
                <a:latin typeface="Courier"/>
              </a:rPr>
              <a:t>-</a:t>
            </a:r>
            <a:r>
              <a:rPr>
                <a:latin typeface="Courier"/>
              </a:rPr>
              <a:t> t_viz)</a:t>
            </a:r>
            <a:br/>
            <a:r>
              <a:rPr>
                <a:latin typeface="Courier"/>
              </a:rPr>
              <a:t>product </a:t>
            </a:r>
            <a:r>
              <a:rPr>
                <a:solidFill>
                  <a:srgbClr val="666666"/>
                </a:solidFill>
                <a:latin typeface="Courier"/>
              </a:rPr>
              <a:t>=</a:t>
            </a:r>
            <a:r>
              <a:rPr>
                <a:latin typeface="Courier"/>
              </a:rPr>
              <a:t> x_func(t_viz) </a:t>
            </a:r>
            <a:r>
              <a:rPr>
                <a:solidFill>
                  <a:srgbClr val="666666"/>
                </a:solidFill>
                <a:latin typeface="Courier"/>
              </a:rPr>
              <a:t>*</a:t>
            </a:r>
            <a:r>
              <a:rPr>
                <a:latin typeface="Courier"/>
              </a:rPr>
              <a:t> h_flipped_shifted</a:t>
            </a:r>
            <a:br/>
            <a:br/>
            <a:r>
              <a:rPr>
                <a:latin typeface="Courier"/>
              </a:rPr>
              <a:t>plt.figure()</a:t>
            </a:r>
            <a:br/>
            <a:r>
              <a:rPr>
                <a:latin typeface="Courier"/>
              </a:rPr>
              <a:t>plt.plot(t_viz, x_func(t_viz), label</a:t>
            </a:r>
            <a:r>
              <a:rPr>
                <a:solidFill>
                  <a:srgbClr val="666666"/>
                </a:solidFill>
                <a:latin typeface="Courier"/>
              </a:rPr>
              <a:t>=</a:t>
            </a:r>
            <a:r>
              <a:rPr>
                <a:solidFill>
                  <a:srgbClr val="4070A0"/>
                </a:solidFill>
                <a:latin typeface="Courier"/>
              </a:rPr>
              <a:t>'x(t)'</a:t>
            </a:r>
            <a:r>
              <a:rPr>
                <a:latin typeface="Courier"/>
              </a:rPr>
              <a:t>)</a:t>
            </a:r>
            <a:br/>
            <a:r>
              <a:rPr>
                <a:latin typeface="Courier"/>
              </a:rPr>
              <a:t>plt.plot(t_viz, h_flipped_shifted, label</a:t>
            </a:r>
            <a:r>
              <a:rPr>
                <a:solidFill>
                  <a:srgbClr val="666666"/>
                </a:solidFill>
                <a:latin typeface="Courier"/>
              </a:rPr>
              <a:t>=</a:t>
            </a:r>
            <a:r>
              <a:rPr>
                <a:solidFill>
                  <a:srgbClr val="BB6688"/>
                </a:solidFill>
                <a:latin typeface="Courier"/>
              </a:rPr>
              <a:t>f'h(</a:t>
            </a:r>
            <a:r>
              <a:rPr>
                <a:solidFill>
                  <a:srgbClr val="4070A0"/>
                </a:solidFill>
                <a:latin typeface="Courier"/>
              </a:rPr>
              <a:t>{</a:t>
            </a:r>
            <a:r>
              <a:rPr>
                <a:latin typeface="Courier"/>
              </a:rPr>
              <a:t>t_val</a:t>
            </a:r>
            <a:r>
              <a:rPr>
                <a:solidFill>
                  <a:srgbClr val="4070A0"/>
                </a:solidFill>
                <a:latin typeface="Courier"/>
              </a:rPr>
              <a:t>}</a:t>
            </a:r>
            <a:r>
              <a:rPr>
                <a:solidFill>
                  <a:srgbClr val="BB6688"/>
                </a:solidFill>
                <a:latin typeface="Courier"/>
              </a:rPr>
              <a:t> - τ)'</a:t>
            </a:r>
            <a:r>
              <a:rPr>
                <a:latin typeface="Courier"/>
              </a:rPr>
              <a:t>)</a:t>
            </a:r>
            <a:br/>
            <a:r>
              <a:rPr>
                <a:latin typeface="Courier"/>
              </a:rPr>
              <a:t>plt.fill_between(t_viz, product, color</a:t>
            </a:r>
            <a:r>
              <a:rPr>
                <a:solidFill>
                  <a:srgbClr val="666666"/>
                </a:solidFill>
                <a:latin typeface="Courier"/>
              </a:rPr>
              <a:t>=</a:t>
            </a:r>
            <a:r>
              <a:rPr>
                <a:solidFill>
                  <a:srgbClr val="4070A0"/>
                </a:solidFill>
                <a:latin typeface="Courier"/>
              </a:rPr>
              <a:t>'purple'</a:t>
            </a:r>
            <a:r>
              <a:rPr>
                <a:latin typeface="Courier"/>
              </a:rPr>
              <a:t>, alpha</a:t>
            </a:r>
            <a:r>
              <a:rPr>
                <a:solidFill>
                  <a:srgbClr val="666666"/>
                </a:solidFill>
                <a:latin typeface="Courier"/>
              </a:rPr>
              <a:t>=</a:t>
            </a:r>
            <a:r>
              <a:rPr>
                <a:solidFill>
                  <a:srgbClr val="40A070"/>
                </a:solidFill>
                <a:latin typeface="Courier"/>
              </a:rPr>
              <a:t>0.5</a:t>
            </a:r>
            <a:r>
              <a:rPr>
                <a:latin typeface="Courier"/>
              </a:rPr>
              <a:t>)</a:t>
            </a:r>
            <a:br/>
            <a:r>
              <a:rPr>
                <a:latin typeface="Courier"/>
              </a:rPr>
              <a:t>plt.title(</a:t>
            </a:r>
            <a:r>
              <a:rPr>
                <a:solidFill>
                  <a:srgbClr val="4070A0"/>
                </a:solidFill>
                <a:latin typeface="Courier"/>
              </a:rPr>
              <a:t>"Flipping, Shifting, and Multiplying"</a:t>
            </a:r>
            <a:r>
              <a:rPr>
                <a:latin typeface="Courier"/>
              </a:rPr>
              <a:t>)</a:t>
            </a:r>
            <a:br/>
            <a:r>
              <a:rPr>
                <a:latin typeface="Courier"/>
              </a:rPr>
              <a:t>plt.legend()</a:t>
            </a:r>
            <a:br/>
            <a:r>
              <a:rPr>
                <a:latin typeface="Courier"/>
              </a:rPr>
              <a:t>conv_viz_flip_fig </a:t>
            </a:r>
            <a:r>
              <a:rPr>
                <a:solidFill>
                  <a:srgbClr val="666666"/>
                </a:solidFill>
                <a:latin typeface="Courier"/>
              </a:rPr>
              <a:t>=</a:t>
            </a:r>
            <a:r>
              <a:rPr>
                <a:latin typeface="Courier"/>
              </a:rPr>
              <a:t> plt.gcf()</a:t>
            </a:r>
          </a:p>
        </p:txBody>
      </p:sp>
      <p:pic>
        <p:nvPicPr>
          <p:cNvPr descr="presentation_files/figure-pptx/conv_viz_code-17.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Graphical Example Step 1</a:t>
            </a:r>
          </a:p>
        </p:txBody>
      </p:sp>
      <p:sp>
        <p:nvSpPr>
          <p:cNvPr id="3" name="Content Placeholder 2"/>
          <p:cNvSpPr>
            <a:spLocks noGrp="1"/>
          </p:cNvSpPr>
          <p:nvPr>
            <p:ph idx="1"/>
          </p:nvPr>
        </p:nvSpPr>
        <p:spPr/>
        <p:txBody>
          <a:bodyPr/>
          <a:lstStyle/>
          <a:p>
            <a:pPr lvl="0"/>
            <a:r>
              <a:rPr/>
              <a:t>We start with an input signal </a:t>
            </a:r>
            <a:r>
              <a:rPr>
                <a:latin typeface="Courier"/>
              </a:rPr>
              <a:t>x(t)</a:t>
            </a:r>
            <a:r>
              <a:rPr/>
              <a:t> (a Rect function) and an impulse response </a:t>
            </a:r>
            <a:r>
              <a:rPr>
                <a:latin typeface="Courier"/>
              </a:rPr>
              <a:t>h(t)</a:t>
            </a:r>
            <a:r>
              <a:rPr/>
              <a:t> (a triangle function).</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Graphical Example Step 1 (cont.)</a:t>
            </a:r>
          </a:p>
        </p:txBody>
      </p:sp>
      <p:pic>
        <p:nvPicPr>
          <p:cNvPr descr="presentation_files/figure-pptx/conv_viz_setup-19.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Graphical Example Step 2</a:t>
            </a:r>
          </a:p>
        </p:txBody>
      </p:sp>
      <p:sp>
        <p:nvSpPr>
          <p:cNvPr id="3" name="Content Placeholder 2"/>
          <p:cNvSpPr>
            <a:spLocks noGrp="1"/>
          </p:cNvSpPr>
          <p:nvPr>
            <p:ph idx="1"/>
          </p:nvPr>
        </p:nvSpPr>
        <p:spPr/>
        <p:txBody>
          <a:bodyPr/>
          <a:lstStyle/>
          <a:p>
            <a:pPr lvl="0"/>
            <a:r>
              <a:rPr/>
              <a:t>We “flip” the impulse response to get </a:t>
            </a:r>
            <a:r>
              <a:rPr>
                <a:latin typeface="Courier"/>
              </a:rPr>
              <a:t>h(-τ)</a:t>
            </a:r>
            <a:r>
              <a:rPr/>
              <a:t>.</a:t>
            </a:r>
          </a:p>
          <a:p>
            <a:pPr lvl="0"/>
            <a:r>
              <a:rPr/>
              <a:t>The integral is </a:t>
            </a:r>
            <a:r>
              <a:rPr>
                <a:latin typeface="Courier"/>
              </a:rPr>
              <a:t>y(t) = ∫ x(τ) h(t - τ) dτ</a:t>
            </a:r>
            <a:r>
              <a:rPr/>
              <a:t>. We plot for a specific time </a:t>
            </a:r>
            <a:r>
              <a:rPr>
                <a:latin typeface="Courier"/>
              </a:rPr>
              <a:t>t</a:t>
            </a:r>
            <a:r>
              <a:rPr/>
              <a:t>, say </a:t>
            </a:r>
            <a:r>
              <a:rPr>
                <a:latin typeface="Courier"/>
              </a:rPr>
              <a:t>t=0.5</a:t>
            </a:r>
            <a:r>
              <a:rPr/>
              <a:t>.</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Graphical Example Step 2 (cont.)</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Graphical Example Step 2 (cont.)</a:t>
            </a:r>
          </a:p>
        </p:txBody>
      </p:sp>
      <p:sp>
        <p:nvSpPr>
          <p:cNvPr id="3" name="Content Placeholder 2"/>
          <p:cNvSpPr>
            <a:spLocks noGrp="1"/>
          </p:cNvSpPr>
          <p:nvPr>
            <p:ph idx="1"/>
          </p:nvPr>
        </p:nvSpPr>
        <p:spPr/>
        <p:txBody>
          <a:bodyPr/>
          <a:lstStyle/>
          <a:p>
            <a:pPr lvl="0"/>
            <a:r>
              <a:rPr/>
              <a:t>The purple area is the product </a:t>
            </a:r>
            <a:r>
              <a:rPr>
                <a:latin typeface="Courier"/>
              </a:rPr>
              <a:t>x(τ)h(t-τ)</a:t>
            </a:r>
            <a:r>
              <a:rPr/>
              <a:t>. The integral of this area is the value of the convolution </a:t>
            </a:r>
            <a:r>
              <a:rPr>
                <a:latin typeface="Courier"/>
              </a:rPr>
              <a:t>y(t)</a:t>
            </a:r>
            <a:r>
              <a:rPr/>
              <a:t> at </a:t>
            </a:r>
            <a:r>
              <a:rPr>
                <a:latin typeface="Courier"/>
              </a:rPr>
              <a:t>t=0.5</a:t>
            </a:r>
            <a:r>
              <a:rPr/>
              <a: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Convolution Example: Denoising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1. Create a noisy signal</a:t>
            </a:r>
            <a:br/>
            <a:r>
              <a:rPr>
                <a:latin typeface="Courier"/>
              </a:rPr>
              <a:t>t_conv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10</a:t>
            </a:r>
            <a:r>
              <a:rPr>
                <a:latin typeface="Courier"/>
              </a:rPr>
              <a:t>, </a:t>
            </a:r>
            <a:r>
              <a:rPr>
                <a:solidFill>
                  <a:srgbClr val="40A070"/>
                </a:solidFill>
                <a:latin typeface="Courier"/>
              </a:rPr>
              <a:t>500</a:t>
            </a:r>
            <a:r>
              <a:rPr>
                <a:latin typeface="Courier"/>
              </a:rPr>
              <a:t>)</a:t>
            </a:r>
            <a:br/>
            <a:r>
              <a:rPr>
                <a:latin typeface="Courier"/>
              </a:rPr>
              <a:t>signal </a:t>
            </a:r>
            <a:r>
              <a:rPr>
                <a:solidFill>
                  <a:srgbClr val="666666"/>
                </a:solidFill>
                <a:latin typeface="Courier"/>
              </a:rPr>
              <a:t>=</a:t>
            </a:r>
            <a:r>
              <a:rPr>
                <a:latin typeface="Courier"/>
              </a:rPr>
              <a:t> np.sin(t_conv) </a:t>
            </a:r>
            <a:r>
              <a:rPr>
                <a:solidFill>
                  <a:srgbClr val="666666"/>
                </a:solidFill>
                <a:latin typeface="Courier"/>
              </a:rPr>
              <a:t>+</a:t>
            </a:r>
            <a:r>
              <a:rPr>
                <a:latin typeface="Courier"/>
              </a:rPr>
              <a:t> </a:t>
            </a:r>
            <a:r>
              <a:rPr>
                <a:solidFill>
                  <a:srgbClr val="40A070"/>
                </a:solidFill>
                <a:latin typeface="Courier"/>
              </a:rPr>
              <a:t>0.1</a:t>
            </a:r>
            <a:r>
              <a:rPr>
                <a:latin typeface="Courier"/>
              </a:rPr>
              <a:t> </a:t>
            </a:r>
            <a:r>
              <a:rPr>
                <a:solidFill>
                  <a:srgbClr val="666666"/>
                </a:solidFill>
                <a:latin typeface="Courier"/>
              </a:rPr>
              <a:t>*</a:t>
            </a:r>
            <a:r>
              <a:rPr>
                <a:latin typeface="Courier"/>
              </a:rPr>
              <a:t> np.cos(t_conv </a:t>
            </a:r>
            <a:r>
              <a:rPr>
                <a:solidFill>
                  <a:srgbClr val="666666"/>
                </a:solidFill>
                <a:latin typeface="Courier"/>
              </a:rPr>
              <a:t>*</a:t>
            </a:r>
            <a:r>
              <a:rPr>
                <a:latin typeface="Courier"/>
              </a:rPr>
              <a:t> </a:t>
            </a:r>
            <a:r>
              <a:rPr>
                <a:solidFill>
                  <a:srgbClr val="40A070"/>
                </a:solidFill>
                <a:latin typeface="Courier"/>
              </a:rPr>
              <a:t>20</a:t>
            </a:r>
            <a:r>
              <a:rPr>
                <a:latin typeface="Courier"/>
              </a:rPr>
              <a:t>) </a:t>
            </a:r>
            <a:r>
              <a:rPr i="1">
                <a:solidFill>
                  <a:srgbClr val="60A0B0"/>
                </a:solidFill>
                <a:latin typeface="Courier"/>
              </a:rPr>
              <a:t># Base signal + high-freq noise</a:t>
            </a:r>
            <a:br/>
            <a:r>
              <a:rPr>
                <a:latin typeface="Courier"/>
              </a:rPr>
              <a:t>noise </a:t>
            </a:r>
            <a:r>
              <a:rPr>
                <a:solidFill>
                  <a:srgbClr val="666666"/>
                </a:solidFill>
                <a:latin typeface="Courier"/>
              </a:rPr>
              <a:t>=</a:t>
            </a:r>
            <a:r>
              <a:rPr>
                <a:latin typeface="Courier"/>
              </a:rPr>
              <a:t> np.random.normal(</a:t>
            </a:r>
            <a:r>
              <a:rPr>
                <a:solidFill>
                  <a:srgbClr val="40A070"/>
                </a:solidFill>
                <a:latin typeface="Courier"/>
              </a:rPr>
              <a:t>0</a:t>
            </a:r>
            <a:r>
              <a:rPr>
                <a:latin typeface="Courier"/>
              </a:rPr>
              <a:t>, </a:t>
            </a:r>
            <a:r>
              <a:rPr>
                <a:solidFill>
                  <a:srgbClr val="40A070"/>
                </a:solidFill>
                <a:latin typeface="Courier"/>
              </a:rPr>
              <a:t>0.2</a:t>
            </a:r>
            <a:r>
              <a:rPr>
                <a:latin typeface="Courier"/>
              </a:rPr>
              <a:t>, </a:t>
            </a:r>
            <a:r>
              <a:rPr>
                <a:solidFill>
                  <a:srgbClr val="40A070"/>
                </a:solidFill>
                <a:latin typeface="Courier"/>
              </a:rPr>
              <a:t>500</a:t>
            </a:r>
            <a:r>
              <a:rPr>
                <a:latin typeface="Courier"/>
              </a:rPr>
              <a:t>)</a:t>
            </a:r>
            <a:br/>
            <a:r>
              <a:rPr>
                <a:latin typeface="Courier"/>
              </a:rPr>
              <a:t>noisy_signal </a:t>
            </a:r>
            <a:r>
              <a:rPr>
                <a:solidFill>
                  <a:srgbClr val="666666"/>
                </a:solidFill>
                <a:latin typeface="Courier"/>
              </a:rPr>
              <a:t>=</a:t>
            </a:r>
            <a:r>
              <a:rPr>
                <a:latin typeface="Courier"/>
              </a:rPr>
              <a:t> signal </a:t>
            </a:r>
            <a:r>
              <a:rPr>
                <a:solidFill>
                  <a:srgbClr val="666666"/>
                </a:solidFill>
                <a:latin typeface="Courier"/>
              </a:rPr>
              <a:t>+</a:t>
            </a:r>
            <a:r>
              <a:rPr>
                <a:latin typeface="Courier"/>
              </a:rPr>
              <a:t> noise</a:t>
            </a:r>
            <a:br/>
            <a:br/>
            <a:r>
              <a:rPr i="1">
                <a:solidFill>
                  <a:srgbClr val="60A0B0"/>
                </a:solidFill>
                <a:latin typeface="Courier"/>
              </a:rPr>
              <a:t># 2. Perform convolution in the discrete domain (moving average)</a:t>
            </a:r>
            <a:br/>
            <a:r>
              <a:rPr>
                <a:latin typeface="Courier"/>
              </a:rPr>
              <a:t>kernel </a:t>
            </a:r>
            <a:r>
              <a:rPr>
                <a:solidFill>
                  <a:srgbClr val="666666"/>
                </a:solidFill>
                <a:latin typeface="Courier"/>
              </a:rPr>
              <a:t>=</a:t>
            </a:r>
            <a:r>
              <a:rPr>
                <a:latin typeface="Courier"/>
              </a:rPr>
              <a:t> np.ones(</a:t>
            </a:r>
            <a:r>
              <a:rPr>
                <a:solidFill>
                  <a:srgbClr val="40A070"/>
                </a:solidFill>
                <a:latin typeface="Courier"/>
              </a:rPr>
              <a:t>11</a:t>
            </a:r>
            <a:r>
              <a:rPr>
                <a:latin typeface="Courier"/>
              </a:rPr>
              <a:t>) </a:t>
            </a:r>
            <a:r>
              <a:rPr>
                <a:solidFill>
                  <a:srgbClr val="666666"/>
                </a:solidFill>
                <a:latin typeface="Courier"/>
              </a:rPr>
              <a:t>/</a:t>
            </a:r>
            <a:r>
              <a:rPr>
                <a:latin typeface="Courier"/>
              </a:rPr>
              <a:t> </a:t>
            </a:r>
            <a:r>
              <a:rPr>
                <a:solidFill>
                  <a:srgbClr val="40A070"/>
                </a:solidFill>
                <a:latin typeface="Courier"/>
              </a:rPr>
              <a:t>11</a:t>
            </a:r>
            <a:r>
              <a:rPr>
                <a:latin typeface="Courier"/>
              </a:rPr>
              <a:t> </a:t>
            </a:r>
            <a:r>
              <a:rPr i="1">
                <a:solidFill>
                  <a:srgbClr val="60A0B0"/>
                </a:solidFill>
                <a:latin typeface="Courier"/>
              </a:rPr>
              <a:t># A simple 11-point averaging kernel</a:t>
            </a:r>
            <a:br/>
            <a:r>
              <a:rPr>
                <a:latin typeface="Courier"/>
              </a:rPr>
              <a:t>smoothed_signal </a:t>
            </a:r>
            <a:r>
              <a:rPr>
                <a:solidFill>
                  <a:srgbClr val="666666"/>
                </a:solidFill>
                <a:latin typeface="Courier"/>
              </a:rPr>
              <a:t>=</a:t>
            </a:r>
            <a:r>
              <a:rPr>
                <a:latin typeface="Courier"/>
              </a:rPr>
              <a:t> np.convolve(noisy_signal, kernel, mode</a:t>
            </a:r>
            <a:r>
              <a:rPr>
                <a:solidFill>
                  <a:srgbClr val="666666"/>
                </a:solidFill>
                <a:latin typeface="Courier"/>
              </a:rPr>
              <a:t>=</a:t>
            </a:r>
            <a:r>
              <a:rPr>
                <a:solidFill>
                  <a:srgbClr val="4070A0"/>
                </a:solidFill>
                <a:latin typeface="Courier"/>
              </a:rPr>
              <a:t>'same'</a:t>
            </a:r>
            <a:r>
              <a:rPr>
                <a:latin typeface="Courier"/>
              </a:rPr>
              <a:t>)</a:t>
            </a:r>
            <a:br/>
            <a:br/>
            <a:r>
              <a:rPr>
                <a:latin typeface="Courier"/>
              </a:rPr>
              <a:t>plt.figure()</a:t>
            </a:r>
            <a:br/>
            <a:r>
              <a:rPr>
                <a:latin typeface="Courier"/>
              </a:rPr>
              <a:t>plt.plot(t_conv, noisy_signal, color</a:t>
            </a:r>
            <a:r>
              <a:rPr>
                <a:solidFill>
                  <a:srgbClr val="666666"/>
                </a:solidFill>
                <a:latin typeface="Courier"/>
              </a:rPr>
              <a:t>=</a:t>
            </a:r>
            <a:r>
              <a:rPr>
                <a:solidFill>
                  <a:srgbClr val="4070A0"/>
                </a:solidFill>
                <a:latin typeface="Courier"/>
              </a:rPr>
              <a:t>"gray"</a:t>
            </a:r>
            <a:r>
              <a:rPr>
                <a:latin typeface="Courier"/>
              </a:rPr>
              <a:t>, label</a:t>
            </a:r>
            <a:r>
              <a:rPr>
                <a:solidFill>
                  <a:srgbClr val="666666"/>
                </a:solidFill>
                <a:latin typeface="Courier"/>
              </a:rPr>
              <a:t>=</a:t>
            </a:r>
            <a:r>
              <a:rPr>
                <a:solidFill>
                  <a:srgbClr val="4070A0"/>
                </a:solidFill>
                <a:latin typeface="Courier"/>
              </a:rPr>
              <a:t>"Noisy"</a:t>
            </a:r>
            <a:r>
              <a:rPr>
                <a:latin typeface="Courier"/>
              </a:rPr>
              <a:t>)</a:t>
            </a:r>
            <a:br/>
            <a:r>
              <a:rPr>
                <a:latin typeface="Courier"/>
              </a:rPr>
              <a:t>plt.plot(t_conv, smoothed_signal, color</a:t>
            </a:r>
            <a:r>
              <a:rPr>
                <a:solidFill>
                  <a:srgbClr val="666666"/>
                </a:solidFill>
                <a:latin typeface="Courier"/>
              </a:rPr>
              <a:t>=</a:t>
            </a:r>
            <a:r>
              <a:rPr>
                <a:solidFill>
                  <a:srgbClr val="4070A0"/>
                </a:solidFill>
                <a:latin typeface="Courier"/>
              </a:rPr>
              <a:t>"red"</a:t>
            </a:r>
            <a:r>
              <a:rPr>
                <a:latin typeface="Courier"/>
              </a:rPr>
              <a:t>, label</a:t>
            </a:r>
            <a:r>
              <a:rPr>
                <a:solidFill>
                  <a:srgbClr val="666666"/>
                </a:solidFill>
                <a:latin typeface="Courier"/>
              </a:rPr>
              <a:t>=</a:t>
            </a:r>
            <a:r>
              <a:rPr>
                <a:solidFill>
                  <a:srgbClr val="4070A0"/>
                </a:solidFill>
                <a:latin typeface="Courier"/>
              </a:rPr>
              <a:t>"Smoothed"</a:t>
            </a:r>
            <a:r>
              <a:rPr>
                <a:latin typeface="Courier"/>
              </a:rPr>
              <a:t>)</a:t>
            </a:r>
            <a:br/>
            <a:r>
              <a:rPr>
                <a:latin typeface="Courier"/>
              </a:rPr>
              <a:t>plt.title(</a:t>
            </a:r>
            <a:r>
              <a:rPr>
                <a:solidFill>
                  <a:srgbClr val="4070A0"/>
                </a:solidFill>
                <a:latin typeface="Courier"/>
              </a:rPr>
              <a:t>"Signal Denoising via Convolution"</a:t>
            </a:r>
            <a:r>
              <a:rPr>
                <a:latin typeface="Courier"/>
              </a:rPr>
              <a:t>)</a:t>
            </a:r>
            <a:br/>
            <a:r>
              <a:rPr>
                <a:latin typeface="Courier"/>
              </a:rPr>
              <a:t>plt.legend()</a:t>
            </a:r>
            <a:br/>
            <a:r>
              <a:rPr>
                <a:latin typeface="Courier"/>
              </a:rPr>
              <a:t>convolution_plot_fig </a:t>
            </a:r>
            <a:r>
              <a:rPr>
                <a:solidFill>
                  <a:srgbClr val="666666"/>
                </a:solidFill>
                <a:latin typeface="Courier"/>
              </a:rPr>
              <a:t>=</a:t>
            </a:r>
            <a:r>
              <a:rPr>
                <a:latin typeface="Courier"/>
              </a:rPr>
              <a:t> plt.gcf()</a:t>
            </a:r>
          </a:p>
        </p:txBody>
      </p:sp>
      <p:pic>
        <p:nvPicPr>
          <p:cNvPr descr="presentation_files/figure-pptx/convolution_code-2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Convolution Example: Denoising Visualization</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Fourier Analysis</a:t>
            </a:r>
          </a:p>
        </p:txBody>
      </p:sp>
      <p:sp>
        <p:nvSpPr>
          <p:cNvPr id="3" name="Content Placeholder 2"/>
          <p:cNvSpPr>
            <a:spLocks noGrp="1"/>
          </p:cNvSpPr>
          <p:nvPr>
            <p:ph idx="1"/>
          </p:nvPr>
        </p:nvSpPr>
        <p:spPr/>
        <p:txBody>
          <a:bodyPr/>
          <a:lstStyle/>
          <a:p>
            <a:pPr lvl="0"/>
            <a:r>
              <a:rPr/>
              <a:t>A revolutionary idea: </a:t>
            </a:r>
            <a:r>
              <a:rPr b="1"/>
              <a:t>Any signal can be represented as a sum of sines and cosines.</a:t>
            </a:r>
          </a:p>
          <a:p>
            <a:pPr lvl="0"/>
            <a:r>
              <a:rPr/>
              <a:t>The </a:t>
            </a:r>
            <a:r>
              <a:rPr b="1"/>
              <a:t>Fourier Transform (FT)</a:t>
            </a:r>
            <a:r>
              <a:rPr/>
              <a:t> is the mathematical tool that decomposes a signal from its “time domain” into its constituent frequencies in the “frequency domain.”</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Transform: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1D Forward Fourier Transform:</a:t>
                </a:r>
              </a:p>
              <a:p>
                <a:pPr lvl="0" indent="0" marL="0">
                  <a:buNone/>
                </a:pPr>
                <a14:m>
                  <m:oMathPara xmlns:m="http://schemas.openxmlformats.org/officeDocument/2006/math">
                    <m:oMathParaPr>
                      <m:jc m:val="center"/>
                    </m:oMathParaPr>
                    <m:oMath>
                      <m:r>
                        <m:t>X</m:t>
                      </m:r>
                      <m:d>
                        <m:dPr>
                          <m:begChr m:val="("/>
                          <m:endChr m:val=")"/>
                          <m:sepChr m:val=""/>
                          <m:grow/>
                        </m:dPr>
                        <m:e>
                          <m:r>
                            <m:t>k</m:t>
                          </m:r>
                        </m:e>
                      </m:d>
                      <m:r>
                        <m:rPr>
                          <m:sty m:val="p"/>
                        </m:rPr>
                        <m:t>=</m:t>
                      </m:r>
                      <m:r>
                        <m:rPr>
                          <m:sty m:val="p"/>
                          <m:scr m:val="script"/>
                        </m:rPr>
                        <m:t>F</m:t>
                      </m:r>
                      <m:r>
                        <m:rPr>
                          <m:sty m:val="p"/>
                        </m:rPr>
                        <m:t>{</m:t>
                      </m:r>
                      <m:r>
                        <m:t>x</m:t>
                      </m:r>
                      <m:d>
                        <m:dPr>
                          <m:begChr m:val="("/>
                          <m:endChr m:val=")"/>
                          <m:sepChr m:val=""/>
                          <m:grow/>
                        </m:dPr>
                        <m:e>
                          <m:r>
                            <m:t>t</m:t>
                          </m:r>
                        </m:e>
                      </m:d>
                      <m:r>
                        <m:rPr>
                          <m:sty m:val="p"/>
                        </m:rPr>
                        <m:t>}</m:t>
                      </m:r>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t</m:t>
                          </m:r>
                        </m:e>
                      </m:d>
                      <m:sSup>
                        <m:e>
                          <m:r>
                            <m:t>e</m:t>
                          </m:r>
                        </m:e>
                        <m:sup>
                          <m:r>
                            <m:rPr>
                              <m:sty m:val="p"/>
                            </m:rPr>
                            <m:t>−</m:t>
                          </m:r>
                          <m:r>
                            <m:t>i</m:t>
                          </m:r>
                          <m:r>
                            <m:t>2</m:t>
                          </m:r>
                          <m:r>
                            <m:t>π</m:t>
                          </m:r>
                          <m:r>
                            <m:t>k</m:t>
                          </m:r>
                          <m:r>
                            <m:t>t</m:t>
                          </m:r>
                        </m:sup>
                      </m:sSup>
                      <m:r>
                        <m:t>d</m:t>
                      </m:r>
                      <m:r>
                        <m:t>t</m:t>
                      </m:r>
                    </m:oMath>
                  </m:oMathPara>
                </a14:m>
              </a:p>
              <a:p>
                <a:pPr lvl="0"/>
                <a:r>
                  <a:rPr>
                    <a:latin typeface="Courier"/>
                  </a:rPr>
                  <a:t>x(t)</a:t>
                </a:r>
                <a:r>
                  <a:rPr/>
                  <a:t>: The signal in the time domain.</a:t>
                </a:r>
              </a:p>
              <a:p>
                <a:pPr lvl="0"/>
                <a:r>
                  <a:rPr>
                    <a:latin typeface="Courier"/>
                  </a:rPr>
                  <a:t>X(k)</a:t>
                </a:r>
                <a:r>
                  <a:rPr/>
                  <a:t>: The signal in the frequency domain.</a:t>
                </a:r>
              </a:p>
              <a:p>
                <a:pPr lvl="0"/>
                <a:r>
                  <a:rPr>
                    <a:latin typeface="Courier"/>
                  </a:rPr>
                  <a:t>k</a:t>
                </a:r>
                <a:r>
                  <a:rPr/>
                  <a:t>: Represents frequency.</a:t>
                </a:r>
              </a:p>
            </p:txBody>
          </p:sp>
        </mc:Choice>
      </mc:AlternateContent>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Transform: Variable Breakdown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X</m:t>
                      </m:r>
                      <m:d>
                        <m:dPr>
                          <m:begChr m:val="("/>
                          <m:endChr m:val=")"/>
                          <m:sepChr m:val=""/>
                          <m:grow/>
                        </m:dPr>
                        <m:e>
                          <m:r>
                            <m:t>k</m:t>
                          </m:r>
                        </m:e>
                      </m:d>
                      <m:r>
                        <m:rPr>
                          <m:sty m:val="p"/>
                        </m:rPr>
                        <m:t>=</m:t>
                      </m:r>
                      <m:nary>
                        <m:naryPr>
                          <m:chr m:val="∫"/>
                          <m:limLoc m:val="subSup"/>
                          <m:subHide m:val="off"/>
                          <m:supHide m:val="off"/>
                        </m:naryPr>
                        <m:sub>
                          <m:r>
                            <m:rPr>
                              <m:sty m:val="p"/>
                            </m:rPr>
                            <m:t>−</m:t>
                          </m:r>
                          <m:r>
                            <m:rPr>
                              <m:sty m:val="p"/>
                            </m:rPr>
                            <m:t>∞</m:t>
                          </m:r>
                        </m:sub>
                        <m:sup>
                          <m:r>
                            <m:rPr>
                              <m:sty m:val="p"/>
                            </m:rPr>
                            <m:t>∞</m:t>
                          </m:r>
                        </m:sup>
                        <m:e>
                          <m:r>
                            <m:t>x</m:t>
                          </m:r>
                        </m:e>
                      </m:nary>
                      <m:d>
                        <m:dPr>
                          <m:begChr m:val="("/>
                          <m:endChr m:val=")"/>
                          <m:sepChr m:val=""/>
                          <m:grow/>
                        </m:dPr>
                        <m:e>
                          <m:r>
                            <m:t>t</m:t>
                          </m:r>
                        </m:e>
                      </m:d>
                      <m:sSup>
                        <m:e>
                          <m:r>
                            <m:t>e</m:t>
                          </m:r>
                        </m:e>
                        <m:sup>
                          <m:r>
                            <m:rPr>
                              <m:sty m:val="p"/>
                            </m:rPr>
                            <m:t>−</m:t>
                          </m:r>
                          <m:r>
                            <m:t>i</m:t>
                          </m:r>
                          <m:r>
                            <m:t>2</m:t>
                          </m:r>
                          <m:r>
                            <m:t>π</m:t>
                          </m:r>
                          <m:r>
                            <m:t>k</m:t>
                          </m:r>
                          <m:r>
                            <m:t>t</m:t>
                          </m:r>
                        </m:sup>
                      </m:sSup>
                      <m:r>
                        <m:t>d</m:t>
                      </m:r>
                      <m:r>
                        <m:t>t</m:t>
                      </m:r>
                    </m:oMath>
                  </m:oMathPara>
                </a14:m>
              </a:p>
              <a:p>
                <a:pPr lvl="0"/>
                <a:r>
                  <a:rPr b="1">
                    <a:latin typeface="Courier"/>
                  </a:rPr>
                  <a:t>X(k)</a:t>
                </a:r>
                <a:r>
                  <a:rPr/>
                  <a:t>: The output. A complex-valued function representing the frequency spectrum. Its magnitude tells you the amplitude of each frequency, and its phase tells you the alignment.</a:t>
                </a:r>
              </a:p>
            </p:txBody>
          </p:sp>
        </mc:Choice>
      </mc:AlternateContent>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Transform: Variable Breakdown</a:t>
            </a:r>
          </a:p>
        </p:txBody>
      </p:sp>
      <p:sp>
        <p:nvSpPr>
          <p:cNvPr id="3" name="Content Placeholder 2"/>
          <p:cNvSpPr>
            <a:spLocks noGrp="1"/>
          </p:cNvSpPr>
          <p:nvPr>
            <p:ph idx="1"/>
          </p:nvPr>
        </p:nvSpPr>
        <p:spPr/>
        <p:txBody>
          <a:bodyPr/>
          <a:lstStyle/>
          <a:p>
            <a:pPr lvl="0"/>
            <a:r>
              <a:rPr b="1">
                <a:latin typeface="Courier"/>
              </a:rPr>
              <a:t>x(t)</a:t>
            </a:r>
            <a:r>
              <a:rPr/>
              <a:t>: The input signal as a function of time (or space).</a:t>
            </a:r>
          </a:p>
          <a:p>
            <a:pPr lvl="0"/>
            <a:r>
              <a:rPr b="1">
                <a:latin typeface="Courier"/>
              </a:rPr>
              <a:t>k</a:t>
            </a:r>
            <a:r>
              <a:rPr/>
              <a:t>: The frequency variable.</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Transform: Variable Breakdown</a:t>
            </a:r>
          </a:p>
        </p:txBody>
      </p:sp>
      <p:sp>
        <p:nvSpPr>
          <p:cNvPr id="3" name="Content Placeholder 2"/>
          <p:cNvSpPr>
            <a:spLocks noGrp="1"/>
          </p:cNvSpPr>
          <p:nvPr>
            <p:ph idx="1"/>
          </p:nvPr>
        </p:nvSpPr>
        <p:spPr/>
        <p:txBody>
          <a:bodyPr/>
          <a:lstStyle/>
          <a:p>
            <a:pPr lvl="0"/>
            <a:r>
              <a:rPr b="1">
                <a:latin typeface="Courier"/>
              </a:rPr>
              <a:t>t</a:t>
            </a:r>
            <a:r>
              <a:rPr/>
              <a:t>: The time variable (or space).</a:t>
            </a:r>
          </a:p>
          <a:p>
            <a:pPr lvl="0"/>
            <a:r>
              <a:rPr b="1">
                <a:latin typeface="Courier"/>
              </a:rPr>
              <a:t>i</a:t>
            </a:r>
            <a:r>
              <a:rPr/>
              <a:t>: The imaginary unit, </a:t>
            </a:r>
            <a:r>
              <a:rPr>
                <a:latin typeface="Courier"/>
              </a:rPr>
              <a:t>sqrt(-1)</a:t>
            </a:r>
            <a:r>
              <a:rPr/>
              <a: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Transform: Intuition</a:t>
            </a:r>
          </a:p>
        </p:txBody>
      </p:sp>
      <p:sp>
        <p:nvSpPr>
          <p:cNvPr id="3" name="Content Placeholder 2"/>
          <p:cNvSpPr>
            <a:spLocks noGrp="1"/>
          </p:cNvSpPr>
          <p:nvPr>
            <p:ph idx="1"/>
          </p:nvPr>
        </p:nvSpPr>
        <p:spPr/>
        <p:txBody>
          <a:bodyPr/>
          <a:lstStyle/>
          <a:p>
            <a:pPr lvl="0" indent="0" marL="0">
              <a:buNone/>
            </a:pPr>
            <a:r>
              <a:rPr/>
              <a:t>The FT is a “frequency machine.”</a:t>
            </a:r>
          </a:p>
          <a:p>
            <a:pPr lvl="0"/>
            <a:r>
              <a:rPr/>
              <a:t>You put a time-domain signal </a:t>
            </a:r>
            <a:r>
              <a:rPr>
                <a:latin typeface="Courier"/>
              </a:rPr>
              <a:t>x(t)</a:t>
            </a:r>
            <a:r>
              <a:rPr/>
              <a:t> in.</a:t>
            </a:r>
          </a:p>
          <a:p>
            <a:pPr lvl="0"/>
            <a:r>
              <a:rPr/>
              <a:t>It gives you a frequency-domain spectrum </a:t>
            </a:r>
            <a:r>
              <a:rPr>
                <a:latin typeface="Courier"/>
              </a:rPr>
              <a:t>X(k)</a:t>
            </a:r>
            <a:r>
              <a:rPr/>
              <a:t> out.</a:t>
            </a:r>
          </a:p>
          <a:p>
            <a:pPr lvl="0"/>
            <a:r>
              <a:rPr/>
              <a:t>A peak in </a:t>
            </a:r>
            <a:r>
              <a:rPr>
                <a:latin typeface="Courier"/>
              </a:rPr>
              <a:t>X(k)</a:t>
            </a:r>
            <a:r>
              <a:rPr/>
              <a:t> at </a:t>
            </a:r>
            <a:r>
              <a:rPr>
                <a:latin typeface="Courier"/>
              </a:rPr>
              <a:t>k=k0</a:t>
            </a:r>
            <a:r>
              <a:rPr/>
              <a:t> means the original signal </a:t>
            </a:r>
            <a:r>
              <a:rPr>
                <a:latin typeface="Courier"/>
              </a:rPr>
              <a:t>x(t)</a:t>
            </a:r>
            <a:r>
              <a:rPr/>
              <a:t> contained a strong sinusoidal component at the frequency </a:t>
            </a:r>
            <a:r>
              <a:rPr>
                <a:latin typeface="Courier"/>
              </a:rPr>
              <a:t>k0</a:t>
            </a:r>
            <a:r>
              <a:rPr/>
              <a:t>.</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FT Example: Sine Wave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Create a simple sine wave</a:t>
            </a:r>
            <a:br/>
            <a:r>
              <a:rPr>
                <a:latin typeface="Courier"/>
              </a:rPr>
              <a:t>fs </a:t>
            </a:r>
            <a:r>
              <a:rPr>
                <a:solidFill>
                  <a:srgbClr val="666666"/>
                </a:solidFill>
                <a:latin typeface="Courier"/>
              </a:rPr>
              <a:t>=</a:t>
            </a:r>
            <a:r>
              <a:rPr>
                <a:latin typeface="Courier"/>
              </a:rPr>
              <a:t> </a:t>
            </a:r>
            <a:r>
              <a:rPr>
                <a:solidFill>
                  <a:srgbClr val="40A070"/>
                </a:solidFill>
                <a:latin typeface="Courier"/>
              </a:rPr>
              <a:t>100</a:t>
            </a:r>
            <a:r>
              <a:rPr>
                <a:latin typeface="Courier"/>
              </a:rPr>
              <a:t> </a:t>
            </a:r>
            <a:r>
              <a:rPr i="1">
                <a:solidFill>
                  <a:srgbClr val="60A0B0"/>
                </a:solidFill>
                <a:latin typeface="Courier"/>
              </a:rPr>
              <a:t># Sampling frequency</a:t>
            </a:r>
            <a:br/>
            <a:r>
              <a:rPr>
                <a:latin typeface="Courier"/>
              </a:rPr>
              <a:t>t_ft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1</a:t>
            </a:r>
            <a:r>
              <a:rPr>
                <a:solidFill>
                  <a:srgbClr val="666666"/>
                </a:solidFill>
                <a:latin typeface="Courier"/>
              </a:rPr>
              <a:t>/</a:t>
            </a:r>
            <a:r>
              <a:rPr>
                <a:latin typeface="Courier"/>
              </a:rPr>
              <a:t>fs)</a:t>
            </a:r>
            <a:br/>
            <a:r>
              <a:rPr>
                <a:latin typeface="Courier"/>
              </a:rPr>
              <a:t>freq </a:t>
            </a:r>
            <a:r>
              <a:rPr>
                <a:solidFill>
                  <a:srgbClr val="666666"/>
                </a:solidFill>
                <a:latin typeface="Courier"/>
              </a:rPr>
              <a:t>=</a:t>
            </a:r>
            <a:r>
              <a:rPr>
                <a:latin typeface="Courier"/>
              </a:rPr>
              <a:t> </a:t>
            </a:r>
            <a:r>
              <a:rPr>
                <a:solidFill>
                  <a:srgbClr val="40A070"/>
                </a:solidFill>
                <a:latin typeface="Courier"/>
              </a:rPr>
              <a:t>5</a:t>
            </a:r>
            <a:r>
              <a:rPr>
                <a:latin typeface="Courier"/>
              </a:rPr>
              <a:t> </a:t>
            </a:r>
            <a:r>
              <a:rPr i="1">
                <a:solidFill>
                  <a:srgbClr val="60A0B0"/>
                </a:solidFill>
                <a:latin typeface="Courier"/>
              </a:rPr>
              <a:t># 5 Hz</a:t>
            </a:r>
            <a:br/>
            <a:r>
              <a:rPr>
                <a:latin typeface="Courier"/>
              </a:rPr>
              <a:t>x_sine </a:t>
            </a:r>
            <a:r>
              <a:rPr>
                <a:solidFill>
                  <a:srgbClr val="666666"/>
                </a:solidFill>
                <a:latin typeface="Courier"/>
              </a:rPr>
              <a:t>=</a:t>
            </a:r>
            <a:r>
              <a:rPr>
                <a:latin typeface="Courier"/>
              </a:rPr>
              <a:t> np.sin(</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freq </a:t>
            </a:r>
            <a:r>
              <a:rPr>
                <a:solidFill>
                  <a:srgbClr val="666666"/>
                </a:solidFill>
                <a:latin typeface="Courier"/>
              </a:rPr>
              <a:t>*</a:t>
            </a:r>
            <a:r>
              <a:rPr>
                <a:latin typeface="Courier"/>
              </a:rPr>
              <a:t> t_ft)</a:t>
            </a:r>
            <a:br/>
            <a:br/>
            <a:r>
              <a:rPr i="1">
                <a:solidFill>
                  <a:srgbClr val="60A0B0"/>
                </a:solidFill>
                <a:latin typeface="Courier"/>
              </a:rPr>
              <a:t># Calculate the Fast Fourier Transform (FFT)</a:t>
            </a:r>
            <a:br/>
            <a:r>
              <a:rPr>
                <a:latin typeface="Courier"/>
              </a:rPr>
              <a:t>fft_result </a:t>
            </a:r>
            <a:r>
              <a:rPr>
                <a:solidFill>
                  <a:srgbClr val="666666"/>
                </a:solidFill>
                <a:latin typeface="Courier"/>
              </a:rPr>
              <a:t>=</a:t>
            </a:r>
            <a:r>
              <a:rPr>
                <a:latin typeface="Courier"/>
              </a:rPr>
              <a:t> np.fft.fft(x_sine)</a:t>
            </a:r>
            <a:br/>
            <a:r>
              <a:rPr>
                <a:latin typeface="Courier"/>
              </a:rPr>
              <a:t>fft_magnitude </a:t>
            </a:r>
            <a:r>
              <a:rPr>
                <a:solidFill>
                  <a:srgbClr val="666666"/>
                </a:solidFill>
                <a:latin typeface="Courier"/>
              </a:rPr>
              <a:t>=</a:t>
            </a:r>
            <a:r>
              <a:rPr>
                <a:latin typeface="Courier"/>
              </a:rPr>
              <a:t> np.</a:t>
            </a:r>
            <a:r>
              <a:rPr>
                <a:solidFill>
                  <a:srgbClr val="008000"/>
                </a:solidFill>
                <a:latin typeface="Courier"/>
              </a:rPr>
              <a:t>abs</a:t>
            </a:r>
            <a:r>
              <a:rPr>
                <a:latin typeface="Courier"/>
              </a:rPr>
              <a:t>(fft_result)</a:t>
            </a:r>
            <a:br/>
            <a:br/>
            <a:r>
              <a:rPr i="1">
                <a:solidFill>
                  <a:srgbClr val="60A0B0"/>
                </a:solidFill>
                <a:latin typeface="Courier"/>
              </a:rPr>
              <a:t># Create frequency axis for plotting</a:t>
            </a:r>
            <a:br/>
            <a:r>
              <a:rPr>
                <a:latin typeface="Courier"/>
              </a:rPr>
              <a:t>freq_axis </a:t>
            </a:r>
            <a:r>
              <a:rPr>
                <a:solidFill>
                  <a:srgbClr val="666666"/>
                </a:solidFill>
                <a:latin typeface="Courier"/>
              </a:rPr>
              <a:t>=</a:t>
            </a:r>
            <a:r>
              <a:rPr>
                <a:latin typeface="Courier"/>
              </a:rPr>
              <a:t> np.fft.fftfreq(</a:t>
            </a:r>
            <a:r>
              <a:rPr>
                <a:solidFill>
                  <a:srgbClr val="008000"/>
                </a:solidFill>
                <a:latin typeface="Courier"/>
              </a:rPr>
              <a:t>len</a:t>
            </a:r>
            <a:r>
              <a:rPr>
                <a:latin typeface="Courier"/>
              </a:rPr>
              <a:t>(t_ft), d</a:t>
            </a:r>
            <a:r>
              <a:rPr>
                <a:solidFill>
                  <a:srgbClr val="666666"/>
                </a:solidFill>
                <a:latin typeface="Courier"/>
              </a:rPr>
              <a:t>=</a:t>
            </a:r>
            <a:r>
              <a:rPr>
                <a:solidFill>
                  <a:srgbClr val="40A070"/>
                </a:solidFill>
                <a:latin typeface="Courier"/>
              </a:rPr>
              <a:t>1</a:t>
            </a:r>
            <a:r>
              <a:rPr>
                <a:solidFill>
                  <a:srgbClr val="666666"/>
                </a:solidFill>
                <a:latin typeface="Courier"/>
              </a:rPr>
              <a:t>/</a:t>
            </a:r>
            <a:r>
              <a:rPr>
                <a:latin typeface="Courier"/>
              </a:rPr>
              <a:t>fs)</a:t>
            </a:r>
            <a:br/>
            <a:br/>
            <a:r>
              <a:rPr>
                <a:latin typeface="Courier"/>
              </a:rPr>
              <a:t>fig, (ax1, ax2)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2</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4</a:t>
            </a:r>
            <a:r>
              <a:rPr>
                <a:latin typeface="Courier"/>
              </a:rPr>
              <a:t>))</a:t>
            </a:r>
            <a:br/>
            <a:r>
              <a:rPr>
                <a:latin typeface="Courier"/>
              </a:rPr>
              <a:t>ax1.plot(t_ft, x_sine)</a:t>
            </a:r>
            <a:br/>
            <a:r>
              <a:rPr>
                <a:latin typeface="Courier"/>
              </a:rPr>
              <a:t>ax1.set_title(</a:t>
            </a:r>
            <a:r>
              <a:rPr>
                <a:solidFill>
                  <a:srgbClr val="4070A0"/>
                </a:solidFill>
                <a:latin typeface="Courier"/>
              </a:rPr>
              <a:t>"Time Domain: 5 Hz Sine Wave"</a:t>
            </a:r>
            <a:r>
              <a:rPr>
                <a:latin typeface="Courier"/>
              </a:rPr>
              <a:t>)</a:t>
            </a:r>
            <a:br/>
            <a:r>
              <a:rPr>
                <a:latin typeface="Courier"/>
              </a:rPr>
              <a:t>ax2.plot(freq_axis, fft_magnitude)</a:t>
            </a:r>
            <a:br/>
            <a:r>
              <a:rPr>
                <a:latin typeface="Courier"/>
              </a:rPr>
              <a:t>ax2.set_title(</a:t>
            </a:r>
            <a:r>
              <a:rPr>
                <a:solidFill>
                  <a:srgbClr val="4070A0"/>
                </a:solidFill>
                <a:latin typeface="Courier"/>
              </a:rPr>
              <a:t>"Frequency Domain (Magnitude)"</a:t>
            </a:r>
            <a:r>
              <a:rPr>
                <a:latin typeface="Courier"/>
              </a:rPr>
              <a:t>)</a:t>
            </a:r>
            <a:br/>
            <a:r>
              <a:rPr>
                <a:latin typeface="Courier"/>
              </a:rPr>
              <a:t>ax2.set_xlabel(</a:t>
            </a:r>
            <a:r>
              <a:rPr>
                <a:solidFill>
                  <a:srgbClr val="4070A0"/>
                </a:solidFill>
                <a:latin typeface="Courier"/>
              </a:rPr>
              <a:t>"Frequency (Hz)"</a:t>
            </a:r>
            <a:r>
              <a:rPr>
                <a:latin typeface="Courier"/>
              </a:rPr>
              <a:t>)</a:t>
            </a:r>
            <a:br/>
            <a:r>
              <a:rPr>
                <a:latin typeface="Courier"/>
              </a:rPr>
              <a:t>ax2.set_xlim(</a:t>
            </a:r>
            <a:r>
              <a:rPr>
                <a:solidFill>
                  <a:srgbClr val="40A070"/>
                </a:solidFill>
                <a:latin typeface="Courier"/>
              </a:rPr>
              <a:t>0</a:t>
            </a:r>
            <a:r>
              <a:rPr>
                <a:latin typeface="Courier"/>
              </a:rPr>
              <a:t>, fs</a:t>
            </a:r>
            <a:r>
              <a:rPr>
                <a:solidFill>
                  <a:srgbClr val="666666"/>
                </a:solidFill>
                <a:latin typeface="Courier"/>
              </a:rPr>
              <a:t>/</a:t>
            </a:r>
            <a:r>
              <a:rPr>
                <a:solidFill>
                  <a:srgbClr val="40A070"/>
                </a:solidFill>
                <a:latin typeface="Courier"/>
              </a:rPr>
              <a:t>2</a:t>
            </a:r>
            <a:r>
              <a:rPr>
                <a:latin typeface="Courier"/>
              </a:rPr>
              <a:t>)</a:t>
            </a:r>
          </a:p>
          <a:p>
            <a:pPr lvl="0" indent="0">
              <a:buNone/>
            </a:pPr>
            <a:r>
              <a:rPr>
                <a:latin typeface="Courier"/>
              </a:rPr>
              <a:t>## (0.0, 50.0)</a:t>
            </a:r>
          </a:p>
          <a:p>
            <a:pPr lvl="0" indent="0">
              <a:buNone/>
            </a:pPr>
            <a:r>
              <a:rPr>
                <a:latin typeface="Courier"/>
              </a:rPr>
              <a:t>ft_sine_plot_fig </a:t>
            </a:r>
            <a:r>
              <a:rPr>
                <a:solidFill>
                  <a:srgbClr val="666666"/>
                </a:solidFill>
                <a:latin typeface="Courier"/>
              </a:rPr>
              <a:t>=</a:t>
            </a:r>
            <a:r>
              <a:rPr>
                <a:latin typeface="Courier"/>
              </a:rPr>
              <a:t> plt.gcf()</a:t>
            </a:r>
          </a:p>
        </p:txBody>
      </p:sp>
      <p:pic>
        <p:nvPicPr>
          <p:cNvPr descr="presentation_files/figure-pptx/ft_sine_code-23.png" id="0" name="Picture 1"/>
          <p:cNvPicPr>
            <a:picLocks noGrp="1" noChangeAspect="1"/>
          </p:cNvPicPr>
          <p:nvPr/>
        </p:nvPicPr>
        <p:blipFill>
          <a:blip r:embed="rId2"/>
          <a:stretch>
            <a:fillRect/>
          </a:stretch>
        </p:blipFill>
        <p:spPr bwMode="auto">
          <a:xfrm>
            <a:off x="3568700" y="1371600"/>
            <a:ext cx="5105400" cy="20447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FT Example: Sine Wave Visualization</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2D Fourier Transform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concept extends to 2D signals, like images.</a:t>
                </a:r>
              </a:p>
              <a:p>
                <a:pPr lvl="0" indent="0" marL="0">
                  <a:buNone/>
                </a:pPr>
                <a14:m>
                  <m:oMathPara xmlns:m="http://schemas.openxmlformats.org/officeDocument/2006/math">
                    <m:oMathParaPr>
                      <m:jc m:val="center"/>
                    </m:oMathParaPr>
                    <m:oMath>
                      <m:r>
                        <m:t>F</m:t>
                      </m:r>
                      <m:d>
                        <m:dPr>
                          <m:begChr m:val="("/>
                          <m:endChr m:val=")"/>
                          <m:sepChr m:val=""/>
                          <m:grow/>
                        </m:dPr>
                        <m:e>
                          <m:sSub>
                            <m:e>
                              <m:r>
                                <m:t>k</m:t>
                              </m:r>
                            </m:e>
                            <m:sub>
                              <m:r>
                                <m:t>x</m:t>
                              </m:r>
                            </m:sub>
                          </m:sSub>
                          <m:r>
                            <m:rPr>
                              <m:sty m:val="p"/>
                            </m:rPr>
                            <m:t>,</m:t>
                          </m:r>
                          <m:sSub>
                            <m:e>
                              <m:r>
                                <m:t>k</m:t>
                              </m:r>
                            </m:e>
                            <m:sub>
                              <m:r>
                                <m:t>y</m:t>
                              </m:r>
                            </m:sub>
                          </m:sSub>
                        </m:e>
                      </m:d>
                      <m:r>
                        <m:rPr>
                          <m:sty m:val="p"/>
                        </m:rPr>
                        <m:t>=</m:t>
                      </m:r>
                      <m:nary>
                        <m:naryPr>
                          <m:chr m:val="∫"/>
                          <m:limLoc m:val="subSup"/>
                          <m:subHide m:val="off"/>
                          <m:supHide m:val="off"/>
                        </m:naryPr>
                        <m:sub>
                          <m:r>
                            <m:rPr>
                              <m:sty m:val="p"/>
                            </m:rPr>
                            <m:t>−</m:t>
                          </m:r>
                          <m:r>
                            <m:rPr>
                              <m:sty m:val="p"/>
                            </m:rPr>
                            <m:t>∞</m:t>
                          </m:r>
                        </m:sub>
                        <m:sup>
                          <m:r>
                            <m:rPr>
                              <m:sty m:val="p"/>
                            </m:rPr>
                            <m:t>∞</m:t>
                          </m:r>
                        </m:sup>
                        <m:e>
                          <m:nary>
                            <m:naryPr>
                              <m:chr m:val="∫"/>
                              <m:limLoc m:val="subSup"/>
                              <m:subHide m:val="off"/>
                              <m:supHide m:val="off"/>
                            </m:naryPr>
                            <m:sub>
                              <m:r>
                                <m:rPr>
                                  <m:sty m:val="p"/>
                                </m:rPr>
                                <m:t>−</m:t>
                              </m:r>
                              <m:r>
                                <m:rPr>
                                  <m:sty m:val="p"/>
                                </m:rPr>
                                <m:t>∞</m:t>
                              </m:r>
                            </m:sub>
                            <m:sup>
                              <m:r>
                                <m:rPr>
                                  <m:sty m:val="p"/>
                                </m:rPr>
                                <m:t>∞</m:t>
                              </m:r>
                            </m:sup>
                            <m:e>
                              <m:r>
                                <m:t>f</m:t>
                              </m:r>
                            </m:e>
                          </m:nary>
                        </m:e>
                      </m:nary>
                      <m:d>
                        <m:dPr>
                          <m:begChr m:val="("/>
                          <m:endChr m:val=")"/>
                          <m:sepChr m:val=""/>
                          <m:grow/>
                        </m:dPr>
                        <m:e>
                          <m:r>
                            <m:t>x</m:t>
                          </m:r>
                          <m:r>
                            <m:rPr>
                              <m:sty m:val="p"/>
                            </m:rPr>
                            <m:t>,</m:t>
                          </m:r>
                          <m:r>
                            <m:t>y</m:t>
                          </m:r>
                        </m:e>
                      </m:d>
                      <m:sSup>
                        <m:e>
                          <m:r>
                            <m:t>e</m:t>
                          </m:r>
                        </m:e>
                        <m:sup>
                          <m:r>
                            <m:rPr>
                              <m:sty m:val="p"/>
                            </m:rPr>
                            <m:t>−</m:t>
                          </m:r>
                          <m:r>
                            <m:t>i</m:t>
                          </m:r>
                          <m:r>
                            <m:t>2</m:t>
                          </m:r>
                          <m:r>
                            <m:t>π</m:t>
                          </m:r>
                          <m:d>
                            <m:dPr>
                              <m:begChr m:val="("/>
                              <m:endChr m:val=")"/>
                              <m:sepChr m:val=""/>
                              <m:grow/>
                            </m:dPr>
                            <m:e>
                              <m:sSub>
                                <m:e>
                                  <m:r>
                                    <m:t>k</m:t>
                                  </m:r>
                                </m:e>
                                <m:sub>
                                  <m:r>
                                    <m:t>x</m:t>
                                  </m:r>
                                </m:sub>
                              </m:sSub>
                              <m:r>
                                <m:t>x</m:t>
                              </m:r>
                              <m:r>
                                <m:rPr>
                                  <m:sty m:val="p"/>
                                </m:rPr>
                                <m:t>+</m:t>
                              </m:r>
                              <m:sSub>
                                <m:e>
                                  <m:r>
                                    <m:t>k</m:t>
                                  </m:r>
                                </m:e>
                                <m:sub>
                                  <m:r>
                                    <m:t>y</m:t>
                                  </m:r>
                                </m:sub>
                              </m:sSub>
                              <m:r>
                                <m:t>y</m:t>
                              </m:r>
                            </m:e>
                          </m:d>
                        </m:sup>
                      </m:sSup>
                      <m:r>
                        <m:t>d</m:t>
                      </m:r>
                      <m:r>
                        <m:t>x</m:t>
                      </m:r>
                      <m:r>
                        <m:t>d</m:t>
                      </m:r>
                      <m:r>
                        <m:t>y</m:t>
                      </m:r>
                    </m:oMath>
                  </m:oMathPara>
                </a14:m>
              </a:p>
              <a:p>
                <a:pPr lvl="0"/>
                <a:r>
                  <a:rPr>
                    <a:latin typeface="Courier"/>
                  </a:rPr>
                  <a:t>f(x,y)</a:t>
                </a:r>
                <a:r>
                  <a:rPr/>
                  <a:t>: The 2D image.</a:t>
                </a:r>
              </a:p>
              <a:p>
                <a:pPr lvl="0"/>
                <a:r>
                  <a:rPr>
                    <a:latin typeface="Courier"/>
                  </a:rPr>
                  <a:t>F(kx, ky)</a:t>
                </a:r>
                <a:r>
                  <a:rPr/>
                  <a:t>: The 2D frequency spectrum.</a:t>
                </a:r>
              </a:p>
            </p:txBody>
          </p:sp>
        </mc:Choice>
      </mc:AlternateContent>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2D Fourier Transform</a:t>
            </a:r>
          </a:p>
        </p:txBody>
      </p:sp>
      <p:sp>
        <p:nvSpPr>
          <p:cNvPr id="3" name="Content Placeholder 2"/>
          <p:cNvSpPr>
            <a:spLocks noGrp="1"/>
          </p:cNvSpPr>
          <p:nvPr>
            <p:ph idx="1"/>
          </p:nvPr>
        </p:nvSpPr>
        <p:spPr/>
        <p:txBody>
          <a:bodyPr/>
          <a:lstStyle/>
          <a:p>
            <a:pPr lvl="0"/>
            <a:r>
              <a:rPr>
                <a:latin typeface="Courier"/>
              </a:rPr>
              <a:t>kx, ky</a:t>
            </a:r>
            <a:r>
              <a:rPr/>
              <a:t>: Spatial frequencies in the x and y directions.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2D FT Example: 2D Rect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Create a 2D Rect function (a white square on a black background)</a:t>
            </a:r>
            <a:br/>
            <a:r>
              <a:rPr>
                <a:latin typeface="Courier"/>
              </a:rPr>
              <a:t>matrix_size </a:t>
            </a:r>
            <a:r>
              <a:rPr>
                <a:solidFill>
                  <a:srgbClr val="666666"/>
                </a:solidFill>
                <a:latin typeface="Courier"/>
              </a:rPr>
              <a:t>=</a:t>
            </a:r>
            <a:r>
              <a:rPr>
                <a:latin typeface="Courier"/>
              </a:rPr>
              <a:t> </a:t>
            </a:r>
            <a:r>
              <a:rPr>
                <a:solidFill>
                  <a:srgbClr val="40A070"/>
                </a:solidFill>
                <a:latin typeface="Courier"/>
              </a:rPr>
              <a:t>128</a:t>
            </a:r>
            <a:br/>
            <a:r>
              <a:rPr>
                <a:latin typeface="Courier"/>
              </a:rPr>
              <a:t>img_matrix </a:t>
            </a:r>
            <a:r>
              <a:rPr>
                <a:solidFill>
                  <a:srgbClr val="666666"/>
                </a:solidFill>
                <a:latin typeface="Courier"/>
              </a:rPr>
              <a:t>=</a:t>
            </a:r>
            <a:r>
              <a:rPr>
                <a:latin typeface="Courier"/>
              </a:rPr>
              <a:t> np.zeros((matrix_size, matrix_size))</a:t>
            </a:r>
            <a:br/>
            <a:r>
              <a:rPr>
                <a:latin typeface="Courier"/>
              </a:rPr>
              <a:t>center </a:t>
            </a:r>
            <a:r>
              <a:rPr>
                <a:solidFill>
                  <a:srgbClr val="666666"/>
                </a:solidFill>
                <a:latin typeface="Courier"/>
              </a:rPr>
              <a:t>=</a:t>
            </a:r>
            <a:r>
              <a:rPr>
                <a:latin typeface="Courier"/>
              </a:rPr>
              <a:t> matrix_size </a:t>
            </a:r>
            <a:r>
              <a:rPr>
                <a:solidFill>
                  <a:srgbClr val="666666"/>
                </a:solidFill>
                <a:latin typeface="Courier"/>
              </a:rPr>
              <a:t>//</a:t>
            </a:r>
            <a:r>
              <a:rPr>
                <a:latin typeface="Courier"/>
              </a:rPr>
              <a:t> </a:t>
            </a:r>
            <a:r>
              <a:rPr>
                <a:solidFill>
                  <a:srgbClr val="40A070"/>
                </a:solidFill>
                <a:latin typeface="Courier"/>
              </a:rPr>
              <a:t>2</a:t>
            </a:r>
            <a:br/>
            <a:r>
              <a:rPr>
                <a:latin typeface="Courier"/>
              </a:rPr>
              <a:t>width </a:t>
            </a:r>
            <a:r>
              <a:rPr>
                <a:solidFill>
                  <a:srgbClr val="666666"/>
                </a:solidFill>
                <a:latin typeface="Courier"/>
              </a:rPr>
              <a:t>=</a:t>
            </a:r>
            <a:r>
              <a:rPr>
                <a:latin typeface="Courier"/>
              </a:rPr>
              <a:t> </a:t>
            </a:r>
            <a:r>
              <a:rPr>
                <a:solidFill>
                  <a:srgbClr val="40A070"/>
                </a:solidFill>
                <a:latin typeface="Courier"/>
              </a:rPr>
              <a:t>16</a:t>
            </a:r>
            <a:br/>
            <a:r>
              <a:rPr>
                <a:latin typeface="Courier"/>
              </a:rPr>
              <a:t>img_matrix[center </a:t>
            </a:r>
            <a:r>
              <a:rPr>
                <a:solidFill>
                  <a:srgbClr val="666666"/>
                </a:solidFill>
                <a:latin typeface="Courier"/>
              </a:rPr>
              <a:t>-</a:t>
            </a:r>
            <a:r>
              <a:rPr>
                <a:latin typeface="Courier"/>
              </a:rPr>
              <a:t> width</a:t>
            </a:r>
            <a:r>
              <a:rPr>
                <a:solidFill>
                  <a:srgbClr val="666666"/>
                </a:solidFill>
                <a:latin typeface="Courier"/>
              </a:rPr>
              <a:t>//</a:t>
            </a:r>
            <a:r>
              <a:rPr>
                <a:solidFill>
                  <a:srgbClr val="40A070"/>
                </a:solidFill>
                <a:latin typeface="Courier"/>
              </a:rPr>
              <a:t>2</a:t>
            </a:r>
            <a:r>
              <a:rPr>
                <a:latin typeface="Courier"/>
              </a:rPr>
              <a:t>:center </a:t>
            </a:r>
            <a:r>
              <a:rPr>
                <a:solidFill>
                  <a:srgbClr val="666666"/>
                </a:solidFill>
                <a:latin typeface="Courier"/>
              </a:rPr>
              <a:t>+</a:t>
            </a:r>
            <a:r>
              <a:rPr>
                <a:latin typeface="Courier"/>
              </a:rPr>
              <a:t> width</a:t>
            </a:r>
            <a:r>
              <a:rPr>
                <a:solidFill>
                  <a:srgbClr val="666666"/>
                </a:solidFill>
                <a:latin typeface="Courier"/>
              </a:rPr>
              <a:t>//</a:t>
            </a:r>
            <a:r>
              <a:rPr>
                <a:solidFill>
                  <a:srgbClr val="40A070"/>
                </a:solidFill>
                <a:latin typeface="Courier"/>
              </a:rPr>
              <a:t>2</a:t>
            </a:r>
            <a:r>
              <a:rPr>
                <a:latin typeface="Courier"/>
              </a:rPr>
              <a:t>, center </a:t>
            </a:r>
            <a:r>
              <a:rPr>
                <a:solidFill>
                  <a:srgbClr val="666666"/>
                </a:solidFill>
                <a:latin typeface="Courier"/>
              </a:rPr>
              <a:t>-</a:t>
            </a:r>
            <a:r>
              <a:rPr>
                <a:latin typeface="Courier"/>
              </a:rPr>
              <a:t> width</a:t>
            </a:r>
            <a:r>
              <a:rPr>
                <a:solidFill>
                  <a:srgbClr val="666666"/>
                </a:solidFill>
                <a:latin typeface="Courier"/>
              </a:rPr>
              <a:t>//</a:t>
            </a:r>
            <a:r>
              <a:rPr>
                <a:solidFill>
                  <a:srgbClr val="40A070"/>
                </a:solidFill>
                <a:latin typeface="Courier"/>
              </a:rPr>
              <a:t>2</a:t>
            </a:r>
            <a:r>
              <a:rPr>
                <a:latin typeface="Courier"/>
              </a:rPr>
              <a:t>:center </a:t>
            </a:r>
            <a:r>
              <a:rPr>
                <a:solidFill>
                  <a:srgbClr val="666666"/>
                </a:solidFill>
                <a:latin typeface="Courier"/>
              </a:rPr>
              <a:t>+</a:t>
            </a:r>
            <a:r>
              <a:rPr>
                <a:latin typeface="Courier"/>
              </a:rPr>
              <a:t> width</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1</a:t>
            </a:r>
            <a:br/>
            <a:br/>
            <a:r>
              <a:rPr i="1">
                <a:solidFill>
                  <a:srgbClr val="60A0B0"/>
                </a:solidFill>
                <a:latin typeface="Courier"/>
              </a:rPr>
              <a:t># Calculate the 2D FFT</a:t>
            </a:r>
            <a:br/>
            <a:r>
              <a:rPr>
                <a:latin typeface="Courier"/>
              </a:rPr>
              <a:t>fft_2d_result </a:t>
            </a:r>
            <a:r>
              <a:rPr>
                <a:solidFill>
                  <a:srgbClr val="666666"/>
                </a:solidFill>
                <a:latin typeface="Courier"/>
              </a:rPr>
              <a:t>=</a:t>
            </a:r>
            <a:r>
              <a:rPr>
                <a:latin typeface="Courier"/>
              </a:rPr>
              <a:t> np.fft.fft2(img_matrix)</a:t>
            </a:r>
            <a:br/>
            <a:br/>
            <a:r>
              <a:rPr i="1">
                <a:solidFill>
                  <a:srgbClr val="60A0B0"/>
                </a:solidFill>
                <a:latin typeface="Courier"/>
              </a:rPr>
              <a:t># For visualization, we want to see the magnitude and shift the zero-frequency component to the center</a:t>
            </a:r>
            <a:br/>
            <a:r>
              <a:rPr>
                <a:latin typeface="Courier"/>
              </a:rPr>
              <a:t>fft_magnitude_2d </a:t>
            </a:r>
            <a:r>
              <a:rPr>
                <a:solidFill>
                  <a:srgbClr val="666666"/>
                </a:solidFill>
                <a:latin typeface="Courier"/>
              </a:rPr>
              <a:t>=</a:t>
            </a:r>
            <a:r>
              <a:rPr>
                <a:latin typeface="Courier"/>
              </a:rPr>
              <a:t> np.log(</a:t>
            </a:r>
            <a:r>
              <a:rPr>
                <a:solidFill>
                  <a:srgbClr val="40A070"/>
                </a:solidFill>
                <a:latin typeface="Courier"/>
              </a:rPr>
              <a:t>1</a:t>
            </a:r>
            <a:r>
              <a:rPr>
                <a:latin typeface="Courier"/>
              </a:rPr>
              <a:t> </a:t>
            </a:r>
            <a:r>
              <a:rPr>
                <a:solidFill>
                  <a:srgbClr val="666666"/>
                </a:solidFill>
                <a:latin typeface="Courier"/>
              </a:rPr>
              <a:t>+</a:t>
            </a:r>
            <a:r>
              <a:rPr>
                <a:latin typeface="Courier"/>
              </a:rPr>
              <a:t> np.</a:t>
            </a:r>
            <a:r>
              <a:rPr>
                <a:solidFill>
                  <a:srgbClr val="008000"/>
                </a:solidFill>
                <a:latin typeface="Courier"/>
              </a:rPr>
              <a:t>abs</a:t>
            </a:r>
            <a:r>
              <a:rPr>
                <a:latin typeface="Courier"/>
              </a:rPr>
              <a:t>(np.fft.fftshift(fft_2d_result)))</a:t>
            </a:r>
            <a:br/>
            <a:br/>
            <a:r>
              <a:rPr>
                <a:latin typeface="Courier"/>
              </a:rPr>
              <a:t>fig, (ax1, ax2)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2</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5</a:t>
            </a:r>
            <a:r>
              <a:rPr>
                <a:latin typeface="Courier"/>
              </a:rPr>
              <a:t>))</a:t>
            </a:r>
            <a:br/>
            <a:r>
              <a:rPr>
                <a:latin typeface="Courier"/>
              </a:rPr>
              <a:t>ax1.imshow(img_matrix, cmap</a:t>
            </a:r>
            <a:r>
              <a:rPr>
                <a:solidFill>
                  <a:srgbClr val="666666"/>
                </a:solidFill>
                <a:latin typeface="Courier"/>
              </a:rPr>
              <a:t>=</a:t>
            </a:r>
            <a:r>
              <a:rPr>
                <a:solidFill>
                  <a:srgbClr val="4070A0"/>
                </a:solidFill>
                <a:latin typeface="Courier"/>
              </a:rPr>
              <a:t>'gray'</a:t>
            </a:r>
            <a:r>
              <a:rPr>
                <a:latin typeface="Courier"/>
              </a:rPr>
              <a:t>)</a:t>
            </a:r>
            <a:br/>
            <a:r>
              <a:rPr>
                <a:latin typeface="Courier"/>
              </a:rPr>
              <a:t>ax1.set_title(</a:t>
            </a:r>
            <a:r>
              <a:rPr>
                <a:solidFill>
                  <a:srgbClr val="4070A0"/>
                </a:solidFill>
                <a:latin typeface="Courier"/>
              </a:rPr>
              <a:t>"2D Rect Function"</a:t>
            </a:r>
            <a:r>
              <a:rPr>
                <a:latin typeface="Courier"/>
              </a:rPr>
              <a:t>)</a:t>
            </a:r>
            <a:br/>
            <a:r>
              <a:rPr>
                <a:latin typeface="Courier"/>
              </a:rPr>
              <a:t>ax1.axis(</a:t>
            </a:r>
            <a:r>
              <a:rPr>
                <a:solidFill>
                  <a:srgbClr val="4070A0"/>
                </a:solidFill>
                <a:latin typeface="Courier"/>
              </a:rPr>
              <a:t>'off'</a:t>
            </a:r>
            <a:r>
              <a:rPr>
                <a:latin typeface="Courier"/>
              </a:rPr>
              <a:t>)</a:t>
            </a:r>
          </a:p>
          <a:p>
            <a:pPr lvl="0" indent="0">
              <a:buNone/>
            </a:pPr>
            <a:r>
              <a:rPr>
                <a:latin typeface="Courier"/>
              </a:rPr>
              <a:t>## (np.float64(-0.5), np.float64(127.5), np.float64(127.5), np.float64(-0.5))</a:t>
            </a:r>
          </a:p>
          <a:p>
            <a:pPr lvl="0" indent="0">
              <a:buNone/>
            </a:pPr>
            <a:r>
              <a:rPr>
                <a:latin typeface="Courier"/>
              </a:rPr>
              <a:t>ax2.imshow(fft_magnitude_2d, cmap</a:t>
            </a:r>
            <a:r>
              <a:rPr>
                <a:solidFill>
                  <a:srgbClr val="666666"/>
                </a:solidFill>
                <a:latin typeface="Courier"/>
              </a:rPr>
              <a:t>=</a:t>
            </a:r>
            <a:r>
              <a:rPr>
                <a:solidFill>
                  <a:srgbClr val="4070A0"/>
                </a:solidFill>
                <a:latin typeface="Courier"/>
              </a:rPr>
              <a:t>'viridis'</a:t>
            </a:r>
            <a:r>
              <a:rPr>
                <a:latin typeface="Courier"/>
              </a:rPr>
              <a:t>)</a:t>
            </a:r>
            <a:br/>
            <a:r>
              <a:rPr>
                <a:latin typeface="Courier"/>
              </a:rPr>
              <a:t>ax2.set_title(</a:t>
            </a:r>
            <a:r>
              <a:rPr>
                <a:solidFill>
                  <a:srgbClr val="4070A0"/>
                </a:solidFill>
                <a:latin typeface="Courier"/>
              </a:rPr>
              <a:t>"2D FT Magnitude (2D Sinc)"</a:t>
            </a:r>
            <a:r>
              <a:rPr>
                <a:latin typeface="Courier"/>
              </a:rPr>
              <a:t>)</a:t>
            </a:r>
            <a:br/>
            <a:r>
              <a:rPr>
                <a:latin typeface="Courier"/>
              </a:rPr>
              <a:t>ax2.axis(</a:t>
            </a:r>
            <a:r>
              <a:rPr>
                <a:solidFill>
                  <a:srgbClr val="4070A0"/>
                </a:solidFill>
                <a:latin typeface="Courier"/>
              </a:rPr>
              <a:t>'off'</a:t>
            </a:r>
            <a:r>
              <a:rPr>
                <a:latin typeface="Courier"/>
              </a:rPr>
              <a:t>)</a:t>
            </a:r>
          </a:p>
          <a:p>
            <a:pPr lvl="0" indent="0">
              <a:buNone/>
            </a:pPr>
            <a:r>
              <a:rPr>
                <a:latin typeface="Courier"/>
              </a:rPr>
              <a:t>## (np.float64(-0.5), np.float64(127.5), np.float64(127.5), np.float64(-0.5))</a:t>
            </a:r>
          </a:p>
          <a:p>
            <a:pPr lvl="0" indent="0">
              <a:buNone/>
            </a:pPr>
            <a:r>
              <a:rPr>
                <a:latin typeface="Courier"/>
              </a:rPr>
              <a:t>d_ft_plot_fig </a:t>
            </a:r>
            <a:r>
              <a:rPr>
                <a:solidFill>
                  <a:srgbClr val="666666"/>
                </a:solidFill>
                <a:latin typeface="Courier"/>
              </a:rPr>
              <a:t>=</a:t>
            </a:r>
            <a:r>
              <a:rPr>
                <a:latin typeface="Courier"/>
              </a:rPr>
              <a:t> plt.gcf()</a:t>
            </a:r>
          </a:p>
        </p:txBody>
      </p:sp>
      <p:pic>
        <p:nvPicPr>
          <p:cNvPr descr="presentation_files/figure-pptx/2d_ft_code-25.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2D FT Example: 2D Rect Visualization</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Convolution Theorem</a:t>
            </a:r>
          </a:p>
        </p:txBody>
      </p:sp>
      <p:sp>
        <p:nvSpPr>
          <p:cNvPr id="3" name="Content Placeholder 2"/>
          <p:cNvSpPr>
            <a:spLocks noGrp="1"/>
          </p:cNvSpPr>
          <p:nvPr>
            <p:ph idx="1"/>
          </p:nvPr>
        </p:nvSpPr>
        <p:spPr/>
        <p:txBody>
          <a:bodyPr/>
          <a:lstStyle/>
          <a:p>
            <a:pPr lvl="0" indent="0" marL="0">
              <a:buNone/>
            </a:pPr>
            <a:r>
              <a:rPr/>
              <a:t>This is one of the most powerful theorems in signal processing. It states that convolution in one domain is equivalent to multiplication in the other domain.</a:t>
            </a:r>
          </a:p>
          <a:p>
            <a:pPr lvl="0"/>
            <a:r>
              <a:rPr b="1"/>
              <a:t>Convolution in Time/Space Domain &lt;=&gt; Multiplication in Frequency Domain</a:t>
            </a:r>
            <a:r>
              <a:rPr/>
              <a:t> </a:t>
            </a:r>
            <a:r>
              <a:rPr>
                <a:latin typeface="Courier"/>
              </a:rPr>
              <a:t>\mathcal{F}\{x(t) * h(t)\} = X(k) \cdot H(k)</a:t>
            </a:r>
          </a:p>
          <a:p>
            <a:pPr lvl="0"/>
            <a:r>
              <a:rPr b="1"/>
              <a:t>Multiplication in Time/Space Domain &lt;=&gt; Convolution in Frequency Domain</a:t>
            </a:r>
            <a:r>
              <a:rPr/>
              <a:t> </a:t>
            </a:r>
            <a:r>
              <a:rPr>
                <a:latin typeface="Courier"/>
              </a:rPr>
              <a:t>\mathcal{F}\{x(t) \cdot h(t)\} = X(k) * H(k)</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Summary</a:t>
            </a:r>
          </a:p>
        </p:txBody>
      </p:sp>
      <p:sp>
        <p:nvSpPr>
          <p:cNvPr id="3" name="Content Placeholder 2"/>
          <p:cNvSpPr>
            <a:spLocks noGrp="1"/>
          </p:cNvSpPr>
          <p:nvPr>
            <p:ph idx="1"/>
          </p:nvPr>
        </p:nvSpPr>
        <p:spPr/>
        <p:txBody>
          <a:bodyPr/>
          <a:lstStyle/>
          <a:p>
            <a:pPr lvl="0"/>
            <a:r>
              <a:rPr/>
              <a:t>Signals can be continuous or discrete.</a:t>
            </a:r>
          </a:p>
          <a:p>
            <a:pPr lvl="0"/>
            <a:r>
              <a:rPr/>
              <a:t>We use standard functions (Rect, Sinc, Delta) as building blocks.</a:t>
            </a:r>
          </a:p>
          <a:p>
            <a:pPr lvl="0"/>
            <a:r>
              <a:rPr/>
              <a:t>LSI (Linear and Shift-Invariant) systems are predictable and easy to analyze.</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Summary</a:t>
            </a:r>
          </a:p>
        </p:txBody>
      </p:sp>
      <p:sp>
        <p:nvSpPr>
          <p:cNvPr id="3" name="Content Placeholder 2"/>
          <p:cNvSpPr>
            <a:spLocks noGrp="1"/>
          </p:cNvSpPr>
          <p:nvPr>
            <p:ph idx="1"/>
          </p:nvPr>
        </p:nvSpPr>
        <p:spPr/>
        <p:txBody>
          <a:bodyPr/>
          <a:lstStyle/>
          <a:p>
            <a:pPr lvl="0"/>
            <a:r>
              <a:rPr b="1"/>
              <a:t>Convolution</a:t>
            </a:r>
            <a:r>
              <a:rPr/>
              <a:t> describes the output of any LSI system.</a:t>
            </a:r>
          </a:p>
          <a:p>
            <a:pPr lvl="0"/>
            <a:r>
              <a:rPr/>
              <a:t>The </a:t>
            </a:r>
            <a:r>
              <a:rPr b="1"/>
              <a:t>Fourier Transform</a:t>
            </a:r>
            <a:r>
              <a:rPr/>
              <a:t> moves a signal between the time and frequency domains.</a:t>
            </a:r>
          </a:p>
          <a:p>
            <a:pPr lvl="0"/>
            <a:r>
              <a:rPr/>
              <a:t>The </a:t>
            </a:r>
            <a:r>
              <a:rPr b="1"/>
              <a:t>Convolution Theorem</a:t>
            </a:r>
            <a:r>
              <a:rPr/>
              <a:t> provides a fast way to compute convolutions.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2: Stochastic Systems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Deterministic vs. Stochastic</a:t>
            </a:r>
          </a:p>
        </p:txBody>
      </p:sp>
      <p:sp>
        <p:nvSpPr>
          <p:cNvPr id="3" name="Content Placeholder 2"/>
          <p:cNvSpPr>
            <a:spLocks noGrp="1"/>
          </p:cNvSpPr>
          <p:nvPr>
            <p:ph idx="1"/>
          </p:nvPr>
        </p:nvSpPr>
        <p:spPr/>
        <p:txBody>
          <a:bodyPr/>
          <a:lstStyle/>
          <a:p>
            <a:pPr lvl="0"/>
            <a:r>
              <a:rPr b="1"/>
              <a:t>Deterministic System:</a:t>
            </a:r>
            <a:r>
              <a:rPr/>
              <a:t> The same input always produces the exact same output. The systems in Module 1 were all deterministic.</a:t>
            </a:r>
          </a:p>
          <a:p>
            <a:pPr lvl="0"/>
            <a:r>
              <a:rPr b="1"/>
              <a:t>Stochastic System:</a:t>
            </a:r>
            <a:r>
              <a:rPr/>
              <a:t> The output has some element of randomness. The output is described by probability distributions, not by a single, definite function.</a:t>
            </a:r>
          </a:p>
          <a:p>
            <a:pPr lvl="0"/>
            <a:r>
              <a:rPr b="1"/>
              <a:t>Noise</a:t>
            </a:r>
            <a:r>
              <a:rPr/>
              <a:t> is the primary source of stochastic behavior in medical imaging.</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Major Noise Types in Medical Imaging</a:t>
            </a:r>
          </a:p>
        </p:txBody>
      </p:sp>
      <p:sp>
        <p:nvSpPr>
          <p:cNvPr id="3" name="Content Placeholder 2"/>
          <p:cNvSpPr>
            <a:spLocks noGrp="1"/>
          </p:cNvSpPr>
          <p:nvPr>
            <p:ph idx="1"/>
          </p:nvPr>
        </p:nvSpPr>
        <p:spPr/>
        <p:txBody>
          <a:bodyPr/>
          <a:lstStyle/>
          <a:p>
            <a:pPr lvl="0"/>
            <a:r>
              <a:rPr b="1"/>
              <a:t>Poisson Noise (Quantum Noise):</a:t>
            </a:r>
            <a:r>
              <a:rPr/>
              <a:t> Arises from the discrete nature of particles (e.g., photons, radioactive decays). It’s signal-dependent.</a:t>
            </a:r>
          </a:p>
          <a:p>
            <a:pPr lvl="0"/>
            <a:r>
              <a:rPr b="1"/>
              <a:t>Gaussian Noise (Electronic Noise):</a:t>
            </a:r>
            <a:r>
              <a:rPr/>
              <a:t> Arises from thermal fluctuations in electronic components. It’s generally signal-independent.</a:t>
            </a:r>
          </a:p>
          <a:p>
            <a:pPr lvl="0"/>
            <a:r>
              <a:rPr b="1"/>
              <a:t>Rician Noise:</a:t>
            </a:r>
            <a:r>
              <a:rPr/>
              <a:t> Found in MRI, resulting from the combination of a real signal with Gaussian noise in two orthogonal channels.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Poisson Noise: The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Poisson distribution describes the probability of a given number of events occurring in a fixed interval if these events occur with a known constant mean rate.</a:t>
                </a:r>
              </a:p>
              <a:p>
                <a:pPr lvl="0" indent="0" marL="0">
                  <a:buNone/>
                </a:pPr>
                <a14:m>
                  <m:oMathPara xmlns:m="http://schemas.openxmlformats.org/officeDocument/2006/math">
                    <m:oMathParaPr>
                      <m:jc m:val="center"/>
                    </m:oMathParaPr>
                    <m:oMath>
                      <m:r>
                        <m:t>P</m:t>
                      </m:r>
                      <m:d>
                        <m:dPr>
                          <m:begChr m:val="("/>
                          <m:endChr m:val=")"/>
                          <m:sepChr m:val=""/>
                          <m:grow/>
                        </m:dPr>
                        <m:e>
                          <m:r>
                            <m:t>k</m:t>
                          </m:r>
                          <m:r>
                            <m:rPr>
                              <m:sty m:val="p"/>
                            </m:rPr>
                            <m:t>;</m:t>
                          </m:r>
                          <m:r>
                            <m:t>λ</m:t>
                          </m:r>
                        </m:e>
                      </m:d>
                      <m:r>
                        <m:rPr>
                          <m:sty m:val="p"/>
                        </m:rPr>
                        <m:t>=</m:t>
                      </m:r>
                      <m:f>
                        <m:fPr>
                          <m:type m:val="bar"/>
                        </m:fPr>
                        <m:num>
                          <m:sSup>
                            <m:e>
                              <m:r>
                                <m:t>λ</m:t>
                              </m:r>
                            </m:e>
                            <m:sup>
                              <m:r>
                                <m:t>k</m:t>
                              </m:r>
                            </m:sup>
                          </m:sSup>
                          <m:sSup>
                            <m:e>
                              <m:r>
                                <m:t>e</m:t>
                              </m:r>
                            </m:e>
                            <m:sup>
                              <m:r>
                                <m:rPr>
                                  <m:sty m:val="p"/>
                                </m:rPr>
                                <m:t>−</m:t>
                              </m:r>
                              <m:r>
                                <m:t>λ</m:t>
                              </m:r>
                            </m:sup>
                          </m:sSup>
                        </m:num>
                        <m:den>
                          <m:r>
                            <m:t>k</m:t>
                          </m:r>
                          <m:r>
                            <m:rPr>
                              <m:sty m:val="p"/>
                            </m:rPr>
                            <m:t>!</m:t>
                          </m:r>
                        </m:den>
                      </m:f>
                    </m:oMath>
                  </m:oMathPara>
                </a14:m>
              </a:p>
              <a:p>
                <a:pPr lvl="0"/>
                <a:r>
                  <a:rPr>
                    <a:latin typeface="Courier"/>
                  </a:rPr>
                  <a:t>λ</a:t>
                </a:r>
                <a:r>
                  <a:rPr/>
                  <a:t> (lambda) is the mean number of events.</a:t>
                </a:r>
              </a:p>
              <a:p>
                <a:pPr lvl="0"/>
                <a:r>
                  <a:rPr/>
                  <a:t>In imaging, </a:t>
                </a:r>
                <a:r>
                  <a:rPr>
                    <a:latin typeface="Courier"/>
                  </a:rPr>
                  <a:t>λ</a:t>
                </a:r>
                <a:r>
                  <a:rPr/>
                  <a:t> is the expected number of photons.</a:t>
                </a:r>
              </a:p>
              <a:p>
                <a:pPr lvl="0"/>
                <a:r>
                  <a:rPr/>
                  <a:t>A key property: </a:t>
                </a:r>
                <a:r>
                  <a:rPr b="1"/>
                  <a:t>The variance is equal to the mean (</a:t>
                </a:r>
                <a:r>
                  <a:rPr b="1">
                    <a:latin typeface="Courier"/>
                  </a:rPr>
                  <a:t>σ² = λ</a:t>
                </a:r>
                <a:r>
                  <a:rPr b="1"/>
                  <a:t>)</a:t>
                </a:r>
                <a:r>
                  <a:rPr/>
                  <a:t>.</a:t>
                </a:r>
              </a:p>
            </p:txBody>
          </p:sp>
        </mc:Choice>
      </mc:AlternateContent>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Poisson Noise: Code Example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Generate data from a Poisson distribution</a:t>
            </a:r>
            <a:br/>
            <a:r>
              <a:rPr>
                <a:latin typeface="Courier"/>
              </a:rPr>
              <a:t>mean_photons </a:t>
            </a:r>
            <a:r>
              <a:rPr>
                <a:solidFill>
                  <a:srgbClr val="666666"/>
                </a:solidFill>
                <a:latin typeface="Courier"/>
              </a:rPr>
              <a:t>=</a:t>
            </a:r>
            <a:r>
              <a:rPr>
                <a:latin typeface="Courier"/>
              </a:rPr>
              <a:t> </a:t>
            </a:r>
            <a:r>
              <a:rPr>
                <a:solidFill>
                  <a:srgbClr val="40A070"/>
                </a:solidFill>
                <a:latin typeface="Courier"/>
              </a:rPr>
              <a:t>25</a:t>
            </a:r>
            <a:br/>
            <a:r>
              <a:rPr>
                <a:latin typeface="Courier"/>
              </a:rPr>
              <a:t>num_samples </a:t>
            </a:r>
            <a:r>
              <a:rPr>
                <a:solidFill>
                  <a:srgbClr val="666666"/>
                </a:solidFill>
                <a:latin typeface="Courier"/>
              </a:rPr>
              <a:t>=</a:t>
            </a:r>
            <a:r>
              <a:rPr>
                <a:latin typeface="Courier"/>
              </a:rPr>
              <a:t> </a:t>
            </a:r>
            <a:r>
              <a:rPr>
                <a:solidFill>
                  <a:srgbClr val="40A070"/>
                </a:solidFill>
                <a:latin typeface="Courier"/>
              </a:rPr>
              <a:t>10000</a:t>
            </a:r>
            <a:br/>
            <a:br/>
            <a:r>
              <a:rPr i="1">
                <a:solidFill>
                  <a:srgbClr val="60A0B0"/>
                </a:solidFill>
                <a:latin typeface="Courier"/>
              </a:rPr>
              <a:t># Use rpois to generate random deviates</a:t>
            </a:r>
            <a:br/>
            <a:r>
              <a:rPr>
                <a:latin typeface="Courier"/>
              </a:rPr>
              <a:t>poisson_data </a:t>
            </a:r>
            <a:r>
              <a:rPr>
                <a:solidFill>
                  <a:srgbClr val="666666"/>
                </a:solidFill>
                <a:latin typeface="Courier"/>
              </a:rPr>
              <a:t>=</a:t>
            </a:r>
            <a:r>
              <a:rPr>
                <a:latin typeface="Courier"/>
              </a:rPr>
              <a:t> np.random.poisson(mean_photons, num_samples)</a:t>
            </a:r>
            <a:br/>
            <a:br/>
            <a:r>
              <a:rPr i="1">
                <a:solidFill>
                  <a:srgbClr val="60A0B0"/>
                </a:solidFill>
                <a:latin typeface="Courier"/>
              </a:rPr>
              <a:t># Calculate sample mean and variance</a:t>
            </a:r>
            <a:br/>
            <a:r>
              <a:rPr>
                <a:latin typeface="Courier"/>
              </a:rPr>
              <a:t>sample_mean </a:t>
            </a:r>
            <a:r>
              <a:rPr>
                <a:solidFill>
                  <a:srgbClr val="666666"/>
                </a:solidFill>
                <a:latin typeface="Courier"/>
              </a:rPr>
              <a:t>=</a:t>
            </a:r>
            <a:r>
              <a:rPr>
                <a:latin typeface="Courier"/>
              </a:rPr>
              <a:t> np.mean(poisson_data)</a:t>
            </a:r>
            <a:br/>
            <a:r>
              <a:rPr>
                <a:latin typeface="Courier"/>
              </a:rPr>
              <a:t>sample_variance </a:t>
            </a:r>
            <a:r>
              <a:rPr>
                <a:solidFill>
                  <a:srgbClr val="666666"/>
                </a:solidFill>
                <a:latin typeface="Courier"/>
              </a:rPr>
              <a:t>=</a:t>
            </a:r>
            <a:r>
              <a:rPr>
                <a:latin typeface="Courier"/>
              </a:rPr>
              <a:t> np.var(poisson_data)</a:t>
            </a:r>
            <a:br/>
            <a:br/>
            <a:r>
              <a:rPr>
                <a:latin typeface="Courier"/>
              </a:rPr>
              <a:t>plt.figure()</a:t>
            </a:r>
            <a:br/>
            <a:r>
              <a:rPr>
                <a:latin typeface="Courier"/>
              </a:rPr>
              <a:t>plt.hist(poisson_data, bins</a:t>
            </a:r>
            <a:r>
              <a:rPr>
                <a:solidFill>
                  <a:srgbClr val="666666"/>
                </a:solidFill>
                <a:latin typeface="Courier"/>
              </a:rPr>
              <a:t>=</a:t>
            </a:r>
            <a:r>
              <a:rPr>
                <a:solidFill>
                  <a:srgbClr val="008000"/>
                </a:solidFill>
                <a:latin typeface="Courier"/>
              </a:rPr>
              <a:t>range</a:t>
            </a:r>
            <a:r>
              <a:rPr>
                <a:latin typeface="Courier"/>
              </a:rPr>
              <a:t>(</a:t>
            </a:r>
            <a:r>
              <a:rPr>
                <a:solidFill>
                  <a:srgbClr val="40A070"/>
                </a:solidFill>
                <a:latin typeface="Courier"/>
              </a:rPr>
              <a:t>10</a:t>
            </a:r>
            <a:r>
              <a:rPr>
                <a:latin typeface="Courier"/>
              </a:rPr>
              <a:t>, </a:t>
            </a:r>
            <a:r>
              <a:rPr>
                <a:solidFill>
                  <a:srgbClr val="40A070"/>
                </a:solidFill>
                <a:latin typeface="Courier"/>
              </a:rPr>
              <a:t>45</a:t>
            </a:r>
            <a:r>
              <a:rPr>
                <a:latin typeface="Courier"/>
              </a:rPr>
              <a:t>), density</a:t>
            </a:r>
            <a:r>
              <a:rPr>
                <a:solidFill>
                  <a:srgbClr val="666666"/>
                </a:solidFill>
                <a:latin typeface="Courier"/>
              </a:rPr>
              <a:t>=</a:t>
            </a:r>
            <a:r>
              <a:rPr>
                <a:solidFill>
                  <a:srgbClr val="19177C"/>
                </a:solidFill>
                <a:latin typeface="Courier"/>
              </a:rPr>
              <a:t>True</a:t>
            </a:r>
            <a:r>
              <a:rPr>
                <a:latin typeface="Courier"/>
              </a:rPr>
              <a:t>, color</a:t>
            </a:r>
            <a:r>
              <a:rPr>
                <a:solidFill>
                  <a:srgbClr val="666666"/>
                </a:solidFill>
                <a:latin typeface="Courier"/>
              </a:rPr>
              <a:t>=</a:t>
            </a:r>
            <a:r>
              <a:rPr>
                <a:solidFill>
                  <a:srgbClr val="4070A0"/>
                </a:solidFill>
                <a:latin typeface="Courier"/>
              </a:rPr>
              <a:t>'skyblue'</a:t>
            </a:r>
            <a:r>
              <a:rPr>
                <a:latin typeface="Courier"/>
              </a:rPr>
              <a:t>, ec</a:t>
            </a:r>
            <a:r>
              <a:rPr>
                <a:solidFill>
                  <a:srgbClr val="666666"/>
                </a:solidFill>
                <a:latin typeface="Courier"/>
              </a:rPr>
              <a:t>=</a:t>
            </a:r>
            <a:r>
              <a:rPr>
                <a:solidFill>
                  <a:srgbClr val="4070A0"/>
                </a:solidFill>
                <a:latin typeface="Courier"/>
              </a:rPr>
              <a:t>'black'</a:t>
            </a:r>
            <a:r>
              <a:rPr>
                <a:latin typeface="Courier"/>
              </a:rPr>
              <a:t>)</a:t>
            </a:r>
            <a:br/>
            <a:r>
              <a:rPr>
                <a:latin typeface="Courier"/>
              </a:rPr>
              <a:t>plt.title(</a:t>
            </a:r>
            <a:r>
              <a:rPr>
                <a:solidFill>
                  <a:srgbClr val="BB6688"/>
                </a:solidFill>
                <a:latin typeface="Courier"/>
              </a:rPr>
              <a:t>f"Poisson Distribution (λ = </a:t>
            </a:r>
            <a:r>
              <a:rPr>
                <a:solidFill>
                  <a:srgbClr val="4070A0"/>
                </a:solidFill>
                <a:latin typeface="Courier"/>
              </a:rPr>
              <a:t>{</a:t>
            </a:r>
            <a:r>
              <a:rPr>
                <a:latin typeface="Courier"/>
              </a:rPr>
              <a:t>mean_photons</a:t>
            </a:r>
            <a:r>
              <a:rPr>
                <a:solidFill>
                  <a:srgbClr val="4070A0"/>
                </a:solidFill>
                <a:latin typeface="Courier"/>
              </a:rPr>
              <a:t>}</a:t>
            </a:r>
            <a:r>
              <a:rPr>
                <a:solidFill>
                  <a:srgbClr val="BB6688"/>
                </a:solidFill>
                <a:latin typeface="Courier"/>
              </a:rPr>
              <a:t>)"</a:t>
            </a:r>
            <a:r>
              <a:rPr>
                <a:latin typeface="Courier"/>
              </a:rPr>
              <a:t>)</a:t>
            </a:r>
            <a:br/>
            <a:r>
              <a:rPr>
                <a:latin typeface="Courier"/>
              </a:rPr>
              <a:t>plt.xlabel(</a:t>
            </a:r>
            <a:r>
              <a:rPr>
                <a:solidFill>
                  <a:srgbClr val="4070A0"/>
                </a:solidFill>
                <a:latin typeface="Courier"/>
              </a:rPr>
              <a:t>"Photon Counts"</a:t>
            </a:r>
            <a:r>
              <a:rPr>
                <a:latin typeface="Courier"/>
              </a:rPr>
              <a:t>)</a:t>
            </a:r>
            <a:br/>
            <a:r>
              <a:rPr>
                <a:latin typeface="Courier"/>
              </a:rPr>
              <a:t>plt.ylabel(</a:t>
            </a:r>
            <a:r>
              <a:rPr>
                <a:solidFill>
                  <a:srgbClr val="4070A0"/>
                </a:solidFill>
                <a:latin typeface="Courier"/>
              </a:rPr>
              <a:t>"Density"</a:t>
            </a:r>
            <a:r>
              <a:rPr>
                <a:latin typeface="Courier"/>
              </a:rPr>
              <a:t>)</a:t>
            </a:r>
            <a:br/>
            <a:r>
              <a:rPr>
                <a:latin typeface="Courier"/>
              </a:rPr>
              <a:t>poisson_plot_fig </a:t>
            </a:r>
            <a:r>
              <a:rPr>
                <a:solidFill>
                  <a:srgbClr val="666666"/>
                </a:solidFill>
                <a:latin typeface="Courier"/>
              </a:rPr>
              <a:t>=</a:t>
            </a:r>
            <a:r>
              <a:rPr>
                <a:latin typeface="Courier"/>
              </a:rPr>
              <a:t> plt.gcf()</a:t>
            </a:r>
          </a:p>
        </p:txBody>
      </p:sp>
      <p:pic>
        <p:nvPicPr>
          <p:cNvPr descr="presentation_files/figure-pptx/poisson_code-27.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Poisson Noise: Visualization</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Gaussian Noise: The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Gaussian (or Normal) distribution is described by its mean (</a:t>
                </a:r>
                <a:r>
                  <a:rPr>
                    <a:latin typeface="Courier"/>
                  </a:rPr>
                  <a:t>μ</a:t>
                </a:r>
                <a:r>
                  <a:rPr/>
                  <a:t>) and standard deviation (</a:t>
                </a:r>
                <a:r>
                  <a:rPr>
                    <a:latin typeface="Courier"/>
                  </a:rPr>
                  <a:t>σ</a:t>
                </a:r>
                <a:r>
                  <a:rPr/>
                  <a:t>).</a:t>
                </a:r>
              </a:p>
              <a:p>
                <a:pPr lvl="0" indent="0" marL="0">
                  <a:buNone/>
                </a:pPr>
                <a14:m>
                  <m:oMathPara xmlns:m="http://schemas.openxmlformats.org/officeDocument/2006/math">
                    <m:oMathParaPr>
                      <m:jc m:val="center"/>
                    </m:oMathParaPr>
                    <m:oMath>
                      <m:r>
                        <m:t>f</m:t>
                      </m:r>
                      <m:d>
                        <m:dPr>
                          <m:begChr m:val="("/>
                          <m:endChr m:val=")"/>
                          <m:sepChr m:val=""/>
                          <m:grow/>
                        </m:dPr>
                        <m:e>
                          <m:r>
                            <m:t>x</m:t>
                          </m:r>
                          <m:r>
                            <m:rPr>
                              <m:sty m:val="p"/>
                            </m:rPr>
                            <m:t>|</m:t>
                          </m:r>
                          <m:r>
                            <m:t>μ</m:t>
                          </m:r>
                          <m:r>
                            <m:rPr>
                              <m:sty m:val="p"/>
                            </m:rPr>
                            <m:t>,</m:t>
                          </m:r>
                          <m:sSup>
                            <m:e>
                              <m:r>
                                <m:t>σ</m:t>
                              </m:r>
                            </m:e>
                            <m:sup>
                              <m:r>
                                <m:t>2</m:t>
                              </m:r>
                            </m:sup>
                          </m:sSup>
                        </m:e>
                      </m:d>
                      <m:r>
                        <m:rPr>
                          <m:sty m:val="p"/>
                        </m:rPr>
                        <m:t>=</m:t>
                      </m:r>
                      <m:f>
                        <m:fPr>
                          <m:type m:val="bar"/>
                        </m:fPr>
                        <m:num>
                          <m:r>
                            <m:t>1</m:t>
                          </m:r>
                        </m:num>
                        <m:den>
                          <m:rad>
                            <m:radPr>
                              <m:degHide m:val="on"/>
                            </m:radPr>
                            <m:deg/>
                            <m:e>
                              <m:r>
                                <m:t>2</m:t>
                              </m:r>
                              <m:r>
                                <m:t>π</m:t>
                              </m:r>
                              <m:sSup>
                                <m:e>
                                  <m:r>
                                    <m:t>σ</m:t>
                                  </m:r>
                                </m:e>
                                <m:sup>
                                  <m:r>
                                    <m:t>2</m:t>
                                  </m:r>
                                </m:sup>
                              </m:sSup>
                            </m:e>
                          </m:rad>
                        </m:den>
                      </m:f>
                      <m:sSup>
                        <m:e>
                          <m:r>
                            <m:t>e</m:t>
                          </m:r>
                        </m:e>
                        <m:sup>
                          <m:r>
                            <m:rPr>
                              <m:sty m:val="p"/>
                            </m:rPr>
                            <m:t>−</m:t>
                          </m:r>
                          <m:f>
                            <m:fPr>
                              <m:type m:val="bar"/>
                            </m:fPr>
                            <m:num>
                              <m:sSup>
                                <m:e>
                                  <m:d>
                                    <m:dPr>
                                      <m:begChr m:val="("/>
                                      <m:endChr m:val=")"/>
                                      <m:sepChr m:val=""/>
                                      <m:grow/>
                                    </m:dPr>
                                    <m:e>
                                      <m:r>
                                        <m:t>x</m:t>
                                      </m:r>
                                      <m:r>
                                        <m:rPr>
                                          <m:sty m:val="p"/>
                                        </m:rPr>
                                        <m:t>−</m:t>
                                      </m:r>
                                      <m:r>
                                        <m:t>μ</m:t>
                                      </m:r>
                                    </m:e>
                                  </m:d>
                                </m:e>
                                <m:sup>
                                  <m:r>
                                    <m:t>2</m:t>
                                  </m:r>
                                </m:sup>
                              </m:sSup>
                            </m:num>
                            <m:den>
                              <m:r>
                                <m:t>2</m:t>
                              </m:r>
                              <m:sSup>
                                <m:e>
                                  <m:r>
                                    <m:t>σ</m:t>
                                  </m:r>
                                </m:e>
                                <m:sup>
                                  <m:r>
                                    <m:t>2</m:t>
                                  </m:r>
                                </m:sup>
                              </m:sSup>
                            </m:den>
                          </m:f>
                        </m:sup>
                      </m:sSup>
                    </m:oMath>
                  </m:oMathPara>
                </a14:m>
              </a:p>
              <a:p>
                <a:pPr lvl="0"/>
                <a:r>
                  <a:rPr/>
                  <a:t>This is the classic “bell curve.”</a:t>
                </a:r>
              </a:p>
              <a:p>
                <a:pPr lvl="0"/>
                <a:r>
                  <a:rPr/>
                  <a:t>In contrast to Poisson noise, the variance (</a:t>
                </a:r>
                <a:r>
                  <a:rPr>
                    <a:latin typeface="Courier"/>
                  </a:rPr>
                  <a:t>σ²</a:t>
                </a:r>
                <a:r>
                  <a:rPr/>
                  <a:t>) is independent of the mean signal (</a:t>
                </a:r>
                <a:r>
                  <a:rPr>
                    <a:latin typeface="Courier"/>
                  </a:rPr>
                  <a:t>μ</a:t>
                </a:r>
                <a:r>
                  <a:rPr/>
                  <a:t>).</a:t>
                </a:r>
              </a:p>
            </p:txBody>
          </p:sp>
        </mc:Choice>
      </mc:AlternateContent>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Gaussian Noise: Code Example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b="1">
                <a:solidFill>
                  <a:srgbClr val="008000"/>
                </a:solidFill>
                <a:latin typeface="Courier"/>
              </a:rPr>
              <a:t>from</a:t>
            </a:r>
            <a:r>
              <a:rPr>
                <a:latin typeface="Courier"/>
              </a:rPr>
              <a:t> scipy.stats </a:t>
            </a:r>
            <a:r>
              <a:rPr b="1">
                <a:solidFill>
                  <a:srgbClr val="008000"/>
                </a:solidFill>
                <a:latin typeface="Courier"/>
              </a:rPr>
              <a:t>import</a:t>
            </a:r>
            <a:r>
              <a:rPr>
                <a:latin typeface="Courier"/>
              </a:rPr>
              <a:t> norm</a:t>
            </a:r>
            <a:br/>
            <a:br/>
            <a:r>
              <a:rPr i="1">
                <a:solidFill>
                  <a:srgbClr val="60A0B0"/>
                </a:solidFill>
                <a:latin typeface="Courier"/>
              </a:rPr>
              <a:t># Generate data from a Gaussian distribution</a:t>
            </a:r>
            <a:br/>
            <a:r>
              <a:rPr>
                <a:latin typeface="Courier"/>
              </a:rPr>
              <a:t>mean_signal </a:t>
            </a:r>
            <a:r>
              <a:rPr>
                <a:solidFill>
                  <a:srgbClr val="666666"/>
                </a:solidFill>
                <a:latin typeface="Courier"/>
              </a:rPr>
              <a:t>=</a:t>
            </a:r>
            <a:r>
              <a:rPr>
                <a:latin typeface="Courier"/>
              </a:rPr>
              <a:t> </a:t>
            </a:r>
            <a:r>
              <a:rPr>
                <a:solidFill>
                  <a:srgbClr val="40A070"/>
                </a:solidFill>
                <a:latin typeface="Courier"/>
              </a:rPr>
              <a:t>50</a:t>
            </a:r>
            <a:br/>
            <a:r>
              <a:rPr>
                <a:latin typeface="Courier"/>
              </a:rPr>
              <a:t>noise_std_dev </a:t>
            </a:r>
            <a:r>
              <a:rPr>
                <a:solidFill>
                  <a:srgbClr val="666666"/>
                </a:solidFill>
                <a:latin typeface="Courier"/>
              </a:rPr>
              <a:t>=</a:t>
            </a:r>
            <a:r>
              <a:rPr>
                <a:latin typeface="Courier"/>
              </a:rPr>
              <a:t> </a:t>
            </a:r>
            <a:r>
              <a:rPr>
                <a:solidFill>
                  <a:srgbClr val="40A070"/>
                </a:solidFill>
                <a:latin typeface="Courier"/>
              </a:rPr>
              <a:t>10</a:t>
            </a:r>
            <a:br/>
            <a:r>
              <a:rPr>
                <a:latin typeface="Courier"/>
              </a:rPr>
              <a:t>num_samples </a:t>
            </a:r>
            <a:r>
              <a:rPr>
                <a:solidFill>
                  <a:srgbClr val="666666"/>
                </a:solidFill>
                <a:latin typeface="Courier"/>
              </a:rPr>
              <a:t>=</a:t>
            </a:r>
            <a:r>
              <a:rPr>
                <a:latin typeface="Courier"/>
              </a:rPr>
              <a:t> </a:t>
            </a:r>
            <a:r>
              <a:rPr>
                <a:solidFill>
                  <a:srgbClr val="40A070"/>
                </a:solidFill>
                <a:latin typeface="Courier"/>
              </a:rPr>
              <a:t>10000</a:t>
            </a:r>
            <a:br/>
            <a:br/>
            <a:r>
              <a:rPr i="1">
                <a:solidFill>
                  <a:srgbClr val="60A0B0"/>
                </a:solidFill>
                <a:latin typeface="Courier"/>
              </a:rPr>
              <a:t># Use rnorm to generate random deviates</a:t>
            </a:r>
            <a:br/>
            <a:r>
              <a:rPr>
                <a:latin typeface="Courier"/>
              </a:rPr>
              <a:t>gaussian_data </a:t>
            </a:r>
            <a:r>
              <a:rPr>
                <a:solidFill>
                  <a:srgbClr val="666666"/>
                </a:solidFill>
                <a:latin typeface="Courier"/>
              </a:rPr>
              <a:t>=</a:t>
            </a:r>
            <a:r>
              <a:rPr>
                <a:latin typeface="Courier"/>
              </a:rPr>
              <a:t> np.random.normal(mean_signal, noise_std_dev, num_samples)</a:t>
            </a:r>
            <a:br/>
            <a:br/>
            <a:r>
              <a:rPr>
                <a:latin typeface="Courier"/>
              </a:rPr>
              <a:t>plt.figure()</a:t>
            </a:r>
            <a:br/>
            <a:r>
              <a:rPr>
                <a:latin typeface="Courier"/>
              </a:rPr>
              <a:t>plt.hist(gaussian_data, bins</a:t>
            </a:r>
            <a:r>
              <a:rPr>
                <a:solidFill>
                  <a:srgbClr val="666666"/>
                </a:solidFill>
                <a:latin typeface="Courier"/>
              </a:rPr>
              <a:t>=</a:t>
            </a:r>
            <a:r>
              <a:rPr>
                <a:solidFill>
                  <a:srgbClr val="40A070"/>
                </a:solidFill>
                <a:latin typeface="Courier"/>
              </a:rPr>
              <a:t>50</a:t>
            </a:r>
            <a:r>
              <a:rPr>
                <a:latin typeface="Courier"/>
              </a:rPr>
              <a:t>, density</a:t>
            </a:r>
            <a:r>
              <a:rPr>
                <a:solidFill>
                  <a:srgbClr val="666666"/>
                </a:solidFill>
                <a:latin typeface="Courier"/>
              </a:rPr>
              <a:t>=</a:t>
            </a:r>
            <a:r>
              <a:rPr>
                <a:solidFill>
                  <a:srgbClr val="19177C"/>
                </a:solidFill>
                <a:latin typeface="Courier"/>
              </a:rPr>
              <a:t>True</a:t>
            </a:r>
            <a:r>
              <a:rPr>
                <a:latin typeface="Courier"/>
              </a:rPr>
              <a:t>, color</a:t>
            </a:r>
            <a:r>
              <a:rPr>
                <a:solidFill>
                  <a:srgbClr val="666666"/>
                </a:solidFill>
                <a:latin typeface="Courier"/>
              </a:rPr>
              <a:t>=</a:t>
            </a:r>
            <a:r>
              <a:rPr>
                <a:solidFill>
                  <a:srgbClr val="4070A0"/>
                </a:solidFill>
                <a:latin typeface="Courier"/>
              </a:rPr>
              <a:t>'salmon'</a:t>
            </a:r>
            <a:r>
              <a:rPr>
                <a:latin typeface="Courier"/>
              </a:rPr>
              <a:t>, ec</a:t>
            </a:r>
            <a:r>
              <a:rPr>
                <a:solidFill>
                  <a:srgbClr val="666666"/>
                </a:solidFill>
                <a:latin typeface="Courier"/>
              </a:rPr>
              <a:t>=</a:t>
            </a:r>
            <a:r>
              <a:rPr>
                <a:solidFill>
                  <a:srgbClr val="4070A0"/>
                </a:solidFill>
                <a:latin typeface="Courier"/>
              </a:rPr>
              <a:t>'black'</a:t>
            </a:r>
            <a:r>
              <a:rPr>
                <a:latin typeface="Courier"/>
              </a:rPr>
              <a:t>)</a:t>
            </a:r>
            <a:br/>
            <a:r>
              <a:rPr>
                <a:latin typeface="Courier"/>
              </a:rPr>
              <a:t>xmin, xmax </a:t>
            </a:r>
            <a:r>
              <a:rPr>
                <a:solidFill>
                  <a:srgbClr val="666666"/>
                </a:solidFill>
                <a:latin typeface="Courier"/>
              </a:rPr>
              <a:t>=</a:t>
            </a:r>
            <a:r>
              <a:rPr>
                <a:latin typeface="Courier"/>
              </a:rPr>
              <a:t> plt.xlim()</a:t>
            </a:r>
            <a:br/>
            <a:r>
              <a:rPr>
                <a:latin typeface="Courier"/>
              </a:rPr>
              <a:t>x </a:t>
            </a:r>
            <a:r>
              <a:rPr>
                <a:solidFill>
                  <a:srgbClr val="666666"/>
                </a:solidFill>
                <a:latin typeface="Courier"/>
              </a:rPr>
              <a:t>=</a:t>
            </a:r>
            <a:r>
              <a:rPr>
                <a:latin typeface="Courier"/>
              </a:rPr>
              <a:t> np.linspace(xmin, xmax, </a:t>
            </a:r>
            <a:r>
              <a:rPr>
                <a:solidFill>
                  <a:srgbClr val="40A070"/>
                </a:solidFill>
                <a:latin typeface="Courier"/>
              </a:rPr>
              <a:t>100</a:t>
            </a:r>
            <a:r>
              <a:rPr>
                <a:latin typeface="Courier"/>
              </a:rPr>
              <a:t>)</a:t>
            </a:r>
            <a:br/>
            <a:r>
              <a:rPr>
                <a:latin typeface="Courier"/>
              </a:rPr>
              <a:t>p </a:t>
            </a:r>
            <a:r>
              <a:rPr>
                <a:solidFill>
                  <a:srgbClr val="666666"/>
                </a:solidFill>
                <a:latin typeface="Courier"/>
              </a:rPr>
              <a:t>=</a:t>
            </a:r>
            <a:r>
              <a:rPr>
                <a:latin typeface="Courier"/>
              </a:rPr>
              <a:t> norm.pdf(x, mean_signal, noise_std_dev)</a:t>
            </a:r>
            <a:br/>
            <a:r>
              <a:rPr>
                <a:latin typeface="Courier"/>
              </a:rPr>
              <a:t>plt.plot(x, p, </a:t>
            </a:r>
            <a:r>
              <a:rPr>
                <a:solidFill>
                  <a:srgbClr val="4070A0"/>
                </a:solidFill>
                <a:latin typeface="Courier"/>
              </a:rPr>
              <a:t>'b'</a:t>
            </a:r>
            <a:r>
              <a:rPr>
                <a:latin typeface="Courier"/>
              </a:rPr>
              <a:t>, linewidth</a:t>
            </a:r>
            <a:r>
              <a:rPr>
                <a:solidFill>
                  <a:srgbClr val="666666"/>
                </a:solidFill>
                <a:latin typeface="Courier"/>
              </a:rPr>
              <a:t>=</a:t>
            </a:r>
            <a:r>
              <a:rPr>
                <a:solidFill>
                  <a:srgbClr val="40A070"/>
                </a:solidFill>
                <a:latin typeface="Courier"/>
              </a:rPr>
              <a:t>2</a:t>
            </a:r>
            <a:r>
              <a:rPr>
                <a:latin typeface="Courier"/>
              </a:rPr>
              <a:t>)</a:t>
            </a:r>
            <a:br/>
            <a:r>
              <a:rPr>
                <a:latin typeface="Courier"/>
              </a:rPr>
              <a:t>plt.title(</a:t>
            </a:r>
            <a:r>
              <a:rPr>
                <a:solidFill>
                  <a:srgbClr val="BB6688"/>
                </a:solidFill>
                <a:latin typeface="Courier"/>
              </a:rPr>
              <a:t>f"Gaussian Distribution (μ = </a:t>
            </a:r>
            <a:r>
              <a:rPr>
                <a:solidFill>
                  <a:srgbClr val="4070A0"/>
                </a:solidFill>
                <a:latin typeface="Courier"/>
              </a:rPr>
              <a:t>{</a:t>
            </a:r>
            <a:r>
              <a:rPr>
                <a:latin typeface="Courier"/>
              </a:rPr>
              <a:t>mean_signal</a:t>
            </a:r>
            <a:r>
              <a:rPr>
                <a:solidFill>
                  <a:srgbClr val="4070A0"/>
                </a:solidFill>
                <a:latin typeface="Courier"/>
              </a:rPr>
              <a:t>}</a:t>
            </a:r>
            <a:r>
              <a:rPr>
                <a:solidFill>
                  <a:srgbClr val="BB6688"/>
                </a:solidFill>
                <a:latin typeface="Courier"/>
              </a:rPr>
              <a:t>, σ = </a:t>
            </a:r>
            <a:r>
              <a:rPr>
                <a:solidFill>
                  <a:srgbClr val="4070A0"/>
                </a:solidFill>
                <a:latin typeface="Courier"/>
              </a:rPr>
              <a:t>{</a:t>
            </a:r>
            <a:r>
              <a:rPr>
                <a:latin typeface="Courier"/>
              </a:rPr>
              <a:t>noise_std_dev</a:t>
            </a:r>
            <a:r>
              <a:rPr>
                <a:solidFill>
                  <a:srgbClr val="4070A0"/>
                </a:solidFill>
                <a:latin typeface="Courier"/>
              </a:rPr>
              <a:t>}</a:t>
            </a:r>
            <a:r>
              <a:rPr>
                <a:solidFill>
                  <a:srgbClr val="BB6688"/>
                </a:solidFill>
                <a:latin typeface="Courier"/>
              </a:rPr>
              <a:t>)"</a:t>
            </a:r>
            <a:r>
              <a:rPr>
                <a:latin typeface="Courier"/>
              </a:rPr>
              <a:t>)</a:t>
            </a:r>
            <a:br/>
            <a:r>
              <a:rPr>
                <a:latin typeface="Courier"/>
              </a:rPr>
              <a:t>gaussian_plot_fig </a:t>
            </a:r>
            <a:r>
              <a:rPr>
                <a:solidFill>
                  <a:srgbClr val="666666"/>
                </a:solidFill>
                <a:latin typeface="Courier"/>
              </a:rPr>
              <a:t>=</a:t>
            </a:r>
            <a:r>
              <a:rPr>
                <a:latin typeface="Courier"/>
              </a:rPr>
              <a:t> plt.gcf()</a:t>
            </a:r>
          </a:p>
        </p:txBody>
      </p:sp>
      <p:pic>
        <p:nvPicPr>
          <p:cNvPr descr="presentation_files/figure-pptx/gaussian_code-29.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Gaussian Noise: Visualization</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Noise Appearance: Poisson vs. Gaussian</a:t>
            </a:r>
          </a:p>
        </p:txBody>
      </p:sp>
      <p:sp>
        <p:nvSpPr>
          <p:cNvPr id="3" name="Content Placeholder 2"/>
          <p:cNvSpPr>
            <a:spLocks noGrp="1"/>
          </p:cNvSpPr>
          <p:nvPr>
            <p:ph idx="1"/>
          </p:nvPr>
        </p:nvSpPr>
        <p:spPr/>
        <p:txBody>
          <a:bodyPr/>
          <a:lstStyle/>
          <a:p>
            <a:pPr lvl="0"/>
            <a:r>
              <a:rPr b="1"/>
              <a:t>Poisson noise is signal-dependent:</a:t>
            </a:r>
            <a:r>
              <a:rPr/>
              <a:t> Brighter areas are noisier.</a:t>
            </a:r>
          </a:p>
          <a:p>
            <a:pPr lvl="0"/>
            <a:r>
              <a:rPr b="1"/>
              <a:t>Gaussian noise is signal-independent:</a:t>
            </a:r>
            <a:r>
              <a:rPr/>
              <a:t> Noise is constant everywhere.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Noise Appearance: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Create a signal that varies in brightness (a ramp)</a:t>
            </a:r>
            <a:br/>
            <a:r>
              <a:rPr>
                <a:latin typeface="Courier"/>
              </a:rPr>
              <a:t>t_ramp </a:t>
            </a:r>
            <a:r>
              <a:rPr>
                <a:solidFill>
                  <a:srgbClr val="666666"/>
                </a:solidFill>
                <a:latin typeface="Courier"/>
              </a:rPr>
              <a:t>=</a:t>
            </a:r>
            <a:r>
              <a:rPr>
                <a:latin typeface="Courier"/>
              </a:rPr>
              <a:t> np.arange(</a:t>
            </a:r>
            <a:r>
              <a:rPr>
                <a:solidFill>
                  <a:srgbClr val="40A070"/>
                </a:solidFill>
                <a:latin typeface="Courier"/>
              </a:rPr>
              <a:t>1</a:t>
            </a:r>
            <a:r>
              <a:rPr>
                <a:latin typeface="Courier"/>
              </a:rPr>
              <a:t>, </a:t>
            </a:r>
            <a:r>
              <a:rPr>
                <a:solidFill>
                  <a:srgbClr val="40A070"/>
                </a:solidFill>
                <a:latin typeface="Courier"/>
              </a:rPr>
              <a:t>257</a:t>
            </a:r>
            <a:r>
              <a:rPr>
                <a:latin typeface="Courier"/>
              </a:rPr>
              <a:t>)</a:t>
            </a:r>
            <a:br/>
            <a:r>
              <a:rPr>
                <a:latin typeface="Courier"/>
              </a:rPr>
              <a:t>signal_ramp </a:t>
            </a:r>
            <a:r>
              <a:rPr>
                <a:solidFill>
                  <a:srgbClr val="666666"/>
                </a:solidFill>
                <a:latin typeface="Courier"/>
              </a:rPr>
              <a:t>=</a:t>
            </a:r>
            <a:r>
              <a:rPr>
                <a:latin typeface="Courier"/>
              </a:rPr>
              <a:t> t_ramp</a:t>
            </a:r>
            <a:br/>
            <a:br/>
            <a:r>
              <a:rPr i="1">
                <a:solidFill>
                  <a:srgbClr val="60A0B0"/>
                </a:solidFill>
                <a:latin typeface="Courier"/>
              </a:rPr>
              <a:t># Add Poisson noise (variance = mean)</a:t>
            </a:r>
            <a:br/>
            <a:r>
              <a:rPr>
                <a:latin typeface="Courier"/>
              </a:rPr>
              <a:t>noise_poisson </a:t>
            </a:r>
            <a:r>
              <a:rPr>
                <a:solidFill>
                  <a:srgbClr val="666666"/>
                </a:solidFill>
                <a:latin typeface="Courier"/>
              </a:rPr>
              <a:t>=</a:t>
            </a:r>
            <a:r>
              <a:rPr>
                <a:latin typeface="Courier"/>
              </a:rPr>
              <a:t> np.random.poisson(signal_ramp)</a:t>
            </a:r>
            <a:br/>
            <a:br/>
            <a:r>
              <a:rPr i="1">
                <a:solidFill>
                  <a:srgbClr val="60A0B0"/>
                </a:solidFill>
                <a:latin typeface="Courier"/>
              </a:rPr>
              <a:t># Add Gaussian noise (constant variance)</a:t>
            </a:r>
            <a:br/>
            <a:r>
              <a:rPr>
                <a:latin typeface="Courier"/>
              </a:rPr>
              <a:t>noise_gaussian </a:t>
            </a:r>
            <a:r>
              <a:rPr>
                <a:solidFill>
                  <a:srgbClr val="666666"/>
                </a:solidFill>
                <a:latin typeface="Courier"/>
              </a:rPr>
              <a:t>=</a:t>
            </a:r>
            <a:r>
              <a:rPr>
                <a:latin typeface="Courier"/>
              </a:rPr>
              <a:t> np.random.normal(signal_ramp, </a:t>
            </a:r>
            <a:r>
              <a:rPr>
                <a:solidFill>
                  <a:srgbClr val="40A070"/>
                </a:solidFill>
                <a:latin typeface="Courier"/>
              </a:rPr>
              <a:t>10</a:t>
            </a:r>
            <a:r>
              <a:rPr>
                <a:latin typeface="Courier"/>
              </a:rPr>
              <a:t>)</a:t>
            </a:r>
            <a:br/>
            <a:br/>
            <a:r>
              <a:rPr>
                <a:latin typeface="Courier"/>
              </a:rPr>
              <a:t>fig, (ax1, ax2)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2</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4</a:t>
            </a:r>
            <a:r>
              <a:rPr>
                <a:latin typeface="Courier"/>
              </a:rPr>
              <a:t>), sharey</a:t>
            </a:r>
            <a:r>
              <a:rPr>
                <a:solidFill>
                  <a:srgbClr val="666666"/>
                </a:solidFill>
                <a:latin typeface="Courier"/>
              </a:rPr>
              <a:t>=</a:t>
            </a:r>
            <a:r>
              <a:rPr>
                <a:solidFill>
                  <a:srgbClr val="19177C"/>
                </a:solidFill>
                <a:latin typeface="Courier"/>
              </a:rPr>
              <a:t>True</a:t>
            </a:r>
            <a:r>
              <a:rPr>
                <a:latin typeface="Courier"/>
              </a:rPr>
              <a:t>)</a:t>
            </a:r>
            <a:br/>
            <a:r>
              <a:rPr>
                <a:latin typeface="Courier"/>
              </a:rPr>
              <a:t>ax1.plot(t_ramp, noise_poisson)</a:t>
            </a:r>
            <a:br/>
            <a:r>
              <a:rPr>
                <a:latin typeface="Courier"/>
              </a:rPr>
              <a:t>ax1.set_title(</a:t>
            </a:r>
            <a:r>
              <a:rPr>
                <a:solidFill>
                  <a:srgbClr val="4070A0"/>
                </a:solidFill>
                <a:latin typeface="Courier"/>
              </a:rPr>
              <a:t>"Poisson Noise"</a:t>
            </a:r>
            <a:r>
              <a:rPr>
                <a:latin typeface="Courier"/>
              </a:rPr>
              <a:t>)</a:t>
            </a:r>
            <a:br/>
            <a:r>
              <a:rPr>
                <a:latin typeface="Courier"/>
              </a:rPr>
              <a:t>ax1.set_ylim(</a:t>
            </a:r>
            <a:r>
              <a:rPr>
                <a:solidFill>
                  <a:srgbClr val="40A070"/>
                </a:solidFill>
                <a:latin typeface="Courier"/>
              </a:rPr>
              <a:t>0</a:t>
            </a:r>
            <a:r>
              <a:rPr>
                <a:latin typeface="Courier"/>
              </a:rPr>
              <a:t>, </a:t>
            </a:r>
            <a:r>
              <a:rPr>
                <a:solidFill>
                  <a:srgbClr val="40A070"/>
                </a:solidFill>
                <a:latin typeface="Courier"/>
              </a:rPr>
              <a:t>300</a:t>
            </a:r>
            <a:r>
              <a:rPr>
                <a:latin typeface="Courier"/>
              </a:rPr>
              <a:t>)</a:t>
            </a:r>
          </a:p>
          <a:p>
            <a:pPr lvl="0" indent="0">
              <a:buNone/>
            </a:pPr>
            <a:r>
              <a:rPr>
                <a:latin typeface="Courier"/>
              </a:rPr>
              <a:t>## (0.0, 300.0)</a:t>
            </a:r>
          </a:p>
          <a:p>
            <a:pPr lvl="0" indent="0">
              <a:buNone/>
            </a:pPr>
            <a:r>
              <a:rPr>
                <a:latin typeface="Courier"/>
              </a:rPr>
              <a:t>ax2.plot(t_ramp, noise_gaussian)</a:t>
            </a:r>
            <a:br/>
            <a:r>
              <a:rPr>
                <a:latin typeface="Courier"/>
              </a:rPr>
              <a:t>ax2.set_title(</a:t>
            </a:r>
            <a:r>
              <a:rPr>
                <a:solidFill>
                  <a:srgbClr val="4070A0"/>
                </a:solidFill>
                <a:latin typeface="Courier"/>
              </a:rPr>
              <a:t>"Gaussian Noise"</a:t>
            </a:r>
            <a:r>
              <a:rPr>
                <a:latin typeface="Courier"/>
              </a:rPr>
              <a:t>)</a:t>
            </a:r>
            <a:br/>
            <a:r>
              <a:rPr>
                <a:latin typeface="Courier"/>
              </a:rPr>
              <a:t>noise_appearance_plot_fig </a:t>
            </a:r>
            <a:r>
              <a:rPr>
                <a:solidFill>
                  <a:srgbClr val="666666"/>
                </a:solidFill>
                <a:latin typeface="Courier"/>
              </a:rPr>
              <a:t>=</a:t>
            </a:r>
            <a:r>
              <a:rPr>
                <a:latin typeface="Courier"/>
              </a:rPr>
              <a:t> plt.gcf()</a:t>
            </a:r>
          </a:p>
        </p:txBody>
      </p:sp>
      <p:pic>
        <p:nvPicPr>
          <p:cNvPr descr="presentation_files/figure-pptx/noise_appearance_code-31.png" id="0" name="Picture 1"/>
          <p:cNvPicPr>
            <a:picLocks noGrp="1" noChangeAspect="1"/>
          </p:cNvPicPr>
          <p:nvPr/>
        </p:nvPicPr>
        <p:blipFill>
          <a:blip r:embed="rId2"/>
          <a:stretch>
            <a:fillRect/>
          </a:stretch>
        </p:blipFill>
        <p:spPr bwMode="auto">
          <a:xfrm>
            <a:off x="3568700" y="1371600"/>
            <a:ext cx="5105400" cy="20447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Noise Appearance: Visualization Plot</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Noise Appearance: Visualization Plot (cont.)</a:t>
            </a:r>
          </a:p>
        </p:txBody>
      </p:sp>
      <p:sp>
        <p:nvSpPr>
          <p:cNvPr id="3" name="Content Placeholder 2"/>
          <p:cNvSpPr>
            <a:spLocks noGrp="1"/>
          </p:cNvSpPr>
          <p:nvPr>
            <p:ph idx="1"/>
          </p:nvPr>
        </p:nvSpPr>
        <p:spPr/>
        <p:txBody>
          <a:bodyPr/>
          <a:lstStyle/>
          <a:p>
            <a:pPr lvl="0"/>
            <a:r>
              <a:rPr/>
              <a:t>Notice how the Poisson noise gets much larger as the signal gets brighter (right side of the plot), while the Gaussian noise has a constant “fuzziness” across the entire signal.</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Signal-to-Noise Ratio (SNR)</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SNR is the most fundamental metric of image quality. It quantifies how strong the signal is relative to the background noise.</a:t>
                </a:r>
              </a:p>
              <a:p>
                <a:pPr lvl="0" indent="0" marL="0">
                  <a:buNone/>
                </a:pPr>
                <a14:m>
                  <m:oMathPara xmlns:m="http://schemas.openxmlformats.org/officeDocument/2006/math">
                    <m:oMathParaPr>
                      <m:jc m:val="center"/>
                    </m:oMathParaPr>
                    <m:oMath>
                      <m:r>
                        <m:rPr>
                          <m:nor/>
                          <m:sty m:val="p"/>
                        </m:rPr>
                        <m:t>SNR</m:t>
                      </m:r>
                      <m:r>
                        <m:rPr>
                          <m:sty m:val="p"/>
                        </m:rPr>
                        <m:t>=</m:t>
                      </m:r>
                      <m:f>
                        <m:fPr>
                          <m:type m:val="bar"/>
                        </m:fPr>
                        <m:num>
                          <m:r>
                            <m:rPr>
                              <m:nor/>
                              <m:sty m:val="p"/>
                            </m:rPr>
                            <m:t>Mean Signal</m:t>
                          </m:r>
                        </m:num>
                        <m:den>
                          <m:r>
                            <m:rPr>
                              <m:nor/>
                              <m:sty m:val="p"/>
                            </m:rPr>
                            <m:t>Standard Deviation of Noise</m:t>
                          </m:r>
                        </m:den>
                      </m:f>
                      <m:r>
                        <m:rPr>
                          <m:sty m:val="p"/>
                        </m:rPr>
                        <m:t>=</m:t>
                      </m:r>
                      <m:f>
                        <m:fPr>
                          <m:type m:val="bar"/>
                        </m:fPr>
                        <m:num>
                          <m:r>
                            <m:t>μ</m:t>
                          </m:r>
                        </m:num>
                        <m:den>
                          <m:r>
                            <m:t>σ</m:t>
                          </m:r>
                        </m:den>
                      </m:f>
                    </m:oMath>
                  </m:oMathPara>
                </a14:m>
              </a:p>
              <a:p>
                <a:pPr lvl="0"/>
                <a:r>
                  <a:rPr/>
                  <a:t>A higher SNR means a cleaner, more reliable measurement.</a:t>
                </a:r>
              </a:p>
            </p:txBody>
          </p:sp>
        </mc:Choice>
      </mc:AlternateContent>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Contrast-to-Noise Ratio (CNR)</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CNR measures the ability to distinguish between two different regions or tissues, taking into account the noise level.</a:t>
                </a:r>
              </a:p>
              <a:p>
                <a:pPr lvl="0" indent="0" marL="0">
                  <a:buNone/>
                </a:pPr>
                <a14:m>
                  <m:oMathPara xmlns:m="http://schemas.openxmlformats.org/officeDocument/2006/math">
                    <m:oMathParaPr>
                      <m:jc m:val="center"/>
                    </m:oMathParaPr>
                    <m:oMath>
                      <m:r>
                        <m:rPr>
                          <m:nor/>
                          <m:sty m:val="p"/>
                        </m:rPr>
                        <m:t>CNR</m:t>
                      </m:r>
                      <m:r>
                        <m:rPr>
                          <m:sty m:val="p"/>
                        </m:rPr>
                        <m:t>=</m:t>
                      </m:r>
                      <m:f>
                        <m:fPr>
                          <m:type m:val="bar"/>
                        </m:fPr>
                        <m:num>
                          <m:d>
                            <m:dPr>
                              <m:begChr m:val="|"/>
                              <m:endChr m:val="|"/>
                              <m:sepChr m:val=""/>
                              <m:grow/>
                            </m:dPr>
                            <m:e>
                              <m:sSub>
                                <m:e>
                                  <m:r>
                                    <m:rPr>
                                      <m:nor/>
                                      <m:sty m:val="p"/>
                                    </m:rPr>
                                    <m:t>Mean</m:t>
                                  </m:r>
                                </m:e>
                                <m:sub>
                                  <m:r>
                                    <m:t>A</m:t>
                                  </m:r>
                                </m:sub>
                              </m:sSub>
                              <m:r>
                                <m:rPr>
                                  <m:sty m:val="p"/>
                                </m:rPr>
                                <m:t>−</m:t>
                              </m:r>
                              <m:sSub>
                                <m:e>
                                  <m:r>
                                    <m:rPr>
                                      <m:nor/>
                                      <m:sty m:val="p"/>
                                    </m:rPr>
                                    <m:t>Mean</m:t>
                                  </m:r>
                                </m:e>
                                <m:sub>
                                  <m:r>
                                    <m:t>B</m:t>
                                  </m:r>
                                </m:sub>
                              </m:sSub>
                            </m:e>
                          </m:d>
                        </m:num>
                        <m:den>
                          <m:rad>
                            <m:radPr>
                              <m:degHide m:val="on"/>
                            </m:radPr>
                            <m:deg/>
                            <m:e>
                              <m:sSubSup>
                                <m:e>
                                  <m:r>
                                    <m:t>σ</m:t>
                                  </m:r>
                                </m:e>
                                <m:sub>
                                  <m:r>
                                    <m:t>A</m:t>
                                  </m:r>
                                </m:sub>
                                <m:sup>
                                  <m:r>
                                    <m:t>2</m:t>
                                  </m:r>
                                </m:sup>
                              </m:sSubSup>
                              <m:r>
                                <m:rPr>
                                  <m:sty m:val="p"/>
                                </m:rPr>
                                <m:t>+</m:t>
                              </m:r>
                              <m:sSubSup>
                                <m:e>
                                  <m:r>
                                    <m:t>σ</m:t>
                                  </m:r>
                                </m:e>
                                <m:sub>
                                  <m:r>
                                    <m:t>B</m:t>
                                  </m:r>
                                </m:sub>
                                <m:sup>
                                  <m:r>
                                    <m:t>2</m:t>
                                  </m:r>
                                </m:sup>
                              </m:sSubSup>
                            </m:e>
                          </m:rad>
                        </m:den>
                      </m:f>
                    </m:oMath>
                  </m:oMathPara>
                </a14:m>
              </a:p>
              <a:p>
                <a:pPr lvl="0"/>
                <a:r>
                  <a:rPr>
                    <a:latin typeface="Courier"/>
                  </a:rPr>
                  <a:t>A</a:t>
                </a:r>
                <a:r>
                  <a:rPr/>
                  <a:t> and </a:t>
                </a:r>
                <a:r>
                  <a:rPr>
                    <a:latin typeface="Courier"/>
                  </a:rPr>
                  <a:t>B</a:t>
                </a:r>
                <a:r>
                  <a:rPr/>
                  <a:t> are two regions of interest.</a:t>
                </a:r>
              </a:p>
              <a:p>
                <a:pPr lvl="0"/>
                <a:r>
                  <a:rPr/>
                  <a:t>High CNR is essential for detecting pathology. An object can have high contrast, but if the noise is too high, CNR will be low and it will be invisible.</a:t>
                </a:r>
              </a:p>
            </p:txBody>
          </p:sp>
        </mc:Choice>
      </mc:AlternateContent>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CNR: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Create two regions with different means but the same noise</a:t>
            </a:r>
            <a:br/>
            <a:r>
              <a:rPr>
                <a:latin typeface="Courier"/>
              </a:rPr>
              <a:t>N_pixels </a:t>
            </a:r>
            <a:r>
              <a:rPr>
                <a:solidFill>
                  <a:srgbClr val="666666"/>
                </a:solidFill>
                <a:latin typeface="Courier"/>
              </a:rPr>
              <a:t>=</a:t>
            </a:r>
            <a:r>
              <a:rPr>
                <a:latin typeface="Courier"/>
              </a:rPr>
              <a:t> </a:t>
            </a:r>
            <a:r>
              <a:rPr>
                <a:solidFill>
                  <a:srgbClr val="40A070"/>
                </a:solidFill>
                <a:latin typeface="Courier"/>
              </a:rPr>
              <a:t>256</a:t>
            </a:r>
            <a:r>
              <a:rPr>
                <a:latin typeface="Courier"/>
              </a:rPr>
              <a:t> </a:t>
            </a:r>
            <a:r>
              <a:rPr>
                <a:solidFill>
                  <a:srgbClr val="666666"/>
                </a:solidFill>
                <a:latin typeface="Courier"/>
              </a:rPr>
              <a:t>*</a:t>
            </a:r>
            <a:r>
              <a:rPr>
                <a:latin typeface="Courier"/>
              </a:rPr>
              <a:t> </a:t>
            </a:r>
            <a:r>
              <a:rPr>
                <a:solidFill>
                  <a:srgbClr val="40A070"/>
                </a:solidFill>
                <a:latin typeface="Courier"/>
              </a:rPr>
              <a:t>256</a:t>
            </a:r>
            <a:br/>
            <a:r>
              <a:rPr>
                <a:latin typeface="Courier"/>
              </a:rPr>
              <a:t>img </a:t>
            </a:r>
            <a:r>
              <a:rPr>
                <a:solidFill>
                  <a:srgbClr val="666666"/>
                </a:solidFill>
                <a:latin typeface="Courier"/>
              </a:rPr>
              <a:t>=</a:t>
            </a:r>
            <a:r>
              <a:rPr>
                <a:latin typeface="Courier"/>
              </a:rPr>
              <a:t> np.random.normal(</a:t>
            </a:r>
            <a:r>
              <a:rPr>
                <a:solidFill>
                  <a:srgbClr val="40A070"/>
                </a:solidFill>
                <a:latin typeface="Courier"/>
              </a:rPr>
              <a:t>50</a:t>
            </a:r>
            <a:r>
              <a:rPr>
                <a:latin typeface="Courier"/>
              </a:rPr>
              <a:t>, </a:t>
            </a:r>
            <a:r>
              <a:rPr>
                <a:solidFill>
                  <a:srgbClr val="40A070"/>
                </a:solidFill>
                <a:latin typeface="Courier"/>
              </a:rPr>
              <a:t>20</a:t>
            </a:r>
            <a:r>
              <a:rPr>
                <a:latin typeface="Courier"/>
              </a:rPr>
              <a:t>, (</a:t>
            </a:r>
            <a:r>
              <a:rPr>
                <a:solidFill>
                  <a:srgbClr val="40A070"/>
                </a:solidFill>
                <a:latin typeface="Courier"/>
              </a:rPr>
              <a:t>256</a:t>
            </a:r>
            <a:r>
              <a:rPr>
                <a:latin typeface="Courier"/>
              </a:rPr>
              <a:t>, </a:t>
            </a:r>
            <a:r>
              <a:rPr>
                <a:solidFill>
                  <a:srgbClr val="40A070"/>
                </a:solidFill>
                <a:latin typeface="Courier"/>
              </a:rPr>
              <a:t>256</a:t>
            </a:r>
            <a:r>
              <a:rPr>
                <a:latin typeface="Courier"/>
              </a:rPr>
              <a:t>))</a:t>
            </a:r>
            <a:br/>
            <a:br/>
            <a:r>
              <a:rPr i="1">
                <a:solidFill>
                  <a:srgbClr val="60A0B0"/>
                </a:solidFill>
                <a:latin typeface="Courier"/>
              </a:rPr>
              <a:t># Create a signal region (A) and a background region (B)</a:t>
            </a:r>
            <a:br/>
            <a:r>
              <a:rPr>
                <a:latin typeface="Courier"/>
              </a:rPr>
              <a:t>mean_A </a:t>
            </a:r>
            <a:r>
              <a:rPr>
                <a:solidFill>
                  <a:srgbClr val="666666"/>
                </a:solidFill>
                <a:latin typeface="Courier"/>
              </a:rPr>
              <a:t>=</a:t>
            </a:r>
            <a:r>
              <a:rPr>
                <a:latin typeface="Courier"/>
              </a:rPr>
              <a:t> </a:t>
            </a:r>
            <a:r>
              <a:rPr>
                <a:solidFill>
                  <a:srgbClr val="40A070"/>
                </a:solidFill>
                <a:latin typeface="Courier"/>
              </a:rPr>
              <a:t>60</a:t>
            </a:r>
            <a:br/>
            <a:r>
              <a:rPr>
                <a:latin typeface="Courier"/>
              </a:rPr>
              <a:t>mean_B </a:t>
            </a:r>
            <a:r>
              <a:rPr>
                <a:solidFill>
                  <a:srgbClr val="666666"/>
                </a:solidFill>
                <a:latin typeface="Courier"/>
              </a:rPr>
              <a:t>=</a:t>
            </a:r>
            <a:r>
              <a:rPr>
                <a:latin typeface="Courier"/>
              </a:rPr>
              <a:t> </a:t>
            </a:r>
            <a:r>
              <a:rPr>
                <a:solidFill>
                  <a:srgbClr val="40A070"/>
                </a:solidFill>
                <a:latin typeface="Courier"/>
              </a:rPr>
              <a:t>50</a:t>
            </a:r>
            <a:br/>
            <a:r>
              <a:rPr>
                <a:latin typeface="Courier"/>
              </a:rPr>
              <a:t>img[</a:t>
            </a:r>
            <a:r>
              <a:rPr>
                <a:solidFill>
                  <a:srgbClr val="40A070"/>
                </a:solidFill>
                <a:latin typeface="Courier"/>
              </a:rPr>
              <a:t>100</a:t>
            </a:r>
            <a:r>
              <a:rPr>
                <a:latin typeface="Courier"/>
              </a:rPr>
              <a:t>:</a:t>
            </a:r>
            <a:r>
              <a:rPr>
                <a:solidFill>
                  <a:srgbClr val="40A070"/>
                </a:solidFill>
                <a:latin typeface="Courier"/>
              </a:rPr>
              <a:t>157</a:t>
            </a:r>
            <a:r>
              <a:rPr>
                <a:latin typeface="Courier"/>
              </a:rPr>
              <a:t>, </a:t>
            </a:r>
            <a:r>
              <a:rPr>
                <a:solidFill>
                  <a:srgbClr val="40A070"/>
                </a:solidFill>
                <a:latin typeface="Courier"/>
              </a:rPr>
              <a:t>100</a:t>
            </a:r>
            <a:r>
              <a:rPr>
                <a:latin typeface="Courier"/>
              </a:rPr>
              <a:t>:</a:t>
            </a:r>
            <a:r>
              <a:rPr>
                <a:solidFill>
                  <a:srgbClr val="40A070"/>
                </a:solidFill>
                <a:latin typeface="Courier"/>
              </a:rPr>
              <a:t>157</a:t>
            </a:r>
            <a:r>
              <a:rPr>
                <a:latin typeface="Courier"/>
              </a:rPr>
              <a:t>] </a:t>
            </a:r>
            <a:r>
              <a:rPr>
                <a:solidFill>
                  <a:srgbClr val="666666"/>
                </a:solidFill>
                <a:latin typeface="Courier"/>
              </a:rPr>
              <a:t>=</a:t>
            </a:r>
            <a:r>
              <a:rPr>
                <a:latin typeface="Courier"/>
              </a:rPr>
              <a:t> np.random.normal(mean_A, </a:t>
            </a:r>
            <a:r>
              <a:rPr>
                <a:solidFill>
                  <a:srgbClr val="40A070"/>
                </a:solidFill>
                <a:latin typeface="Courier"/>
              </a:rPr>
              <a:t>20</a:t>
            </a:r>
            <a:r>
              <a:rPr>
                <a:latin typeface="Courier"/>
              </a:rPr>
              <a:t>, (</a:t>
            </a:r>
            <a:r>
              <a:rPr>
                <a:solidFill>
                  <a:srgbClr val="40A070"/>
                </a:solidFill>
                <a:latin typeface="Courier"/>
              </a:rPr>
              <a:t>57</a:t>
            </a:r>
            <a:r>
              <a:rPr>
                <a:latin typeface="Courier"/>
              </a:rPr>
              <a:t>, </a:t>
            </a:r>
            <a:r>
              <a:rPr>
                <a:solidFill>
                  <a:srgbClr val="40A070"/>
                </a:solidFill>
                <a:latin typeface="Courier"/>
              </a:rPr>
              <a:t>57</a:t>
            </a:r>
            <a:r>
              <a:rPr>
                <a:latin typeface="Courier"/>
              </a:rPr>
              <a:t>))</a:t>
            </a:r>
            <a:br/>
            <a:br/>
            <a:r>
              <a:rPr>
                <a:latin typeface="Courier"/>
              </a:rPr>
              <a:t>plt.figure()</a:t>
            </a:r>
            <a:br/>
            <a:r>
              <a:rPr>
                <a:latin typeface="Courier"/>
              </a:rPr>
              <a:t>plt.imshow(img, cmap</a:t>
            </a:r>
            <a:r>
              <a:rPr>
                <a:solidFill>
                  <a:srgbClr val="666666"/>
                </a:solidFill>
                <a:latin typeface="Courier"/>
              </a:rPr>
              <a:t>=</a:t>
            </a:r>
            <a:r>
              <a:rPr>
                <a:solidFill>
                  <a:srgbClr val="4070A0"/>
                </a:solidFill>
                <a:latin typeface="Courier"/>
              </a:rPr>
              <a:t>'viridis'</a:t>
            </a:r>
            <a:r>
              <a:rPr>
                <a:latin typeface="Courier"/>
              </a:rPr>
              <a:t>)</a:t>
            </a:r>
            <a:br/>
            <a:r>
              <a:rPr>
                <a:latin typeface="Courier"/>
              </a:rPr>
              <a:t>plt.title(</a:t>
            </a:r>
            <a:r>
              <a:rPr>
                <a:solidFill>
                  <a:srgbClr val="BB6688"/>
                </a:solidFill>
                <a:latin typeface="Courier"/>
              </a:rPr>
              <a:t>f"Can you see the square? (CNR ≈ </a:t>
            </a:r>
            <a:r>
              <a:rPr>
                <a:solidFill>
                  <a:srgbClr val="4070A0"/>
                </a:solidFill>
                <a:latin typeface="Courier"/>
              </a:rPr>
              <a:t>{</a:t>
            </a:r>
            <a:r>
              <a:rPr>
                <a:solidFill>
                  <a:srgbClr val="008000"/>
                </a:solidFill>
                <a:latin typeface="Courier"/>
              </a:rPr>
              <a:t>round</a:t>
            </a:r>
            <a:r>
              <a:rPr>
                <a:latin typeface="Courier"/>
              </a:rPr>
              <a:t>((mean_A </a:t>
            </a:r>
            <a:r>
              <a:rPr>
                <a:solidFill>
                  <a:srgbClr val="666666"/>
                </a:solidFill>
                <a:latin typeface="Courier"/>
              </a:rPr>
              <a:t>-</a:t>
            </a:r>
            <a:r>
              <a:rPr>
                <a:latin typeface="Courier"/>
              </a:rPr>
              <a:t> mean_B)</a:t>
            </a:r>
            <a:r>
              <a:rPr>
                <a:solidFill>
                  <a:srgbClr val="666666"/>
                </a:solidFill>
                <a:latin typeface="Courier"/>
              </a:rPr>
              <a:t>/</a:t>
            </a:r>
            <a:r>
              <a:rPr>
                <a:solidFill>
                  <a:srgbClr val="40A070"/>
                </a:solidFill>
                <a:latin typeface="Courier"/>
              </a:rPr>
              <a:t>20</a:t>
            </a:r>
            <a:r>
              <a:rPr>
                <a:latin typeface="Courier"/>
              </a:rPr>
              <a:t>, </a:t>
            </a:r>
            <a:r>
              <a:rPr>
                <a:solidFill>
                  <a:srgbClr val="40A070"/>
                </a:solidFill>
                <a:latin typeface="Courier"/>
              </a:rPr>
              <a:t>2</a:t>
            </a:r>
            <a:r>
              <a:rPr>
                <a:latin typeface="Courier"/>
              </a:rPr>
              <a:t>)</a:t>
            </a:r>
            <a:r>
              <a:rPr>
                <a:solidFill>
                  <a:srgbClr val="4070A0"/>
                </a:solidFill>
                <a:latin typeface="Courier"/>
              </a:rPr>
              <a:t>}</a:t>
            </a:r>
            <a:r>
              <a:rPr>
                <a:solidFill>
                  <a:srgbClr val="BB6688"/>
                </a:solidFill>
                <a:latin typeface="Courier"/>
              </a:rPr>
              <a:t>)"</a:t>
            </a:r>
            <a:r>
              <a:rPr>
                <a:latin typeface="Courier"/>
              </a:rPr>
              <a:t>)</a:t>
            </a:r>
            <a:br/>
            <a:r>
              <a:rPr>
                <a:latin typeface="Courier"/>
              </a:rPr>
              <a:t>plt.axis(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cnr_plot_fig </a:t>
            </a:r>
            <a:r>
              <a:rPr>
                <a:solidFill>
                  <a:srgbClr val="666666"/>
                </a:solidFill>
                <a:latin typeface="Courier"/>
              </a:rPr>
              <a:t>=</a:t>
            </a:r>
            <a:r>
              <a:rPr>
                <a:latin typeface="Courier"/>
              </a:rPr>
              <a:t> plt.gcf()</a:t>
            </a:r>
          </a:p>
        </p:txBody>
      </p:sp>
      <p:pic>
        <p:nvPicPr>
          <p:cNvPr descr="presentation_files/figure-pptx/cnr_code-3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CNR: Visualization Plot</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Rose Criterion</a:t>
            </a:r>
          </a:p>
        </p:txBody>
      </p:sp>
      <p:sp>
        <p:nvSpPr>
          <p:cNvPr id="3" name="Content Placeholder 2"/>
          <p:cNvSpPr>
            <a:spLocks noGrp="1"/>
          </p:cNvSpPr>
          <p:nvPr>
            <p:ph idx="1"/>
          </p:nvPr>
        </p:nvSpPr>
        <p:spPr/>
        <p:txBody>
          <a:bodyPr/>
          <a:lstStyle/>
          <a:p>
            <a:pPr lvl="0" indent="0" marL="0">
              <a:buNone/>
            </a:pPr>
            <a:r>
              <a:rPr/>
              <a:t>How much CNR do you need? The Rose Criterion provides a rule of thumb.</a:t>
            </a:r>
          </a:p>
          <a:p>
            <a:pPr lvl="0"/>
            <a:r>
              <a:rPr/>
              <a:t>It states that a CNR (or SNR for a simple detection task) of approximately </a:t>
            </a:r>
            <a:r>
              <a:rPr b="1"/>
              <a:t>5</a:t>
            </a:r>
            <a:r>
              <a:rPr/>
              <a:t> is required for a human observer to reliably detect a signal against a noisy background.</a:t>
            </a:r>
          </a:p>
          <a:p>
            <a:pPr lvl="0"/>
            <a:r>
              <a:rPr/>
              <a:t>This is not a hard physical law, but a widely accepted psychophysical guideline.</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Rose Criterion: Visualization</a:t>
            </a:r>
          </a:p>
        </p:txBody>
      </p:sp>
      <p:sp>
        <p:nvSpPr>
          <p:cNvPr id="3" name="Content Placeholder 2"/>
          <p:cNvSpPr>
            <a:spLocks noGrp="1"/>
          </p:cNvSpPr>
          <p:nvPr>
            <p:ph idx="1"/>
          </p:nvPr>
        </p:nvSpPr>
        <p:spPr/>
        <p:txBody>
          <a:bodyPr/>
          <a:lstStyle/>
          <a:p>
            <a:pPr lvl="0"/>
            <a:r>
              <a:rPr/>
              <a:t>Let’s visualize the same object at different CNR levels.</a:t>
            </a:r>
          </a:p>
          <a:p>
            <a:pPr lvl="0"/>
            <a:r>
              <a:rPr/>
              <a:t>The object is a faint circle in the center of the image.</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Rose Criterion: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b="1">
                <a:solidFill>
                  <a:srgbClr val="007020"/>
                </a:solidFill>
                <a:latin typeface="Courier"/>
              </a:rPr>
              <a:t>def</a:t>
            </a:r>
            <a:r>
              <a:rPr>
                <a:latin typeface="Courier"/>
              </a:rPr>
              <a:t> create_cnr_image(cnr):</a:t>
            </a:r>
            <a:br/>
            <a:r>
              <a:rPr>
                <a:latin typeface="Courier"/>
              </a:rPr>
              <a:t>  bg_mean </a:t>
            </a:r>
            <a:r>
              <a:rPr>
                <a:solidFill>
                  <a:srgbClr val="666666"/>
                </a:solidFill>
                <a:latin typeface="Courier"/>
              </a:rPr>
              <a:t>=</a:t>
            </a:r>
            <a:r>
              <a:rPr>
                <a:latin typeface="Courier"/>
              </a:rPr>
              <a:t> </a:t>
            </a:r>
            <a:r>
              <a:rPr>
                <a:solidFill>
                  <a:srgbClr val="40A070"/>
                </a:solidFill>
                <a:latin typeface="Courier"/>
              </a:rPr>
              <a:t>100</a:t>
            </a:r>
            <a:br/>
            <a:r>
              <a:rPr>
                <a:latin typeface="Courier"/>
              </a:rPr>
              <a:t>  noise_sd </a:t>
            </a:r>
            <a:r>
              <a:rPr>
                <a:solidFill>
                  <a:srgbClr val="666666"/>
                </a:solidFill>
                <a:latin typeface="Courier"/>
              </a:rPr>
              <a:t>=</a:t>
            </a:r>
            <a:r>
              <a:rPr>
                <a:latin typeface="Courier"/>
              </a:rPr>
              <a:t> </a:t>
            </a:r>
            <a:r>
              <a:rPr>
                <a:solidFill>
                  <a:srgbClr val="40A070"/>
                </a:solidFill>
                <a:latin typeface="Courier"/>
              </a:rPr>
              <a:t>20</a:t>
            </a:r>
            <a:br/>
            <a:r>
              <a:rPr>
                <a:latin typeface="Courier"/>
              </a:rPr>
              <a:t>  signal_mean </a:t>
            </a:r>
            <a:r>
              <a:rPr>
                <a:solidFill>
                  <a:srgbClr val="666666"/>
                </a:solidFill>
                <a:latin typeface="Courier"/>
              </a:rPr>
              <a:t>=</a:t>
            </a:r>
            <a:r>
              <a:rPr>
                <a:latin typeface="Courier"/>
              </a:rPr>
              <a:t> bg_mean </a:t>
            </a:r>
            <a:r>
              <a:rPr>
                <a:solidFill>
                  <a:srgbClr val="666666"/>
                </a:solidFill>
                <a:latin typeface="Courier"/>
              </a:rPr>
              <a:t>+</a:t>
            </a:r>
            <a:r>
              <a:rPr>
                <a:latin typeface="Courier"/>
              </a:rPr>
              <a:t> cnr </a:t>
            </a:r>
            <a:r>
              <a:rPr>
                <a:solidFill>
                  <a:srgbClr val="666666"/>
                </a:solidFill>
                <a:latin typeface="Courier"/>
              </a:rPr>
              <a:t>*</a:t>
            </a:r>
            <a:r>
              <a:rPr>
                <a:latin typeface="Courier"/>
              </a:rPr>
              <a:t> noise_sd</a:t>
            </a:r>
            <a:br/>
            <a:br/>
            <a:r>
              <a:rPr>
                <a:latin typeface="Courier"/>
              </a:rPr>
              <a:t>  img </a:t>
            </a:r>
            <a:r>
              <a:rPr>
                <a:solidFill>
                  <a:srgbClr val="666666"/>
                </a:solidFill>
                <a:latin typeface="Courier"/>
              </a:rPr>
              <a:t>=</a:t>
            </a:r>
            <a:r>
              <a:rPr>
                <a:latin typeface="Courier"/>
              </a:rPr>
              <a:t> np.random.normal(bg_mean, noise_sd, (</a:t>
            </a:r>
            <a:r>
              <a:rPr>
                <a:solidFill>
                  <a:srgbClr val="40A070"/>
                </a:solidFill>
                <a:latin typeface="Courier"/>
              </a:rPr>
              <a:t>128</a:t>
            </a:r>
            <a:r>
              <a:rPr>
                <a:latin typeface="Courier"/>
              </a:rPr>
              <a:t>, </a:t>
            </a:r>
            <a:r>
              <a:rPr>
                <a:solidFill>
                  <a:srgbClr val="40A070"/>
                </a:solidFill>
                <a:latin typeface="Courier"/>
              </a:rPr>
              <a:t>128</a:t>
            </a:r>
            <a:r>
              <a:rPr>
                <a:latin typeface="Courier"/>
              </a:rPr>
              <a:t>))</a:t>
            </a:r>
            <a:br/>
            <a:br/>
            <a:r>
              <a:rPr>
                <a:latin typeface="Courier"/>
              </a:rPr>
              <a:t>  </a:t>
            </a:r>
            <a:r>
              <a:rPr i="1">
                <a:solidFill>
                  <a:srgbClr val="60A0B0"/>
                </a:solidFill>
                <a:latin typeface="Courier"/>
              </a:rPr>
              <a:t># Add a circular object in the center</a:t>
            </a:r>
            <a:br/>
            <a:r>
              <a:rPr>
                <a:latin typeface="Courier"/>
              </a:rPr>
              <a:t>  x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40A070"/>
                </a:solidFill>
                <a:latin typeface="Courier"/>
              </a:rPr>
              <a:t>128</a:t>
            </a:r>
            <a:r>
              <a:rPr>
                <a:latin typeface="Courier"/>
              </a:rPr>
              <a:t>)</a:t>
            </a:r>
            <a:br/>
            <a:r>
              <a:rPr>
                <a:latin typeface="Courier"/>
              </a:rPr>
              <a:t>  y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40A070"/>
                </a:solidFill>
                <a:latin typeface="Courier"/>
              </a:rPr>
              <a:t>128</a:t>
            </a:r>
            <a:r>
              <a:rPr>
                <a:latin typeface="Courier"/>
              </a:rPr>
              <a:t>)</a:t>
            </a:r>
            <a:br/>
            <a:r>
              <a:rPr>
                <a:latin typeface="Courier"/>
              </a:rPr>
              <a:t>  xx, yy </a:t>
            </a:r>
            <a:r>
              <a:rPr>
                <a:solidFill>
                  <a:srgbClr val="666666"/>
                </a:solidFill>
                <a:latin typeface="Courier"/>
              </a:rPr>
              <a:t>=</a:t>
            </a:r>
            <a:r>
              <a:rPr>
                <a:latin typeface="Courier"/>
              </a:rPr>
              <a:t> np.meshgrid(x, y)</a:t>
            </a:r>
            <a:br/>
            <a:r>
              <a:rPr>
                <a:latin typeface="Courier"/>
              </a:rPr>
              <a:t>  mask </a:t>
            </a:r>
            <a:r>
              <a:rPr>
                <a:solidFill>
                  <a:srgbClr val="666666"/>
                </a:solidFill>
                <a:latin typeface="Courier"/>
              </a:rPr>
              <a:t>=</a:t>
            </a:r>
            <a:r>
              <a:rPr>
                <a:latin typeface="Courier"/>
              </a:rPr>
              <a:t> xx</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yy</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&lt;</a:t>
            </a:r>
            <a:r>
              <a:rPr>
                <a:latin typeface="Courier"/>
              </a:rPr>
              <a:t> </a:t>
            </a:r>
            <a:r>
              <a:rPr>
                <a:solidFill>
                  <a:srgbClr val="40A070"/>
                </a:solidFill>
                <a:latin typeface="Courier"/>
              </a:rPr>
              <a:t>0.3</a:t>
            </a:r>
            <a:r>
              <a:rPr>
                <a:solidFill>
                  <a:srgbClr val="666666"/>
                </a:solidFill>
                <a:latin typeface="Courier"/>
              </a:rPr>
              <a:t>**</a:t>
            </a:r>
            <a:r>
              <a:rPr>
                <a:solidFill>
                  <a:srgbClr val="40A070"/>
                </a:solidFill>
                <a:latin typeface="Courier"/>
              </a:rPr>
              <a:t>2</a:t>
            </a:r>
            <a:br/>
            <a:r>
              <a:rPr>
                <a:latin typeface="Courier"/>
              </a:rPr>
              <a:t>  img[mask] </a:t>
            </a:r>
            <a:r>
              <a:rPr>
                <a:solidFill>
                  <a:srgbClr val="666666"/>
                </a:solidFill>
                <a:latin typeface="Courier"/>
              </a:rPr>
              <a:t>=</a:t>
            </a:r>
            <a:r>
              <a:rPr>
                <a:latin typeface="Courier"/>
              </a:rPr>
              <a:t> np.random.normal(signal_mean, noise_sd, np.</a:t>
            </a:r>
            <a:r>
              <a:rPr>
                <a:solidFill>
                  <a:srgbClr val="008000"/>
                </a:solidFill>
                <a:latin typeface="Courier"/>
              </a:rPr>
              <a:t>sum</a:t>
            </a:r>
            <a:r>
              <a:rPr>
                <a:latin typeface="Courier"/>
              </a:rPr>
              <a:t>(mask))</a:t>
            </a:r>
            <a:br/>
            <a:br/>
            <a:r>
              <a:rPr>
                <a:latin typeface="Courier"/>
              </a:rPr>
              <a:t>  </a:t>
            </a:r>
            <a:r>
              <a:rPr b="1">
                <a:solidFill>
                  <a:srgbClr val="007020"/>
                </a:solidFill>
                <a:latin typeface="Courier"/>
              </a:rPr>
              <a:t>return</a:t>
            </a:r>
            <a:r>
              <a:rPr>
                <a:latin typeface="Courier"/>
              </a:rPr>
              <a:t> img</a:t>
            </a:r>
            <a:br/>
            <a:br/>
            <a:r>
              <a:rPr>
                <a:latin typeface="Courier"/>
              </a:rPr>
              <a:t>img_cnr1 </a:t>
            </a:r>
            <a:r>
              <a:rPr>
                <a:solidFill>
                  <a:srgbClr val="666666"/>
                </a:solidFill>
                <a:latin typeface="Courier"/>
              </a:rPr>
              <a:t>=</a:t>
            </a:r>
            <a:r>
              <a:rPr>
                <a:latin typeface="Courier"/>
              </a:rPr>
              <a:t> create_cnr_image(</a:t>
            </a:r>
            <a:r>
              <a:rPr>
                <a:solidFill>
                  <a:srgbClr val="40A070"/>
                </a:solidFill>
                <a:latin typeface="Courier"/>
              </a:rPr>
              <a:t>1</a:t>
            </a:r>
            <a:r>
              <a:rPr>
                <a:latin typeface="Courier"/>
              </a:rPr>
              <a:t>)</a:t>
            </a:r>
            <a:br/>
            <a:r>
              <a:rPr>
                <a:latin typeface="Courier"/>
              </a:rPr>
              <a:t>img_cnr3 </a:t>
            </a:r>
            <a:r>
              <a:rPr>
                <a:solidFill>
                  <a:srgbClr val="666666"/>
                </a:solidFill>
                <a:latin typeface="Courier"/>
              </a:rPr>
              <a:t>=</a:t>
            </a:r>
            <a:r>
              <a:rPr>
                <a:latin typeface="Courier"/>
              </a:rPr>
              <a:t> create_cnr_image(</a:t>
            </a:r>
            <a:r>
              <a:rPr>
                <a:solidFill>
                  <a:srgbClr val="40A070"/>
                </a:solidFill>
                <a:latin typeface="Courier"/>
              </a:rPr>
              <a:t>3</a:t>
            </a:r>
            <a:r>
              <a:rPr>
                <a:latin typeface="Courier"/>
              </a:rPr>
              <a:t>)</a:t>
            </a:r>
            <a:br/>
            <a:r>
              <a:rPr>
                <a:latin typeface="Courier"/>
              </a:rPr>
              <a:t>img_cnr5 </a:t>
            </a:r>
            <a:r>
              <a:rPr>
                <a:solidFill>
                  <a:srgbClr val="666666"/>
                </a:solidFill>
                <a:latin typeface="Courier"/>
              </a:rPr>
              <a:t>=</a:t>
            </a:r>
            <a:r>
              <a:rPr>
                <a:latin typeface="Courier"/>
              </a:rPr>
              <a:t> create_cnr_image(</a:t>
            </a:r>
            <a:r>
              <a:rPr>
                <a:solidFill>
                  <a:srgbClr val="40A070"/>
                </a:solidFill>
                <a:latin typeface="Courier"/>
              </a:rPr>
              <a:t>5</a:t>
            </a:r>
            <a:r>
              <a:rPr>
                <a:latin typeface="Courier"/>
              </a:rPr>
              <a:t>)</a:t>
            </a:r>
            <a:br/>
            <a:br/>
            <a:r>
              <a:rPr>
                <a:latin typeface="Courier"/>
              </a:rPr>
              <a:t>fig, (ax1, ax2, ax3)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3</a:t>
            </a:r>
            <a:r>
              <a:rPr>
                <a:latin typeface="Courier"/>
              </a:rPr>
              <a:t>, figsize</a:t>
            </a:r>
            <a:r>
              <a:rPr>
                <a:solidFill>
                  <a:srgbClr val="666666"/>
                </a:solidFill>
                <a:latin typeface="Courier"/>
              </a:rPr>
              <a:t>=</a:t>
            </a:r>
            <a:r>
              <a:rPr>
                <a:latin typeface="Courier"/>
              </a:rPr>
              <a:t>(</a:t>
            </a:r>
            <a:r>
              <a:rPr>
                <a:solidFill>
                  <a:srgbClr val="40A070"/>
                </a:solidFill>
                <a:latin typeface="Courier"/>
              </a:rPr>
              <a:t>12</a:t>
            </a:r>
            <a:r>
              <a:rPr>
                <a:latin typeface="Courier"/>
              </a:rPr>
              <a:t>, </a:t>
            </a:r>
            <a:r>
              <a:rPr>
                <a:solidFill>
                  <a:srgbClr val="40A070"/>
                </a:solidFill>
                <a:latin typeface="Courier"/>
              </a:rPr>
              <a:t>4</a:t>
            </a:r>
            <a:r>
              <a:rPr>
                <a:latin typeface="Courier"/>
              </a:rPr>
              <a:t>))</a:t>
            </a:r>
            <a:br/>
            <a:r>
              <a:rPr>
                <a:latin typeface="Courier"/>
              </a:rPr>
              <a:t>ax1.imshow(img_cnr1, cmap</a:t>
            </a:r>
            <a:r>
              <a:rPr>
                <a:solidFill>
                  <a:srgbClr val="666666"/>
                </a:solidFill>
                <a:latin typeface="Courier"/>
              </a:rPr>
              <a:t>=</a:t>
            </a:r>
            <a:r>
              <a:rPr>
                <a:solidFill>
                  <a:srgbClr val="4070A0"/>
                </a:solidFill>
                <a:latin typeface="Courier"/>
              </a:rPr>
              <a:t>'viridis'</a:t>
            </a:r>
            <a:r>
              <a:rPr>
                <a:latin typeface="Courier"/>
              </a:rPr>
              <a:t>)</a:t>
            </a:r>
            <a:br/>
            <a:r>
              <a:rPr>
                <a:latin typeface="Courier"/>
              </a:rPr>
              <a:t>ax1.set_title(</a:t>
            </a:r>
            <a:r>
              <a:rPr>
                <a:solidFill>
                  <a:srgbClr val="4070A0"/>
                </a:solidFill>
                <a:latin typeface="Courier"/>
              </a:rPr>
              <a:t>"CNR = 1"</a:t>
            </a:r>
            <a:r>
              <a:rPr>
                <a:latin typeface="Courier"/>
              </a:rPr>
              <a:t>)</a:t>
            </a:r>
            <a:br/>
            <a:r>
              <a:rPr>
                <a:latin typeface="Courier"/>
              </a:rPr>
              <a:t>ax1.axis(</a:t>
            </a:r>
            <a:r>
              <a:rPr>
                <a:solidFill>
                  <a:srgbClr val="4070A0"/>
                </a:solidFill>
                <a:latin typeface="Courier"/>
              </a:rPr>
              <a:t>'off'</a:t>
            </a:r>
            <a:r>
              <a:rPr>
                <a:latin typeface="Courier"/>
              </a:rPr>
              <a:t>)</a:t>
            </a:r>
          </a:p>
          <a:p>
            <a:pPr lvl="0" indent="0">
              <a:buNone/>
            </a:pPr>
            <a:r>
              <a:rPr>
                <a:latin typeface="Courier"/>
              </a:rPr>
              <a:t>## (np.float64(-0.5), np.float64(127.5), np.float64(127.5), np.float64(-0.5))</a:t>
            </a:r>
          </a:p>
          <a:p>
            <a:pPr lvl="0" indent="0">
              <a:buNone/>
            </a:pPr>
            <a:r>
              <a:rPr>
                <a:latin typeface="Courier"/>
              </a:rPr>
              <a:t>ax2.imshow(img_cnr3, cmap</a:t>
            </a:r>
            <a:r>
              <a:rPr>
                <a:solidFill>
                  <a:srgbClr val="666666"/>
                </a:solidFill>
                <a:latin typeface="Courier"/>
              </a:rPr>
              <a:t>=</a:t>
            </a:r>
            <a:r>
              <a:rPr>
                <a:solidFill>
                  <a:srgbClr val="4070A0"/>
                </a:solidFill>
                <a:latin typeface="Courier"/>
              </a:rPr>
              <a:t>'viridis'</a:t>
            </a:r>
            <a:r>
              <a:rPr>
                <a:latin typeface="Courier"/>
              </a:rPr>
              <a:t>)</a:t>
            </a:r>
            <a:br/>
            <a:r>
              <a:rPr>
                <a:latin typeface="Courier"/>
              </a:rPr>
              <a:t>ax2.set_title(</a:t>
            </a:r>
            <a:r>
              <a:rPr>
                <a:solidFill>
                  <a:srgbClr val="4070A0"/>
                </a:solidFill>
                <a:latin typeface="Courier"/>
              </a:rPr>
              <a:t>"CNR = 3"</a:t>
            </a:r>
            <a:r>
              <a:rPr>
                <a:latin typeface="Courier"/>
              </a:rPr>
              <a:t>)</a:t>
            </a:r>
            <a:br/>
            <a:r>
              <a:rPr>
                <a:latin typeface="Courier"/>
              </a:rPr>
              <a:t>ax2.axis(</a:t>
            </a:r>
            <a:r>
              <a:rPr>
                <a:solidFill>
                  <a:srgbClr val="4070A0"/>
                </a:solidFill>
                <a:latin typeface="Courier"/>
              </a:rPr>
              <a:t>'off'</a:t>
            </a:r>
            <a:r>
              <a:rPr>
                <a:latin typeface="Courier"/>
              </a:rPr>
              <a:t>)</a:t>
            </a:r>
          </a:p>
          <a:p>
            <a:pPr lvl="0" indent="0">
              <a:buNone/>
            </a:pPr>
            <a:r>
              <a:rPr>
                <a:latin typeface="Courier"/>
              </a:rPr>
              <a:t>## (np.float64(-0.5), np.float64(127.5), np.float64(127.5), np.float64(-0.5))</a:t>
            </a:r>
          </a:p>
          <a:p>
            <a:pPr lvl="0" indent="0">
              <a:buNone/>
            </a:pPr>
            <a:r>
              <a:rPr>
                <a:latin typeface="Courier"/>
              </a:rPr>
              <a:t>ax3.imshow(img_cnr5, cmap</a:t>
            </a:r>
            <a:r>
              <a:rPr>
                <a:solidFill>
                  <a:srgbClr val="666666"/>
                </a:solidFill>
                <a:latin typeface="Courier"/>
              </a:rPr>
              <a:t>=</a:t>
            </a:r>
            <a:r>
              <a:rPr>
                <a:solidFill>
                  <a:srgbClr val="4070A0"/>
                </a:solidFill>
                <a:latin typeface="Courier"/>
              </a:rPr>
              <a:t>'viridis'</a:t>
            </a:r>
            <a:r>
              <a:rPr>
                <a:latin typeface="Courier"/>
              </a:rPr>
              <a:t>)</a:t>
            </a:r>
            <a:br/>
            <a:r>
              <a:rPr>
                <a:latin typeface="Courier"/>
              </a:rPr>
              <a:t>ax3.set_title(</a:t>
            </a:r>
            <a:r>
              <a:rPr>
                <a:solidFill>
                  <a:srgbClr val="4070A0"/>
                </a:solidFill>
                <a:latin typeface="Courier"/>
              </a:rPr>
              <a:t>"CNR = 5"</a:t>
            </a:r>
            <a:r>
              <a:rPr>
                <a:latin typeface="Courier"/>
              </a:rPr>
              <a:t>)</a:t>
            </a:r>
            <a:br/>
            <a:r>
              <a:rPr>
                <a:latin typeface="Courier"/>
              </a:rPr>
              <a:t>ax3.axis(</a:t>
            </a:r>
            <a:r>
              <a:rPr>
                <a:solidFill>
                  <a:srgbClr val="4070A0"/>
                </a:solidFill>
                <a:latin typeface="Courier"/>
              </a:rPr>
              <a:t>'off'</a:t>
            </a:r>
            <a:r>
              <a:rPr>
                <a:latin typeface="Courier"/>
              </a:rPr>
              <a:t>)</a:t>
            </a:r>
          </a:p>
          <a:p>
            <a:pPr lvl="0" indent="0">
              <a:buNone/>
            </a:pPr>
            <a:r>
              <a:rPr>
                <a:latin typeface="Courier"/>
              </a:rPr>
              <a:t>## (np.float64(-0.5), np.float64(127.5), np.float64(127.5), np.float64(-0.5))</a:t>
            </a:r>
          </a:p>
          <a:p>
            <a:pPr lvl="0" indent="0">
              <a:buNone/>
            </a:pPr>
            <a:r>
              <a:rPr>
                <a:latin typeface="Courier"/>
              </a:rPr>
              <a:t>rose_criterion_plots_fig </a:t>
            </a:r>
            <a:r>
              <a:rPr>
                <a:solidFill>
                  <a:srgbClr val="666666"/>
                </a:solidFill>
                <a:latin typeface="Courier"/>
              </a:rPr>
              <a:t>=</a:t>
            </a:r>
            <a:r>
              <a:rPr>
                <a:latin typeface="Courier"/>
              </a:rPr>
              <a:t> plt.gcf()</a:t>
            </a:r>
          </a:p>
        </p:txBody>
      </p:sp>
      <p:pic>
        <p:nvPicPr>
          <p:cNvPr descr="presentation_files/figure-pptx/rose_criterion_code-35.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Rose Criterion: Visualization Plots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Rose Criterion: Visualization Plots (cont.)</a:t>
            </a:r>
          </a:p>
        </p:txBody>
      </p:sp>
      <p:sp>
        <p:nvSpPr>
          <p:cNvPr id="3" name="Content Placeholder 2"/>
          <p:cNvSpPr>
            <a:spLocks noGrp="1"/>
          </p:cNvSpPr>
          <p:nvPr>
            <p:ph idx="1"/>
          </p:nvPr>
        </p:nvSpPr>
        <p:spPr/>
        <p:txBody>
          <a:bodyPr/>
          <a:lstStyle/>
          <a:p>
            <a:pPr lvl="0"/>
            <a:r>
              <a:rPr/>
              <a:t>At CNR=1, the object is nearly invisible. At CNR=3, you might see it if you look closely. At CNR=5, it is clearly detectable, confirming the Rose Criterion.</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Pop Quiz!</a:t>
            </a:r>
          </a:p>
        </p:txBody>
      </p:sp>
      <p:sp>
        <p:nvSpPr>
          <p:cNvPr id="3" name="Content Placeholder 2"/>
          <p:cNvSpPr>
            <a:spLocks noGrp="1"/>
          </p:cNvSpPr>
          <p:nvPr>
            <p:ph idx="1"/>
          </p:nvPr>
        </p:nvSpPr>
        <p:spPr/>
        <p:txBody>
          <a:bodyPr/>
          <a:lstStyle/>
          <a:p>
            <a:pPr lvl="0" indent="0" marL="0">
              <a:buNone/>
            </a:pPr>
            <a:r>
              <a:rPr/>
              <a:t>An image region has a mean of 100 and a standard deviation of 25. What is its SNR?</a:t>
            </a:r>
          </a:p>
          <a:p>
            <a:pPr lvl="0" indent="-342900" marL="342900">
              <a:buAutoNum type="alphaUcParenR"/>
            </a:pPr>
            <a:r>
              <a:rPr/>
              <a:t>100</a:t>
            </a:r>
          </a:p>
          <a:p>
            <a:pPr lvl="0" indent="-342900" marL="342900">
              <a:buAutoNum type="alphaUcParenR"/>
            </a:pPr>
            <a:r>
              <a:rPr/>
              <a:t>25</a:t>
            </a:r>
          </a:p>
          <a:p>
            <a:pPr lvl="0" indent="-342900" marL="342900">
              <a:buAutoNum type="alphaUcParenR"/>
            </a:pPr>
            <a:r>
              <a:rPr/>
              <a:t>4</a:t>
            </a:r>
          </a:p>
          <a:p>
            <a:pPr lvl="0" indent="-342900" marL="342900">
              <a:buAutoNum type="alphaUcParenR"/>
            </a:pPr>
            <a:r>
              <a:rPr/>
              <a:t>0.25</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Noise Power Spectrum (NPS)</a:t>
            </a:r>
          </a:p>
        </p:txBody>
      </p:sp>
      <p:sp>
        <p:nvSpPr>
          <p:cNvPr id="3" name="Content Placeholder 2"/>
          <p:cNvSpPr>
            <a:spLocks noGrp="1"/>
          </p:cNvSpPr>
          <p:nvPr>
            <p:ph idx="1"/>
          </p:nvPr>
        </p:nvSpPr>
        <p:spPr/>
        <p:txBody>
          <a:bodyPr/>
          <a:lstStyle/>
          <a:p>
            <a:pPr lvl="0" indent="0" marL="0">
              <a:buNone/>
            </a:pPr>
            <a:r>
              <a:rPr/>
              <a:t>The NPS (also called the Wiener Spectrum) describes the frequency content of the noise.</a:t>
            </a:r>
          </a:p>
          <a:p>
            <a:pPr lvl="0"/>
            <a:r>
              <a:rPr/>
              <a:t>It is the Fourier Transform of the noise autocorrelation function.</a:t>
            </a:r>
          </a:p>
          <a:p>
            <a:pPr lvl="0"/>
            <a:r>
              <a:rPr/>
              <a:t>In simpler terms: it tells you how much noise power is present at each spatial frequency.</a:t>
            </a:r>
          </a:p>
          <a:p>
            <a:pPr lvl="0"/>
            <a:r>
              <a:rPr>
                <a:latin typeface="Courier"/>
              </a:rPr>
              <a:t>NPS(k_x, k_y)</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NPS: Concept Visualization</a:t>
            </a:r>
          </a:p>
        </p:txBody>
      </p:sp>
      <p:sp>
        <p:nvSpPr>
          <p:cNvPr id="3" name="Content Placeholder 2"/>
          <p:cNvSpPr>
            <a:spLocks noGrp="1"/>
          </p:cNvSpPr>
          <p:nvPr>
            <p:ph idx="1"/>
          </p:nvPr>
        </p:nvSpPr>
        <p:spPr/>
        <p:txBody>
          <a:bodyPr/>
          <a:lstStyle/>
          <a:p>
            <a:pPr lvl="0"/>
            <a:r>
              <a:rPr b="1"/>
              <a:t>White Noise:</a:t>
            </a:r>
            <a:r>
              <a:rPr/>
              <a:t> Has a flat NPS. The noise power is equal at all spatial frequencies. This is typical for uncorrelated noise.</a:t>
            </a:r>
          </a:p>
          <a:p>
            <a:pPr lvl="0"/>
            <a:r>
              <a:rPr b="1"/>
              <a:t>Colored Noise:</a:t>
            </a:r>
            <a:r>
              <a:rPr/>
              <a:t> Has a non-flat NPS. This indicates that the noise is correlated. For example, noise might be stronger at lower frequencies. This is common after image filtering or reconstruction.</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NPS: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from</a:t>
            </a:r>
            <a:r>
              <a:rPr>
                <a:latin typeface="Courier"/>
              </a:rPr>
              <a:t> scipy </a:t>
            </a:r>
            <a:r>
              <a:rPr b="1">
                <a:solidFill>
                  <a:srgbClr val="008000"/>
                </a:solidFill>
                <a:latin typeface="Courier"/>
              </a:rPr>
              <a:t>import</a:t>
            </a:r>
            <a:r>
              <a:rPr>
                <a:latin typeface="Courier"/>
              </a:rPr>
              <a:t> signal</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Generate a 1D white noise signal</a:t>
            </a:r>
            <a:br/>
            <a:r>
              <a:rPr>
                <a:latin typeface="Courier"/>
              </a:rPr>
              <a:t>white_noise </a:t>
            </a:r>
            <a:r>
              <a:rPr>
                <a:solidFill>
                  <a:srgbClr val="666666"/>
                </a:solidFill>
                <a:latin typeface="Courier"/>
              </a:rPr>
              <a:t>=</a:t>
            </a:r>
            <a:r>
              <a:rPr>
                <a:latin typeface="Courier"/>
              </a:rPr>
              <a:t> np.random.normal(size</a:t>
            </a:r>
            <a:r>
              <a:rPr>
                <a:solidFill>
                  <a:srgbClr val="666666"/>
                </a:solidFill>
                <a:latin typeface="Courier"/>
              </a:rPr>
              <a:t>=</a:t>
            </a:r>
            <a:r>
              <a:rPr>
                <a:solidFill>
                  <a:srgbClr val="40A070"/>
                </a:solidFill>
                <a:latin typeface="Courier"/>
              </a:rPr>
              <a:t>1024</a:t>
            </a:r>
            <a:r>
              <a:rPr>
                <a:latin typeface="Courier"/>
              </a:rPr>
              <a:t>)</a:t>
            </a:r>
            <a:br/>
            <a:r>
              <a:rPr>
                <a:latin typeface="Courier"/>
              </a:rPr>
              <a:t>nps_white </a:t>
            </a:r>
            <a:r>
              <a:rPr>
                <a:solidFill>
                  <a:srgbClr val="666666"/>
                </a:solidFill>
                <a:latin typeface="Courier"/>
              </a:rPr>
              <a:t>=</a:t>
            </a:r>
            <a:r>
              <a:rPr>
                <a:latin typeface="Courier"/>
              </a:rPr>
              <a:t> np.</a:t>
            </a:r>
            <a:r>
              <a:rPr>
                <a:solidFill>
                  <a:srgbClr val="008000"/>
                </a:solidFill>
                <a:latin typeface="Courier"/>
              </a:rPr>
              <a:t>abs</a:t>
            </a:r>
            <a:r>
              <a:rPr>
                <a:latin typeface="Courier"/>
              </a:rPr>
              <a:t>(np.fft.fft(white_noise))</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008000"/>
                </a:solidFill>
                <a:latin typeface="Courier"/>
              </a:rPr>
              <a:t>len</a:t>
            </a:r>
            <a:r>
              <a:rPr>
                <a:latin typeface="Courier"/>
              </a:rPr>
              <a:t>(white_noise)</a:t>
            </a:r>
            <a:br/>
            <a:br/>
            <a:r>
              <a:rPr i="1">
                <a:solidFill>
                  <a:srgbClr val="60A0B0"/>
                </a:solidFill>
                <a:latin typeface="Courier"/>
              </a:rPr>
              <a:t># Generate colored noise by filtering white noise (e.g., a simple moving average)</a:t>
            </a:r>
            <a:br/>
            <a:r>
              <a:rPr>
                <a:latin typeface="Courier"/>
              </a:rPr>
              <a:t>kernel </a:t>
            </a:r>
            <a:r>
              <a:rPr>
                <a:solidFill>
                  <a:srgbClr val="666666"/>
                </a:solidFill>
                <a:latin typeface="Courier"/>
              </a:rPr>
              <a:t>=</a:t>
            </a:r>
            <a:r>
              <a:rPr>
                <a:latin typeface="Courier"/>
              </a:rPr>
              <a:t> np.ones(</a:t>
            </a:r>
            <a:r>
              <a:rPr>
                <a:solidFill>
                  <a:srgbClr val="40A070"/>
                </a:solidFill>
                <a:latin typeface="Courier"/>
              </a:rPr>
              <a:t>5</a:t>
            </a:r>
            <a:r>
              <a:rPr>
                <a:latin typeface="Courier"/>
              </a:rPr>
              <a:t>)</a:t>
            </a:r>
            <a:r>
              <a:rPr>
                <a:solidFill>
                  <a:srgbClr val="666666"/>
                </a:solidFill>
                <a:latin typeface="Courier"/>
              </a:rPr>
              <a:t>/</a:t>
            </a:r>
            <a:r>
              <a:rPr>
                <a:solidFill>
                  <a:srgbClr val="40A070"/>
                </a:solidFill>
                <a:latin typeface="Courier"/>
              </a:rPr>
              <a:t>5</a:t>
            </a:r>
            <a:br/>
            <a:r>
              <a:rPr>
                <a:latin typeface="Courier"/>
              </a:rPr>
              <a:t>colored_noise </a:t>
            </a:r>
            <a:r>
              <a:rPr>
                <a:solidFill>
                  <a:srgbClr val="666666"/>
                </a:solidFill>
                <a:latin typeface="Courier"/>
              </a:rPr>
              <a:t>=</a:t>
            </a:r>
            <a:r>
              <a:rPr>
                <a:latin typeface="Courier"/>
              </a:rPr>
              <a:t> signal.convolve(white_noise, kernel, mode</a:t>
            </a:r>
            <a:r>
              <a:rPr>
                <a:solidFill>
                  <a:srgbClr val="666666"/>
                </a:solidFill>
                <a:latin typeface="Courier"/>
              </a:rPr>
              <a:t>=</a:t>
            </a:r>
            <a:r>
              <a:rPr>
                <a:solidFill>
                  <a:srgbClr val="4070A0"/>
                </a:solidFill>
                <a:latin typeface="Courier"/>
              </a:rPr>
              <a:t>'same'</a:t>
            </a:r>
            <a:r>
              <a:rPr>
                <a:latin typeface="Courier"/>
              </a:rPr>
              <a:t>)</a:t>
            </a:r>
            <a:br/>
            <a:r>
              <a:rPr>
                <a:latin typeface="Courier"/>
              </a:rPr>
              <a:t>nps_colored </a:t>
            </a:r>
            <a:r>
              <a:rPr>
                <a:solidFill>
                  <a:srgbClr val="666666"/>
                </a:solidFill>
                <a:latin typeface="Courier"/>
              </a:rPr>
              <a:t>=</a:t>
            </a:r>
            <a:r>
              <a:rPr>
                <a:latin typeface="Courier"/>
              </a:rPr>
              <a:t> np.</a:t>
            </a:r>
            <a:r>
              <a:rPr>
                <a:solidFill>
                  <a:srgbClr val="008000"/>
                </a:solidFill>
                <a:latin typeface="Courier"/>
              </a:rPr>
              <a:t>abs</a:t>
            </a:r>
            <a:r>
              <a:rPr>
                <a:latin typeface="Courier"/>
              </a:rPr>
              <a:t>(np.fft.fft(colored_noise))</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008000"/>
                </a:solidFill>
                <a:latin typeface="Courier"/>
              </a:rPr>
              <a:t>len</a:t>
            </a:r>
            <a:r>
              <a:rPr>
                <a:latin typeface="Courier"/>
              </a:rPr>
              <a:t>(colored_noise)</a:t>
            </a:r>
            <a:br/>
            <a:br/>
            <a:r>
              <a:rPr>
                <a:latin typeface="Courier"/>
              </a:rPr>
              <a:t>freq_axis_nps </a:t>
            </a:r>
            <a:r>
              <a:rPr>
                <a:solidFill>
                  <a:srgbClr val="666666"/>
                </a:solidFill>
                <a:latin typeface="Courier"/>
              </a:rPr>
              <a:t>=</a:t>
            </a:r>
            <a:r>
              <a:rPr>
                <a:latin typeface="Courier"/>
              </a:rPr>
              <a:t> np.fft.fftfreq(</a:t>
            </a:r>
            <a:r>
              <a:rPr>
                <a:solidFill>
                  <a:srgbClr val="008000"/>
                </a:solidFill>
                <a:latin typeface="Courier"/>
              </a:rPr>
              <a:t>len</a:t>
            </a:r>
            <a:r>
              <a:rPr>
                <a:latin typeface="Courier"/>
              </a:rPr>
              <a:t>(nps_white))</a:t>
            </a:r>
            <a:br/>
            <a:br/>
            <a:r>
              <a:rPr>
                <a:latin typeface="Courier"/>
              </a:rPr>
              <a:t>plt.figure()</a:t>
            </a:r>
            <a:br/>
            <a:r>
              <a:rPr>
                <a:latin typeface="Courier"/>
              </a:rPr>
              <a:t>plt.plot(freq_axis_nps, nps_white, label</a:t>
            </a:r>
            <a:r>
              <a:rPr>
                <a:solidFill>
                  <a:srgbClr val="666666"/>
                </a:solidFill>
                <a:latin typeface="Courier"/>
              </a:rPr>
              <a:t>=</a:t>
            </a:r>
            <a:r>
              <a:rPr>
                <a:solidFill>
                  <a:srgbClr val="4070A0"/>
                </a:solidFill>
                <a:latin typeface="Courier"/>
              </a:rPr>
              <a:t>"White"</a:t>
            </a:r>
            <a:r>
              <a:rPr>
                <a:latin typeface="Courier"/>
              </a:rPr>
              <a:t>)</a:t>
            </a:r>
            <a:br/>
            <a:r>
              <a:rPr>
                <a:latin typeface="Courier"/>
              </a:rPr>
              <a:t>plt.plot(freq_axis_nps, nps_colored, label</a:t>
            </a:r>
            <a:r>
              <a:rPr>
                <a:solidFill>
                  <a:srgbClr val="666666"/>
                </a:solidFill>
                <a:latin typeface="Courier"/>
              </a:rPr>
              <a:t>=</a:t>
            </a:r>
            <a:r>
              <a:rPr>
                <a:solidFill>
                  <a:srgbClr val="4070A0"/>
                </a:solidFill>
                <a:latin typeface="Courier"/>
              </a:rPr>
              <a:t>"Colored"</a:t>
            </a:r>
            <a:r>
              <a:rPr>
                <a:latin typeface="Courier"/>
              </a:rPr>
              <a:t>)</a:t>
            </a:r>
            <a:br/>
            <a:r>
              <a:rPr>
                <a:latin typeface="Courier"/>
              </a:rPr>
              <a:t>plt.title(</a:t>
            </a:r>
            <a:r>
              <a:rPr>
                <a:solidFill>
                  <a:srgbClr val="4070A0"/>
                </a:solidFill>
                <a:latin typeface="Courier"/>
              </a:rPr>
              <a:t>"Noise Power Spectrum (NPS)"</a:t>
            </a:r>
            <a:r>
              <a:rPr>
                <a:latin typeface="Courier"/>
              </a:rPr>
              <a:t>)</a:t>
            </a:r>
            <a:br/>
            <a:r>
              <a:rPr>
                <a:latin typeface="Courier"/>
              </a:rPr>
              <a:t>plt.xlim(</a:t>
            </a:r>
            <a:r>
              <a:rPr>
                <a:solidFill>
                  <a:srgbClr val="40A070"/>
                </a:solidFill>
                <a:latin typeface="Courier"/>
              </a:rPr>
              <a:t>0</a:t>
            </a:r>
            <a:r>
              <a:rPr>
                <a:latin typeface="Courier"/>
              </a:rPr>
              <a:t>, </a:t>
            </a:r>
            <a:r>
              <a:rPr>
                <a:solidFill>
                  <a:srgbClr val="40A070"/>
                </a:solidFill>
                <a:latin typeface="Courier"/>
              </a:rPr>
              <a:t>0.5</a:t>
            </a:r>
            <a:r>
              <a:rPr>
                <a:latin typeface="Courier"/>
              </a:rPr>
              <a:t>)</a:t>
            </a:r>
          </a:p>
          <a:p>
            <a:pPr lvl="0" indent="0">
              <a:buNone/>
            </a:pPr>
            <a:r>
              <a:rPr>
                <a:latin typeface="Courier"/>
              </a:rPr>
              <a:t>## (0.0, 0.5)</a:t>
            </a:r>
          </a:p>
          <a:p>
            <a:pPr lvl="0" indent="0">
              <a:buNone/>
            </a:pPr>
            <a:r>
              <a:rPr>
                <a:latin typeface="Courier"/>
              </a:rPr>
              <a:t>plt.legend()</a:t>
            </a:r>
            <a:br/>
            <a:r>
              <a:rPr>
                <a:latin typeface="Courier"/>
              </a:rPr>
              <a:t>nps_plot_fig </a:t>
            </a:r>
            <a:r>
              <a:rPr>
                <a:solidFill>
                  <a:srgbClr val="666666"/>
                </a:solidFill>
                <a:latin typeface="Courier"/>
              </a:rPr>
              <a:t>=</a:t>
            </a:r>
            <a:r>
              <a:rPr>
                <a:latin typeface="Courier"/>
              </a:rPr>
              <a:t> plt.gcf()</a:t>
            </a:r>
          </a:p>
        </p:txBody>
      </p:sp>
      <p:pic>
        <p:nvPicPr>
          <p:cNvPr descr="presentation_files/figure-pptx/nps_code-37.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NPS: Visualization Plot</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NPS: Visualization Plot (cont.)</a:t>
            </a:r>
          </a:p>
        </p:txBody>
      </p:sp>
      <p:sp>
        <p:nvSpPr>
          <p:cNvPr id="3" name="Content Placeholder 2"/>
          <p:cNvSpPr>
            <a:spLocks noGrp="1"/>
          </p:cNvSpPr>
          <p:nvPr>
            <p:ph idx="1"/>
          </p:nvPr>
        </p:nvSpPr>
        <p:spPr/>
        <p:txBody>
          <a:bodyPr/>
          <a:lstStyle/>
          <a:p>
            <a:pPr lvl="0"/>
            <a:r>
              <a:rPr/>
              <a:t>The white noise has a relatively flat spectrum. The colored (filtered) noise has much less power at high frequencies.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Detective Quantum Efficiency (DQE)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DQE is one of the most comprehensive metrics for assessing detector performance. It measures how efficiently a system transfers the SNR from its input to its output.</a:t>
                </a:r>
              </a:p>
              <a:p>
                <a:pPr lvl="0" indent="0" marL="0">
                  <a:buNone/>
                </a:pPr>
                <a14:m>
                  <m:oMathPara xmlns:m="http://schemas.openxmlformats.org/officeDocument/2006/math">
                    <m:oMathParaPr>
                      <m:jc m:val="center"/>
                    </m:oMathParaPr>
                    <m:oMath>
                      <m:r>
                        <m:rPr>
                          <m:nor/>
                          <m:sty m:val="p"/>
                        </m:rPr>
                        <m:t>DQE</m:t>
                      </m:r>
                      <m:d>
                        <m:dPr>
                          <m:begChr m:val="("/>
                          <m:endChr m:val=")"/>
                          <m:sepChr m:val=""/>
                          <m:grow/>
                        </m:dPr>
                        <m:e>
                          <m:r>
                            <m:t>k</m:t>
                          </m:r>
                        </m:e>
                      </m:d>
                      <m:r>
                        <m:rPr>
                          <m:sty m:val="p"/>
                        </m:rPr>
                        <m:t>=</m:t>
                      </m:r>
                      <m:f>
                        <m:fPr>
                          <m:type m:val="bar"/>
                        </m:fPr>
                        <m:num>
                          <m:sSubSup>
                            <m:e>
                              <m:r>
                                <m:rPr>
                                  <m:nor/>
                                  <m:sty m:val="p"/>
                                </m:rPr>
                                <m:t>SNR</m:t>
                              </m:r>
                            </m:e>
                            <m:sub>
                              <m:r>
                                <m:rPr>
                                  <m:nor/>
                                  <m:sty m:val="p"/>
                                </m:rPr>
                                <m:t>out</m:t>
                              </m:r>
                            </m:sub>
                            <m:sup>
                              <m:r>
                                <m:t>2</m:t>
                              </m:r>
                            </m:sup>
                          </m:sSubSup>
                          <m:d>
                            <m:dPr>
                              <m:begChr m:val="("/>
                              <m:endChr m:val=")"/>
                              <m:sepChr m:val=""/>
                              <m:grow/>
                            </m:dPr>
                            <m:e>
                              <m:r>
                                <m:t>k</m:t>
                              </m:r>
                            </m:e>
                          </m:d>
                        </m:num>
                        <m:den>
                          <m:sSubSup>
                            <m:e>
                              <m:r>
                                <m:rPr>
                                  <m:nor/>
                                  <m:sty m:val="p"/>
                                </m:rPr>
                                <m:t>SNR</m:t>
                              </m:r>
                            </m:e>
                            <m:sub>
                              <m:r>
                                <m:rPr>
                                  <m:nor/>
                                  <m:sty m:val="p"/>
                                </m:rPr>
                                <m:t>in</m:t>
                              </m:r>
                            </m:sub>
                            <m:sup>
                              <m:r>
                                <m:t>2</m:t>
                              </m:r>
                            </m:sup>
                          </m:sSubSup>
                          <m:d>
                            <m:dPr>
                              <m:begChr m:val="("/>
                              <m:endChr m:val=")"/>
                              <m:sepChr m:val=""/>
                              <m:grow/>
                            </m:dPr>
                            <m:e>
                              <m:r>
                                <m:t>k</m:t>
                              </m:r>
                            </m:e>
                          </m:d>
                        </m:den>
                      </m:f>
                    </m:oMath>
                  </m:oMathPara>
                </a14:m>
              </a:p>
            </p:txBody>
          </p:sp>
        </mc:Choice>
      </mc:AlternateContent>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Detective Quantum Efficiency (DQE)</a:t>
            </a:r>
          </a:p>
        </p:txBody>
      </p:sp>
      <p:sp>
        <p:nvSpPr>
          <p:cNvPr id="3" name="Content Placeholder 2"/>
          <p:cNvSpPr>
            <a:spLocks noGrp="1"/>
          </p:cNvSpPr>
          <p:nvPr>
            <p:ph idx="1"/>
          </p:nvPr>
        </p:nvSpPr>
        <p:spPr/>
        <p:txBody>
          <a:bodyPr/>
          <a:lstStyle/>
          <a:p>
            <a:pPr lvl="0"/>
            <a:r>
              <a:rPr/>
              <a:t>It is a function of spatial frequency, </a:t>
            </a:r>
            <a:r>
              <a:rPr>
                <a:latin typeface="Courier"/>
              </a:rPr>
              <a:t>k</a:t>
            </a:r>
            <a:r>
              <a:rPr/>
              <a:t>.</a:t>
            </a:r>
          </a:p>
          <a:p>
            <a:pPr lvl="0"/>
            <a:r>
              <a:rPr/>
              <a:t>A perfect detector would have DQE(k) = 1 for all frequencies. This is impossible.</a:t>
            </a:r>
          </a:p>
          <a:p>
            <a:pPr lvl="0"/>
            <a:r>
              <a:rPr/>
              <a:t>DQE tells us how much of the information present in the incoming x-ray signal is actually captured and preserved in the final image.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Summary</a:t>
            </a:r>
          </a:p>
        </p:txBody>
      </p:sp>
      <p:sp>
        <p:nvSpPr>
          <p:cNvPr id="3" name="Content Placeholder 2"/>
          <p:cNvSpPr>
            <a:spLocks noGrp="1"/>
          </p:cNvSpPr>
          <p:nvPr>
            <p:ph idx="1"/>
          </p:nvPr>
        </p:nvSpPr>
        <p:spPr/>
        <p:txBody>
          <a:bodyPr/>
          <a:lstStyle/>
          <a:p>
            <a:pPr lvl="0"/>
            <a:r>
              <a:rPr b="1"/>
              <a:t>Stochastic Systems</a:t>
            </a:r>
            <a:r>
              <a:rPr/>
              <a:t> involve randomness, primarily from noise.</a:t>
            </a:r>
          </a:p>
          <a:p>
            <a:pPr lvl="0"/>
            <a:r>
              <a:rPr b="1"/>
              <a:t>Poisson Noise</a:t>
            </a:r>
            <a:r>
              <a:rPr/>
              <a:t> is signal-dependent (variance = mean).</a:t>
            </a:r>
          </a:p>
          <a:p>
            <a:pPr lvl="0"/>
            <a:r>
              <a:rPr b="1"/>
              <a:t>Gaussian Noise</a:t>
            </a:r>
            <a:r>
              <a:rPr/>
              <a:t> is signal-independent.</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Summary</a:t>
            </a:r>
          </a:p>
        </p:txBody>
      </p:sp>
      <p:sp>
        <p:nvSpPr>
          <p:cNvPr id="3" name="Content Placeholder 2"/>
          <p:cNvSpPr>
            <a:spLocks noGrp="1"/>
          </p:cNvSpPr>
          <p:nvPr>
            <p:ph idx="1"/>
          </p:nvPr>
        </p:nvSpPr>
        <p:spPr/>
        <p:txBody>
          <a:bodyPr/>
          <a:lstStyle/>
          <a:p>
            <a:pPr lvl="0"/>
            <a:r>
              <a:rPr b="1"/>
              <a:t>SNR</a:t>
            </a:r>
            <a:r>
              <a:rPr/>
              <a:t> and </a:t>
            </a:r>
            <a:r>
              <a:rPr b="1"/>
              <a:t>CNR</a:t>
            </a:r>
            <a:r>
              <a:rPr/>
              <a:t> are key metrics for quantifying image quality.</a:t>
            </a:r>
          </a:p>
          <a:p>
            <a:pPr lvl="0"/>
            <a:r>
              <a:rPr/>
              <a:t>The </a:t>
            </a:r>
            <a:r>
              <a:rPr b="1"/>
              <a:t>Rose Criterion</a:t>
            </a:r>
            <a:r>
              <a:rPr/>
              <a:t> suggests a CNR of ~5 is needed for reliable detection.</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Summary</a:t>
            </a:r>
          </a:p>
        </p:txBody>
      </p:sp>
      <p:sp>
        <p:nvSpPr>
          <p:cNvPr id="3" name="Content Placeholder 2"/>
          <p:cNvSpPr>
            <a:spLocks noGrp="1"/>
          </p:cNvSpPr>
          <p:nvPr>
            <p:ph idx="1"/>
          </p:nvPr>
        </p:nvSpPr>
        <p:spPr/>
        <p:txBody>
          <a:bodyPr/>
          <a:lstStyle/>
          <a:p>
            <a:pPr lvl="0"/>
            <a:r>
              <a:rPr b="1"/>
              <a:t>NPS</a:t>
            </a:r>
            <a:r>
              <a:rPr/>
              <a:t> describes the frequency content of noise.</a:t>
            </a:r>
          </a:p>
          <a:p>
            <a:pPr lvl="0"/>
            <a:r>
              <a:rPr b="1"/>
              <a:t>DQE</a:t>
            </a:r>
            <a:r>
              <a:rPr/>
              <a:t> is a comprehensive measure of detector efficiency.</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3: Tomography</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Problem of Tomography</a:t>
            </a:r>
          </a:p>
        </p:txBody>
      </p:sp>
      <p:sp>
        <p:nvSpPr>
          <p:cNvPr id="3" name="Content Placeholder 2"/>
          <p:cNvSpPr>
            <a:spLocks noGrp="1"/>
          </p:cNvSpPr>
          <p:nvPr>
            <p:ph idx="1"/>
          </p:nvPr>
        </p:nvSpPr>
        <p:spPr/>
        <p:txBody>
          <a:bodyPr/>
          <a:lstStyle/>
          <a:p>
            <a:pPr lvl="0"/>
            <a:r>
              <a:rPr b="1"/>
              <a:t>Forward Problem:</a:t>
            </a:r>
            <a:r>
              <a:rPr/>
              <a:t> If we have an object, we can predict the measurements (projections) we will get from it. This is relatively easy.</a:t>
            </a:r>
          </a:p>
          <a:p>
            <a:pPr lvl="0"/>
            <a:r>
              <a:rPr b="1"/>
              <a:t>Inverse Problem:</a:t>
            </a:r>
            <a:r>
              <a:rPr/>
              <a:t> If we have a set of measurements (projections), can we reconstruct the original object? This is hard, and it’s the fundamental challenge of tomography.</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Core Problem of Tomography</a:t>
            </a:r>
          </a:p>
        </p:txBody>
      </p:sp>
      <p:sp>
        <p:nvSpPr>
          <p:cNvPr id="3" name="Content Placeholder 2"/>
          <p:cNvSpPr>
            <a:spLocks noGrp="1"/>
          </p:cNvSpPr>
          <p:nvPr>
            <p:ph idx="1"/>
          </p:nvPr>
        </p:nvSpPr>
        <p:spPr/>
        <p:txBody>
          <a:bodyPr/>
          <a:lstStyle/>
          <a:p>
            <a:pPr lvl="0"/>
            <a:r>
              <a:rPr/>
              <a:t>The answer is yes, under certain conditions, thanks to the mathematics we will explore.</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Creating a Phantom: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Create a simple phantom: a large circle with smaller circles inside</a:t>
            </a:r>
            <a:br/>
            <a:r>
              <a:rPr b="1">
                <a:solidFill>
                  <a:srgbClr val="007020"/>
                </a:solidFill>
                <a:latin typeface="Courier"/>
              </a:rPr>
              <a:t>def</a:t>
            </a:r>
            <a:r>
              <a:rPr>
                <a:latin typeface="Courier"/>
              </a:rPr>
              <a:t> create_phantom(n</a:t>
            </a:r>
            <a:r>
              <a:rPr>
                <a:solidFill>
                  <a:srgbClr val="666666"/>
                </a:solidFill>
                <a:latin typeface="Courier"/>
              </a:rPr>
              <a:t>=</a:t>
            </a:r>
            <a:r>
              <a:rPr>
                <a:solidFill>
                  <a:srgbClr val="40A070"/>
                </a:solidFill>
                <a:latin typeface="Courier"/>
              </a:rPr>
              <a:t>256</a:t>
            </a:r>
            <a:r>
              <a:rPr>
                <a:latin typeface="Courier"/>
              </a:rPr>
              <a:t>):</a:t>
            </a:r>
            <a:br/>
            <a:r>
              <a:rPr>
                <a:latin typeface="Courier"/>
              </a:rPr>
              <a:t>    phantom </a:t>
            </a:r>
            <a:r>
              <a:rPr>
                <a:solidFill>
                  <a:srgbClr val="666666"/>
                </a:solidFill>
                <a:latin typeface="Courier"/>
              </a:rPr>
              <a:t>=</a:t>
            </a:r>
            <a:r>
              <a:rPr>
                <a:latin typeface="Courier"/>
              </a:rPr>
              <a:t> np.zeros((n, n))</a:t>
            </a:r>
            <a:br/>
            <a:r>
              <a:rPr>
                <a:latin typeface="Courier"/>
              </a:rPr>
              <a:t>    x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n)</a:t>
            </a:r>
            <a:br/>
            <a:r>
              <a:rPr>
                <a:latin typeface="Courier"/>
              </a:rPr>
              <a:t>    y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n)</a:t>
            </a:r>
            <a:br/>
            <a:r>
              <a:rPr>
                <a:latin typeface="Courier"/>
              </a:rPr>
              <a:t>    xx, yy </a:t>
            </a:r>
            <a:r>
              <a:rPr>
                <a:solidFill>
                  <a:srgbClr val="666666"/>
                </a:solidFill>
                <a:latin typeface="Courier"/>
              </a:rPr>
              <a:t>=</a:t>
            </a:r>
            <a:r>
              <a:rPr>
                <a:latin typeface="Courier"/>
              </a:rPr>
              <a:t> np.meshgrid(x, y)</a:t>
            </a:r>
            <a:br/>
            <a:br/>
            <a:r>
              <a:rPr>
                <a:latin typeface="Courier"/>
              </a:rPr>
              <a:t>    </a:t>
            </a:r>
            <a:r>
              <a:rPr i="1">
                <a:solidFill>
                  <a:srgbClr val="60A0B0"/>
                </a:solidFill>
                <a:latin typeface="Courier"/>
              </a:rPr>
              <a:t># Large background ellipse</a:t>
            </a:r>
            <a:br/>
            <a:r>
              <a:rPr>
                <a:latin typeface="Courier"/>
              </a:rPr>
              <a:t>    phantom[xx</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yy</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&lt;</a:t>
            </a:r>
            <a:r>
              <a:rPr>
                <a:latin typeface="Courier"/>
              </a:rPr>
              <a:t> </a:t>
            </a:r>
            <a:r>
              <a:rPr>
                <a:solidFill>
                  <a:srgbClr val="40A070"/>
                </a:solidFill>
                <a:latin typeface="Courier"/>
              </a:rPr>
              <a:t>0.8</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0.5</a:t>
            </a:r>
            <a:br/>
            <a:br/>
            <a:r>
              <a:rPr>
                <a:latin typeface="Courier"/>
              </a:rPr>
              <a:t>    </a:t>
            </a:r>
            <a:r>
              <a:rPr i="1">
                <a:solidFill>
                  <a:srgbClr val="60A0B0"/>
                </a:solidFill>
                <a:latin typeface="Courier"/>
              </a:rPr>
              <a:t># Two smaller high-density circles (e.g., bone)</a:t>
            </a:r>
            <a:br/>
            <a:r>
              <a:rPr>
                <a:latin typeface="Courier"/>
              </a:rPr>
              <a:t>    phantom[(xx </a:t>
            </a:r>
            <a:r>
              <a:rPr>
                <a:solidFill>
                  <a:srgbClr val="666666"/>
                </a:solidFill>
                <a:latin typeface="Courier"/>
              </a:rPr>
              <a:t>-</a:t>
            </a:r>
            <a:r>
              <a:rPr>
                <a:latin typeface="Courier"/>
              </a:rPr>
              <a:t> </a:t>
            </a:r>
            <a:r>
              <a:rPr>
                <a:solidFill>
                  <a:srgbClr val="40A070"/>
                </a:solidFill>
                <a:latin typeface="Courier"/>
              </a:rPr>
              <a:t>0.3</a:t>
            </a:r>
            <a:r>
              <a:rPr>
                <a:latin typeface="Courier"/>
              </a:rPr>
              <a:t>)</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(yy </a:t>
            </a:r>
            <a:r>
              <a:rPr>
                <a:solidFill>
                  <a:srgbClr val="666666"/>
                </a:solidFill>
                <a:latin typeface="Courier"/>
              </a:rPr>
              <a:t>-</a:t>
            </a:r>
            <a:r>
              <a:rPr>
                <a:latin typeface="Courier"/>
              </a:rPr>
              <a:t> </a:t>
            </a:r>
            <a:r>
              <a:rPr>
                <a:solidFill>
                  <a:srgbClr val="40A070"/>
                </a:solidFill>
                <a:latin typeface="Courier"/>
              </a:rPr>
              <a:t>0.2</a:t>
            </a:r>
            <a:r>
              <a:rPr>
                <a:latin typeface="Courier"/>
              </a:rPr>
              <a:t>)</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&lt;</a:t>
            </a:r>
            <a:r>
              <a:rPr>
                <a:latin typeface="Courier"/>
              </a:rPr>
              <a:t> </a:t>
            </a:r>
            <a:r>
              <a:rPr>
                <a:solidFill>
                  <a:srgbClr val="40A070"/>
                </a:solidFill>
                <a:latin typeface="Courier"/>
              </a:rPr>
              <a:t>0.1</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1</a:t>
            </a:r>
            <a:br/>
            <a:r>
              <a:rPr>
                <a:latin typeface="Courier"/>
              </a:rPr>
              <a:t>    phantom[(xx </a:t>
            </a:r>
            <a:r>
              <a:rPr>
                <a:solidFill>
                  <a:srgbClr val="666666"/>
                </a:solidFill>
                <a:latin typeface="Courier"/>
              </a:rPr>
              <a:t>+</a:t>
            </a:r>
            <a:r>
              <a:rPr>
                <a:latin typeface="Courier"/>
              </a:rPr>
              <a:t> </a:t>
            </a:r>
            <a:r>
              <a:rPr>
                <a:solidFill>
                  <a:srgbClr val="40A070"/>
                </a:solidFill>
                <a:latin typeface="Courier"/>
              </a:rPr>
              <a:t>0.3</a:t>
            </a:r>
            <a:r>
              <a:rPr>
                <a:latin typeface="Courier"/>
              </a:rPr>
              <a:t>)</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(yy </a:t>
            </a:r>
            <a:r>
              <a:rPr>
                <a:solidFill>
                  <a:srgbClr val="666666"/>
                </a:solidFill>
                <a:latin typeface="Courier"/>
              </a:rPr>
              <a:t>-</a:t>
            </a:r>
            <a:r>
              <a:rPr>
                <a:latin typeface="Courier"/>
              </a:rPr>
              <a:t> </a:t>
            </a:r>
            <a:r>
              <a:rPr>
                <a:solidFill>
                  <a:srgbClr val="40A070"/>
                </a:solidFill>
                <a:latin typeface="Courier"/>
              </a:rPr>
              <a:t>0.2</a:t>
            </a:r>
            <a:r>
              <a:rPr>
                <a:latin typeface="Courier"/>
              </a:rPr>
              <a:t>)</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&lt;</a:t>
            </a:r>
            <a:r>
              <a:rPr>
                <a:latin typeface="Courier"/>
              </a:rPr>
              <a:t> </a:t>
            </a:r>
            <a:r>
              <a:rPr>
                <a:solidFill>
                  <a:srgbClr val="40A070"/>
                </a:solidFill>
                <a:latin typeface="Courier"/>
              </a:rPr>
              <a:t>0.1</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1</a:t>
            </a:r>
            <a:br/>
            <a:br/>
            <a:r>
              <a:rPr>
                <a:latin typeface="Courier"/>
              </a:rPr>
              <a:t>    </a:t>
            </a:r>
            <a:r>
              <a:rPr i="1">
                <a:solidFill>
                  <a:srgbClr val="60A0B0"/>
                </a:solidFill>
                <a:latin typeface="Courier"/>
              </a:rPr>
              <a:t># One smaller low-density circle (e.g., lesion)</a:t>
            </a:r>
            <a:br/>
            <a:r>
              <a:rPr>
                <a:latin typeface="Courier"/>
              </a:rPr>
              <a:t>    phantom[xx</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(yy </a:t>
            </a:r>
            <a:r>
              <a:rPr>
                <a:solidFill>
                  <a:srgbClr val="666666"/>
                </a:solidFill>
                <a:latin typeface="Courier"/>
              </a:rPr>
              <a:t>+</a:t>
            </a:r>
            <a:r>
              <a:rPr>
                <a:latin typeface="Courier"/>
              </a:rPr>
              <a:t> </a:t>
            </a:r>
            <a:r>
              <a:rPr>
                <a:solidFill>
                  <a:srgbClr val="40A070"/>
                </a:solidFill>
                <a:latin typeface="Courier"/>
              </a:rPr>
              <a:t>0.4</a:t>
            </a:r>
            <a:r>
              <a:rPr>
                <a:latin typeface="Courier"/>
              </a:rPr>
              <a:t>)</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&lt;</a:t>
            </a:r>
            <a:r>
              <a:rPr>
                <a:latin typeface="Courier"/>
              </a:rPr>
              <a:t> </a:t>
            </a:r>
            <a:r>
              <a:rPr>
                <a:solidFill>
                  <a:srgbClr val="40A070"/>
                </a:solidFill>
                <a:latin typeface="Courier"/>
              </a:rPr>
              <a:t>0.2</a:t>
            </a:r>
            <a:r>
              <a:rPr>
                <a:solidFill>
                  <a:srgbClr val="666666"/>
                </a:solidFill>
                <a:latin typeface="Courier"/>
              </a:rPr>
              <a:t>**</a:t>
            </a:r>
            <a:r>
              <a:rPr>
                <a:solidFill>
                  <a:srgbClr val="40A070"/>
                </a:solidFill>
                <a:latin typeface="Courier"/>
              </a:rPr>
              <a:t>2</a:t>
            </a:r>
            <a:r>
              <a:rPr>
                <a:latin typeface="Courier"/>
              </a:rPr>
              <a:t>] </a:t>
            </a:r>
            <a:r>
              <a:rPr>
                <a:solidFill>
                  <a:srgbClr val="666666"/>
                </a:solidFill>
                <a:latin typeface="Courier"/>
              </a:rPr>
              <a:t>=</a:t>
            </a:r>
            <a:r>
              <a:rPr>
                <a:latin typeface="Courier"/>
              </a:rPr>
              <a:t> </a:t>
            </a:r>
            <a:r>
              <a:rPr>
                <a:solidFill>
                  <a:srgbClr val="40A070"/>
                </a:solidFill>
                <a:latin typeface="Courier"/>
              </a:rPr>
              <a:t>0.1</a:t>
            </a:r>
            <a:br/>
            <a:br/>
            <a:r>
              <a:rPr>
                <a:latin typeface="Courier"/>
              </a:rPr>
              <a:t>    </a:t>
            </a:r>
            <a:r>
              <a:rPr b="1">
                <a:solidFill>
                  <a:srgbClr val="007020"/>
                </a:solidFill>
                <a:latin typeface="Courier"/>
              </a:rPr>
              <a:t>return</a:t>
            </a:r>
            <a:r>
              <a:rPr>
                <a:latin typeface="Courier"/>
              </a:rPr>
              <a:t> phantom</a:t>
            </a:r>
            <a:br/>
            <a:br/>
            <a:r>
              <a:rPr>
                <a:latin typeface="Courier"/>
              </a:rPr>
              <a:t>phantom_image </a:t>
            </a:r>
            <a:r>
              <a:rPr>
                <a:solidFill>
                  <a:srgbClr val="666666"/>
                </a:solidFill>
                <a:latin typeface="Courier"/>
              </a:rPr>
              <a:t>=</a:t>
            </a:r>
            <a:r>
              <a:rPr>
                <a:latin typeface="Courier"/>
              </a:rPr>
              <a:t> create_phantom()</a:t>
            </a:r>
            <a:br/>
            <a:br/>
            <a:r>
              <a:rPr>
                <a:latin typeface="Courier"/>
              </a:rPr>
              <a:t>plt.figure()</a:t>
            </a:r>
            <a:br/>
            <a:r>
              <a:rPr>
                <a:latin typeface="Courier"/>
              </a:rPr>
              <a:t>plt.imshow(phantom_image, cmap</a:t>
            </a:r>
            <a:r>
              <a:rPr>
                <a:solidFill>
                  <a:srgbClr val="666666"/>
                </a:solidFill>
                <a:latin typeface="Courier"/>
              </a:rPr>
              <a:t>=</a:t>
            </a:r>
            <a:r>
              <a:rPr>
                <a:solidFill>
                  <a:srgbClr val="4070A0"/>
                </a:solidFill>
                <a:latin typeface="Courier"/>
              </a:rPr>
              <a:t>'cividis'</a:t>
            </a:r>
            <a:r>
              <a:rPr>
                <a:latin typeface="Courier"/>
              </a:rPr>
              <a:t>)</a:t>
            </a:r>
            <a:br/>
            <a:r>
              <a:rPr>
                <a:latin typeface="Courier"/>
              </a:rPr>
              <a:t>plt.title(</a:t>
            </a:r>
            <a:r>
              <a:rPr>
                <a:solidFill>
                  <a:srgbClr val="4070A0"/>
                </a:solidFill>
                <a:latin typeface="Courier"/>
              </a:rPr>
              <a:t>"Synthetic Phantom Image"</a:t>
            </a:r>
            <a:r>
              <a:rPr>
                <a:latin typeface="Courier"/>
              </a:rPr>
              <a:t>)</a:t>
            </a:r>
            <a:br/>
            <a:r>
              <a:rPr>
                <a:latin typeface="Courier"/>
              </a:rPr>
              <a:t>plt.axis(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phantom_plot_fig </a:t>
            </a:r>
            <a:r>
              <a:rPr>
                <a:solidFill>
                  <a:srgbClr val="666666"/>
                </a:solidFill>
                <a:latin typeface="Courier"/>
              </a:rPr>
              <a:t>=</a:t>
            </a:r>
            <a:r>
              <a:rPr>
                <a:latin typeface="Courier"/>
              </a:rPr>
              <a:t> plt.gcf()</a:t>
            </a:r>
          </a:p>
        </p:txBody>
      </p:sp>
      <p:pic>
        <p:nvPicPr>
          <p:cNvPr descr="presentation_files/figure-pptx/phantom_code-39.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a Phantom: Visualization</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Radon Transform: Math</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Radon Transform is the mathematical formalization of taking a projection. It describes the process of integrating a 2D function </a:t>
                </a:r>
                <a:r>
                  <a:rPr>
                    <a:latin typeface="Courier"/>
                  </a:rPr>
                  <a:t>f(x,y)</a:t>
                </a:r>
                <a:r>
                  <a:rPr/>
                  <a:t> along a line.</a:t>
                </a:r>
              </a:p>
              <a:p>
                <a:pPr lvl="0" indent="0" marL="0">
                  <a:buNone/>
                </a:pPr>
                <a14:m>
                  <m:oMathPara xmlns:m="http://schemas.openxmlformats.org/officeDocument/2006/math">
                    <m:oMathParaPr>
                      <m:jc m:val="center"/>
                    </m:oMathParaPr>
                    <m:oMath>
                      <m:r>
                        <m:t>p</m:t>
                      </m:r>
                      <m:d>
                        <m:dPr>
                          <m:begChr m:val="("/>
                          <m:endChr m:val=")"/>
                          <m:sepChr m:val=""/>
                          <m:grow/>
                        </m:dPr>
                        <m:e>
                          <m:r>
                            <m:t>s</m:t>
                          </m:r>
                          <m:r>
                            <m:rPr>
                              <m:sty m:val="p"/>
                            </m:rPr>
                            <m:t>,</m:t>
                          </m:r>
                          <m:r>
                            <m:t>θ</m:t>
                          </m:r>
                        </m:e>
                      </m:d>
                      <m:r>
                        <m:rPr>
                          <m:sty m:val="p"/>
                        </m:rPr>
                        <m:t>=</m:t>
                      </m:r>
                      <m:r>
                        <m:rPr>
                          <m:sty m:val="p"/>
                          <m:scr m:val="script"/>
                        </m:rPr>
                        <m:t>R</m:t>
                      </m:r>
                      <m:r>
                        <m:rPr>
                          <m:sty m:val="p"/>
                        </m:rPr>
                        <m:t>{</m:t>
                      </m:r>
                      <m:r>
                        <m:t>f</m:t>
                      </m:r>
                      <m:d>
                        <m:dPr>
                          <m:begChr m:val="("/>
                          <m:endChr m:val=")"/>
                          <m:sepChr m:val=""/>
                          <m:grow/>
                        </m:dPr>
                        <m:e>
                          <m:r>
                            <m:t>x</m:t>
                          </m:r>
                          <m:r>
                            <m:rPr>
                              <m:sty m:val="p"/>
                            </m:rPr>
                            <m:t>,</m:t>
                          </m:r>
                          <m:r>
                            <m:t>y</m:t>
                          </m:r>
                        </m:e>
                      </m:d>
                      <m:r>
                        <m:rPr>
                          <m:sty m:val="p"/>
                        </m:rPr>
                        <m:t>}</m:t>
                      </m:r>
                      <m:r>
                        <m:rPr>
                          <m:sty m:val="p"/>
                        </m:rPr>
                        <m:t>=</m:t>
                      </m:r>
                      <m:nary>
                        <m:naryPr>
                          <m:chr m:val="∫"/>
                          <m:limLoc m:val="subSup"/>
                          <m:subHide m:val="off"/>
                          <m:supHide m:val="off"/>
                        </m:naryPr>
                        <m:sub>
                          <m:r>
                            <m:rPr>
                              <m:sty m:val="p"/>
                            </m:rPr>
                            <m:t>−</m:t>
                          </m:r>
                          <m:r>
                            <m:rPr>
                              <m:sty m:val="p"/>
                            </m:rPr>
                            <m:t>∞</m:t>
                          </m:r>
                        </m:sub>
                        <m:sup>
                          <m:r>
                            <m:rPr>
                              <m:sty m:val="p"/>
                            </m:rPr>
                            <m:t>∞</m:t>
                          </m:r>
                        </m:sup>
                        <m:e>
                          <m:r>
                            <m:t>f</m:t>
                          </m:r>
                        </m:e>
                      </m:nary>
                      <m:d>
                        <m:dPr>
                          <m:begChr m:val="("/>
                          <m:endChr m:val=")"/>
                          <m:sepChr m:val=""/>
                          <m:grow/>
                        </m:dPr>
                        <m:e>
                          <m:r>
                            <m:t>s</m:t>
                          </m:r>
                          <m:r>
                            <m:rPr>
                              <m:sty m:val="p"/>
                            </m:rPr>
                            <m:t>cos</m:t>
                          </m:r>
                          <m:r>
                            <m:t>θ</m:t>
                          </m:r>
                          <m:r>
                            <m:rPr>
                              <m:sty m:val="p"/>
                            </m:rPr>
                            <m:t>−</m:t>
                          </m:r>
                          <m:r>
                            <m:t>u</m:t>
                          </m:r>
                          <m:r>
                            <m:rPr>
                              <m:sty m:val="p"/>
                            </m:rPr>
                            <m:t>sin</m:t>
                          </m:r>
                          <m:r>
                            <m:t>θ</m:t>
                          </m:r>
                          <m:r>
                            <m:rPr>
                              <m:sty m:val="p"/>
                            </m:rPr>
                            <m:t>,</m:t>
                          </m:r>
                          <m:r>
                            <m:t>s</m:t>
                          </m:r>
                          <m:r>
                            <m:rPr>
                              <m:sty m:val="p"/>
                            </m:rPr>
                            <m:t>sin</m:t>
                          </m:r>
                          <m:r>
                            <m:t>θ</m:t>
                          </m:r>
                          <m:r>
                            <m:rPr>
                              <m:sty m:val="p"/>
                            </m:rPr>
                            <m:t>+</m:t>
                          </m:r>
                          <m:r>
                            <m:t>u</m:t>
                          </m:r>
                          <m:r>
                            <m:rPr>
                              <m:sty m:val="p"/>
                            </m:rPr>
                            <m:t>cos</m:t>
                          </m:r>
                          <m:r>
                            <m:t>θ</m:t>
                          </m:r>
                        </m:e>
                      </m:d>
                      <m:r>
                        <m:t>d</m:t>
                      </m:r>
                      <m:r>
                        <m:t>u</m:t>
                      </m:r>
                    </m:oMath>
                  </m:oMathPara>
                </a14:m>
              </a:p>
              <a:p>
                <a:pPr lvl="0"/>
                <a:r>
                  <a:rPr>
                    <a:latin typeface="Courier"/>
                  </a:rPr>
                  <a:t>p(s, θ)</a:t>
                </a:r>
                <a:r>
                  <a:rPr/>
                  <a:t> is the projection at an angle </a:t>
                </a:r>
                <a:r>
                  <a:rPr>
                    <a:latin typeface="Courier"/>
                  </a:rPr>
                  <a:t>θ</a:t>
                </a:r>
                <a:r>
                  <a:rPr/>
                  <a:t> and a distance </a:t>
                </a:r>
                <a:r>
                  <a:rPr>
                    <a:latin typeface="Courier"/>
                  </a:rPr>
                  <a:t>s</a:t>
                </a:r>
                <a:r>
                  <a:rPr/>
                  <a:t> from the origin.</a:t>
                </a:r>
              </a:p>
              <a:p>
                <a:pPr lvl="0"/>
                <a:r>
                  <a:rPr/>
                  <a:t>This is the value of one point in the </a:t>
                </a:r>
                <a:r>
                  <a:rPr b="1"/>
                  <a:t>sinogram</a:t>
                </a:r>
                <a:r>
                  <a:rPr/>
                  <a:t>.</a:t>
                </a:r>
              </a:p>
            </p:txBody>
          </p:sp>
        </mc:Choice>
      </mc:AlternateContent>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Simulating Projections: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from</a:t>
            </a:r>
            <a:r>
              <a:rPr>
                <a:latin typeface="Courier"/>
              </a:rPr>
              <a:t> scipy.ndimage </a:t>
            </a:r>
            <a:r>
              <a:rPr b="1">
                <a:solidFill>
                  <a:srgbClr val="008000"/>
                </a:solidFill>
                <a:latin typeface="Courier"/>
              </a:rPr>
              <a:t>import</a:t>
            </a:r>
            <a:r>
              <a:rPr>
                <a:latin typeface="Courier"/>
              </a:rPr>
              <a:t> rotate</a:t>
            </a:r>
            <a:b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Simulate projections at a few angles</a:t>
            </a:r>
            <a:br/>
            <a:r>
              <a:rPr>
                <a:latin typeface="Courier"/>
              </a:rPr>
              <a:t>angles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180</a:t>
            </a:r>
            <a:r>
              <a:rPr>
                <a:latin typeface="Courier"/>
              </a:rPr>
              <a:t>, </a:t>
            </a:r>
            <a:r>
              <a:rPr>
                <a:solidFill>
                  <a:srgbClr val="40A070"/>
                </a:solidFill>
                <a:latin typeface="Courier"/>
              </a:rPr>
              <a:t>45</a:t>
            </a:r>
            <a:r>
              <a:rPr>
                <a:latin typeface="Courier"/>
              </a:rPr>
              <a:t>)</a:t>
            </a:r>
            <a:br/>
            <a:r>
              <a:rPr>
                <a:latin typeface="Courier"/>
              </a:rPr>
              <a:t>projections </a:t>
            </a:r>
            <a:r>
              <a:rPr>
                <a:solidFill>
                  <a:srgbClr val="666666"/>
                </a:solidFill>
                <a:latin typeface="Courier"/>
              </a:rPr>
              <a:t>=</a:t>
            </a:r>
            <a:r>
              <a:rPr>
                <a:latin typeface="Courier"/>
              </a:rPr>
              <a:t> []</a:t>
            </a:r>
            <a:br/>
            <a:br/>
            <a:r>
              <a:rPr b="1">
                <a:solidFill>
                  <a:srgbClr val="007020"/>
                </a:solidFill>
                <a:latin typeface="Courier"/>
              </a:rPr>
              <a:t>for</a:t>
            </a:r>
            <a:r>
              <a:rPr>
                <a:latin typeface="Courier"/>
              </a:rPr>
              <a:t> angle </a:t>
            </a:r>
            <a:r>
              <a:rPr b="1">
                <a:solidFill>
                  <a:srgbClr val="007020"/>
                </a:solidFill>
                <a:latin typeface="Courier"/>
              </a:rPr>
              <a:t>in</a:t>
            </a:r>
            <a:r>
              <a:rPr>
                <a:latin typeface="Courier"/>
              </a:rPr>
              <a:t> angles:</a:t>
            </a:r>
            <a:br/>
            <a:r>
              <a:rPr>
                <a:latin typeface="Courier"/>
              </a:rPr>
              <a:t>    rot_image </a:t>
            </a:r>
            <a:r>
              <a:rPr>
                <a:solidFill>
                  <a:srgbClr val="666666"/>
                </a:solidFill>
                <a:latin typeface="Courier"/>
              </a:rPr>
              <a:t>=</a:t>
            </a:r>
            <a:r>
              <a:rPr>
                <a:latin typeface="Courier"/>
              </a:rPr>
              <a:t> rotate(phantom_image, angle, reshape</a:t>
            </a:r>
            <a:r>
              <a:rPr>
                <a:solidFill>
                  <a:srgbClr val="666666"/>
                </a:solidFill>
                <a:latin typeface="Courier"/>
              </a:rPr>
              <a:t>=</a:t>
            </a:r>
            <a:r>
              <a:rPr>
                <a:solidFill>
                  <a:srgbClr val="19177C"/>
                </a:solidFill>
                <a:latin typeface="Courier"/>
              </a:rPr>
              <a:t>False</a:t>
            </a:r>
            <a:r>
              <a:rPr>
                <a:latin typeface="Courier"/>
              </a:rPr>
              <a:t>)</a:t>
            </a:r>
            <a:br/>
            <a:r>
              <a:rPr>
                <a:latin typeface="Courier"/>
              </a:rPr>
              <a:t>    projections.append(rot_image.</a:t>
            </a:r>
            <a:r>
              <a:rPr>
                <a:solidFill>
                  <a:srgbClr val="008000"/>
                </a:solidFill>
                <a:latin typeface="Courier"/>
              </a:rPr>
              <a:t>sum</a:t>
            </a:r>
            <a:r>
              <a:rPr>
                <a:latin typeface="Courier"/>
              </a:rPr>
              <a:t>(axis</a:t>
            </a:r>
            <a:r>
              <a:rPr>
                <a:solidFill>
                  <a:srgbClr val="666666"/>
                </a:solidFill>
                <a:latin typeface="Courier"/>
              </a:rPr>
              <a:t>=</a:t>
            </a:r>
            <a:r>
              <a:rPr>
                <a:solidFill>
                  <a:srgbClr val="40A070"/>
                </a:solidFill>
                <a:latin typeface="Courier"/>
              </a:rPr>
              <a:t>0</a:t>
            </a:r>
            <a:r>
              <a:rPr>
                <a:latin typeface="Courier"/>
              </a:rPr>
              <a:t>))</a:t>
            </a:r>
            <a:br/>
            <a:br/>
            <a:r>
              <a:rPr>
                <a:latin typeface="Courier"/>
              </a:rPr>
              <a:t>fig, axes </a:t>
            </a:r>
            <a:r>
              <a:rPr>
                <a:solidFill>
                  <a:srgbClr val="666666"/>
                </a:solidFill>
                <a:latin typeface="Courier"/>
              </a:rPr>
              <a:t>=</a:t>
            </a:r>
            <a:r>
              <a:rPr>
                <a:latin typeface="Courier"/>
              </a:rPr>
              <a:t> plt.subplots(</a:t>
            </a:r>
            <a:r>
              <a:rPr>
                <a:solidFill>
                  <a:srgbClr val="40A070"/>
                </a:solidFill>
                <a:latin typeface="Courier"/>
              </a:rPr>
              <a:t>2</a:t>
            </a:r>
            <a:r>
              <a:rPr>
                <a:latin typeface="Courier"/>
              </a:rPr>
              <a:t>, </a:t>
            </a:r>
            <a:r>
              <a:rPr>
                <a:solidFill>
                  <a:srgbClr val="40A070"/>
                </a:solidFill>
                <a:latin typeface="Courier"/>
              </a:rPr>
              <a:t>2</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8</a:t>
            </a:r>
            <a:r>
              <a:rPr>
                <a:latin typeface="Courier"/>
              </a:rPr>
              <a:t>), sharex</a:t>
            </a:r>
            <a:r>
              <a:rPr>
                <a:solidFill>
                  <a:srgbClr val="666666"/>
                </a:solidFill>
                <a:latin typeface="Courier"/>
              </a:rPr>
              <a:t>=</a:t>
            </a:r>
            <a:r>
              <a:rPr>
                <a:solidFill>
                  <a:srgbClr val="19177C"/>
                </a:solidFill>
                <a:latin typeface="Courier"/>
              </a:rPr>
              <a:t>True</a:t>
            </a:r>
            <a:r>
              <a:rPr>
                <a:latin typeface="Courier"/>
              </a:rPr>
              <a:t>, sharey</a:t>
            </a:r>
            <a:r>
              <a:rPr>
                <a:solidFill>
                  <a:srgbClr val="666666"/>
                </a:solidFill>
                <a:latin typeface="Courier"/>
              </a:rPr>
              <a:t>=</a:t>
            </a:r>
            <a:r>
              <a:rPr>
                <a:solidFill>
                  <a:srgbClr val="19177C"/>
                </a:solidFill>
                <a:latin typeface="Courier"/>
              </a:rPr>
              <a:t>True</a:t>
            </a:r>
            <a:r>
              <a:rPr>
                <a:latin typeface="Courier"/>
              </a:rPr>
              <a:t>)</a:t>
            </a:r>
            <a:br/>
            <a:r>
              <a:rPr b="1">
                <a:solidFill>
                  <a:srgbClr val="007020"/>
                </a:solidFill>
                <a:latin typeface="Courier"/>
              </a:rPr>
              <a:t>for</a:t>
            </a:r>
            <a:r>
              <a:rPr>
                <a:latin typeface="Courier"/>
              </a:rPr>
              <a:t> i, ax </a:t>
            </a:r>
            <a:r>
              <a:rPr b="1">
                <a:solidFill>
                  <a:srgbClr val="007020"/>
                </a:solidFill>
                <a:latin typeface="Courier"/>
              </a:rPr>
              <a:t>in</a:t>
            </a:r>
            <a:r>
              <a:rPr>
                <a:latin typeface="Courier"/>
              </a:rPr>
              <a:t> </a:t>
            </a:r>
            <a:r>
              <a:rPr>
                <a:solidFill>
                  <a:srgbClr val="008000"/>
                </a:solidFill>
                <a:latin typeface="Courier"/>
              </a:rPr>
              <a:t>enumerate</a:t>
            </a:r>
            <a:r>
              <a:rPr>
                <a:latin typeface="Courier"/>
              </a:rPr>
              <a:t>(axes.flat):</a:t>
            </a:r>
            <a:br/>
            <a:r>
              <a:rPr>
                <a:latin typeface="Courier"/>
              </a:rPr>
              <a:t>    ax.plot(projections[i])</a:t>
            </a:r>
            <a:br/>
            <a:r>
              <a:rPr>
                <a:latin typeface="Courier"/>
              </a:rPr>
              <a:t>    ax.set_title(</a:t>
            </a:r>
            <a:r>
              <a:rPr>
                <a:solidFill>
                  <a:srgbClr val="BB6688"/>
                </a:solidFill>
                <a:latin typeface="Courier"/>
              </a:rPr>
              <a:t>f"Angle = </a:t>
            </a:r>
            <a:r>
              <a:rPr>
                <a:solidFill>
                  <a:srgbClr val="4070A0"/>
                </a:solidFill>
                <a:latin typeface="Courier"/>
              </a:rPr>
              <a:t>{</a:t>
            </a:r>
            <a:r>
              <a:rPr>
                <a:latin typeface="Courier"/>
              </a:rPr>
              <a:t>angles[i]</a:t>
            </a:r>
            <a:r>
              <a:rPr>
                <a:solidFill>
                  <a:srgbClr val="4070A0"/>
                </a:solidFill>
                <a:latin typeface="Courier"/>
              </a:rPr>
              <a:t>}</a:t>
            </a:r>
            <a:r>
              <a:rPr>
                <a:solidFill>
                  <a:srgbClr val="BB6688"/>
                </a:solidFill>
                <a:latin typeface="Courier"/>
              </a:rPr>
              <a:t>"</a:t>
            </a:r>
            <a:r>
              <a:rPr>
                <a:latin typeface="Courier"/>
              </a:rPr>
              <a:t>)</a:t>
            </a:r>
            <a:br/>
            <a:r>
              <a:rPr>
                <a:latin typeface="Courier"/>
              </a:rPr>
              <a:t>fig.suptitle(</a:t>
            </a:r>
            <a:r>
              <a:rPr>
                <a:solidFill>
                  <a:srgbClr val="4070A0"/>
                </a:solidFill>
                <a:latin typeface="Courier"/>
              </a:rPr>
              <a:t>"1D Projections at Different Angles"</a:t>
            </a:r>
            <a:r>
              <a:rPr>
                <a:latin typeface="Courier"/>
              </a:rPr>
              <a:t>)</a:t>
            </a:r>
            <a:br/>
            <a:r>
              <a:rPr>
                <a:latin typeface="Courier"/>
              </a:rPr>
              <a:t>projection_plot_fig </a:t>
            </a:r>
            <a:r>
              <a:rPr>
                <a:solidFill>
                  <a:srgbClr val="666666"/>
                </a:solidFill>
                <a:latin typeface="Courier"/>
              </a:rPr>
              <a:t>=</a:t>
            </a:r>
            <a:r>
              <a:rPr>
                <a:latin typeface="Courier"/>
              </a:rPr>
              <a:t> plt.gcf()</a:t>
            </a:r>
          </a:p>
        </p:txBody>
      </p:sp>
      <p:pic>
        <p:nvPicPr>
          <p:cNvPr descr="presentation_files/figure-pptx/projection_code-4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Simulating Projections: Visualization</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Sinogram</a:t>
            </a:r>
          </a:p>
        </p:txBody>
      </p:sp>
      <p:sp>
        <p:nvSpPr>
          <p:cNvPr id="3" name="Content Placeholder 2"/>
          <p:cNvSpPr>
            <a:spLocks noGrp="1"/>
          </p:cNvSpPr>
          <p:nvPr>
            <p:ph idx="1"/>
          </p:nvPr>
        </p:nvSpPr>
        <p:spPr/>
        <p:txBody>
          <a:bodyPr/>
          <a:lstStyle/>
          <a:p>
            <a:pPr lvl="0" indent="0" marL="0">
              <a:buNone/>
            </a:pPr>
            <a:r>
              <a:rPr/>
              <a:t>A sinogram is the collection of all 1D projections stacked together as an image.</a:t>
            </a:r>
          </a:p>
          <a:p>
            <a:pPr lvl="0"/>
            <a:r>
              <a:rPr/>
              <a:t>The y-axis represents the angle </a:t>
            </a:r>
            <a:r>
              <a:rPr>
                <a:latin typeface="Courier"/>
              </a:rPr>
              <a:t>θ</a:t>
            </a:r>
            <a:r>
              <a:rPr/>
              <a:t> (from 0 to 180 degrees).</a:t>
            </a:r>
          </a:p>
          <a:p>
            <a:pPr lvl="0"/>
            <a:r>
              <a:rPr/>
              <a:t>The x-axis represents the detector position </a:t>
            </a:r>
            <a:r>
              <a:rPr>
                <a:latin typeface="Courier"/>
              </a:rPr>
              <a:t>s</a:t>
            </a:r>
            <a:r>
              <a:rPr/>
              <a:t>.</a:t>
            </a:r>
          </a:p>
          <a:p>
            <a:pPr lvl="0"/>
            <a:r>
              <a:rPr/>
              <a:t>A single point in the object traces out a sinusoidal path in the sinogram. Hence the name.</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Sinogram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from</a:t>
            </a:r>
            <a:r>
              <a:rPr>
                <a:latin typeface="Courier"/>
              </a:rPr>
              <a:t> skimage.transform </a:t>
            </a:r>
            <a:r>
              <a:rPr b="1">
                <a:solidFill>
                  <a:srgbClr val="008000"/>
                </a:solidFill>
                <a:latin typeface="Courier"/>
              </a:rPr>
              <a:t>import</a:t>
            </a:r>
            <a:r>
              <a:rPr>
                <a:latin typeface="Courier"/>
              </a:rPr>
              <a:t> radon</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br/>
            <a:r>
              <a:rPr i="1">
                <a:solidFill>
                  <a:srgbClr val="60A0B0"/>
                </a:solidFill>
                <a:latin typeface="Courier"/>
              </a:rPr>
              <a:t># Using a proper radon transform function for a better sinogram</a:t>
            </a:r>
            <a:br/>
            <a:r>
              <a:rPr>
                <a:latin typeface="Courier"/>
              </a:rPr>
              <a:t>theta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180.</a:t>
            </a:r>
            <a:r>
              <a:rPr>
                <a:latin typeface="Courier"/>
              </a:rPr>
              <a:t>, </a:t>
            </a:r>
            <a:r>
              <a:rPr>
                <a:solidFill>
                  <a:srgbClr val="008000"/>
                </a:solidFill>
                <a:latin typeface="Courier"/>
              </a:rPr>
              <a:t>max</a:t>
            </a:r>
            <a:r>
              <a:rPr>
                <a:latin typeface="Courier"/>
              </a:rPr>
              <a:t>(phantom_image.shape), endpoint</a:t>
            </a:r>
            <a:r>
              <a:rPr>
                <a:solidFill>
                  <a:srgbClr val="666666"/>
                </a:solidFill>
                <a:latin typeface="Courier"/>
              </a:rPr>
              <a:t>=</a:t>
            </a:r>
            <a:r>
              <a:rPr>
                <a:solidFill>
                  <a:srgbClr val="19177C"/>
                </a:solidFill>
                <a:latin typeface="Courier"/>
              </a:rPr>
              <a:t>False</a:t>
            </a:r>
            <a:r>
              <a:rPr>
                <a:latin typeface="Courier"/>
              </a:rPr>
              <a:t>)</a:t>
            </a:r>
            <a:br/>
            <a:r>
              <a:rPr>
                <a:latin typeface="Courier"/>
              </a:rPr>
              <a:t>sinogram </a:t>
            </a:r>
            <a:r>
              <a:rPr>
                <a:solidFill>
                  <a:srgbClr val="666666"/>
                </a:solidFill>
                <a:latin typeface="Courier"/>
              </a:rPr>
              <a:t>=</a:t>
            </a:r>
            <a:r>
              <a:rPr>
                <a:latin typeface="Courier"/>
              </a:rPr>
              <a:t> radon(phantom_image, theta</a:t>
            </a:r>
            <a:r>
              <a:rPr>
                <a:solidFill>
                  <a:srgbClr val="666666"/>
                </a:solidFill>
                <a:latin typeface="Courier"/>
              </a:rPr>
              <a:t>=</a:t>
            </a:r>
            <a:r>
              <a:rPr>
                <a:latin typeface="Courier"/>
              </a:rPr>
              <a:t>theta, circle</a:t>
            </a:r>
            <a:r>
              <a:rPr>
                <a:solidFill>
                  <a:srgbClr val="666666"/>
                </a:solidFill>
                <a:latin typeface="Courier"/>
              </a:rPr>
              <a:t>=</a:t>
            </a:r>
            <a:r>
              <a:rPr>
                <a:solidFill>
                  <a:srgbClr val="19177C"/>
                </a:solidFill>
                <a:latin typeface="Courier"/>
              </a:rPr>
              <a:t>True</a:t>
            </a:r>
            <a:r>
              <a:rPr>
                <a:latin typeface="Courier"/>
              </a:rPr>
              <a:t>)</a:t>
            </a:r>
            <a:br/>
            <a:br/>
            <a:r>
              <a:rPr>
                <a:latin typeface="Courier"/>
              </a:rPr>
              <a:t>plt.figure()</a:t>
            </a:r>
            <a:br/>
            <a:r>
              <a:rPr>
                <a:latin typeface="Courier"/>
              </a:rPr>
              <a:t>plt.imshow(sinogram, cmap</a:t>
            </a:r>
            <a:r>
              <a:rPr>
                <a:solidFill>
                  <a:srgbClr val="666666"/>
                </a:solidFill>
                <a:latin typeface="Courier"/>
              </a:rPr>
              <a:t>=</a:t>
            </a:r>
            <a:r>
              <a:rPr>
                <a:solidFill>
                  <a:srgbClr val="4070A0"/>
                </a:solidFill>
                <a:latin typeface="Courier"/>
              </a:rPr>
              <a:t>'viridis'</a:t>
            </a:r>
            <a:r>
              <a:rPr>
                <a:latin typeface="Courier"/>
              </a:rPr>
              <a:t>, extent</a:t>
            </a:r>
            <a:r>
              <a:rPr>
                <a:solidFill>
                  <a:srgbClr val="666666"/>
                </a:solidFill>
                <a:latin typeface="Courier"/>
              </a:rPr>
              <a:t>=</a:t>
            </a:r>
            <a:r>
              <a:rPr>
                <a:latin typeface="Courier"/>
              </a:rPr>
              <a:t>(</a:t>
            </a:r>
            <a:r>
              <a:rPr>
                <a:solidFill>
                  <a:srgbClr val="40A070"/>
                </a:solidFill>
                <a:latin typeface="Courier"/>
              </a:rPr>
              <a:t>0</a:t>
            </a:r>
            <a:r>
              <a:rPr>
                <a:latin typeface="Courier"/>
              </a:rPr>
              <a:t>, </a:t>
            </a:r>
            <a:r>
              <a:rPr>
                <a:solidFill>
                  <a:srgbClr val="40A070"/>
                </a:solidFill>
                <a:latin typeface="Courier"/>
              </a:rPr>
              <a:t>180</a:t>
            </a:r>
            <a:r>
              <a:rPr>
                <a:latin typeface="Courier"/>
              </a:rPr>
              <a:t>, </a:t>
            </a:r>
            <a:r>
              <a:rPr>
                <a:solidFill>
                  <a:srgbClr val="40A070"/>
                </a:solidFill>
                <a:latin typeface="Courier"/>
              </a:rPr>
              <a:t>0</a:t>
            </a:r>
            <a:r>
              <a:rPr>
                <a:latin typeface="Courier"/>
              </a:rPr>
              <a:t>, sinogram.shape[</a:t>
            </a:r>
            <a:r>
              <a:rPr>
                <a:solidFill>
                  <a:srgbClr val="40A070"/>
                </a:solidFill>
                <a:latin typeface="Courier"/>
              </a:rPr>
              <a:t>0</a:t>
            </a:r>
            <a:r>
              <a:rPr>
                <a:latin typeface="Courier"/>
              </a:rPr>
              <a:t>]), aspect</a:t>
            </a:r>
            <a:r>
              <a:rPr>
                <a:solidFill>
                  <a:srgbClr val="666666"/>
                </a:solidFill>
                <a:latin typeface="Courier"/>
              </a:rPr>
              <a:t>=</a:t>
            </a:r>
            <a:r>
              <a:rPr>
                <a:solidFill>
                  <a:srgbClr val="4070A0"/>
                </a:solidFill>
                <a:latin typeface="Courier"/>
              </a:rPr>
              <a:t>'auto'</a:t>
            </a:r>
            <a:r>
              <a:rPr>
                <a:latin typeface="Courier"/>
              </a:rPr>
              <a:t>)</a:t>
            </a:r>
            <a:br/>
            <a:r>
              <a:rPr>
                <a:latin typeface="Courier"/>
              </a:rPr>
              <a:t>plt.title(</a:t>
            </a:r>
            <a:r>
              <a:rPr>
                <a:solidFill>
                  <a:srgbClr val="4070A0"/>
                </a:solidFill>
                <a:latin typeface="Courier"/>
              </a:rPr>
              <a:t>"Sinogram"</a:t>
            </a:r>
            <a:r>
              <a:rPr>
                <a:latin typeface="Courier"/>
              </a:rPr>
              <a:t>)</a:t>
            </a:r>
            <a:br/>
            <a:r>
              <a:rPr>
                <a:latin typeface="Courier"/>
              </a:rPr>
              <a:t>plt.xlabel(</a:t>
            </a:r>
            <a:r>
              <a:rPr>
                <a:solidFill>
                  <a:srgbClr val="4070A0"/>
                </a:solidFill>
                <a:latin typeface="Courier"/>
              </a:rPr>
              <a:t>"Angle (theta)"</a:t>
            </a:r>
            <a:r>
              <a:rPr>
                <a:latin typeface="Courier"/>
              </a:rPr>
              <a:t>)</a:t>
            </a:r>
            <a:br/>
            <a:r>
              <a:rPr>
                <a:latin typeface="Courier"/>
              </a:rPr>
              <a:t>plt.ylabel(</a:t>
            </a:r>
            <a:r>
              <a:rPr>
                <a:solidFill>
                  <a:srgbClr val="4070A0"/>
                </a:solidFill>
                <a:latin typeface="Courier"/>
              </a:rPr>
              <a:t>"Detector Position (s)"</a:t>
            </a:r>
            <a:r>
              <a:rPr>
                <a:latin typeface="Courier"/>
              </a:rPr>
              <a:t>)</a:t>
            </a:r>
            <a:br/>
            <a:r>
              <a:rPr>
                <a:latin typeface="Courier"/>
              </a:rPr>
              <a:t>sinogram_plot_fig </a:t>
            </a:r>
            <a:r>
              <a:rPr>
                <a:solidFill>
                  <a:srgbClr val="666666"/>
                </a:solidFill>
                <a:latin typeface="Courier"/>
              </a:rPr>
              <a:t>=</a:t>
            </a:r>
            <a:r>
              <a:rPr>
                <a:latin typeface="Courier"/>
              </a:rPr>
              <a:t> plt.gcf()</a:t>
            </a:r>
          </a:p>
        </p:txBody>
      </p:sp>
      <p:pic>
        <p:nvPicPr>
          <p:cNvPr descr="presentation_files/figure-pptx/sinogram_code-4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Sinogram Visualization: Plot</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Fourier Slice Theorem</a:t>
            </a:r>
          </a:p>
        </p:txBody>
      </p:sp>
      <p:sp>
        <p:nvSpPr>
          <p:cNvPr id="3" name="Content Placeholder 2"/>
          <p:cNvSpPr>
            <a:spLocks noGrp="1"/>
          </p:cNvSpPr>
          <p:nvPr>
            <p:ph idx="1"/>
          </p:nvPr>
        </p:nvSpPr>
        <p:spPr/>
        <p:txBody>
          <a:bodyPr/>
          <a:lstStyle/>
          <a:p>
            <a:pPr lvl="0" indent="0" marL="0">
              <a:buNone/>
            </a:pPr>
            <a:r>
              <a:rPr/>
              <a:t>How do we get from the sinogram back to the image? The Fourier Slice Theorem is the theoretical key.</a:t>
            </a:r>
          </a:p>
          <a:p>
            <a:pPr lvl="0"/>
            <a:r>
              <a:rPr/>
              <a:t>It states that the </a:t>
            </a:r>
            <a:r>
              <a:rPr b="1"/>
              <a:t>1D Fourier Transform of a projection at angle </a:t>
            </a:r>
            <a:r>
              <a:rPr b="1">
                <a:latin typeface="Courier"/>
              </a:rPr>
              <a:t>θ</a:t>
            </a:r>
            <a:r>
              <a:rPr/>
              <a:t> is equal to a </a:t>
            </a:r>
            <a:r>
              <a:rPr b="1"/>
              <a:t>slice through the 2D Fourier Transform of the object at that same angle </a:t>
            </a:r>
            <a:r>
              <a:rPr b="1">
                <a:latin typeface="Courier"/>
              </a:rPr>
              <a:t>θ</a:t>
            </a:r>
            <a:r>
              <a:rPr/>
              <a:t>.</a:t>
            </a:r>
          </a:p>
          <a:p>
            <a:pPr lvl="0"/>
            <a:r>
              <a:rPr>
                <a:latin typeface="Courier"/>
              </a:rPr>
              <a:t>P(k, θ) = F(k cosθ, k sinθ)</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Fourier Slice Theorem: Conceptual Diagram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a:latin typeface="Courier"/>
              </a:rPr>
              <a:t>k_space </a:t>
            </a:r>
            <a:r>
              <a:rPr>
                <a:solidFill>
                  <a:srgbClr val="666666"/>
                </a:solidFill>
                <a:latin typeface="Courier"/>
              </a:rPr>
              <a:t>=</a:t>
            </a:r>
            <a:r>
              <a:rPr>
                <a:latin typeface="Courier"/>
              </a:rPr>
              <a:t> np.zeros((</a:t>
            </a:r>
            <a:r>
              <a:rPr>
                <a:solidFill>
                  <a:srgbClr val="40A070"/>
                </a:solidFill>
                <a:latin typeface="Courier"/>
              </a:rPr>
              <a:t>10</a:t>
            </a:r>
            <a:r>
              <a:rPr>
                <a:latin typeface="Courier"/>
              </a:rPr>
              <a:t>, </a:t>
            </a:r>
            <a:r>
              <a:rPr>
                <a:solidFill>
                  <a:srgbClr val="40A070"/>
                </a:solidFill>
                <a:latin typeface="Courier"/>
              </a:rPr>
              <a:t>10</a:t>
            </a:r>
            <a:r>
              <a:rPr>
                <a:latin typeface="Courier"/>
              </a:rPr>
              <a:t>))</a:t>
            </a:r>
            <a:br/>
            <a:r>
              <a:rPr>
                <a:latin typeface="Courier"/>
              </a:rPr>
              <a:t>angle_rad </a:t>
            </a:r>
            <a:r>
              <a:rPr>
                <a:solidFill>
                  <a:srgbClr val="666666"/>
                </a:solidFill>
                <a:latin typeface="Courier"/>
              </a:rPr>
              <a:t>=</a:t>
            </a:r>
            <a:r>
              <a:rPr>
                <a:latin typeface="Courier"/>
              </a:rPr>
              <a:t> </a:t>
            </a:r>
            <a:r>
              <a:rPr>
                <a:solidFill>
                  <a:srgbClr val="40A070"/>
                </a:solidFill>
                <a:latin typeface="Courier"/>
              </a:rPr>
              <a:t>30</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a:t>
            </a:r>
            <a:r>
              <a:rPr>
                <a:solidFill>
                  <a:srgbClr val="40A070"/>
                </a:solidFill>
                <a:latin typeface="Courier"/>
              </a:rPr>
              <a:t>180</a:t>
            </a:r>
            <a:br/>
            <a:r>
              <a:rPr>
                <a:latin typeface="Courier"/>
              </a:rPr>
              <a:t>kx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40A070"/>
                </a:solidFill>
                <a:latin typeface="Courier"/>
              </a:rPr>
              <a:t>10</a:t>
            </a:r>
            <a:r>
              <a:rPr>
                <a:latin typeface="Courier"/>
              </a:rPr>
              <a:t>)</a:t>
            </a:r>
            <a:br/>
            <a:r>
              <a:rPr>
                <a:latin typeface="Courier"/>
              </a:rPr>
              <a:t>ky </a:t>
            </a:r>
            <a:r>
              <a:rPr>
                <a:solidFill>
                  <a:srgbClr val="666666"/>
                </a:solidFill>
                <a:latin typeface="Courier"/>
              </a:rPr>
              <a:t>=</a:t>
            </a:r>
            <a:r>
              <a:rPr>
                <a:latin typeface="Courier"/>
              </a:rPr>
              <a:t> kx </a:t>
            </a:r>
            <a:r>
              <a:rPr>
                <a:solidFill>
                  <a:srgbClr val="666666"/>
                </a:solidFill>
                <a:latin typeface="Courier"/>
              </a:rPr>
              <a:t>*</a:t>
            </a:r>
            <a:r>
              <a:rPr>
                <a:latin typeface="Courier"/>
              </a:rPr>
              <a:t> np.tan(angle_rad)</a:t>
            </a:r>
            <a:br/>
            <a:br/>
            <a:r>
              <a:rPr>
                <a:latin typeface="Courier"/>
              </a:rPr>
              <a:t>plt.figure()</a:t>
            </a:r>
            <a:br/>
            <a:r>
              <a:rPr>
                <a:latin typeface="Courier"/>
              </a:rPr>
              <a:t>plt.imshow(k_space, cmap</a:t>
            </a:r>
            <a:r>
              <a:rPr>
                <a:solidFill>
                  <a:srgbClr val="666666"/>
                </a:solidFill>
                <a:latin typeface="Courier"/>
              </a:rPr>
              <a:t>=</a:t>
            </a:r>
            <a:r>
              <a:rPr>
                <a:solidFill>
                  <a:srgbClr val="4070A0"/>
                </a:solidFill>
                <a:latin typeface="Courier"/>
              </a:rPr>
              <a:t>'gray'</a:t>
            </a:r>
            <a:r>
              <a:rPr>
                <a:latin typeface="Courier"/>
              </a:rPr>
              <a:t>, extent</a:t>
            </a:r>
            <a:r>
              <a:rPr>
                <a:solidFill>
                  <a:srgbClr val="666666"/>
                </a:solidFill>
                <a:latin typeface="Courier"/>
              </a:rPr>
              <a:t>=</a:t>
            </a:r>
            <a:r>
              <a:rPr>
                <a:latin typeface="Courier"/>
              </a:rPr>
              <a:t>[</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a:t>
            </a:r>
            <a:br/>
            <a:r>
              <a:rPr>
                <a:latin typeface="Courier"/>
              </a:rPr>
              <a:t>plt.plot(kx, ky, </a:t>
            </a:r>
            <a:r>
              <a:rPr>
                <a:solidFill>
                  <a:srgbClr val="4070A0"/>
                </a:solidFill>
                <a:latin typeface="Courier"/>
              </a:rPr>
              <a:t>'r'</a:t>
            </a:r>
            <a:r>
              <a:rPr>
                <a:latin typeface="Courier"/>
              </a:rPr>
              <a:t>, linewidth</a:t>
            </a:r>
            <a:r>
              <a:rPr>
                <a:solidFill>
                  <a:srgbClr val="666666"/>
                </a:solidFill>
                <a:latin typeface="Courier"/>
              </a:rPr>
              <a:t>=</a:t>
            </a:r>
            <a:r>
              <a:rPr>
                <a:solidFill>
                  <a:srgbClr val="40A070"/>
                </a:solidFill>
                <a:latin typeface="Courier"/>
              </a:rPr>
              <a:t>4</a:t>
            </a:r>
            <a:r>
              <a:rPr>
                <a:latin typeface="Courier"/>
              </a:rPr>
              <a:t>)</a:t>
            </a:r>
            <a:br/>
            <a:r>
              <a:rPr>
                <a:latin typeface="Courier"/>
              </a:rPr>
              <a:t>plt.title(</a:t>
            </a:r>
            <a:r>
              <a:rPr>
                <a:solidFill>
                  <a:srgbClr val="4070A0"/>
                </a:solidFill>
                <a:latin typeface="Courier"/>
              </a:rPr>
              <a:t>"Fourier Slice Theorem"</a:t>
            </a:r>
            <a:r>
              <a:rPr>
                <a:latin typeface="Courier"/>
              </a:rPr>
              <a:t>)</a:t>
            </a:r>
            <a:br/>
            <a:r>
              <a:rPr>
                <a:latin typeface="Courier"/>
              </a:rPr>
              <a:t>plt.xlabel(</a:t>
            </a:r>
            <a:r>
              <a:rPr>
                <a:solidFill>
                  <a:srgbClr val="4070A0"/>
                </a:solidFill>
                <a:latin typeface="Courier"/>
              </a:rPr>
              <a:t>"kx"</a:t>
            </a:r>
            <a:r>
              <a:rPr>
                <a:latin typeface="Courier"/>
              </a:rPr>
              <a:t>)</a:t>
            </a:r>
            <a:br/>
            <a:r>
              <a:rPr>
                <a:latin typeface="Courier"/>
              </a:rPr>
              <a:t>plt.ylabel(</a:t>
            </a:r>
            <a:r>
              <a:rPr>
                <a:solidFill>
                  <a:srgbClr val="4070A0"/>
                </a:solidFill>
                <a:latin typeface="Courier"/>
              </a:rPr>
              <a:t>"ky"</a:t>
            </a:r>
            <a:r>
              <a:rPr>
                <a:latin typeface="Courier"/>
              </a:rPr>
              <a:t>)</a:t>
            </a:r>
            <a:br/>
            <a:r>
              <a:rPr>
                <a:latin typeface="Courier"/>
              </a:rPr>
              <a:t>fst_diagram_fig </a:t>
            </a:r>
            <a:r>
              <a:rPr>
                <a:solidFill>
                  <a:srgbClr val="666666"/>
                </a:solidFill>
                <a:latin typeface="Courier"/>
              </a:rPr>
              <a:t>=</a:t>
            </a:r>
            <a:r>
              <a:rPr>
                <a:latin typeface="Courier"/>
              </a:rPr>
              <a:t> plt.gcf()</a:t>
            </a:r>
          </a:p>
        </p:txBody>
      </p:sp>
      <p:pic>
        <p:nvPicPr>
          <p:cNvPr descr="presentation_files/figure-pptx/fst_diagram_code-45.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Fourier Slice Theorem: Conceptual Diagram</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Simple Backprojection: The Intuition</a:t>
            </a:r>
          </a:p>
        </p:txBody>
      </p:sp>
      <p:sp>
        <p:nvSpPr>
          <p:cNvPr id="3" name="Content Placeholder 2"/>
          <p:cNvSpPr>
            <a:spLocks noGrp="1"/>
          </p:cNvSpPr>
          <p:nvPr>
            <p:ph idx="1"/>
          </p:nvPr>
        </p:nvSpPr>
        <p:spPr/>
        <p:txBody>
          <a:bodyPr/>
          <a:lstStyle/>
          <a:p>
            <a:pPr lvl="0" indent="0" marL="0">
              <a:buNone/>
            </a:pPr>
            <a:r>
              <a:rPr/>
              <a:t>The most naive way to reconstruct the image is “simple backprojection.”</a:t>
            </a:r>
          </a:p>
          <a:p>
            <a:pPr lvl="0"/>
            <a:r>
              <a:rPr/>
              <a:t>For each projection, “smear” the values back across the image at the angle from which they were acquired.</a:t>
            </a:r>
          </a:p>
          <a:p>
            <a:pPr lvl="0"/>
            <a:r>
              <a:rPr/>
              <a:t>Sum up all these smeared-back projections.</a:t>
            </a:r>
          </a:p>
          <a:p>
            <a:pPr lvl="0"/>
            <a:r>
              <a:rPr/>
              <a:t>Intuitive, but deeply flawed.</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Backprojection: The “Star Artifact”</a:t>
            </a:r>
          </a:p>
        </p:txBody>
      </p:sp>
      <p:sp>
        <p:nvSpPr>
          <p:cNvPr id="3" name="Content Placeholder 2"/>
          <p:cNvSpPr>
            <a:spLocks noGrp="1"/>
          </p:cNvSpPr>
          <p:nvPr>
            <p:ph idx="1"/>
          </p:nvPr>
        </p:nvSpPr>
        <p:spPr/>
        <p:txBody>
          <a:bodyPr/>
          <a:lstStyle/>
          <a:p>
            <a:pPr lvl="0" indent="0" marL="0">
              <a:buNone/>
            </a:pPr>
            <a:r>
              <a:rPr/>
              <a:t>Simple backprojection doesn’t work perfectly. It produces a characteristic blurring, often called a “star artifact” or “1/r blurring.”</a:t>
            </a:r>
          </a:p>
          <a:p>
            <a:pPr lvl="0"/>
            <a:r>
              <a:rPr/>
              <a:t>High-frequency information (sharp edges) is lost.</a:t>
            </a:r>
          </a:p>
          <a:p>
            <a:pPr lvl="0"/>
            <a:r>
              <a:rPr/>
              <a:t>The resulting image is a blurry version of the original.</a:t>
            </a:r>
          </a:p>
          <a:p>
            <a:pPr lvl="0"/>
            <a:r>
              <a:rPr>
                <a:latin typeface="Courier"/>
              </a:rPr>
              <a:t>f_blurry(x,y) = f(x,y) * (1/r)</a:t>
            </a:r>
            <a:r>
              <a:rPr/>
              <a:t>, where </a:t>
            </a:r>
            <a:r>
              <a:rPr>
                <a:latin typeface="Courier"/>
              </a:rPr>
              <a:t>$r = \\sqrt{x^2 + y^2}$</a:t>
            </a:r>
            <a:r>
              <a:rPr/>
              <a:t>.</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Backprojection: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from</a:t>
            </a:r>
            <a:r>
              <a:rPr>
                <a:latin typeface="Courier"/>
              </a:rPr>
              <a:t> skimage.transform </a:t>
            </a:r>
            <a:r>
              <a:rPr b="1">
                <a:solidFill>
                  <a:srgbClr val="008000"/>
                </a:solidFill>
                <a:latin typeface="Courier"/>
              </a:rPr>
              <a:t>import</a:t>
            </a:r>
            <a:r>
              <a:rPr>
                <a:latin typeface="Courier"/>
              </a:rPr>
              <a:t> iradon, radon</a:t>
            </a:r>
            <a:b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We'll use a proper inverse radon transform for a better visualization</a:t>
            </a:r>
            <a:br/>
            <a:r>
              <a:rPr i="1">
                <a:solidFill>
                  <a:srgbClr val="60A0B0"/>
                </a:solidFill>
                <a:latin typeface="Courier"/>
              </a:rPr>
              <a:t># Using the sinogram from the 0 and 90 degree projections</a:t>
            </a:r>
            <a:br/>
            <a:r>
              <a:rPr>
                <a:latin typeface="Courier"/>
              </a:rPr>
              <a:t>theta_small </a:t>
            </a:r>
            <a:r>
              <a:rPr>
                <a:solidFill>
                  <a:srgbClr val="666666"/>
                </a:solidFill>
                <a:latin typeface="Courier"/>
              </a:rPr>
              <a:t>=</a:t>
            </a:r>
            <a:r>
              <a:rPr>
                <a:latin typeface="Courier"/>
              </a:rPr>
              <a:t> np.arange(</a:t>
            </a:r>
            <a:r>
              <a:rPr>
                <a:solidFill>
                  <a:srgbClr val="40A070"/>
                </a:solidFill>
                <a:latin typeface="Courier"/>
              </a:rPr>
              <a:t>0</a:t>
            </a:r>
            <a:r>
              <a:rPr>
                <a:latin typeface="Courier"/>
              </a:rPr>
              <a:t>, </a:t>
            </a:r>
            <a:r>
              <a:rPr>
                <a:solidFill>
                  <a:srgbClr val="40A070"/>
                </a:solidFill>
                <a:latin typeface="Courier"/>
              </a:rPr>
              <a:t>180</a:t>
            </a:r>
            <a:r>
              <a:rPr>
                <a:latin typeface="Courier"/>
              </a:rPr>
              <a:t>, </a:t>
            </a:r>
            <a:r>
              <a:rPr>
                <a:solidFill>
                  <a:srgbClr val="40A070"/>
                </a:solidFill>
                <a:latin typeface="Courier"/>
              </a:rPr>
              <a:t>90</a:t>
            </a:r>
            <a:r>
              <a:rPr>
                <a:latin typeface="Courier"/>
              </a:rPr>
              <a:t>)</a:t>
            </a:r>
            <a:br/>
            <a:r>
              <a:rPr>
                <a:latin typeface="Courier"/>
              </a:rPr>
              <a:t>sinogram_small </a:t>
            </a:r>
            <a:r>
              <a:rPr>
                <a:solidFill>
                  <a:srgbClr val="666666"/>
                </a:solidFill>
                <a:latin typeface="Courier"/>
              </a:rPr>
              <a:t>=</a:t>
            </a:r>
            <a:r>
              <a:rPr>
                <a:latin typeface="Courier"/>
              </a:rPr>
              <a:t> radon(phantom_image, theta</a:t>
            </a:r>
            <a:r>
              <a:rPr>
                <a:solidFill>
                  <a:srgbClr val="666666"/>
                </a:solidFill>
                <a:latin typeface="Courier"/>
              </a:rPr>
              <a:t>=</a:t>
            </a:r>
            <a:r>
              <a:rPr>
                <a:latin typeface="Courier"/>
              </a:rPr>
              <a:t>theta_small, circle</a:t>
            </a:r>
            <a:r>
              <a:rPr>
                <a:solidFill>
                  <a:srgbClr val="666666"/>
                </a:solidFill>
                <a:latin typeface="Courier"/>
              </a:rPr>
              <a:t>=</a:t>
            </a:r>
            <a:r>
              <a:rPr>
                <a:solidFill>
                  <a:srgbClr val="19177C"/>
                </a:solidFill>
                <a:latin typeface="Courier"/>
              </a:rPr>
              <a:t>True</a:t>
            </a:r>
            <a:r>
              <a:rPr>
                <a:latin typeface="Courier"/>
              </a:rPr>
              <a:t>)</a:t>
            </a:r>
            <a:br/>
            <a:r>
              <a:rPr>
                <a:latin typeface="Courier"/>
              </a:rPr>
              <a:t>recon_simple </a:t>
            </a:r>
            <a:r>
              <a:rPr>
                <a:solidFill>
                  <a:srgbClr val="666666"/>
                </a:solidFill>
                <a:latin typeface="Courier"/>
              </a:rPr>
              <a:t>=</a:t>
            </a:r>
            <a:r>
              <a:rPr>
                <a:latin typeface="Courier"/>
              </a:rPr>
              <a:t> iradon(sinogram_small, theta</a:t>
            </a:r>
            <a:r>
              <a:rPr>
                <a:solidFill>
                  <a:srgbClr val="666666"/>
                </a:solidFill>
                <a:latin typeface="Courier"/>
              </a:rPr>
              <a:t>=</a:t>
            </a:r>
            <a:r>
              <a:rPr>
                <a:latin typeface="Courier"/>
              </a:rPr>
              <a:t>theta_small, filter_name</a:t>
            </a:r>
            <a:r>
              <a:rPr>
                <a:solidFill>
                  <a:srgbClr val="666666"/>
                </a:solidFill>
                <a:latin typeface="Courier"/>
              </a:rPr>
              <a:t>=</a:t>
            </a:r>
            <a:r>
              <a:rPr>
                <a:solidFill>
                  <a:srgbClr val="19177C"/>
                </a:solidFill>
                <a:latin typeface="Courier"/>
              </a:rPr>
              <a:t>None</a:t>
            </a:r>
            <a:r>
              <a:rPr>
                <a:latin typeface="Courier"/>
              </a:rPr>
              <a:t>)</a:t>
            </a:r>
            <a:br/>
            <a:br/>
            <a:r>
              <a:rPr>
                <a:latin typeface="Courier"/>
              </a:rPr>
              <a:t>plt.figure()</a:t>
            </a:r>
            <a:br/>
            <a:r>
              <a:rPr>
                <a:latin typeface="Courier"/>
              </a:rPr>
              <a:t>plt.imshow(recon_simple, cmap</a:t>
            </a:r>
            <a:r>
              <a:rPr>
                <a:solidFill>
                  <a:srgbClr val="666666"/>
                </a:solidFill>
                <a:latin typeface="Courier"/>
              </a:rPr>
              <a:t>=</a:t>
            </a:r>
            <a:r>
              <a:rPr>
                <a:solidFill>
                  <a:srgbClr val="4070A0"/>
                </a:solidFill>
                <a:latin typeface="Courier"/>
              </a:rPr>
              <a:t>'viridis'</a:t>
            </a:r>
            <a:r>
              <a:rPr>
                <a:latin typeface="Courier"/>
              </a:rPr>
              <a:t>)</a:t>
            </a:r>
            <a:br/>
            <a:r>
              <a:rPr>
                <a:latin typeface="Courier"/>
              </a:rPr>
              <a:t>plt.title(</a:t>
            </a:r>
            <a:r>
              <a:rPr>
                <a:solidFill>
                  <a:srgbClr val="4070A0"/>
                </a:solidFill>
                <a:latin typeface="Courier"/>
              </a:rPr>
              <a:t>"Simple Backprojection (2 Angles)"</a:t>
            </a:r>
            <a:r>
              <a:rPr>
                <a:latin typeface="Courier"/>
              </a:rPr>
              <a:t>)</a:t>
            </a:r>
            <a:br/>
            <a:r>
              <a:rPr>
                <a:latin typeface="Courier"/>
              </a:rPr>
              <a:t>plt.axis(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backprojection_plot_fig </a:t>
            </a:r>
            <a:r>
              <a:rPr>
                <a:solidFill>
                  <a:srgbClr val="666666"/>
                </a:solidFill>
                <a:latin typeface="Courier"/>
              </a:rPr>
              <a:t>=</a:t>
            </a:r>
            <a:r>
              <a:rPr>
                <a:latin typeface="Courier"/>
              </a:rPr>
              <a:t> plt.gcf()</a:t>
            </a:r>
          </a:p>
        </p:txBody>
      </p:sp>
      <p:pic>
        <p:nvPicPr>
          <p:cNvPr descr="presentation_files/figure-pptx/backprojection_code-47.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Backprojection: Visualization Plot</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Need for the Ramp Filter</a:t>
            </a:r>
          </a:p>
        </p:txBody>
      </p:sp>
      <p:sp>
        <p:nvSpPr>
          <p:cNvPr id="3" name="Content Placeholder 2"/>
          <p:cNvSpPr>
            <a:spLocks noGrp="1"/>
          </p:cNvSpPr>
          <p:nvPr>
            <p:ph idx="1"/>
          </p:nvPr>
        </p:nvSpPr>
        <p:spPr/>
        <p:txBody>
          <a:bodyPr/>
          <a:lstStyle/>
          <a:p>
            <a:pPr lvl="0" indent="0" marL="0">
              <a:buNone/>
            </a:pPr>
            <a:r>
              <a:rPr/>
              <a:t>How do we fix the blur from backprojection? We need to “un-blur” the image.</a:t>
            </a:r>
          </a:p>
          <a:p>
            <a:pPr lvl="0"/>
            <a:r>
              <a:rPr/>
              <a:t>Since </a:t>
            </a:r>
            <a:r>
              <a:rPr>
                <a:latin typeface="Courier"/>
              </a:rPr>
              <a:t>f_blurry = f * (1/r)</a:t>
            </a:r>
            <a:r>
              <a:rPr/>
              <a:t>, we need to convolve with the inverse of </a:t>
            </a:r>
            <a:r>
              <a:rPr>
                <a:latin typeface="Courier"/>
              </a:rPr>
              <a:t>(1/r)</a:t>
            </a:r>
            <a:r>
              <a:rPr/>
              <a:t>.</a:t>
            </a:r>
          </a:p>
          <a:p>
            <a:pPr lvl="0"/>
            <a:r>
              <a:rPr/>
              <a:t>The Fourier Transform of </a:t>
            </a:r>
            <a:r>
              <a:rPr>
                <a:latin typeface="Courier"/>
              </a:rPr>
              <a:t>1/r</a:t>
            </a:r>
            <a:r>
              <a:rPr/>
              <a:t> is </a:t>
            </a:r>
            <a:r>
              <a:rPr>
                <a:latin typeface="Courier"/>
              </a:rPr>
              <a:t>1/|k|</a:t>
            </a:r>
            <a:r>
              <a:rPr/>
              <a:t>.</a:t>
            </a:r>
          </a:p>
          <a:p>
            <a:pPr lvl="0"/>
            <a:r>
              <a:rPr/>
              <a:t>To deconvolve, we multiply in the frequency domain by the inverse, which is </a:t>
            </a:r>
            <a:r>
              <a:rPr>
                <a:latin typeface="Courier"/>
              </a:rPr>
              <a:t>|k|</a:t>
            </a:r>
            <a:r>
              <a:rPr/>
              <a:t>.</a:t>
            </a:r>
          </a:p>
          <a:p>
            <a:pPr lvl="0"/>
            <a:r>
              <a:rPr/>
              <a:t>This </a:t>
            </a:r>
            <a:r>
              <a:rPr>
                <a:latin typeface="Courier"/>
              </a:rPr>
              <a:t>|k|</a:t>
            </a:r>
            <a:r>
              <a:rPr/>
              <a:t> filter is called a </a:t>
            </a:r>
            <a:r>
              <a:rPr b="1"/>
              <a:t>Ramp Filter</a:t>
            </a:r>
            <a:r>
              <a:rPr/>
              <a:t>.</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Ramp Filter: Visualization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a:latin typeface="Courier"/>
              </a:rPr>
              <a:t>k </a:t>
            </a:r>
            <a:r>
              <a:rPr>
                <a:solidFill>
                  <a:srgbClr val="666666"/>
                </a:solidFill>
                <a:latin typeface="Courier"/>
              </a:rPr>
              <a:t>=</a:t>
            </a:r>
            <a:r>
              <a:rPr>
                <a:latin typeface="Courier"/>
              </a:rPr>
              <a:t> np.linspace(</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1</a:t>
            </a:r>
            <a:r>
              <a:rPr>
                <a:latin typeface="Courier"/>
              </a:rPr>
              <a:t>, </a:t>
            </a:r>
            <a:r>
              <a:rPr>
                <a:solidFill>
                  <a:srgbClr val="40A070"/>
                </a:solidFill>
                <a:latin typeface="Courier"/>
              </a:rPr>
              <a:t>1000</a:t>
            </a:r>
            <a:r>
              <a:rPr>
                <a:latin typeface="Courier"/>
              </a:rPr>
              <a:t>)</a:t>
            </a:r>
            <a:br/>
            <a:r>
              <a:rPr>
                <a:latin typeface="Courier"/>
              </a:rPr>
              <a:t>ramp_filter </a:t>
            </a:r>
            <a:r>
              <a:rPr>
                <a:solidFill>
                  <a:srgbClr val="666666"/>
                </a:solidFill>
                <a:latin typeface="Courier"/>
              </a:rPr>
              <a:t>=</a:t>
            </a:r>
            <a:r>
              <a:rPr>
                <a:latin typeface="Courier"/>
              </a:rPr>
              <a:t> np.</a:t>
            </a:r>
            <a:r>
              <a:rPr>
                <a:solidFill>
                  <a:srgbClr val="008000"/>
                </a:solidFill>
                <a:latin typeface="Courier"/>
              </a:rPr>
              <a:t>abs</a:t>
            </a:r>
            <a:r>
              <a:rPr>
                <a:latin typeface="Courier"/>
              </a:rPr>
              <a:t>(k)</a:t>
            </a:r>
            <a:br/>
            <a:r>
              <a:rPr>
                <a:latin typeface="Courier"/>
              </a:rPr>
              <a:t>plt.figure()</a:t>
            </a:r>
            <a:br/>
            <a:r>
              <a:rPr>
                <a:latin typeface="Courier"/>
              </a:rPr>
              <a:t>plt.plot(k, ramp_filter, </a:t>
            </a:r>
            <a:r>
              <a:rPr>
                <a:solidFill>
                  <a:srgbClr val="4070A0"/>
                </a:solidFill>
                <a:latin typeface="Courier"/>
              </a:rPr>
              <a:t>'b'</a:t>
            </a:r>
            <a:r>
              <a:rPr>
                <a:latin typeface="Courier"/>
              </a:rPr>
              <a:t>, linewidth</a:t>
            </a:r>
            <a:r>
              <a:rPr>
                <a:solidFill>
                  <a:srgbClr val="666666"/>
                </a:solidFill>
                <a:latin typeface="Courier"/>
              </a:rPr>
              <a:t>=</a:t>
            </a:r>
            <a:r>
              <a:rPr>
                <a:solidFill>
                  <a:srgbClr val="40A070"/>
                </a:solidFill>
                <a:latin typeface="Courier"/>
              </a:rPr>
              <a:t>2</a:t>
            </a:r>
            <a:r>
              <a:rPr>
                <a:latin typeface="Courier"/>
              </a:rPr>
              <a:t>)</a:t>
            </a:r>
            <a:br/>
            <a:r>
              <a:rPr>
                <a:latin typeface="Courier"/>
              </a:rPr>
              <a:t>plt.title(</a:t>
            </a:r>
            <a:r>
              <a:rPr>
                <a:solidFill>
                  <a:srgbClr val="4070A0"/>
                </a:solidFill>
                <a:latin typeface="Courier"/>
              </a:rPr>
              <a:t>"The |k| Ramp Filter"</a:t>
            </a:r>
            <a:r>
              <a:rPr>
                <a:latin typeface="Courier"/>
              </a:rPr>
              <a:t>)</a:t>
            </a:r>
            <a:br/>
            <a:r>
              <a:rPr>
                <a:latin typeface="Courier"/>
              </a:rPr>
              <a:t>plt.xlabel(</a:t>
            </a:r>
            <a:r>
              <a:rPr>
                <a:solidFill>
                  <a:srgbClr val="4070A0"/>
                </a:solidFill>
                <a:latin typeface="Courier"/>
              </a:rPr>
              <a:t>"Spatial Frequency (k)"</a:t>
            </a:r>
            <a:r>
              <a:rPr>
                <a:latin typeface="Courier"/>
              </a:rPr>
              <a:t>)</a:t>
            </a:r>
            <a:br/>
            <a:r>
              <a:rPr>
                <a:latin typeface="Courier"/>
              </a:rPr>
              <a:t>plt.ylabel(</a:t>
            </a:r>
            <a:r>
              <a:rPr>
                <a:solidFill>
                  <a:srgbClr val="4070A0"/>
                </a:solidFill>
                <a:latin typeface="Courier"/>
              </a:rPr>
              <a:t>"Filter Magnitude"</a:t>
            </a:r>
            <a:r>
              <a:rPr>
                <a:latin typeface="Courier"/>
              </a:rPr>
              <a:t>)</a:t>
            </a:r>
            <a:br/>
            <a:r>
              <a:rPr>
                <a:latin typeface="Courier"/>
              </a:rPr>
              <a:t>ramp_filter_plot_fig </a:t>
            </a:r>
            <a:r>
              <a:rPr>
                <a:solidFill>
                  <a:srgbClr val="666666"/>
                </a:solidFill>
                <a:latin typeface="Courier"/>
              </a:rPr>
              <a:t>=</a:t>
            </a:r>
            <a:r>
              <a:rPr>
                <a:latin typeface="Courier"/>
              </a:rPr>
              <a:t> plt.gcf()</a:t>
            </a:r>
          </a:p>
        </p:txBody>
      </p:sp>
      <p:pic>
        <p:nvPicPr>
          <p:cNvPr descr="presentation_files/figure-pptx/ramp_filter_plot_code-49.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Ramp Filter: Visualization</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Ramp Filter: Visualization (cont.)</a:t>
            </a:r>
          </a:p>
        </p:txBody>
      </p:sp>
      <p:sp>
        <p:nvSpPr>
          <p:cNvPr id="3" name="Content Placeholder 2"/>
          <p:cNvSpPr>
            <a:spLocks noGrp="1"/>
          </p:cNvSpPr>
          <p:nvPr>
            <p:ph idx="1"/>
          </p:nvPr>
        </p:nvSpPr>
        <p:spPr/>
        <p:txBody>
          <a:bodyPr/>
          <a:lstStyle/>
          <a:p>
            <a:pPr lvl="0"/>
            <a:r>
              <a:rPr/>
              <a:t>The filter multiplies low frequencies near </a:t>
            </a:r>
            <a:r>
              <a:rPr>
                <a:latin typeface="Courier"/>
              </a:rPr>
              <a:t>k=0</a:t>
            </a:r>
            <a:r>
              <a:rPr/>
              <a:t> by almost zero, and linearly boosts the higher frequencies.</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Filtered Backprojection (FBP)</a:t>
            </a:r>
          </a:p>
        </p:txBody>
      </p:sp>
      <p:sp>
        <p:nvSpPr>
          <p:cNvPr id="3" name="Content Placeholder 2"/>
          <p:cNvSpPr>
            <a:spLocks noGrp="1"/>
          </p:cNvSpPr>
          <p:nvPr>
            <p:ph idx="1"/>
          </p:nvPr>
        </p:nvSpPr>
        <p:spPr/>
        <p:txBody>
          <a:bodyPr/>
          <a:lstStyle/>
          <a:p>
            <a:pPr lvl="0" indent="0" marL="0">
              <a:buNone/>
            </a:pPr>
            <a:r>
              <a:rPr/>
              <a:t>This leads to the most common analytical reconstruction algorithm: Filtered Backprojection (FBP).</a:t>
            </a:r>
          </a:p>
          <a:p>
            <a:pPr lvl="0" indent="-342900" marL="342900">
              <a:buAutoNum type="arabicPeriod"/>
            </a:pPr>
            <a:r>
              <a:rPr/>
              <a:t>Measure all the 1D projections </a:t>
            </a:r>
            <a:r>
              <a:rPr>
                <a:latin typeface="Courier"/>
              </a:rPr>
              <a:t>p(s, θ)</a:t>
            </a:r>
            <a:r>
              <a:rPr/>
              <a:t>.</a:t>
            </a:r>
          </a:p>
          <a:p>
            <a:pPr lvl="0" indent="-342900" marL="342900">
              <a:buAutoNum type="arabicPeriod"/>
            </a:pPr>
            <a:r>
              <a:rPr/>
              <a:t>Take the 1D FT of each projection to get </a:t>
            </a:r>
            <a:r>
              <a:rPr>
                <a:latin typeface="Courier"/>
              </a:rPr>
              <a:t>P(k, θ)</a:t>
            </a:r>
            <a:r>
              <a:rPr/>
              <a:t>.</a:t>
            </a:r>
          </a:p>
          <a:p>
            <a:pPr lvl="0" indent="-342900" marL="342900">
              <a:buAutoNum type="arabicPeriod"/>
            </a:pPr>
            <a:r>
              <a:rPr/>
              <a:t>Multiply each </a:t>
            </a:r>
            <a:r>
              <a:rPr>
                <a:latin typeface="Courier"/>
              </a:rPr>
              <a:t>P(k, θ)</a:t>
            </a:r>
            <a:r>
              <a:rPr/>
              <a:t> by the ramp filter </a:t>
            </a:r>
            <a:r>
              <a:rPr>
                <a:latin typeface="Courier"/>
              </a:rPr>
              <a:t>|k|</a:t>
            </a:r>
            <a:r>
              <a:rPr/>
              <a:t>.</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Filtered Backprojection (FBP)</a:t>
            </a:r>
          </a:p>
        </p:txBody>
      </p:sp>
      <p:sp>
        <p:nvSpPr>
          <p:cNvPr id="3" name="Content Placeholder 2"/>
          <p:cNvSpPr>
            <a:spLocks noGrp="1"/>
          </p:cNvSpPr>
          <p:nvPr>
            <p:ph idx="1"/>
          </p:nvPr>
        </p:nvSpPr>
        <p:spPr/>
        <p:txBody>
          <a:bodyPr/>
          <a:lstStyle/>
          <a:p>
            <a:pPr lvl="0" indent="-342900" marL="342900">
              <a:buAutoNum startAt="4" type="arabicPeriod"/>
            </a:pPr>
            <a:r>
              <a:rPr/>
              <a:t>Take the inverse 1D FT of the result.</a:t>
            </a:r>
          </a:p>
          <a:p>
            <a:pPr lvl="0" indent="-342900" marL="342900">
              <a:buAutoNum startAt="4" type="arabicPeriod"/>
            </a:pPr>
            <a:r>
              <a:rPr/>
              <a:t>Backproject these “filtered” projections.</a:t>
            </a:r>
          </a:p>
          <a:p>
            <a:pPr lvl="0"/>
            <a:r>
              <a:rPr/>
              <a:t>This algorithm is fast, robust, and used in almost every commercial CT scanner.</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Iterative Reconstruction</a:t>
            </a:r>
          </a:p>
        </p:txBody>
      </p:sp>
      <p:sp>
        <p:nvSpPr>
          <p:cNvPr id="3" name="Content Placeholder 2"/>
          <p:cNvSpPr>
            <a:spLocks noGrp="1"/>
          </p:cNvSpPr>
          <p:nvPr>
            <p:ph idx="1"/>
          </p:nvPr>
        </p:nvSpPr>
        <p:spPr/>
        <p:txBody>
          <a:bodyPr/>
          <a:lstStyle/>
          <a:p>
            <a:pPr lvl="0" indent="0" marL="0">
              <a:buNone/>
            </a:pPr>
            <a:r>
              <a:rPr/>
              <a:t>FBP is great, but it struggles with noisy or incomplete data. </a:t>
            </a:r>
            <a:r>
              <a:rPr b="1"/>
              <a:t>Iterative Reconstruction</a:t>
            </a:r>
            <a:r>
              <a:rPr/>
              <a:t> is an alternative approach.</a:t>
            </a:r>
          </a:p>
          <a:p>
            <a:pPr lvl="0"/>
            <a:r>
              <a:rPr b="1"/>
              <a:t>Basic Idea:</a:t>
            </a:r>
          </a:p>
          <a:p>
            <a:pPr lvl="1" indent="-342900" marL="685800">
              <a:buAutoNum type="arabicPeriod"/>
            </a:pPr>
            <a:r>
              <a:rPr/>
              <a:t>Start with an initial guess for the image (e.g., a blank image).</a:t>
            </a:r>
          </a:p>
          <a:p>
            <a:pPr lvl="1" indent="-342900" marL="685800">
              <a:buAutoNum type="arabicPeriod"/>
            </a:pPr>
            <a:r>
              <a:rPr/>
              <a:t>Use the Forward Model to simulate what the projections </a:t>
            </a:r>
            <a:r>
              <a:rPr i="1"/>
              <a:t>would</a:t>
            </a:r>
            <a:r>
              <a:rPr/>
              <a:t> look like from your guess.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Iterative Reconstruction</a:t>
            </a:r>
          </a:p>
        </p:txBody>
      </p:sp>
      <p:sp>
        <p:nvSpPr>
          <p:cNvPr id="3" name="Content Placeholder 2"/>
          <p:cNvSpPr>
            <a:spLocks noGrp="1"/>
          </p:cNvSpPr>
          <p:nvPr>
            <p:ph idx="1"/>
          </p:nvPr>
        </p:nvSpPr>
        <p:spPr/>
        <p:txBody>
          <a:bodyPr/>
          <a:lstStyle/>
          <a:p>
            <a:pPr lvl="0" indent="-342900" marL="342900">
              <a:buAutoNum startAt="3" type="arabicPeriod"/>
            </a:pPr>
            <a:r>
              <a:rPr/>
              <a:t>Compare these simulated projections to the </a:t>
            </a:r>
            <a:r>
              <a:rPr i="1"/>
              <a:t>actual</a:t>
            </a:r>
            <a:r>
              <a:rPr/>
              <a:t> measured projections.</a:t>
            </a:r>
          </a:p>
          <a:p>
            <a:pPr lvl="0" indent="-342900" marL="342900">
              <a:buAutoNum startAt="3" type="arabicPeriod"/>
            </a:pPr>
            <a:r>
              <a:rPr/>
              <a:t>Update your image guess to reduce the error between the simulated and real projections.</a:t>
            </a:r>
          </a:p>
          <a:p>
            <a:pPr lvl="0" indent="-342900" marL="342900">
              <a:buAutoNum startAt="3" type="arabicPeriod"/>
            </a:pPr>
            <a:r>
              <a:rPr/>
              <a:t>Repeat until the error is small.</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Algebraic Formulation (Ax = b)</a:t>
            </a:r>
          </a:p>
        </p:txBody>
      </p:sp>
      <p:sp>
        <p:nvSpPr>
          <p:cNvPr id="3" name="Content Placeholder 2"/>
          <p:cNvSpPr>
            <a:spLocks noGrp="1"/>
          </p:cNvSpPr>
          <p:nvPr>
            <p:ph idx="1"/>
          </p:nvPr>
        </p:nvSpPr>
        <p:spPr/>
        <p:txBody>
          <a:bodyPr/>
          <a:lstStyle/>
          <a:p>
            <a:pPr lvl="0" indent="0" marL="0">
              <a:buNone/>
            </a:pPr>
            <a:r>
              <a:rPr/>
              <a:t>The iterative problem can be formulated with linear algebra.</a:t>
            </a:r>
          </a:p>
          <a:p>
            <a:pPr lvl="0"/>
            <a:r>
              <a:rPr>
                <a:latin typeface="Courier"/>
              </a:rPr>
              <a:t>x</a:t>
            </a:r>
            <a:r>
              <a:rPr/>
              <a:t>: A vector containing all the pixel values of the image we want to find.</a:t>
            </a:r>
          </a:p>
          <a:p>
            <a:pPr lvl="0"/>
            <a:r>
              <a:rPr>
                <a:latin typeface="Courier"/>
              </a:rPr>
              <a:t>b</a:t>
            </a:r>
            <a:r>
              <a:rPr/>
              <a:t>: A vector containing all the measured projection data.</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Algebraic Formulation (Ax = b)</a:t>
            </a:r>
          </a:p>
        </p:txBody>
      </p:sp>
      <p:sp>
        <p:nvSpPr>
          <p:cNvPr id="3" name="Content Placeholder 2"/>
          <p:cNvSpPr>
            <a:spLocks noGrp="1"/>
          </p:cNvSpPr>
          <p:nvPr>
            <p:ph idx="1"/>
          </p:nvPr>
        </p:nvSpPr>
        <p:spPr/>
        <p:txBody>
          <a:bodyPr/>
          <a:lstStyle/>
          <a:p>
            <a:pPr lvl="0"/>
            <a:r>
              <a:rPr>
                <a:latin typeface="Courier"/>
              </a:rPr>
              <a:t>A</a:t>
            </a:r>
            <a:r>
              <a:rPr/>
              <a:t>: The “System Matrix.” A massive matrix where each row describes how the pixel values in </a:t>
            </a:r>
            <a:r>
              <a:rPr>
                <a:latin typeface="Courier"/>
              </a:rPr>
              <a:t>x</a:t>
            </a:r>
            <a:r>
              <a:rPr/>
              <a:t> contribute to a single measurement in </a:t>
            </a:r>
            <a:r>
              <a:rPr>
                <a:latin typeface="Courier"/>
              </a:rPr>
              <a:t>b</a:t>
            </a:r>
            <a:r>
              <a:rPr/>
              <a:t>.</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Algebraic Formulation (Ax = b)</a:t>
            </a:r>
          </a:p>
        </p:txBody>
      </p:sp>
      <p:sp>
        <p:nvSpPr>
          <p:cNvPr id="3" name="Content Placeholder 2"/>
          <p:cNvSpPr>
            <a:spLocks noGrp="1"/>
          </p:cNvSpPr>
          <p:nvPr>
            <p:ph idx="1"/>
          </p:nvPr>
        </p:nvSpPr>
        <p:spPr/>
        <p:txBody>
          <a:bodyPr/>
          <a:lstStyle/>
          <a:p>
            <a:pPr lvl="0"/>
            <a:r>
              <a:rPr/>
              <a:t>The goal is to solve the system of linear equations </a:t>
            </a:r>
            <a:r>
              <a:rPr>
                <a:latin typeface="Courier"/>
              </a:rPr>
              <a:t>Ax = b</a:t>
            </a:r>
            <a:r>
              <a:rPr/>
              <a:t> for </a:t>
            </a:r>
            <a:r>
              <a:rPr>
                <a:latin typeface="Courier"/>
              </a:rPr>
              <a:t>x</a:t>
            </a:r>
            <a:r>
              <a:rPr/>
              <a:t>.</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MLEM (Maximum Likelihood Expectation Maximization)</a:t>
            </a:r>
          </a:p>
        </p:txBody>
      </p:sp>
      <p:sp>
        <p:nvSpPr>
          <p:cNvPr id="3" name="Content Placeholder 2"/>
          <p:cNvSpPr>
            <a:spLocks noGrp="1"/>
          </p:cNvSpPr>
          <p:nvPr>
            <p:ph idx="1"/>
          </p:nvPr>
        </p:nvSpPr>
        <p:spPr/>
        <p:txBody>
          <a:bodyPr/>
          <a:lstStyle/>
          <a:p>
            <a:pPr lvl="0"/>
            <a:r>
              <a:rPr/>
              <a:t>MLEM is a popular iterative algorithm, especially in PET and SPECT.</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MLEM (Maximum Likelihood Expectation Maximization)</a:t>
            </a:r>
          </a:p>
        </p:txBody>
      </p:sp>
      <p:sp>
        <p:nvSpPr>
          <p:cNvPr id="3" name="Content Placeholder 2"/>
          <p:cNvSpPr>
            <a:spLocks noGrp="1"/>
          </p:cNvSpPr>
          <p:nvPr>
            <p:ph idx="1"/>
          </p:nvPr>
        </p:nvSpPr>
        <p:spPr/>
        <p:txBody>
          <a:bodyPr/>
          <a:lstStyle/>
          <a:p>
            <a:pPr lvl="0"/>
            <a:r>
              <a:rPr/>
              <a:t>It’s based on finding the image </a:t>
            </a:r>
            <a:r>
              <a:rPr>
                <a:latin typeface="Courier"/>
              </a:rPr>
              <a:t>x</a:t>
            </a:r>
            <a:r>
              <a:rPr/>
              <a:t> that is most likely to have produced the measured data </a:t>
            </a:r>
            <a:r>
              <a:rPr>
                <a:latin typeface="Courier"/>
              </a:rPr>
              <a:t>b</a:t>
            </a:r>
            <a:r>
              <a:rPr/>
              <a:t>, assuming Poisson statistics.</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MLEM (Maximum Likelihood Expectation Maximization)</a:t>
            </a:r>
          </a:p>
        </p:txBody>
      </p:sp>
      <p:sp>
        <p:nvSpPr>
          <p:cNvPr id="3" name="Content Placeholder 2"/>
          <p:cNvSpPr>
            <a:spLocks noGrp="1"/>
          </p:cNvSpPr>
          <p:nvPr>
            <p:ph idx="1"/>
          </p:nvPr>
        </p:nvSpPr>
        <p:spPr/>
        <p:txBody>
          <a:bodyPr/>
          <a:lstStyle/>
          <a:p>
            <a:pPr lvl="0"/>
            <a:r>
              <a:rPr/>
              <a:t>It has the desirable property of conserving counts and ensuring pixel values remain non-negative.</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Summary</a:t>
            </a:r>
          </a:p>
        </p:txBody>
      </p:sp>
      <p:sp>
        <p:nvSpPr>
          <p:cNvPr id="3" name="Content Placeholder 2"/>
          <p:cNvSpPr>
            <a:spLocks noGrp="1"/>
          </p:cNvSpPr>
          <p:nvPr>
            <p:ph idx="1"/>
          </p:nvPr>
        </p:nvSpPr>
        <p:spPr/>
        <p:txBody>
          <a:bodyPr/>
          <a:lstStyle/>
          <a:p>
            <a:pPr lvl="0"/>
            <a:r>
              <a:rPr b="1"/>
              <a:t>Tomography</a:t>
            </a:r>
            <a:r>
              <a:rPr/>
              <a:t> is the process of reconstructing an object from its projections.</a:t>
            </a:r>
          </a:p>
          <a:p>
            <a:pPr lvl="0"/>
            <a:r>
              <a:rPr/>
              <a:t>The </a:t>
            </a:r>
            <a:r>
              <a:rPr b="1"/>
              <a:t>Radon Transform</a:t>
            </a:r>
            <a:r>
              <a:rPr/>
              <a:t> is the mathematics of creating projections.</a:t>
            </a:r>
          </a:p>
          <a:p>
            <a:pPr lvl="0"/>
            <a:r>
              <a:rPr/>
              <a:t>A </a:t>
            </a:r>
            <a:r>
              <a:rPr b="1"/>
              <a:t>Sinogram</a:t>
            </a:r>
            <a:r>
              <a:rPr/>
              <a:t> is the collection of all projections.</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Summary</a:t>
            </a:r>
          </a:p>
        </p:txBody>
      </p:sp>
      <p:sp>
        <p:nvSpPr>
          <p:cNvPr id="3" name="Content Placeholder 2"/>
          <p:cNvSpPr>
            <a:spLocks noGrp="1"/>
          </p:cNvSpPr>
          <p:nvPr>
            <p:ph idx="1"/>
          </p:nvPr>
        </p:nvSpPr>
        <p:spPr/>
        <p:txBody>
          <a:bodyPr/>
          <a:lstStyle/>
          <a:p>
            <a:pPr lvl="0"/>
            <a:r>
              <a:rPr b="1"/>
              <a:t>Simple Backprojection</a:t>
            </a:r>
            <a:r>
              <a:rPr/>
              <a:t> is intuitive but creates a blurry image (</a:t>
            </a:r>
            <a:r>
              <a:rPr>
                <a:latin typeface="Courier"/>
              </a:rPr>
              <a:t>1/r</a:t>
            </a:r>
            <a:r>
              <a:rPr/>
              <a:t> blurring).</a:t>
            </a:r>
          </a:p>
          <a:p>
            <a:pPr lvl="0"/>
            <a:r>
              <a:rPr b="1"/>
              <a:t>Filtered Backprojection (FBP)</a:t>
            </a:r>
            <a:r>
              <a:rPr/>
              <a:t> uses a </a:t>
            </a:r>
            <a:r>
              <a:rPr b="1"/>
              <a:t>Ramp Filter</a:t>
            </a:r>
            <a:r>
              <a:rPr/>
              <a:t> to correct the blur and is the standard algorithm.</a:t>
            </a:r>
          </a:p>
          <a:p>
            <a:pPr lvl="0"/>
            <a:r>
              <a:rPr b="1"/>
              <a:t>Iterative Methods</a:t>
            </a:r>
            <a:r>
              <a:rPr/>
              <a:t> (like MLEM) are an alternative that can handle noise better but are computationally slower.</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Module 4: Advanced Applications</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Magnetic Resonance Imaging (MRI)</a:t>
            </a:r>
          </a:p>
        </p:txBody>
      </p:sp>
      <p:sp>
        <p:nvSpPr>
          <p:cNvPr id="3" name="Content Placeholder 2"/>
          <p:cNvSpPr>
            <a:spLocks noGrp="1"/>
          </p:cNvSpPr>
          <p:nvPr>
            <p:ph idx="1"/>
          </p:nvPr>
        </p:nvSpPr>
        <p:spPr/>
        <p:txBody>
          <a:bodyPr/>
          <a:lstStyle/>
          <a:p>
            <a:pPr lvl="0"/>
            <a:r>
              <a:rPr/>
              <a:t>MRI does not use ionizing radiation.</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Magnetic Resonance Imaging (MRI)</a:t>
            </a:r>
          </a:p>
        </p:txBody>
      </p:sp>
      <p:sp>
        <p:nvSpPr>
          <p:cNvPr id="3" name="Content Placeholder 2"/>
          <p:cNvSpPr>
            <a:spLocks noGrp="1"/>
          </p:cNvSpPr>
          <p:nvPr>
            <p:ph idx="1"/>
          </p:nvPr>
        </p:nvSpPr>
        <p:spPr/>
        <p:txBody>
          <a:bodyPr/>
          <a:lstStyle/>
          <a:p>
            <a:pPr lvl="0"/>
            <a:r>
              <a:rPr/>
              <a:t>It uses a powerful magnetic field, radiofrequency (RF) pulses, and magnetic field gradients to create images.</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Magnetic Resonance Imaging (MRI)</a:t>
            </a:r>
          </a:p>
        </p:txBody>
      </p:sp>
      <p:sp>
        <p:nvSpPr>
          <p:cNvPr id="3" name="Content Placeholder 2"/>
          <p:cNvSpPr>
            <a:spLocks noGrp="1"/>
          </p:cNvSpPr>
          <p:nvPr>
            <p:ph idx="1"/>
          </p:nvPr>
        </p:nvSpPr>
        <p:spPr/>
        <p:txBody>
          <a:bodyPr/>
          <a:lstStyle/>
          <a:p>
            <a:pPr lvl="0"/>
            <a:r>
              <a:rPr/>
              <a:t>The raw data collected in an MRI scan is not a projection, but a direct measurement of the object’s frequency spectrum.</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K-Space</a:t>
            </a:r>
          </a:p>
        </p:txBody>
      </p:sp>
      <p:sp>
        <p:nvSpPr>
          <p:cNvPr id="3" name="Content Placeholder 2"/>
          <p:cNvSpPr>
            <a:spLocks noGrp="1"/>
          </p:cNvSpPr>
          <p:nvPr>
            <p:ph idx="1"/>
          </p:nvPr>
        </p:nvSpPr>
        <p:spPr/>
        <p:txBody>
          <a:bodyPr/>
          <a:lstStyle/>
          <a:p>
            <a:pPr lvl="0"/>
            <a:r>
              <a:rPr/>
              <a:t>In MRI, the 2D Fourier space of the image is called </a:t>
            </a:r>
            <a:r>
              <a:rPr b="1"/>
              <a:t>k-space</a:t>
            </a:r>
            <a:r>
              <a:rPr/>
              <a:t>.</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K-Space</a:t>
            </a:r>
          </a:p>
        </p:txBody>
      </p:sp>
      <p:sp>
        <p:nvSpPr>
          <p:cNvPr id="3" name="Content Placeholder 2"/>
          <p:cNvSpPr>
            <a:spLocks noGrp="1"/>
          </p:cNvSpPr>
          <p:nvPr>
            <p:ph idx="1"/>
          </p:nvPr>
        </p:nvSpPr>
        <p:spPr/>
        <p:txBody>
          <a:bodyPr/>
          <a:lstStyle/>
          <a:p>
            <a:pPr lvl="0"/>
            <a:r>
              <a:rPr/>
              <a:t>The scanner fills k-space line by line according to a specific “pulse sequence.”</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K-Space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The final image is simply the inverse 2D Fourier Transform of the collected k-space data.</a:t>
                </a:r>
              </a:p>
              <a:p>
                <a:pPr lvl="0" indent="0" marL="0">
                  <a:buNone/>
                </a:pPr>
                <a14:m>
                  <m:oMathPara xmlns:m="http://schemas.openxmlformats.org/officeDocument/2006/math">
                    <m:oMathParaPr>
                      <m:jc m:val="center"/>
                    </m:oMathParaPr>
                    <m:oMath>
                      <m:r>
                        <m:rPr>
                          <m:nor/>
                          <m:sty m:val="p"/>
                        </m:rPr>
                        <m:t>Image</m:t>
                      </m:r>
                      <m:d>
                        <m:dPr>
                          <m:begChr m:val="("/>
                          <m:endChr m:val=")"/>
                          <m:sepChr m:val=""/>
                          <m:grow/>
                        </m:dPr>
                        <m:e>
                          <m:r>
                            <m:t>x</m:t>
                          </m:r>
                          <m:r>
                            <m:rPr>
                              <m:sty m:val="p"/>
                            </m:rPr>
                            <m:t>,</m:t>
                          </m:r>
                          <m:r>
                            <m:t>y</m:t>
                          </m:r>
                        </m:e>
                      </m:d>
                      <m:r>
                        <m:rPr>
                          <m:sty m:val="p"/>
                        </m:rPr>
                        <m:t>=</m:t>
                      </m:r>
                      <m:sSup>
                        <m:e>
                          <m:r>
                            <m:rPr>
                              <m:sty m:val="p"/>
                              <m:scr m:val="script"/>
                            </m:rPr>
                            <m:t>F</m:t>
                          </m:r>
                        </m:e>
                        <m:sup>
                          <m:r>
                            <m:rPr>
                              <m:sty m:val="p"/>
                            </m:rPr>
                            <m:t>−</m:t>
                          </m:r>
                          <m:r>
                            <m:t>1</m:t>
                          </m:r>
                        </m:sup>
                      </m:sSup>
                      <m:r>
                        <m:rPr>
                          <m:sty m:val="p"/>
                        </m:rPr>
                        <m:t>{</m:t>
                      </m:r>
                      <m:r>
                        <m:rPr>
                          <m:nor/>
                          <m:sty m:val="p"/>
                        </m:rPr>
                        <m:t>k-space</m:t>
                      </m:r>
                      <m:d>
                        <m:dPr>
                          <m:begChr m:val="("/>
                          <m:endChr m:val=")"/>
                          <m:sepChr m:val=""/>
                          <m:grow/>
                        </m:dPr>
                        <m:e>
                          <m:sSub>
                            <m:e>
                              <m:r>
                                <m:t>k</m:t>
                              </m:r>
                            </m:e>
                            <m:sub>
                              <m:r>
                                <m:t>x</m:t>
                              </m:r>
                            </m:sub>
                          </m:sSub>
                          <m:r>
                            <m:rPr>
                              <m:sty m:val="p"/>
                            </m:rPr>
                            <m:t>,</m:t>
                          </m:r>
                          <m:sSub>
                            <m:e>
                              <m:r>
                                <m:t>k</m:t>
                              </m:r>
                            </m:e>
                            <m:sub>
                              <m:r>
                                <m:t>y</m:t>
                              </m:r>
                            </m:sub>
                          </m:sSub>
                        </m:e>
                      </m:d>
                      <m:r>
                        <m:rPr>
                          <m:sty m:val="p"/>
                        </m:rPr>
                        <m:t>}</m:t>
                      </m:r>
                    </m:oMath>
                  </m:oMathPara>
                </a14:m>
              </a:p>
            </p:txBody>
          </p:sp>
        </mc:Choice>
      </mc:AlternateContent>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K-Space Filtering: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We already have our phantom image and its 2D FT from Module 1 &amp; 3</a:t>
            </a:r>
            <a:br/>
            <a:r>
              <a:rPr i="1">
                <a:solidFill>
                  <a:srgbClr val="60A0B0"/>
                </a:solidFill>
                <a:latin typeface="Courier"/>
              </a:rPr>
              <a:t># Let's re-calculate k-space (the shifted FT) for clarity</a:t>
            </a:r>
            <a:br/>
            <a:r>
              <a:rPr>
                <a:latin typeface="Courier"/>
              </a:rPr>
              <a:t>kspace_full </a:t>
            </a:r>
            <a:r>
              <a:rPr>
                <a:solidFill>
                  <a:srgbClr val="666666"/>
                </a:solidFill>
                <a:latin typeface="Courier"/>
              </a:rPr>
              <a:t>=</a:t>
            </a:r>
            <a:r>
              <a:rPr>
                <a:latin typeface="Courier"/>
              </a:rPr>
              <a:t> np.fft.fftshift(np.fft.fft2(phantom_image))</a:t>
            </a:r>
            <a:br/>
            <a:br/>
            <a:r>
              <a:rPr i="1">
                <a:solidFill>
                  <a:srgbClr val="60A0B0"/>
                </a:solidFill>
                <a:latin typeface="Courier"/>
              </a:rPr>
              <a:t># Create a low-pass filter (keep the center, zero out the periphery)</a:t>
            </a:r>
            <a:br/>
            <a:r>
              <a:rPr>
                <a:latin typeface="Courier"/>
              </a:rPr>
              <a:t>center_fraction </a:t>
            </a:r>
            <a:r>
              <a:rPr>
                <a:solidFill>
                  <a:srgbClr val="666666"/>
                </a:solidFill>
                <a:latin typeface="Courier"/>
              </a:rPr>
              <a:t>=</a:t>
            </a:r>
            <a:r>
              <a:rPr>
                <a:latin typeface="Courier"/>
              </a:rPr>
              <a:t> </a:t>
            </a:r>
            <a:r>
              <a:rPr>
                <a:solidFill>
                  <a:srgbClr val="40A070"/>
                </a:solidFill>
                <a:latin typeface="Courier"/>
              </a:rPr>
              <a:t>0.2</a:t>
            </a:r>
            <a:br/>
            <a:r>
              <a:rPr>
                <a:latin typeface="Courier"/>
              </a:rPr>
              <a:t>rows, cols </a:t>
            </a:r>
            <a:r>
              <a:rPr>
                <a:solidFill>
                  <a:srgbClr val="666666"/>
                </a:solidFill>
                <a:latin typeface="Courier"/>
              </a:rPr>
              <a:t>=</a:t>
            </a:r>
            <a:r>
              <a:rPr>
                <a:latin typeface="Courier"/>
              </a:rPr>
              <a:t> kspace_full.shape</a:t>
            </a:r>
            <a:br/>
            <a:r>
              <a:rPr>
                <a:latin typeface="Courier"/>
              </a:rPr>
              <a:t>r_mid, c_mid </a:t>
            </a:r>
            <a:r>
              <a:rPr>
                <a:solidFill>
                  <a:srgbClr val="666666"/>
                </a:solidFill>
                <a:latin typeface="Courier"/>
              </a:rPr>
              <a:t>=</a:t>
            </a:r>
            <a:r>
              <a:rPr>
                <a:latin typeface="Courier"/>
              </a:rPr>
              <a:t> rows </a:t>
            </a:r>
            <a:r>
              <a:rPr>
                <a:solidFill>
                  <a:srgbClr val="666666"/>
                </a:solidFill>
                <a:latin typeface="Courier"/>
              </a:rPr>
              <a:t>//</a:t>
            </a:r>
            <a:r>
              <a:rPr>
                <a:latin typeface="Courier"/>
              </a:rPr>
              <a:t> </a:t>
            </a:r>
            <a:r>
              <a:rPr>
                <a:solidFill>
                  <a:srgbClr val="40A070"/>
                </a:solidFill>
                <a:latin typeface="Courier"/>
              </a:rPr>
              <a:t>2</a:t>
            </a:r>
            <a:r>
              <a:rPr>
                <a:latin typeface="Courier"/>
              </a:rPr>
              <a:t>, cols </a:t>
            </a:r>
            <a:r>
              <a:rPr>
                <a:solidFill>
                  <a:srgbClr val="666666"/>
                </a:solidFill>
                <a:latin typeface="Courier"/>
              </a:rPr>
              <a:t>//</a:t>
            </a:r>
            <a:r>
              <a:rPr>
                <a:latin typeface="Courier"/>
              </a:rPr>
              <a:t> </a:t>
            </a:r>
            <a:r>
              <a:rPr>
                <a:solidFill>
                  <a:srgbClr val="40A070"/>
                </a:solidFill>
                <a:latin typeface="Courier"/>
              </a:rPr>
              <a:t>2</a:t>
            </a:r>
            <a:br/>
            <a:r>
              <a:rPr>
                <a:latin typeface="Courier"/>
              </a:rPr>
              <a:t>r_keep </a:t>
            </a:r>
            <a:r>
              <a:rPr>
                <a:solidFill>
                  <a:srgbClr val="666666"/>
                </a:solidFill>
                <a:latin typeface="Courier"/>
              </a:rPr>
              <a:t>=</a:t>
            </a:r>
            <a:r>
              <a:rPr>
                <a:latin typeface="Courier"/>
              </a:rPr>
              <a:t> </a:t>
            </a:r>
            <a:r>
              <a:rPr>
                <a:solidFill>
                  <a:srgbClr val="008000"/>
                </a:solidFill>
                <a:latin typeface="Courier"/>
              </a:rPr>
              <a:t>int</a:t>
            </a:r>
            <a:r>
              <a:rPr>
                <a:latin typeface="Courier"/>
              </a:rPr>
              <a:t>(rows </a:t>
            </a:r>
            <a:r>
              <a:rPr>
                <a:solidFill>
                  <a:srgbClr val="666666"/>
                </a:solidFill>
                <a:latin typeface="Courier"/>
              </a:rPr>
              <a:t>*</a:t>
            </a:r>
            <a:r>
              <a:rPr>
                <a:latin typeface="Courier"/>
              </a:rPr>
              <a:t> center_fraction </a:t>
            </a:r>
            <a:r>
              <a:rPr>
                <a:solidFill>
                  <a:srgbClr val="666666"/>
                </a:solidFill>
                <a:latin typeface="Courier"/>
              </a:rPr>
              <a:t>/</a:t>
            </a:r>
            <a:r>
              <a:rPr>
                <a:latin typeface="Courier"/>
              </a:rPr>
              <a:t> </a:t>
            </a:r>
            <a:r>
              <a:rPr>
                <a:solidFill>
                  <a:srgbClr val="40A070"/>
                </a:solidFill>
                <a:latin typeface="Courier"/>
              </a:rPr>
              <a:t>2</a:t>
            </a:r>
            <a:r>
              <a:rPr>
                <a:latin typeface="Courier"/>
              </a:rPr>
              <a:t>)</a:t>
            </a:r>
            <a:br/>
            <a:r>
              <a:rPr>
                <a:latin typeface="Courier"/>
              </a:rPr>
              <a:t>c_keep </a:t>
            </a:r>
            <a:r>
              <a:rPr>
                <a:solidFill>
                  <a:srgbClr val="666666"/>
                </a:solidFill>
                <a:latin typeface="Courier"/>
              </a:rPr>
              <a:t>=</a:t>
            </a:r>
            <a:r>
              <a:rPr>
                <a:latin typeface="Courier"/>
              </a:rPr>
              <a:t> </a:t>
            </a:r>
            <a:r>
              <a:rPr>
                <a:solidFill>
                  <a:srgbClr val="008000"/>
                </a:solidFill>
                <a:latin typeface="Courier"/>
              </a:rPr>
              <a:t>int</a:t>
            </a:r>
            <a:r>
              <a:rPr>
                <a:latin typeface="Courier"/>
              </a:rPr>
              <a:t>(cols </a:t>
            </a:r>
            <a:r>
              <a:rPr>
                <a:solidFill>
                  <a:srgbClr val="666666"/>
                </a:solidFill>
                <a:latin typeface="Courier"/>
              </a:rPr>
              <a:t>*</a:t>
            </a:r>
            <a:r>
              <a:rPr>
                <a:latin typeface="Courier"/>
              </a:rPr>
              <a:t> center_fraction </a:t>
            </a:r>
            <a:r>
              <a:rPr>
                <a:solidFill>
                  <a:srgbClr val="666666"/>
                </a:solidFill>
                <a:latin typeface="Courier"/>
              </a:rPr>
              <a:t>/</a:t>
            </a:r>
            <a:r>
              <a:rPr>
                <a:latin typeface="Courier"/>
              </a:rPr>
              <a:t> </a:t>
            </a:r>
            <a:r>
              <a:rPr>
                <a:solidFill>
                  <a:srgbClr val="40A070"/>
                </a:solidFill>
                <a:latin typeface="Courier"/>
              </a:rPr>
              <a:t>2</a:t>
            </a:r>
            <a:r>
              <a:rPr>
                <a:latin typeface="Courier"/>
              </a:rPr>
              <a:t>)</a:t>
            </a:r>
            <a:br/>
            <a:r>
              <a:rPr>
                <a:latin typeface="Courier"/>
              </a:rPr>
              <a:t>mask_low </a:t>
            </a:r>
            <a:r>
              <a:rPr>
                <a:solidFill>
                  <a:srgbClr val="666666"/>
                </a:solidFill>
                <a:latin typeface="Courier"/>
              </a:rPr>
              <a:t>=</a:t>
            </a:r>
            <a:r>
              <a:rPr>
                <a:latin typeface="Courier"/>
              </a:rPr>
              <a:t> np.zeros_like(kspace_full)</a:t>
            </a:r>
            <a:br/>
            <a:r>
              <a:rPr>
                <a:latin typeface="Courier"/>
              </a:rPr>
              <a:t>mask_low[r_mid</a:t>
            </a:r>
            <a:r>
              <a:rPr>
                <a:solidFill>
                  <a:srgbClr val="666666"/>
                </a:solidFill>
                <a:latin typeface="Courier"/>
              </a:rPr>
              <a:t>-</a:t>
            </a:r>
            <a:r>
              <a:rPr>
                <a:latin typeface="Courier"/>
              </a:rPr>
              <a:t>r_keep:r_mid</a:t>
            </a:r>
            <a:r>
              <a:rPr>
                <a:solidFill>
                  <a:srgbClr val="666666"/>
                </a:solidFill>
                <a:latin typeface="Courier"/>
              </a:rPr>
              <a:t>+</a:t>
            </a:r>
            <a:r>
              <a:rPr>
                <a:latin typeface="Courier"/>
              </a:rPr>
              <a:t>r_keep, c_mid</a:t>
            </a:r>
            <a:r>
              <a:rPr>
                <a:solidFill>
                  <a:srgbClr val="666666"/>
                </a:solidFill>
                <a:latin typeface="Courier"/>
              </a:rPr>
              <a:t>-</a:t>
            </a:r>
            <a:r>
              <a:rPr>
                <a:latin typeface="Courier"/>
              </a:rPr>
              <a:t>c_keep:c_mid</a:t>
            </a:r>
            <a:r>
              <a:rPr>
                <a:solidFill>
                  <a:srgbClr val="666666"/>
                </a:solidFill>
                <a:latin typeface="Courier"/>
              </a:rPr>
              <a:t>+</a:t>
            </a:r>
            <a:r>
              <a:rPr>
                <a:latin typeface="Courier"/>
              </a:rPr>
              <a:t>c_keep] </a:t>
            </a:r>
            <a:r>
              <a:rPr>
                <a:solidFill>
                  <a:srgbClr val="666666"/>
                </a:solidFill>
                <a:latin typeface="Courier"/>
              </a:rPr>
              <a:t>=</a:t>
            </a:r>
            <a:r>
              <a:rPr>
                <a:latin typeface="Courier"/>
              </a:rPr>
              <a:t> </a:t>
            </a:r>
            <a:r>
              <a:rPr>
                <a:solidFill>
                  <a:srgbClr val="40A070"/>
                </a:solidFill>
                <a:latin typeface="Courier"/>
              </a:rPr>
              <a:t>1</a:t>
            </a:r>
            <a:br/>
            <a:r>
              <a:rPr>
                <a:latin typeface="Courier"/>
              </a:rPr>
              <a:t>kspace_lowpass </a:t>
            </a:r>
            <a:r>
              <a:rPr>
                <a:solidFill>
                  <a:srgbClr val="666666"/>
                </a:solidFill>
                <a:latin typeface="Courier"/>
              </a:rPr>
              <a:t>=</a:t>
            </a:r>
            <a:r>
              <a:rPr>
                <a:latin typeface="Courier"/>
              </a:rPr>
              <a:t> kspace_full </a:t>
            </a:r>
            <a:r>
              <a:rPr>
                <a:solidFill>
                  <a:srgbClr val="666666"/>
                </a:solidFill>
                <a:latin typeface="Courier"/>
              </a:rPr>
              <a:t>*</a:t>
            </a:r>
            <a:r>
              <a:rPr>
                <a:latin typeface="Courier"/>
              </a:rPr>
              <a:t> mask_low</a:t>
            </a:r>
            <a:br/>
            <a:br/>
            <a:r>
              <a:rPr i="1">
                <a:solidFill>
                  <a:srgbClr val="60A0B0"/>
                </a:solidFill>
                <a:latin typeface="Courier"/>
              </a:rPr>
              <a:t># Create a high-pass filter (zero out the center, keep the periphery)</a:t>
            </a:r>
            <a:br/>
            <a:r>
              <a:rPr>
                <a:latin typeface="Courier"/>
              </a:rPr>
              <a:t>kspace_highpass </a:t>
            </a:r>
            <a:r>
              <a:rPr>
                <a:solidFill>
                  <a:srgbClr val="666666"/>
                </a:solidFill>
                <a:latin typeface="Courier"/>
              </a:rPr>
              <a:t>=</a:t>
            </a:r>
            <a:r>
              <a:rPr>
                <a:latin typeface="Courier"/>
              </a:rPr>
              <a:t> kspace_full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latin typeface="Courier"/>
              </a:rPr>
              <a:t> mask_low)</a:t>
            </a:r>
            <a:br/>
            <a:br/>
            <a:r>
              <a:rPr i="1">
                <a:solidFill>
                  <a:srgbClr val="60A0B0"/>
                </a:solidFill>
                <a:latin typeface="Courier"/>
              </a:rPr>
              <a:t># Inverse FFT to get the images back</a:t>
            </a:r>
            <a:br/>
            <a:r>
              <a:rPr i="1">
                <a:solidFill>
                  <a:srgbClr val="60A0B0"/>
                </a:solidFill>
                <a:latin typeface="Courier"/>
              </a:rPr>
              <a:t># Remember to shift back before inverse FFT!</a:t>
            </a:r>
            <a:br/>
            <a:r>
              <a:rPr>
                <a:latin typeface="Courier"/>
              </a:rPr>
              <a:t>img_lowpass </a:t>
            </a:r>
            <a:r>
              <a:rPr>
                <a:solidFill>
                  <a:srgbClr val="666666"/>
                </a:solidFill>
                <a:latin typeface="Courier"/>
              </a:rPr>
              <a:t>=</a:t>
            </a:r>
            <a:r>
              <a:rPr>
                <a:latin typeface="Courier"/>
              </a:rPr>
              <a:t> np.</a:t>
            </a:r>
            <a:r>
              <a:rPr>
                <a:solidFill>
                  <a:srgbClr val="008000"/>
                </a:solidFill>
                <a:latin typeface="Courier"/>
              </a:rPr>
              <a:t>abs</a:t>
            </a:r>
            <a:r>
              <a:rPr>
                <a:latin typeface="Courier"/>
              </a:rPr>
              <a:t>(np.fft.ifft2(np.fft.ifftshift(kspace_lowpass)))</a:t>
            </a:r>
            <a:br/>
            <a:r>
              <a:rPr>
                <a:latin typeface="Courier"/>
              </a:rPr>
              <a:t>img_highpass </a:t>
            </a:r>
            <a:r>
              <a:rPr>
                <a:solidFill>
                  <a:srgbClr val="666666"/>
                </a:solidFill>
                <a:latin typeface="Courier"/>
              </a:rPr>
              <a:t>=</a:t>
            </a:r>
            <a:r>
              <a:rPr>
                <a:latin typeface="Courier"/>
              </a:rPr>
              <a:t> np.</a:t>
            </a:r>
            <a:r>
              <a:rPr>
                <a:solidFill>
                  <a:srgbClr val="008000"/>
                </a:solidFill>
                <a:latin typeface="Courier"/>
              </a:rPr>
              <a:t>abs</a:t>
            </a:r>
            <a:r>
              <a:rPr>
                <a:latin typeface="Courier"/>
              </a:rPr>
              <a:t>(np.fft.ifft2(np.fft.ifftshift(kspace_highpass)))</a:t>
            </a:r>
            <a:br/>
            <a:br/>
            <a:r>
              <a:rPr>
                <a:latin typeface="Courier"/>
              </a:rPr>
              <a:t>fig, (ax1, ax2, ax3)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3</a:t>
            </a:r>
            <a:r>
              <a:rPr>
                <a:latin typeface="Courier"/>
              </a:rPr>
              <a:t>, figsize</a:t>
            </a:r>
            <a:r>
              <a:rPr>
                <a:solidFill>
                  <a:srgbClr val="666666"/>
                </a:solidFill>
                <a:latin typeface="Courier"/>
              </a:rPr>
              <a:t>=</a:t>
            </a:r>
            <a:r>
              <a:rPr>
                <a:latin typeface="Courier"/>
              </a:rPr>
              <a:t>(</a:t>
            </a:r>
            <a:r>
              <a:rPr>
                <a:solidFill>
                  <a:srgbClr val="40A070"/>
                </a:solidFill>
                <a:latin typeface="Courier"/>
              </a:rPr>
              <a:t>12</a:t>
            </a:r>
            <a:r>
              <a:rPr>
                <a:latin typeface="Courier"/>
              </a:rPr>
              <a:t>, </a:t>
            </a:r>
            <a:r>
              <a:rPr>
                <a:solidFill>
                  <a:srgbClr val="40A070"/>
                </a:solidFill>
                <a:latin typeface="Courier"/>
              </a:rPr>
              <a:t>4</a:t>
            </a:r>
            <a:r>
              <a:rPr>
                <a:latin typeface="Courier"/>
              </a:rPr>
              <a:t>))</a:t>
            </a:r>
            <a:br/>
            <a:r>
              <a:rPr>
                <a:latin typeface="Courier"/>
              </a:rPr>
              <a:t>ax1.imshow(phantom_image, cmap</a:t>
            </a:r>
            <a:r>
              <a:rPr>
                <a:solidFill>
                  <a:srgbClr val="666666"/>
                </a:solidFill>
                <a:latin typeface="Courier"/>
              </a:rPr>
              <a:t>=</a:t>
            </a:r>
            <a:r>
              <a:rPr>
                <a:solidFill>
                  <a:srgbClr val="4070A0"/>
                </a:solidFill>
                <a:latin typeface="Courier"/>
              </a:rPr>
              <a:t>'cividis'</a:t>
            </a:r>
            <a:r>
              <a:rPr>
                <a:latin typeface="Courier"/>
              </a:rPr>
              <a:t>)</a:t>
            </a:r>
            <a:br/>
            <a:r>
              <a:rPr>
                <a:latin typeface="Courier"/>
              </a:rPr>
              <a:t>ax1.set_title(</a:t>
            </a:r>
            <a:r>
              <a:rPr>
                <a:solidFill>
                  <a:srgbClr val="4070A0"/>
                </a:solidFill>
                <a:latin typeface="Courier"/>
              </a:rPr>
              <a:t>"Original"</a:t>
            </a:r>
            <a:r>
              <a:rPr>
                <a:latin typeface="Courier"/>
              </a:rPr>
              <a:t>)</a:t>
            </a:r>
            <a:br/>
            <a:r>
              <a:rPr>
                <a:latin typeface="Courier"/>
              </a:rPr>
              <a:t>ax1.axis(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ax2.imshow(img_lowpass, cmap</a:t>
            </a:r>
            <a:r>
              <a:rPr>
                <a:solidFill>
                  <a:srgbClr val="666666"/>
                </a:solidFill>
                <a:latin typeface="Courier"/>
              </a:rPr>
              <a:t>=</a:t>
            </a:r>
            <a:r>
              <a:rPr>
                <a:solidFill>
                  <a:srgbClr val="4070A0"/>
                </a:solidFill>
                <a:latin typeface="Courier"/>
              </a:rPr>
              <a:t>'cividis'</a:t>
            </a:r>
            <a:r>
              <a:rPr>
                <a:latin typeface="Courier"/>
              </a:rPr>
              <a:t>)</a:t>
            </a:r>
            <a:br/>
            <a:r>
              <a:rPr>
                <a:latin typeface="Courier"/>
              </a:rPr>
              <a:t>ax2.set_title(</a:t>
            </a:r>
            <a:r>
              <a:rPr>
                <a:solidFill>
                  <a:srgbClr val="4070A0"/>
                </a:solidFill>
                <a:latin typeface="Courier"/>
              </a:rPr>
              <a:t>"Low-Pass (Blur)"</a:t>
            </a:r>
            <a:r>
              <a:rPr>
                <a:latin typeface="Courier"/>
              </a:rPr>
              <a:t>)</a:t>
            </a:r>
            <a:br/>
            <a:r>
              <a:rPr>
                <a:latin typeface="Courier"/>
              </a:rPr>
              <a:t>ax2.axis(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ax3.imshow(img_highpass, cmap</a:t>
            </a:r>
            <a:r>
              <a:rPr>
                <a:solidFill>
                  <a:srgbClr val="666666"/>
                </a:solidFill>
                <a:latin typeface="Courier"/>
              </a:rPr>
              <a:t>=</a:t>
            </a:r>
            <a:r>
              <a:rPr>
                <a:solidFill>
                  <a:srgbClr val="4070A0"/>
                </a:solidFill>
                <a:latin typeface="Courier"/>
              </a:rPr>
              <a:t>'cividis'</a:t>
            </a:r>
            <a:r>
              <a:rPr>
                <a:latin typeface="Courier"/>
              </a:rPr>
              <a:t>)</a:t>
            </a:r>
            <a:br/>
            <a:r>
              <a:rPr>
                <a:latin typeface="Courier"/>
              </a:rPr>
              <a:t>ax3.set_title(</a:t>
            </a:r>
            <a:r>
              <a:rPr>
                <a:solidFill>
                  <a:srgbClr val="4070A0"/>
                </a:solidFill>
                <a:latin typeface="Courier"/>
              </a:rPr>
              <a:t>"High-Pass (Edges)"</a:t>
            </a:r>
            <a:r>
              <a:rPr>
                <a:latin typeface="Courier"/>
              </a:rPr>
              <a:t>)</a:t>
            </a:r>
            <a:br/>
            <a:r>
              <a:rPr>
                <a:latin typeface="Courier"/>
              </a:rPr>
              <a:t>ax3.axis(</a:t>
            </a:r>
            <a:r>
              <a:rPr>
                <a:solidFill>
                  <a:srgbClr val="4070A0"/>
                </a:solidFill>
                <a:latin typeface="Courier"/>
              </a:rPr>
              <a:t>'off'</a:t>
            </a:r>
            <a:r>
              <a:rPr>
                <a:latin typeface="Courier"/>
              </a:rPr>
              <a:t>)</a:t>
            </a:r>
          </a:p>
          <a:p>
            <a:pPr lvl="0" indent="0">
              <a:buNone/>
            </a:pPr>
            <a:r>
              <a:rPr>
                <a:latin typeface="Courier"/>
              </a:rPr>
              <a:t>## (np.float64(-0.5), np.float64(255.5), np.float64(255.5), np.float64(-0.5))</a:t>
            </a:r>
          </a:p>
          <a:p>
            <a:pPr lvl="0" indent="0">
              <a:buNone/>
            </a:pPr>
            <a:r>
              <a:rPr>
                <a:latin typeface="Courier"/>
              </a:rPr>
              <a:t>kspace_filter_plot_fig </a:t>
            </a:r>
            <a:r>
              <a:rPr>
                <a:solidFill>
                  <a:srgbClr val="666666"/>
                </a:solidFill>
                <a:latin typeface="Courier"/>
              </a:rPr>
              <a:t>=</a:t>
            </a:r>
            <a:r>
              <a:rPr>
                <a:latin typeface="Courier"/>
              </a:rPr>
              <a:t> plt.gcf()</a:t>
            </a:r>
          </a:p>
        </p:txBody>
      </p:sp>
      <p:pic>
        <p:nvPicPr>
          <p:cNvPr descr="presentation_files/figure-pptx/kspace_filter_code-51.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K-Space Filtering: Visualization</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Discussion Question</a:t>
            </a:r>
          </a:p>
        </p:txBody>
      </p:sp>
      <p:sp>
        <p:nvSpPr>
          <p:cNvPr id="3" name="Content Placeholder 2"/>
          <p:cNvSpPr>
            <a:spLocks noGrp="1"/>
          </p:cNvSpPr>
          <p:nvPr>
            <p:ph idx="1"/>
          </p:nvPr>
        </p:nvSpPr>
        <p:spPr/>
        <p:txBody>
          <a:bodyPr/>
          <a:lstStyle/>
          <a:p>
            <a:pPr lvl="0" indent="0" marL="0">
              <a:buNone/>
            </a:pPr>
            <a:r>
              <a:rPr/>
              <a:t>A patient moves during an MRI scan. This corrupts the data being acquired at that moment. If the motion occurs while the </a:t>
            </a:r>
            <a:r>
              <a:rPr i="1"/>
              <a:t>center</a:t>
            </a:r>
            <a:r>
              <a:rPr/>
              <a:t> of k-space is being acquired, what is the likely artifact on the final image?</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Ultrasound Imaging</a:t>
            </a:r>
          </a:p>
        </p:txBody>
      </p:sp>
      <p:sp>
        <p:nvSpPr>
          <p:cNvPr id="3" name="Content Placeholder 2"/>
          <p:cNvSpPr>
            <a:spLocks noGrp="1"/>
          </p:cNvSpPr>
          <p:nvPr>
            <p:ph idx="1"/>
          </p:nvPr>
        </p:nvSpPr>
        <p:spPr/>
        <p:txBody>
          <a:bodyPr/>
          <a:lstStyle/>
          <a:p>
            <a:pPr lvl="0"/>
            <a:r>
              <a:rPr/>
              <a:t>Uses high-frequency sound waves and their echoes to create images.</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Ultrasound Imaging</a:t>
            </a:r>
          </a:p>
        </p:txBody>
      </p:sp>
      <p:sp>
        <p:nvSpPr>
          <p:cNvPr id="3" name="Content Placeholder 2"/>
          <p:cNvSpPr>
            <a:spLocks noGrp="1"/>
          </p:cNvSpPr>
          <p:nvPr>
            <p:ph idx="1"/>
          </p:nvPr>
        </p:nvSpPr>
        <p:spPr/>
        <p:txBody>
          <a:bodyPr/>
          <a:lstStyle/>
          <a:p>
            <a:pPr lvl="0"/>
            <a:r>
              <a:rPr/>
              <a:t>The core principle is </a:t>
            </a:r>
            <a:r>
              <a:rPr b="1"/>
              <a:t>beamforming</a:t>
            </a:r>
            <a:r>
              <a:rPr/>
              <a:t>.</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Ultrasound Imaging</a:t>
            </a:r>
          </a:p>
        </p:txBody>
      </p:sp>
      <p:sp>
        <p:nvSpPr>
          <p:cNvPr id="3" name="Content Placeholder 2"/>
          <p:cNvSpPr>
            <a:spLocks noGrp="1"/>
          </p:cNvSpPr>
          <p:nvPr>
            <p:ph idx="1"/>
          </p:nvPr>
        </p:nvSpPr>
        <p:spPr/>
        <p:txBody>
          <a:bodyPr/>
          <a:lstStyle/>
          <a:p>
            <a:pPr lvl="0"/>
            <a:r>
              <a:rPr b="1"/>
              <a:t>Beamforming:</a:t>
            </a:r>
            <a:r>
              <a:rPr/>
              <a:t> By introducing microscopic time delays to the signals from individual elements in a transducer array, a focused ultrasound beam can be formed and steered electronically.</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Delay and Sum Beamforming</a:t>
            </a:r>
          </a:p>
        </p:txBody>
      </p:sp>
      <p:sp>
        <p:nvSpPr>
          <p:cNvPr id="3" name="Content Placeholder 2"/>
          <p:cNvSpPr>
            <a:spLocks noGrp="1"/>
          </p:cNvSpPr>
          <p:nvPr>
            <p:ph idx="1"/>
          </p:nvPr>
        </p:nvSpPr>
        <p:spPr/>
        <p:txBody>
          <a:bodyPr/>
          <a:lstStyle/>
          <a:p>
            <a:pPr lvl="0"/>
            <a:r>
              <a:rPr b="1"/>
              <a:t>Transmission:</a:t>
            </a:r>
            <a:r>
              <a:rPr/>
              <a:t> A pulse is sent from each transducer element, but with slightly different start times (delays). The wavefronts from all elements interfere constructively at a desired focal point.</a:t>
            </a:r>
          </a:p>
          <a:p>
            <a:pPr lvl="0"/>
            <a:r>
              <a:rPr b="1"/>
              <a:t>Reception:</a:t>
            </a:r>
            <a:r>
              <a:rPr/>
              <a:t> The returning echo hits each element at a slightly different time. By applying the reverse delays to the received signals and summing them, the system can “listen” preferentially from that same focal point.</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Beamforming: Conceptual Diagram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b="1">
                <a:solidFill>
                  <a:srgbClr val="008000"/>
                </a:solidFill>
                <a:latin typeface="Courier"/>
              </a:rPr>
              <a:t>from</a:t>
            </a:r>
            <a:r>
              <a:rPr>
                <a:latin typeface="Courier"/>
              </a:rPr>
              <a:t> matplotlib.patches </a:t>
            </a:r>
            <a:r>
              <a:rPr b="1">
                <a:solidFill>
                  <a:srgbClr val="008000"/>
                </a:solidFill>
                <a:latin typeface="Courier"/>
              </a:rPr>
              <a:t>import</a:t>
            </a:r>
            <a:r>
              <a:rPr>
                <a:latin typeface="Courier"/>
              </a:rPr>
              <a:t> Circle</a:t>
            </a:r>
            <a:br/>
            <a:br/>
            <a:r>
              <a:rPr>
                <a:latin typeface="Courier"/>
              </a:rPr>
              <a:t>elements </a:t>
            </a:r>
            <a:r>
              <a:rPr>
                <a:solidFill>
                  <a:srgbClr val="666666"/>
                </a:solidFill>
                <a:latin typeface="Courier"/>
              </a:rPr>
              <a:t>=</a:t>
            </a:r>
            <a:r>
              <a:rPr>
                <a:latin typeface="Courier"/>
              </a:rPr>
              <a:t> np.array([[</a:t>
            </a:r>
            <a:r>
              <a:rPr>
                <a:solidFill>
                  <a:srgbClr val="666666"/>
                </a:solidFill>
                <a:latin typeface="Courier"/>
              </a:rPr>
              <a:t>-</a:t>
            </a:r>
            <a:r>
              <a:rPr>
                <a:solidFill>
                  <a:srgbClr val="40A070"/>
                </a:solidFill>
                <a:latin typeface="Courier"/>
              </a:rPr>
              <a:t>2</a:t>
            </a:r>
            <a:r>
              <a:rPr>
                <a:latin typeface="Courier"/>
              </a:rPr>
              <a:t>, </a:t>
            </a:r>
            <a:r>
              <a:rPr>
                <a:solidFill>
                  <a:srgbClr val="40A070"/>
                </a:solidFill>
                <a:latin typeface="Courier"/>
              </a:rPr>
              <a:t>0</a:t>
            </a:r>
            <a:r>
              <a:rPr>
                <a:latin typeface="Courier"/>
              </a:rPr>
              <a:t>], [</a:t>
            </a:r>
            <a:r>
              <a:rPr>
                <a:solidFill>
                  <a:srgbClr val="666666"/>
                </a:solidFill>
                <a:latin typeface="Courier"/>
              </a:rPr>
              <a:t>-</a:t>
            </a:r>
            <a:r>
              <a:rPr>
                <a:solidFill>
                  <a:srgbClr val="40A070"/>
                </a:solidFill>
                <a:latin typeface="Courier"/>
              </a:rPr>
              <a:t>1</a:t>
            </a:r>
            <a:r>
              <a:rPr>
                <a:latin typeface="Courier"/>
              </a:rPr>
              <a:t>, </a:t>
            </a:r>
            <a:r>
              <a:rPr>
                <a:solidFill>
                  <a:srgbClr val="40A070"/>
                </a:solidFill>
                <a:latin typeface="Courier"/>
              </a:rPr>
              <a:t>0</a:t>
            </a:r>
            <a:r>
              <a:rPr>
                <a:latin typeface="Courier"/>
              </a:rPr>
              <a:t>], [</a:t>
            </a:r>
            <a:r>
              <a:rPr>
                <a:solidFill>
                  <a:srgbClr val="40A070"/>
                </a:solidFill>
                <a:latin typeface="Courier"/>
              </a:rPr>
              <a:t>0</a:t>
            </a:r>
            <a:r>
              <a:rPr>
                <a:latin typeface="Courier"/>
              </a:rPr>
              <a:t>, </a:t>
            </a:r>
            <a:r>
              <a:rPr>
                <a:solidFill>
                  <a:srgbClr val="40A070"/>
                </a:solidFill>
                <a:latin typeface="Courier"/>
              </a:rPr>
              <a:t>0</a:t>
            </a:r>
            <a:r>
              <a:rPr>
                <a:latin typeface="Courier"/>
              </a:rPr>
              <a:t>], [</a:t>
            </a:r>
            <a:r>
              <a:rPr>
                <a:solidFill>
                  <a:srgbClr val="40A070"/>
                </a:solidFill>
                <a:latin typeface="Courier"/>
              </a:rPr>
              <a:t>1</a:t>
            </a:r>
            <a:r>
              <a:rPr>
                <a:latin typeface="Courier"/>
              </a:rPr>
              <a:t>, </a:t>
            </a:r>
            <a:r>
              <a:rPr>
                <a:solidFill>
                  <a:srgbClr val="40A070"/>
                </a:solidFill>
                <a:latin typeface="Courier"/>
              </a:rPr>
              <a:t>0</a:t>
            </a:r>
            <a:r>
              <a:rPr>
                <a:latin typeface="Courier"/>
              </a:rPr>
              <a:t>], [</a:t>
            </a:r>
            <a:r>
              <a:rPr>
                <a:solidFill>
                  <a:srgbClr val="40A070"/>
                </a:solidFill>
                <a:latin typeface="Courier"/>
              </a:rPr>
              <a:t>2</a:t>
            </a:r>
            <a:r>
              <a:rPr>
                <a:latin typeface="Courier"/>
              </a:rPr>
              <a:t>, </a:t>
            </a:r>
            <a:r>
              <a:rPr>
                <a:solidFill>
                  <a:srgbClr val="40A070"/>
                </a:solidFill>
                <a:latin typeface="Courier"/>
              </a:rPr>
              <a:t>0</a:t>
            </a:r>
            <a:r>
              <a:rPr>
                <a:latin typeface="Courier"/>
              </a:rPr>
              <a:t>]])</a:t>
            </a:r>
            <a:br/>
            <a:r>
              <a:rPr>
                <a:latin typeface="Courier"/>
              </a:rPr>
              <a:t>focal_point </a:t>
            </a:r>
            <a:r>
              <a:rPr>
                <a:solidFill>
                  <a:srgbClr val="666666"/>
                </a:solidFill>
                <a:latin typeface="Courier"/>
              </a:rPr>
              <a:t>=</a:t>
            </a:r>
            <a:r>
              <a:rPr>
                <a:latin typeface="Courier"/>
              </a:rPr>
              <a:t> np.array([</a:t>
            </a:r>
            <a:r>
              <a:rPr>
                <a:solidFill>
                  <a:srgbClr val="40A070"/>
                </a:solidFill>
                <a:latin typeface="Courier"/>
              </a:rPr>
              <a:t>0</a:t>
            </a:r>
            <a:r>
              <a:rPr>
                <a:latin typeface="Courier"/>
              </a:rPr>
              <a:t>, </a:t>
            </a:r>
            <a:r>
              <a:rPr>
                <a:solidFill>
                  <a:srgbClr val="666666"/>
                </a:solidFill>
                <a:latin typeface="Courier"/>
              </a:rPr>
              <a:t>-</a:t>
            </a:r>
            <a:r>
              <a:rPr>
                <a:solidFill>
                  <a:srgbClr val="40A070"/>
                </a:solidFill>
                <a:latin typeface="Courier"/>
              </a:rPr>
              <a:t>4</a:t>
            </a:r>
            <a:r>
              <a:rPr>
                <a:latin typeface="Courier"/>
              </a:rPr>
              <a:t>])</a:t>
            </a:r>
            <a:br/>
            <a:br/>
            <a:r>
              <a:rPr>
                <a:latin typeface="Courier"/>
              </a:rPr>
              <a:t>fig, ax </a:t>
            </a:r>
            <a:r>
              <a:rPr>
                <a:solidFill>
                  <a:srgbClr val="666666"/>
                </a:solidFill>
                <a:latin typeface="Courier"/>
              </a:rPr>
              <a:t>=</a:t>
            </a:r>
            <a:r>
              <a:rPr>
                <a:latin typeface="Courier"/>
              </a:rPr>
              <a:t> plt.subplots()</a:t>
            </a:r>
            <a:br/>
            <a:r>
              <a:rPr>
                <a:latin typeface="Courier"/>
              </a:rPr>
              <a:t>ax.scatter(elements[:, </a:t>
            </a:r>
            <a:r>
              <a:rPr>
                <a:solidFill>
                  <a:srgbClr val="40A070"/>
                </a:solidFill>
                <a:latin typeface="Courier"/>
              </a:rPr>
              <a:t>0</a:t>
            </a:r>
            <a:r>
              <a:rPr>
                <a:latin typeface="Courier"/>
              </a:rPr>
              <a:t>], elements[:, </a:t>
            </a:r>
            <a:r>
              <a:rPr>
                <a:solidFill>
                  <a:srgbClr val="40A070"/>
                </a:solidFill>
                <a:latin typeface="Courier"/>
              </a:rPr>
              <a:t>1</a:t>
            </a:r>
            <a:r>
              <a:rPr>
                <a:latin typeface="Courier"/>
              </a:rPr>
              <a:t>], s</a:t>
            </a:r>
            <a:r>
              <a:rPr>
                <a:solidFill>
                  <a:srgbClr val="666666"/>
                </a:solidFill>
                <a:latin typeface="Courier"/>
              </a:rPr>
              <a:t>=</a:t>
            </a:r>
            <a:r>
              <a:rPr>
                <a:solidFill>
                  <a:srgbClr val="40A070"/>
                </a:solidFill>
                <a:latin typeface="Courier"/>
              </a:rPr>
              <a:t>100</a:t>
            </a:r>
            <a:r>
              <a:rPr>
                <a:latin typeface="Courier"/>
              </a:rPr>
              <a:t>, marker</a:t>
            </a:r>
            <a:r>
              <a:rPr>
                <a:solidFill>
                  <a:srgbClr val="666666"/>
                </a:solidFill>
                <a:latin typeface="Courier"/>
              </a:rPr>
              <a:t>=</a:t>
            </a:r>
            <a:r>
              <a:rPr>
                <a:solidFill>
                  <a:srgbClr val="4070A0"/>
                </a:solidFill>
                <a:latin typeface="Courier"/>
              </a:rPr>
              <a:t>'s'</a:t>
            </a:r>
            <a:r>
              <a:rPr>
                <a:latin typeface="Courier"/>
              </a:rPr>
              <a:t>, c</a:t>
            </a:r>
            <a:r>
              <a:rPr>
                <a:solidFill>
                  <a:srgbClr val="666666"/>
                </a:solidFill>
                <a:latin typeface="Courier"/>
              </a:rPr>
              <a:t>=</a:t>
            </a:r>
            <a:r>
              <a:rPr>
                <a:solidFill>
                  <a:srgbClr val="4070A0"/>
                </a:solidFill>
                <a:latin typeface="Courier"/>
              </a:rPr>
              <a:t>'blue'</a:t>
            </a:r>
            <a:r>
              <a:rPr>
                <a:latin typeface="Courier"/>
              </a:rPr>
              <a:t>)</a:t>
            </a:r>
            <a:br/>
            <a:r>
              <a:rPr>
                <a:latin typeface="Courier"/>
              </a:rPr>
              <a:t>ax.scatter(focal_point[</a:t>
            </a:r>
            <a:r>
              <a:rPr>
                <a:solidFill>
                  <a:srgbClr val="40A070"/>
                </a:solidFill>
                <a:latin typeface="Courier"/>
              </a:rPr>
              <a:t>0</a:t>
            </a:r>
            <a:r>
              <a:rPr>
                <a:latin typeface="Courier"/>
              </a:rPr>
              <a:t>], focal_point[</a:t>
            </a:r>
            <a:r>
              <a:rPr>
                <a:solidFill>
                  <a:srgbClr val="40A070"/>
                </a:solidFill>
                <a:latin typeface="Courier"/>
              </a:rPr>
              <a:t>1</a:t>
            </a:r>
            <a:r>
              <a:rPr>
                <a:latin typeface="Courier"/>
              </a:rPr>
              <a:t>], s</a:t>
            </a:r>
            <a:r>
              <a:rPr>
                <a:solidFill>
                  <a:srgbClr val="666666"/>
                </a:solidFill>
                <a:latin typeface="Courier"/>
              </a:rPr>
              <a:t>=</a:t>
            </a:r>
            <a:r>
              <a:rPr>
                <a:solidFill>
                  <a:srgbClr val="40A070"/>
                </a:solidFill>
                <a:latin typeface="Courier"/>
              </a:rPr>
              <a:t>100</a:t>
            </a:r>
            <a:r>
              <a:rPr>
                <a:latin typeface="Courier"/>
              </a:rPr>
              <a:t>, marker</a:t>
            </a:r>
            <a:r>
              <a:rPr>
                <a:solidFill>
                  <a:srgbClr val="666666"/>
                </a:solidFill>
                <a:latin typeface="Courier"/>
              </a:rPr>
              <a:t>=</a:t>
            </a:r>
            <a:r>
              <a:rPr>
                <a:solidFill>
                  <a:srgbClr val="4070A0"/>
                </a:solidFill>
                <a:latin typeface="Courier"/>
              </a:rPr>
              <a:t>'*'</a:t>
            </a:r>
            <a:r>
              <a:rPr>
                <a:latin typeface="Courier"/>
              </a:rPr>
              <a:t>, c</a:t>
            </a:r>
            <a:r>
              <a:rPr>
                <a:solidFill>
                  <a:srgbClr val="666666"/>
                </a:solidFill>
                <a:latin typeface="Courier"/>
              </a:rPr>
              <a:t>=</a:t>
            </a:r>
            <a:r>
              <a:rPr>
                <a:solidFill>
                  <a:srgbClr val="4070A0"/>
                </a:solidFill>
                <a:latin typeface="Courier"/>
              </a:rPr>
              <a:t>'red'</a:t>
            </a:r>
            <a:r>
              <a:rPr>
                <a:latin typeface="Courier"/>
              </a:rPr>
              <a:t>)</a:t>
            </a:r>
            <a:br/>
            <a:br/>
            <a:r>
              <a:rPr b="1">
                <a:solidFill>
                  <a:srgbClr val="007020"/>
                </a:solidFill>
                <a:latin typeface="Courier"/>
              </a:rPr>
              <a:t>for</a:t>
            </a:r>
            <a:r>
              <a:rPr>
                <a:latin typeface="Courier"/>
              </a:rPr>
              <a:t> el </a:t>
            </a:r>
            <a:r>
              <a:rPr b="1">
                <a:solidFill>
                  <a:srgbClr val="007020"/>
                </a:solidFill>
                <a:latin typeface="Courier"/>
              </a:rPr>
              <a:t>in</a:t>
            </a:r>
            <a:r>
              <a:rPr>
                <a:latin typeface="Courier"/>
              </a:rPr>
              <a:t> elements:</a:t>
            </a:r>
            <a:br/>
            <a:r>
              <a:rPr>
                <a:latin typeface="Courier"/>
              </a:rPr>
              <a:t>    dist </a:t>
            </a:r>
            <a:r>
              <a:rPr>
                <a:solidFill>
                  <a:srgbClr val="666666"/>
                </a:solidFill>
                <a:latin typeface="Courier"/>
              </a:rPr>
              <a:t>=</a:t>
            </a:r>
            <a:r>
              <a:rPr>
                <a:latin typeface="Courier"/>
              </a:rPr>
              <a:t> np.linalg.norm(el </a:t>
            </a:r>
            <a:r>
              <a:rPr>
                <a:solidFill>
                  <a:srgbClr val="666666"/>
                </a:solidFill>
                <a:latin typeface="Courier"/>
              </a:rPr>
              <a:t>-</a:t>
            </a:r>
            <a:r>
              <a:rPr>
                <a:latin typeface="Courier"/>
              </a:rPr>
              <a:t> focal_point)</a:t>
            </a:r>
            <a:br/>
            <a:r>
              <a:rPr>
                <a:latin typeface="Courier"/>
              </a:rPr>
              <a:t>    </a:t>
            </a:r>
            <a:r>
              <a:rPr b="1">
                <a:solidFill>
                  <a:srgbClr val="007020"/>
                </a:solidFill>
                <a:latin typeface="Courier"/>
              </a:rPr>
              <a:t>for</a:t>
            </a:r>
            <a:r>
              <a:rPr>
                <a:latin typeface="Courier"/>
              </a:rPr>
              <a:t> r </a:t>
            </a:r>
            <a:r>
              <a:rPr b="1">
                <a:solidFill>
                  <a:srgbClr val="007020"/>
                </a:solidFill>
                <a:latin typeface="Courier"/>
              </a:rPr>
              <a:t>in</a:t>
            </a:r>
            <a:r>
              <a:rPr>
                <a:latin typeface="Courier"/>
              </a:rPr>
              <a:t> np.arange(</a:t>
            </a:r>
            <a:r>
              <a:rPr>
                <a:solidFill>
                  <a:srgbClr val="40A070"/>
                </a:solidFill>
                <a:latin typeface="Courier"/>
              </a:rPr>
              <a:t>0.5</a:t>
            </a:r>
            <a:r>
              <a:rPr>
                <a:latin typeface="Courier"/>
              </a:rPr>
              <a:t>, </a:t>
            </a:r>
            <a:r>
              <a:rPr>
                <a:solidFill>
                  <a:srgbClr val="40A070"/>
                </a:solidFill>
                <a:latin typeface="Courier"/>
              </a:rPr>
              <a:t>5.5</a:t>
            </a:r>
            <a:r>
              <a:rPr>
                <a:latin typeface="Courier"/>
              </a:rPr>
              <a:t>, </a:t>
            </a:r>
            <a:r>
              <a:rPr>
                <a:solidFill>
                  <a:srgbClr val="40A070"/>
                </a:solidFill>
                <a:latin typeface="Courier"/>
              </a:rPr>
              <a:t>0.5</a:t>
            </a:r>
            <a:r>
              <a:rPr>
                <a:latin typeface="Courier"/>
              </a:rPr>
              <a:t>):</a:t>
            </a:r>
            <a:br/>
            <a:r>
              <a:rPr>
                <a:latin typeface="Courier"/>
              </a:rPr>
              <a:t>        ax.add_patch(Circle(el, r, fill</a:t>
            </a:r>
            <a:r>
              <a:rPr>
                <a:solidFill>
                  <a:srgbClr val="666666"/>
                </a:solidFill>
                <a:latin typeface="Courier"/>
              </a:rPr>
              <a:t>=</a:t>
            </a:r>
            <a:r>
              <a:rPr>
                <a:solidFill>
                  <a:srgbClr val="19177C"/>
                </a:solidFill>
                <a:latin typeface="Courier"/>
              </a:rPr>
              <a:t>False</a:t>
            </a:r>
            <a:r>
              <a:rPr>
                <a:latin typeface="Courier"/>
              </a:rPr>
              <a:t>, color</a:t>
            </a:r>
            <a:r>
              <a:rPr>
                <a:solidFill>
                  <a:srgbClr val="666666"/>
                </a:solidFill>
                <a:latin typeface="Courier"/>
              </a:rPr>
              <a:t>=</a:t>
            </a:r>
            <a:r>
              <a:rPr>
                <a:solidFill>
                  <a:srgbClr val="4070A0"/>
                </a:solidFill>
                <a:latin typeface="Courier"/>
              </a:rPr>
              <a:t>'gray'</a:t>
            </a:r>
            <a:r>
              <a:rPr>
                <a:latin typeface="Courier"/>
              </a:rPr>
              <a:t>))</a:t>
            </a:r>
            <a:br/>
            <a:br/>
            <a:r>
              <a:rPr>
                <a:latin typeface="Courier"/>
              </a:rPr>
              <a:t>ax.set_aspect(</a:t>
            </a:r>
            <a:r>
              <a:rPr>
                <a:solidFill>
                  <a:srgbClr val="4070A0"/>
                </a:solidFill>
                <a:latin typeface="Courier"/>
              </a:rPr>
              <a:t>'equal'</a:t>
            </a:r>
            <a:r>
              <a:rPr>
                <a:latin typeface="Courier"/>
              </a:rPr>
              <a:t>, adjustable</a:t>
            </a:r>
            <a:r>
              <a:rPr>
                <a:solidFill>
                  <a:srgbClr val="666666"/>
                </a:solidFill>
                <a:latin typeface="Courier"/>
              </a:rPr>
              <a:t>=</a:t>
            </a:r>
            <a:r>
              <a:rPr>
                <a:solidFill>
                  <a:srgbClr val="4070A0"/>
                </a:solidFill>
                <a:latin typeface="Courier"/>
              </a:rPr>
              <a:t>'box'</a:t>
            </a:r>
            <a:r>
              <a:rPr>
                <a:latin typeface="Courier"/>
              </a:rPr>
              <a:t>)</a:t>
            </a:r>
            <a:br/>
            <a:r>
              <a:rPr>
                <a:latin typeface="Courier"/>
              </a:rPr>
              <a:t>ax.set_xlim(</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a:t>
            </a:r>
          </a:p>
          <a:p>
            <a:pPr lvl="0" indent="0">
              <a:buNone/>
            </a:pPr>
            <a:r>
              <a:rPr>
                <a:latin typeface="Courier"/>
              </a:rPr>
              <a:t>## (-5.0, 5.0)</a:t>
            </a:r>
          </a:p>
          <a:p>
            <a:pPr lvl="0" indent="0">
              <a:buNone/>
            </a:pPr>
            <a:r>
              <a:rPr>
                <a:latin typeface="Courier"/>
              </a:rPr>
              <a:t>ax.set_ylim(</a:t>
            </a:r>
            <a:r>
              <a:rPr>
                <a:solidFill>
                  <a:srgbClr val="666666"/>
                </a:solidFill>
                <a:latin typeface="Courier"/>
              </a:rPr>
              <a:t>-</a:t>
            </a:r>
            <a:r>
              <a:rPr>
                <a:solidFill>
                  <a:srgbClr val="40A070"/>
                </a:solidFill>
                <a:latin typeface="Courier"/>
              </a:rPr>
              <a:t>5</a:t>
            </a:r>
            <a:r>
              <a:rPr>
                <a:latin typeface="Courier"/>
              </a:rPr>
              <a:t>, </a:t>
            </a:r>
            <a:r>
              <a:rPr>
                <a:solidFill>
                  <a:srgbClr val="40A070"/>
                </a:solidFill>
                <a:latin typeface="Courier"/>
              </a:rPr>
              <a:t>1</a:t>
            </a:r>
            <a:r>
              <a:rPr>
                <a:latin typeface="Courier"/>
              </a:rPr>
              <a:t>)</a:t>
            </a:r>
          </a:p>
          <a:p>
            <a:pPr lvl="0" indent="0">
              <a:buNone/>
            </a:pPr>
            <a:r>
              <a:rPr>
                <a:latin typeface="Courier"/>
              </a:rPr>
              <a:t>## (-5.0, 1.0)</a:t>
            </a:r>
          </a:p>
          <a:p>
            <a:pPr lvl="0" indent="0">
              <a:buNone/>
            </a:pPr>
            <a:r>
              <a:rPr>
                <a:latin typeface="Courier"/>
              </a:rPr>
              <a:t>ax.set_title(</a:t>
            </a:r>
            <a:r>
              <a:rPr>
                <a:solidFill>
                  <a:srgbClr val="4070A0"/>
                </a:solidFill>
                <a:latin typeface="Courier"/>
              </a:rPr>
              <a:t>"Ultrasound Beamforming"</a:t>
            </a:r>
            <a:r>
              <a:rPr>
                <a:latin typeface="Courier"/>
              </a:rPr>
              <a:t>)</a:t>
            </a:r>
            <a:br/>
            <a:r>
              <a:rPr>
                <a:latin typeface="Courier"/>
              </a:rPr>
              <a:t>ax.axis(</a:t>
            </a:r>
            <a:r>
              <a:rPr>
                <a:solidFill>
                  <a:srgbClr val="4070A0"/>
                </a:solidFill>
                <a:latin typeface="Courier"/>
              </a:rPr>
              <a:t>'off'</a:t>
            </a:r>
            <a:r>
              <a:rPr>
                <a:latin typeface="Courier"/>
              </a:rPr>
              <a:t>)</a:t>
            </a:r>
          </a:p>
          <a:p>
            <a:pPr lvl="0" indent="0">
              <a:buNone/>
            </a:pPr>
            <a:r>
              <a:rPr>
                <a:latin typeface="Courier"/>
              </a:rPr>
              <a:t>## (np.float64(-5.0), np.float64(5.0), np.float64(-5.0), np.float64(1.0))</a:t>
            </a:r>
          </a:p>
          <a:p>
            <a:pPr lvl="0" indent="0">
              <a:buNone/>
            </a:pPr>
            <a:r>
              <a:rPr>
                <a:latin typeface="Courier"/>
              </a:rPr>
              <a:t>beamforming_diagram_fig </a:t>
            </a:r>
            <a:r>
              <a:rPr>
                <a:solidFill>
                  <a:srgbClr val="666666"/>
                </a:solidFill>
                <a:latin typeface="Courier"/>
              </a:rPr>
              <a:t>=</a:t>
            </a:r>
            <a:r>
              <a:rPr>
                <a:latin typeface="Courier"/>
              </a:rPr>
              <a:t> plt.gcf()</a:t>
            </a:r>
          </a:p>
        </p:txBody>
      </p:sp>
      <p:pic>
        <p:nvPicPr>
          <p:cNvPr descr="presentation_files/figure-pptx/beamforming_diagram_code-5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Beamforming: Conceptual Diagram</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Modern Topics: Compressed Sensing</a:t>
            </a:r>
          </a:p>
        </p:txBody>
      </p:sp>
      <p:sp>
        <p:nvSpPr>
          <p:cNvPr id="3" name="Content Placeholder 2"/>
          <p:cNvSpPr>
            <a:spLocks noGrp="1"/>
          </p:cNvSpPr>
          <p:nvPr>
            <p:ph idx="1"/>
          </p:nvPr>
        </p:nvSpPr>
        <p:spPr/>
        <p:txBody>
          <a:bodyPr/>
          <a:lstStyle/>
          <a:p>
            <a:pPr lvl="0"/>
            <a:r>
              <a:rPr/>
              <a:t>A relatively new paradigm in signal acquisition.</a:t>
            </a:r>
          </a:p>
          <a:p>
            <a:pPr lvl="0"/>
            <a:r>
              <a:rPr b="1"/>
              <a:t>Core Idea:</a:t>
            </a:r>
            <a:r>
              <a:rPr/>
              <a:t> If a signal is </a:t>
            </a:r>
            <a:r>
              <a:rPr b="1"/>
              <a:t>sparse</a:t>
            </a:r>
            <a:r>
              <a:rPr/>
              <a:t> in some domain (meaning most of its values are zero), it can be reconstructed from far fewer measurements than required by traditional sampling theory (Nyquist theorem).</a:t>
            </a:r>
          </a:p>
          <a:p>
            <a:pPr lvl="0"/>
            <a:r>
              <a:rPr/>
              <a:t>For example, many medical images are sparse in the wavelet domain.</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Sparsity: Conceptual Diagram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numpy </a:t>
            </a:r>
            <a:r>
              <a:rPr b="1">
                <a:solidFill>
                  <a:srgbClr val="008000"/>
                </a:solidFill>
                <a:latin typeface="Courier"/>
              </a:rPr>
              <a:t>as</a:t>
            </a:r>
            <a:r>
              <a:rPr>
                <a:latin typeface="Courier"/>
              </a:rPr>
              <a:t> np</a:t>
            </a:r>
            <a:b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br/>
            <a:r>
              <a:rPr i="1">
                <a:solidFill>
                  <a:srgbClr val="60A0B0"/>
                </a:solidFill>
                <a:latin typeface="Courier"/>
              </a:rPr>
              <a:t># Non-sparse signal (e.g., sine wave)</a:t>
            </a:r>
            <a:br/>
            <a:r>
              <a:rPr>
                <a:latin typeface="Courier"/>
              </a:rPr>
              <a:t>x_dense </a:t>
            </a:r>
            <a:r>
              <a:rPr>
                <a:solidFill>
                  <a:srgbClr val="666666"/>
                </a:solidFill>
                <a:latin typeface="Courier"/>
              </a:rPr>
              <a:t>=</a:t>
            </a:r>
            <a:r>
              <a:rPr>
                <a:latin typeface="Courier"/>
              </a:rPr>
              <a:t> np.linspace(</a:t>
            </a:r>
            <a:r>
              <a:rPr>
                <a:solidFill>
                  <a:srgbClr val="40A070"/>
                </a:solidFill>
                <a:latin typeface="Courier"/>
              </a:rPr>
              <a:t>0</a:t>
            </a:r>
            <a:r>
              <a:rPr>
                <a:latin typeface="Courier"/>
              </a:rPr>
              <a:t>, </a:t>
            </a:r>
            <a:r>
              <a:rPr>
                <a:solidFill>
                  <a:srgbClr val="40A070"/>
                </a:solidFill>
                <a:latin typeface="Courier"/>
              </a:rPr>
              <a:t>10</a:t>
            </a:r>
            <a:r>
              <a:rPr>
                <a:latin typeface="Courier"/>
              </a:rPr>
              <a:t>, </a:t>
            </a:r>
            <a:r>
              <a:rPr>
                <a:solidFill>
                  <a:srgbClr val="40A070"/>
                </a:solidFill>
                <a:latin typeface="Courier"/>
              </a:rPr>
              <a:t>100</a:t>
            </a:r>
            <a:r>
              <a:rPr>
                <a:latin typeface="Courier"/>
              </a:rPr>
              <a:t>)</a:t>
            </a:r>
            <a:br/>
            <a:r>
              <a:rPr>
                <a:latin typeface="Courier"/>
              </a:rPr>
              <a:t>y_dense </a:t>
            </a:r>
            <a:r>
              <a:rPr>
                <a:solidFill>
                  <a:srgbClr val="666666"/>
                </a:solidFill>
                <a:latin typeface="Courier"/>
              </a:rPr>
              <a:t>=</a:t>
            </a:r>
            <a:r>
              <a:rPr>
                <a:latin typeface="Courier"/>
              </a:rPr>
              <a:t> np.sin(x_dense)</a:t>
            </a:r>
            <a:br/>
            <a:br/>
            <a:r>
              <a:rPr i="1">
                <a:solidFill>
                  <a:srgbClr val="60A0B0"/>
                </a:solidFill>
                <a:latin typeface="Courier"/>
              </a:rPr>
              <a:t># Sparse signal (e.g., a few spikes)</a:t>
            </a:r>
            <a:br/>
            <a:r>
              <a:rPr>
                <a:latin typeface="Courier"/>
              </a:rPr>
              <a:t>x_sparse </a:t>
            </a:r>
            <a:r>
              <a:rPr>
                <a:solidFill>
                  <a:srgbClr val="666666"/>
                </a:solidFill>
                <a:latin typeface="Courier"/>
              </a:rPr>
              <a:t>=</a:t>
            </a:r>
            <a:r>
              <a:rPr>
                <a:latin typeface="Courier"/>
              </a:rPr>
              <a:t> np.arange(</a:t>
            </a:r>
            <a:r>
              <a:rPr>
                <a:solidFill>
                  <a:srgbClr val="40A070"/>
                </a:solidFill>
                <a:latin typeface="Courier"/>
              </a:rPr>
              <a:t>100</a:t>
            </a:r>
            <a:r>
              <a:rPr>
                <a:latin typeface="Courier"/>
              </a:rPr>
              <a:t>)</a:t>
            </a:r>
            <a:br/>
            <a:r>
              <a:rPr>
                <a:latin typeface="Courier"/>
              </a:rPr>
              <a:t>y_sparse </a:t>
            </a:r>
            <a:r>
              <a:rPr>
                <a:solidFill>
                  <a:srgbClr val="666666"/>
                </a:solidFill>
                <a:latin typeface="Courier"/>
              </a:rPr>
              <a:t>=</a:t>
            </a:r>
            <a:r>
              <a:rPr>
                <a:latin typeface="Courier"/>
              </a:rPr>
              <a:t> np.zeros(</a:t>
            </a:r>
            <a:r>
              <a:rPr>
                <a:solidFill>
                  <a:srgbClr val="40A070"/>
                </a:solidFill>
                <a:latin typeface="Courier"/>
              </a:rPr>
              <a:t>100</a:t>
            </a:r>
            <a:r>
              <a:rPr>
                <a:latin typeface="Courier"/>
              </a:rPr>
              <a:t>)</a:t>
            </a:r>
            <a:br/>
            <a:r>
              <a:rPr>
                <a:latin typeface="Courier"/>
              </a:rPr>
              <a:t>y_sparse[[</a:t>
            </a:r>
            <a:r>
              <a:rPr>
                <a:solidFill>
                  <a:srgbClr val="40A070"/>
                </a:solidFill>
                <a:latin typeface="Courier"/>
              </a:rPr>
              <a:t>10</a:t>
            </a:r>
            <a:r>
              <a:rPr>
                <a:latin typeface="Courier"/>
              </a:rPr>
              <a:t>, </a:t>
            </a:r>
            <a:r>
              <a:rPr>
                <a:solidFill>
                  <a:srgbClr val="40A070"/>
                </a:solidFill>
                <a:latin typeface="Courier"/>
              </a:rPr>
              <a:t>30</a:t>
            </a:r>
            <a:r>
              <a:rPr>
                <a:latin typeface="Courier"/>
              </a:rPr>
              <a:t>, </a:t>
            </a:r>
            <a:r>
              <a:rPr>
                <a:solidFill>
                  <a:srgbClr val="40A070"/>
                </a:solidFill>
                <a:latin typeface="Courier"/>
              </a:rPr>
              <a:t>80</a:t>
            </a:r>
            <a:r>
              <a:rPr>
                <a:latin typeface="Courier"/>
              </a:rPr>
              <a:t>]] </a:t>
            </a:r>
            <a:r>
              <a:rPr>
                <a:solidFill>
                  <a:srgbClr val="666666"/>
                </a:solidFill>
                <a:latin typeface="Courier"/>
              </a:rPr>
              <a:t>=</a:t>
            </a:r>
            <a:r>
              <a:rPr>
                <a:latin typeface="Courier"/>
              </a:rPr>
              <a:t> [</a:t>
            </a:r>
            <a:r>
              <a:rPr>
                <a:solidFill>
                  <a:srgbClr val="40A070"/>
                </a:solidFill>
                <a:latin typeface="Courier"/>
              </a:rPr>
              <a:t>1</a:t>
            </a:r>
            <a:r>
              <a:rPr>
                <a:latin typeface="Courier"/>
              </a:rPr>
              <a:t>, </a:t>
            </a:r>
            <a:r>
              <a:rPr>
                <a:solidFill>
                  <a:srgbClr val="666666"/>
                </a:solidFill>
                <a:latin typeface="Courier"/>
              </a:rPr>
              <a:t>-</a:t>
            </a:r>
            <a:r>
              <a:rPr>
                <a:solidFill>
                  <a:srgbClr val="40A070"/>
                </a:solidFill>
                <a:latin typeface="Courier"/>
              </a:rPr>
              <a:t>0.8</a:t>
            </a:r>
            <a:r>
              <a:rPr>
                <a:latin typeface="Courier"/>
              </a:rPr>
              <a:t>, </a:t>
            </a:r>
            <a:r>
              <a:rPr>
                <a:solidFill>
                  <a:srgbClr val="40A070"/>
                </a:solidFill>
                <a:latin typeface="Courier"/>
              </a:rPr>
              <a:t>0.9</a:t>
            </a:r>
            <a:r>
              <a:rPr>
                <a:latin typeface="Courier"/>
              </a:rPr>
              <a:t>]</a:t>
            </a:r>
            <a:br/>
            <a:br/>
            <a:r>
              <a:rPr>
                <a:latin typeface="Courier"/>
              </a:rPr>
              <a:t>fig, (ax1, ax2) </a:t>
            </a:r>
            <a:r>
              <a:rPr>
                <a:solidFill>
                  <a:srgbClr val="666666"/>
                </a:solidFill>
                <a:latin typeface="Courier"/>
              </a:rPr>
              <a:t>=</a:t>
            </a:r>
            <a:r>
              <a:rPr>
                <a:latin typeface="Courier"/>
              </a:rPr>
              <a:t> plt.subplots(</a:t>
            </a:r>
            <a:r>
              <a:rPr>
                <a:solidFill>
                  <a:srgbClr val="40A070"/>
                </a:solidFill>
                <a:latin typeface="Courier"/>
              </a:rPr>
              <a:t>1</a:t>
            </a:r>
            <a:r>
              <a:rPr>
                <a:latin typeface="Courier"/>
              </a:rPr>
              <a:t>, </a:t>
            </a:r>
            <a:r>
              <a:rPr>
                <a:solidFill>
                  <a:srgbClr val="40A070"/>
                </a:solidFill>
                <a:latin typeface="Courier"/>
              </a:rPr>
              <a:t>2</a:t>
            </a:r>
            <a:r>
              <a:rPr>
                <a:latin typeface="Courier"/>
              </a:rPr>
              <a:t>, 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4</a:t>
            </a:r>
            <a:r>
              <a:rPr>
                <a:latin typeface="Courier"/>
              </a:rPr>
              <a:t>))</a:t>
            </a:r>
            <a:br/>
            <a:r>
              <a:rPr>
                <a:latin typeface="Courier"/>
              </a:rPr>
              <a:t>ax1.plot(x_dense, y_dense)</a:t>
            </a:r>
            <a:br/>
            <a:r>
              <a:rPr>
                <a:latin typeface="Courier"/>
              </a:rPr>
              <a:t>ax1.set_title(</a:t>
            </a:r>
            <a:r>
              <a:rPr>
                <a:solidFill>
                  <a:srgbClr val="4070A0"/>
                </a:solidFill>
                <a:latin typeface="Courier"/>
              </a:rPr>
              <a:t>"Non-Sparse Signal"</a:t>
            </a:r>
            <a:r>
              <a:rPr>
                <a:latin typeface="Courier"/>
              </a:rPr>
              <a:t>)</a:t>
            </a:r>
            <a:br/>
            <a:r>
              <a:rPr>
                <a:latin typeface="Courier"/>
              </a:rPr>
              <a:t>ax2.stem(x_sparse, y_sparse)</a:t>
            </a:r>
            <a:br/>
            <a:r>
              <a:rPr>
                <a:latin typeface="Courier"/>
              </a:rPr>
              <a:t>ax2.set_title(</a:t>
            </a:r>
            <a:r>
              <a:rPr>
                <a:solidFill>
                  <a:srgbClr val="4070A0"/>
                </a:solidFill>
                <a:latin typeface="Courier"/>
              </a:rPr>
              <a:t>"Sparse Signal"</a:t>
            </a:r>
            <a:r>
              <a:rPr>
                <a:latin typeface="Courier"/>
              </a:rPr>
              <a:t>)</a:t>
            </a:r>
            <a:br/>
            <a:r>
              <a:rPr>
                <a:latin typeface="Courier"/>
              </a:rPr>
              <a:t>sparsity_diagram_fig </a:t>
            </a:r>
            <a:r>
              <a:rPr>
                <a:solidFill>
                  <a:srgbClr val="666666"/>
                </a:solidFill>
                <a:latin typeface="Courier"/>
              </a:rPr>
              <a:t>=</a:t>
            </a:r>
            <a:r>
              <a:rPr>
                <a:latin typeface="Courier"/>
              </a:rPr>
              <a:t> plt.gcf()</a:t>
            </a:r>
          </a:p>
        </p:txBody>
      </p:sp>
      <p:pic>
        <p:nvPicPr>
          <p:cNvPr descr="presentation_files/figure-pptx/sparsity_diagram_code-55.png" id="0" name="Picture 1"/>
          <p:cNvPicPr>
            <a:picLocks noGrp="1" noChangeAspect="1"/>
          </p:cNvPicPr>
          <p:nvPr/>
        </p:nvPicPr>
        <p:blipFill>
          <a:blip r:embed="rId2"/>
          <a:stretch>
            <a:fillRect/>
          </a:stretch>
        </p:blipFill>
        <p:spPr bwMode="auto">
          <a:xfrm>
            <a:off x="3568700" y="1371600"/>
            <a:ext cx="5105400" cy="2044700"/>
          </a:xfrm>
          <a:prstGeom prst="rect">
            <a:avLst/>
          </a:prstGeom>
          <a:noFill/>
          <a:ln w="9525">
            <a:noFill/>
            <a:headEnd/>
            <a:tailEnd/>
          </a:ln>
        </p:spPr>
      </p:pic>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Sparsity: Conceptual Diagram</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Sparsity: Conceptual Diagram (cont.)</a:t>
            </a:r>
          </a:p>
        </p:txBody>
      </p:sp>
      <p:sp>
        <p:nvSpPr>
          <p:cNvPr id="3" name="Content Placeholder 2"/>
          <p:cNvSpPr>
            <a:spLocks noGrp="1"/>
          </p:cNvSpPr>
          <p:nvPr>
            <p:ph idx="1"/>
          </p:nvPr>
        </p:nvSpPr>
        <p:spPr/>
        <p:txBody>
          <a:bodyPr/>
          <a:lstStyle/>
          <a:p>
            <a:pPr lvl="0"/>
            <a:r>
              <a:rPr/>
              <a:t>A sparse signal is one where most of the values are zero (or very close to it). Compressed sensing works by finding a transform domain where the signal becomes sparse.</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Modern Topics: Deep Learning</a:t>
            </a:r>
          </a:p>
        </p:txBody>
      </p:sp>
      <p:sp>
        <p:nvSpPr>
          <p:cNvPr id="3" name="Content Placeholder 2"/>
          <p:cNvSpPr>
            <a:spLocks noGrp="1"/>
          </p:cNvSpPr>
          <p:nvPr>
            <p:ph idx="1"/>
          </p:nvPr>
        </p:nvSpPr>
        <p:spPr/>
        <p:txBody>
          <a:bodyPr/>
          <a:lstStyle/>
          <a:p>
            <a:pPr lvl="0"/>
            <a:r>
              <a:rPr/>
              <a:t>Deep Learning, particularly Convolutional Neural Networks (CNNs), has revolutionized medical image analysis.</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Modern Topics: Deep Learning</a:t>
            </a:r>
          </a:p>
        </p:txBody>
      </p:sp>
      <p:sp>
        <p:nvSpPr>
          <p:cNvPr id="3" name="Content Placeholder 2"/>
          <p:cNvSpPr>
            <a:spLocks noGrp="1"/>
          </p:cNvSpPr>
          <p:nvPr>
            <p:ph idx="1"/>
          </p:nvPr>
        </p:nvSpPr>
        <p:spPr/>
        <p:txBody>
          <a:bodyPr/>
          <a:lstStyle/>
          <a:p>
            <a:pPr lvl="0"/>
            <a:r>
              <a:rPr/>
              <a:t>A CNN is a type of neural network that uses convolution as its primary operation.</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Modern Topics: Deep Learning</a:t>
            </a:r>
          </a:p>
        </p:txBody>
      </p:sp>
      <p:sp>
        <p:nvSpPr>
          <p:cNvPr id="3" name="Content Placeholder 2"/>
          <p:cNvSpPr>
            <a:spLocks noGrp="1"/>
          </p:cNvSpPr>
          <p:nvPr>
            <p:ph idx="1"/>
          </p:nvPr>
        </p:nvSpPr>
        <p:spPr/>
        <p:txBody>
          <a:bodyPr/>
          <a:lstStyle/>
          <a:p>
            <a:pPr lvl="0"/>
            <a:r>
              <a:rPr/>
              <a:t>Instead of using a fixed filter (like a ramp filter or a smoothing filter), a CNN </a:t>
            </a:r>
            <a:r>
              <a:rPr b="1"/>
              <a:t>learns</a:t>
            </a:r>
            <a:r>
              <a:rPr/>
              <a:t> the optimal filter kernels directly from training data to perform a specific task.</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Role of CNNs</a:t>
            </a:r>
          </a:p>
        </p:txBody>
      </p:sp>
      <p:sp>
        <p:nvSpPr>
          <p:cNvPr id="3" name="Content Placeholder 2"/>
          <p:cNvSpPr>
            <a:spLocks noGrp="1"/>
          </p:cNvSpPr>
          <p:nvPr>
            <p:ph idx="1"/>
          </p:nvPr>
        </p:nvSpPr>
        <p:spPr/>
        <p:txBody>
          <a:bodyPr/>
          <a:lstStyle/>
          <a:p>
            <a:pPr lvl="0" indent="0" marL="0">
              <a:buNone/>
            </a:pPr>
            <a:r>
              <a:rPr/>
              <a:t>CNNs are used for a huge variety of tasks: - </a:t>
            </a:r>
            <a:r>
              <a:rPr b="1"/>
              <a:t>Image Reconstruction:</a:t>
            </a:r>
            <a:r>
              <a:rPr/>
              <a:t> Learned alternatives to FBP or iterative methods. - </a:t>
            </a:r>
            <a:r>
              <a:rPr b="1"/>
              <a:t>Denoising:</a:t>
            </a:r>
            <a:r>
              <a:rPr/>
              <a:t> Learning to remove noise more effectively than traditional filters. - </a:t>
            </a:r>
            <a:r>
              <a:rPr b="1"/>
              <a:t>Segmentation:</a:t>
            </a:r>
            <a:r>
              <a:rPr/>
              <a:t> Automatically outlining organs or tumors. - </a:t>
            </a:r>
            <a:r>
              <a:rPr b="1"/>
              <a:t>Classification:</a:t>
            </a:r>
            <a:r>
              <a:rPr/>
              <a:t> Diagnosing whether a lesion is benign or malignant.</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CNN Architecture: Conceptual Diagram Code</a:t>
            </a:r>
          </a:p>
        </p:txBody>
      </p:sp>
      <p:sp>
        <p:nvSpPr>
          <p:cNvPr id="4" name="Text Placeholder 3"/>
          <p:cNvSpPr>
            <a:spLocks noGrp="1"/>
          </p:cNvSpPr>
          <p:nvPr>
            <p:ph idx="2" sz="half" type="body"/>
          </p:nvPr>
        </p:nvSpPr>
        <p:spPr/>
        <p:txBody>
          <a:bodyPr/>
          <a:lstStyle/>
          <a:p>
            <a:pPr lvl="0" indent="0">
              <a:buNone/>
            </a:pPr>
            <a:r>
              <a:rPr b="1">
                <a:solidFill>
                  <a:srgbClr val="008000"/>
                </a:solidFill>
                <a:latin typeface="Courier"/>
              </a:rPr>
              <a:t>import</a:t>
            </a:r>
            <a:r>
              <a:rPr>
                <a:latin typeface="Courier"/>
              </a:rPr>
              <a:t> matplotlib.pyplot </a:t>
            </a:r>
            <a:r>
              <a:rPr b="1">
                <a:solidFill>
                  <a:srgbClr val="008000"/>
                </a:solidFill>
                <a:latin typeface="Courier"/>
              </a:rPr>
              <a:t>as</a:t>
            </a:r>
            <a:r>
              <a:rPr>
                <a:latin typeface="Courier"/>
              </a:rPr>
              <a:t> plt</a:t>
            </a:r>
            <a:br/>
            <a:r>
              <a:rPr b="1">
                <a:solidFill>
                  <a:srgbClr val="008000"/>
                </a:solidFill>
                <a:latin typeface="Courier"/>
              </a:rPr>
              <a:t>from</a:t>
            </a:r>
            <a:r>
              <a:rPr>
                <a:latin typeface="Courier"/>
              </a:rPr>
              <a:t> matplotlib.patches </a:t>
            </a:r>
            <a:r>
              <a:rPr b="1">
                <a:solidFill>
                  <a:srgbClr val="008000"/>
                </a:solidFill>
                <a:latin typeface="Courier"/>
              </a:rPr>
              <a:t>import</a:t>
            </a:r>
            <a:r>
              <a:rPr>
                <a:latin typeface="Courier"/>
              </a:rPr>
              <a:t> Rectangle</a:t>
            </a:r>
            <a:br/>
            <a:br/>
            <a:r>
              <a:rPr>
                <a:latin typeface="Courier"/>
              </a:rPr>
              <a:t>fig, ax </a:t>
            </a:r>
            <a:r>
              <a:rPr>
                <a:solidFill>
                  <a:srgbClr val="666666"/>
                </a:solidFill>
                <a:latin typeface="Courier"/>
              </a:rPr>
              <a:t>=</a:t>
            </a:r>
            <a:r>
              <a:rPr>
                <a:latin typeface="Courier"/>
              </a:rPr>
              <a:t> plt.subplots(figsize</a:t>
            </a:r>
            <a:r>
              <a:rPr>
                <a:solidFill>
                  <a:srgbClr val="666666"/>
                </a:solidFill>
                <a:latin typeface="Courier"/>
              </a:rPr>
              <a:t>=</a:t>
            </a:r>
            <a:r>
              <a:rPr>
                <a:latin typeface="Courier"/>
              </a:rPr>
              <a:t>(</a:t>
            </a:r>
            <a:r>
              <a:rPr>
                <a:solidFill>
                  <a:srgbClr val="40A070"/>
                </a:solidFill>
                <a:latin typeface="Courier"/>
              </a:rPr>
              <a:t>10</a:t>
            </a:r>
            <a:r>
              <a:rPr>
                <a:latin typeface="Courier"/>
              </a:rPr>
              <a:t>, </a:t>
            </a:r>
            <a:r>
              <a:rPr>
                <a:solidFill>
                  <a:srgbClr val="40A070"/>
                </a:solidFill>
                <a:latin typeface="Courier"/>
              </a:rPr>
              <a:t>4</a:t>
            </a:r>
            <a:r>
              <a:rPr>
                <a:latin typeface="Courier"/>
              </a:rPr>
              <a:t>))</a:t>
            </a:r>
            <a:br/>
            <a:br/>
            <a:r>
              <a:rPr>
                <a:latin typeface="Courier"/>
              </a:rPr>
              <a:t>layers </a:t>
            </a:r>
            <a:r>
              <a:rPr>
                <a:solidFill>
                  <a:srgbClr val="666666"/>
                </a:solidFill>
                <a:latin typeface="Courier"/>
              </a:rPr>
              <a:t>=</a:t>
            </a:r>
            <a:r>
              <a:rPr>
                <a:latin typeface="Courier"/>
              </a:rPr>
              <a:t> [</a:t>
            </a:r>
            <a:br/>
            <a:r>
              <a:rPr>
                <a:latin typeface="Courier"/>
              </a:rPr>
              <a:t>    (</a:t>
            </a:r>
            <a:r>
              <a:rPr>
                <a:solidFill>
                  <a:srgbClr val="4070A0"/>
                </a:solidFill>
                <a:latin typeface="Courier"/>
              </a:rPr>
              <a:t>"Input\n(Undersampled\nImage)"</a:t>
            </a:r>
            <a:r>
              <a:rPr>
                <a:latin typeface="Courier"/>
              </a:rPr>
              <a:t>, </a:t>
            </a:r>
            <a:r>
              <a:rPr>
                <a:solidFill>
                  <a:srgbClr val="4070A0"/>
                </a:solidFill>
                <a:latin typeface="Courier"/>
              </a:rPr>
              <a:t>"blue"</a:t>
            </a:r>
            <a:r>
              <a:rPr>
                <a:latin typeface="Courier"/>
              </a:rPr>
              <a:t>),</a:t>
            </a:r>
            <a:br/>
            <a:r>
              <a:rPr>
                <a:latin typeface="Courier"/>
              </a:rPr>
              <a:t>    (</a:t>
            </a:r>
            <a:r>
              <a:rPr>
                <a:solidFill>
                  <a:srgbClr val="4070A0"/>
                </a:solidFill>
                <a:latin typeface="Courier"/>
              </a:rPr>
              <a:t>"Conv + ReLU"</a:t>
            </a:r>
            <a:r>
              <a:rPr>
                <a:latin typeface="Courier"/>
              </a:rPr>
              <a:t>, </a:t>
            </a:r>
            <a:r>
              <a:rPr>
                <a:solidFill>
                  <a:srgbClr val="4070A0"/>
                </a:solidFill>
                <a:latin typeface="Courier"/>
              </a:rPr>
              <a:t>"red"</a:t>
            </a:r>
            <a:r>
              <a:rPr>
                <a:latin typeface="Courier"/>
              </a:rPr>
              <a:t>),</a:t>
            </a:r>
            <a:br/>
            <a:r>
              <a:rPr>
                <a:latin typeface="Courier"/>
              </a:rPr>
              <a:t>    (</a:t>
            </a:r>
            <a:r>
              <a:rPr>
                <a:solidFill>
                  <a:srgbClr val="4070A0"/>
                </a:solidFill>
                <a:latin typeface="Courier"/>
              </a:rPr>
              <a:t>"Conv + ReLU"</a:t>
            </a:r>
            <a:r>
              <a:rPr>
                <a:latin typeface="Courier"/>
              </a:rPr>
              <a:t>, </a:t>
            </a:r>
            <a:r>
              <a:rPr>
                <a:solidFill>
                  <a:srgbClr val="4070A0"/>
                </a:solidFill>
                <a:latin typeface="Courier"/>
              </a:rPr>
              <a:t>"red"</a:t>
            </a:r>
            <a:r>
              <a:rPr>
                <a:latin typeface="Courier"/>
              </a:rPr>
              <a:t>),</a:t>
            </a:r>
            <a:br/>
            <a:r>
              <a:rPr>
                <a:latin typeface="Courier"/>
              </a:rPr>
              <a:t>    (</a:t>
            </a:r>
            <a:r>
              <a:rPr>
                <a:solidFill>
                  <a:srgbClr val="4070A0"/>
                </a:solidFill>
                <a:latin typeface="Courier"/>
              </a:rPr>
              <a:t>"..."</a:t>
            </a:r>
            <a:r>
              <a:rPr>
                <a:latin typeface="Courier"/>
              </a:rPr>
              <a:t>, </a:t>
            </a:r>
            <a:r>
              <a:rPr>
                <a:solidFill>
                  <a:srgbClr val="4070A0"/>
                </a:solidFill>
                <a:latin typeface="Courier"/>
              </a:rPr>
              <a:t>"white"</a:t>
            </a:r>
            <a:r>
              <a:rPr>
                <a:latin typeface="Courier"/>
              </a:rPr>
              <a:t>),</a:t>
            </a:r>
            <a:br/>
            <a:r>
              <a:rPr>
                <a:latin typeface="Courier"/>
              </a:rPr>
              <a:t>    (</a:t>
            </a:r>
            <a:r>
              <a:rPr>
                <a:solidFill>
                  <a:srgbClr val="4070A0"/>
                </a:solidFill>
                <a:latin typeface="Courier"/>
              </a:rPr>
              <a:t>"Final Conv"</a:t>
            </a:r>
            <a:r>
              <a:rPr>
                <a:latin typeface="Courier"/>
              </a:rPr>
              <a:t>, </a:t>
            </a:r>
            <a:r>
              <a:rPr>
                <a:solidFill>
                  <a:srgbClr val="4070A0"/>
                </a:solidFill>
                <a:latin typeface="Courier"/>
              </a:rPr>
              <a:t>"red"</a:t>
            </a:r>
            <a:r>
              <a:rPr>
                <a:latin typeface="Courier"/>
              </a:rPr>
              <a:t>),</a:t>
            </a:r>
            <a:br/>
            <a:r>
              <a:rPr>
                <a:latin typeface="Courier"/>
              </a:rPr>
              <a:t>    (</a:t>
            </a:r>
            <a:r>
              <a:rPr>
                <a:solidFill>
                  <a:srgbClr val="4070A0"/>
                </a:solidFill>
                <a:latin typeface="Courier"/>
              </a:rPr>
              <a:t>"Output\n(Reconstructed\nImage)"</a:t>
            </a:r>
            <a:r>
              <a:rPr>
                <a:latin typeface="Courier"/>
              </a:rPr>
              <a:t>, </a:t>
            </a:r>
            <a:r>
              <a:rPr>
                <a:solidFill>
                  <a:srgbClr val="4070A0"/>
                </a:solidFill>
                <a:latin typeface="Courier"/>
              </a:rPr>
              <a:t>"green"</a:t>
            </a:r>
            <a:r>
              <a:rPr>
                <a:latin typeface="Courier"/>
              </a:rPr>
              <a:t>)</a:t>
            </a:r>
            <a:br/>
            <a:r>
              <a:rPr>
                <a:latin typeface="Courier"/>
              </a:rPr>
              <a:t>]</a:t>
            </a:r>
            <a:br/>
            <a:br/>
            <a:r>
              <a:rPr b="1">
                <a:solidFill>
                  <a:srgbClr val="007020"/>
                </a:solidFill>
                <a:latin typeface="Courier"/>
              </a:rPr>
              <a:t>for</a:t>
            </a:r>
            <a:r>
              <a:rPr>
                <a:latin typeface="Courier"/>
              </a:rPr>
              <a:t> i, (label, color) </a:t>
            </a:r>
            <a:r>
              <a:rPr b="1">
                <a:solidFill>
                  <a:srgbClr val="007020"/>
                </a:solidFill>
                <a:latin typeface="Courier"/>
              </a:rPr>
              <a:t>in</a:t>
            </a:r>
            <a:r>
              <a:rPr>
                <a:latin typeface="Courier"/>
              </a:rPr>
              <a:t> </a:t>
            </a:r>
            <a:r>
              <a:rPr>
                <a:solidFill>
                  <a:srgbClr val="008000"/>
                </a:solidFill>
                <a:latin typeface="Courier"/>
              </a:rPr>
              <a:t>enumerate</a:t>
            </a:r>
            <a:r>
              <a:rPr>
                <a:latin typeface="Courier"/>
              </a:rPr>
              <a:t>(layers):</a:t>
            </a:r>
            <a:br/>
            <a:r>
              <a:rPr>
                <a:latin typeface="Courier"/>
              </a:rPr>
              <a:t>    ax.add_patch(Rectangle((i, </a:t>
            </a:r>
            <a:r>
              <a:rPr>
                <a:solidFill>
                  <a:srgbClr val="40A070"/>
                </a:solidFill>
                <a:latin typeface="Courier"/>
              </a:rPr>
              <a:t>1.5</a:t>
            </a:r>
            <a:r>
              <a:rPr>
                <a:latin typeface="Courier"/>
              </a:rPr>
              <a:t>), </a:t>
            </a:r>
            <a:r>
              <a:rPr>
                <a:solidFill>
                  <a:srgbClr val="40A070"/>
                </a:solidFill>
                <a:latin typeface="Courier"/>
              </a:rPr>
              <a:t>0.8</a:t>
            </a:r>
            <a:r>
              <a:rPr>
                <a:latin typeface="Courier"/>
              </a:rPr>
              <a:t>, </a:t>
            </a:r>
            <a:r>
              <a:rPr>
                <a:solidFill>
                  <a:srgbClr val="40A070"/>
                </a:solidFill>
                <a:latin typeface="Courier"/>
              </a:rPr>
              <a:t>1</a:t>
            </a:r>
            <a:r>
              <a:rPr>
                <a:latin typeface="Courier"/>
              </a:rPr>
              <a:t>, facecolor</a:t>
            </a:r>
            <a:r>
              <a:rPr>
                <a:solidFill>
                  <a:srgbClr val="666666"/>
                </a:solidFill>
                <a:latin typeface="Courier"/>
              </a:rPr>
              <a:t>=</a:t>
            </a:r>
            <a:r>
              <a:rPr>
                <a:latin typeface="Courier"/>
              </a:rPr>
              <a:t>color, edgecolor</a:t>
            </a:r>
            <a:r>
              <a:rPr>
                <a:solidFill>
                  <a:srgbClr val="666666"/>
                </a:solidFill>
                <a:latin typeface="Courier"/>
              </a:rPr>
              <a:t>=</a:t>
            </a:r>
            <a:r>
              <a:rPr>
                <a:solidFill>
                  <a:srgbClr val="4070A0"/>
                </a:solidFill>
                <a:latin typeface="Courier"/>
              </a:rPr>
              <a:t>'black'</a:t>
            </a:r>
            <a:r>
              <a:rPr>
                <a:latin typeface="Courier"/>
              </a:rPr>
              <a:t>))</a:t>
            </a:r>
            <a:br/>
            <a:r>
              <a:rPr>
                <a:latin typeface="Courier"/>
              </a:rPr>
              <a:t>    ax.text(i </a:t>
            </a:r>
            <a:r>
              <a:rPr>
                <a:solidFill>
                  <a:srgbClr val="666666"/>
                </a:solidFill>
                <a:latin typeface="Courier"/>
              </a:rPr>
              <a:t>+</a:t>
            </a:r>
            <a:r>
              <a:rPr>
                <a:latin typeface="Courier"/>
              </a:rPr>
              <a:t> </a:t>
            </a:r>
            <a:r>
              <a:rPr>
                <a:solidFill>
                  <a:srgbClr val="40A070"/>
                </a:solidFill>
                <a:latin typeface="Courier"/>
              </a:rPr>
              <a:t>0.4</a:t>
            </a:r>
            <a:r>
              <a:rPr>
                <a:latin typeface="Courier"/>
              </a:rPr>
              <a:t>, </a:t>
            </a:r>
            <a:r>
              <a:rPr>
                <a:solidFill>
                  <a:srgbClr val="40A070"/>
                </a:solidFill>
                <a:latin typeface="Courier"/>
              </a:rPr>
              <a:t>1</a:t>
            </a:r>
            <a:r>
              <a:rPr>
                <a:latin typeface="Courier"/>
              </a:rPr>
              <a:t>, label, ha</a:t>
            </a:r>
            <a:r>
              <a:rPr>
                <a:solidFill>
                  <a:srgbClr val="666666"/>
                </a:solidFill>
                <a:latin typeface="Courier"/>
              </a:rPr>
              <a:t>=</a:t>
            </a:r>
            <a:r>
              <a:rPr>
                <a:solidFill>
                  <a:srgbClr val="4070A0"/>
                </a:solidFill>
                <a:latin typeface="Courier"/>
              </a:rPr>
              <a:t>'center'</a:t>
            </a:r>
            <a:r>
              <a:rPr>
                <a:latin typeface="Courier"/>
              </a:rPr>
              <a:t>, va</a:t>
            </a:r>
            <a:r>
              <a:rPr>
                <a:solidFill>
                  <a:srgbClr val="666666"/>
                </a:solidFill>
                <a:latin typeface="Courier"/>
              </a:rPr>
              <a:t>=</a:t>
            </a:r>
            <a:r>
              <a:rPr>
                <a:solidFill>
                  <a:srgbClr val="4070A0"/>
                </a:solidFill>
                <a:latin typeface="Courier"/>
              </a:rPr>
              <a:t>'top'</a:t>
            </a:r>
            <a:r>
              <a:rPr>
                <a:latin typeface="Courier"/>
              </a:rPr>
              <a:t>, fontsize</a:t>
            </a:r>
            <a:r>
              <a:rPr>
                <a:solidFill>
                  <a:srgbClr val="666666"/>
                </a:solidFill>
                <a:latin typeface="Courier"/>
              </a:rPr>
              <a:t>=</a:t>
            </a:r>
            <a:r>
              <a:rPr>
                <a:solidFill>
                  <a:srgbClr val="40A070"/>
                </a:solidFill>
                <a:latin typeface="Courier"/>
              </a:rPr>
              <a:t>8</a:t>
            </a:r>
            <a:r>
              <a:rPr>
                <a:latin typeface="Courier"/>
              </a:rPr>
              <a:t>)</a:t>
            </a:r>
            <a:br/>
            <a:r>
              <a:rPr>
                <a:latin typeface="Courier"/>
              </a:rPr>
              <a:t>    </a:t>
            </a:r>
            <a:r>
              <a:rPr b="1">
                <a:solidFill>
                  <a:srgbClr val="007020"/>
                </a:solidFill>
                <a:latin typeface="Courier"/>
              </a:rPr>
              <a:t>if</a:t>
            </a:r>
            <a:r>
              <a:rPr>
                <a:latin typeface="Courier"/>
              </a:rPr>
              <a:t> i </a:t>
            </a:r>
            <a:r>
              <a:rPr>
                <a:solidFill>
                  <a:srgbClr val="666666"/>
                </a:solidFill>
                <a:latin typeface="Courier"/>
              </a:rPr>
              <a:t>&lt;</a:t>
            </a:r>
            <a:r>
              <a:rPr>
                <a:latin typeface="Courier"/>
              </a:rPr>
              <a:t> </a:t>
            </a:r>
            <a:r>
              <a:rPr>
                <a:solidFill>
                  <a:srgbClr val="008000"/>
                </a:solidFill>
                <a:latin typeface="Courier"/>
              </a:rPr>
              <a:t>len</a:t>
            </a:r>
            <a:r>
              <a:rPr>
                <a:latin typeface="Courier"/>
              </a:rPr>
              <a:t>(layers) </a:t>
            </a:r>
            <a:r>
              <a:rPr>
                <a:solidFill>
                  <a:srgbClr val="666666"/>
                </a:solidFill>
                <a:latin typeface="Courier"/>
              </a:rPr>
              <a:t>-</a:t>
            </a:r>
            <a:r>
              <a:rPr>
                <a:latin typeface="Courier"/>
              </a:rPr>
              <a:t> </a:t>
            </a:r>
            <a:r>
              <a:rPr>
                <a:solidFill>
                  <a:srgbClr val="40A070"/>
                </a:solidFill>
                <a:latin typeface="Courier"/>
              </a:rPr>
              <a:t>1</a:t>
            </a:r>
            <a:r>
              <a:rPr>
                <a:latin typeface="Courier"/>
              </a:rPr>
              <a:t>:</a:t>
            </a:r>
            <a:br/>
            <a:r>
              <a:rPr>
                <a:latin typeface="Courier"/>
              </a:rPr>
              <a:t>        plt.arrow(i </a:t>
            </a:r>
            <a:r>
              <a:rPr>
                <a:solidFill>
                  <a:srgbClr val="666666"/>
                </a:solidFill>
                <a:latin typeface="Courier"/>
              </a:rPr>
              <a:t>+</a:t>
            </a:r>
            <a:r>
              <a:rPr>
                <a:latin typeface="Courier"/>
              </a:rPr>
              <a:t> </a:t>
            </a:r>
            <a:r>
              <a:rPr>
                <a:solidFill>
                  <a:srgbClr val="40A070"/>
                </a:solidFill>
                <a:latin typeface="Courier"/>
              </a:rPr>
              <a:t>0.8</a:t>
            </a:r>
            <a:r>
              <a:rPr>
                <a:latin typeface="Courier"/>
              </a:rPr>
              <a:t>, </a:t>
            </a:r>
            <a:r>
              <a:rPr>
                <a:solidFill>
                  <a:srgbClr val="40A070"/>
                </a:solidFill>
                <a:latin typeface="Courier"/>
              </a:rPr>
              <a:t>2</a:t>
            </a:r>
            <a:r>
              <a:rPr>
                <a:latin typeface="Courier"/>
              </a:rPr>
              <a:t>, </a:t>
            </a:r>
            <a:r>
              <a:rPr>
                <a:solidFill>
                  <a:srgbClr val="40A070"/>
                </a:solidFill>
                <a:latin typeface="Courier"/>
              </a:rPr>
              <a:t>0.2</a:t>
            </a:r>
            <a:r>
              <a:rPr>
                <a:latin typeface="Courier"/>
              </a:rPr>
              <a:t>, </a:t>
            </a:r>
            <a:r>
              <a:rPr>
                <a:solidFill>
                  <a:srgbClr val="40A070"/>
                </a:solidFill>
                <a:latin typeface="Courier"/>
              </a:rPr>
              <a:t>0</a:t>
            </a:r>
            <a:r>
              <a:rPr>
                <a:latin typeface="Courier"/>
              </a:rPr>
              <a:t>, head_width</a:t>
            </a:r>
            <a:r>
              <a:rPr>
                <a:solidFill>
                  <a:srgbClr val="666666"/>
                </a:solidFill>
                <a:latin typeface="Courier"/>
              </a:rPr>
              <a:t>=</a:t>
            </a:r>
            <a:r>
              <a:rPr>
                <a:solidFill>
                  <a:srgbClr val="40A070"/>
                </a:solidFill>
                <a:latin typeface="Courier"/>
              </a:rPr>
              <a:t>0.1</a:t>
            </a:r>
            <a:r>
              <a:rPr>
                <a:latin typeface="Courier"/>
              </a:rPr>
              <a:t>, head_length</a:t>
            </a:r>
            <a:r>
              <a:rPr>
                <a:solidFill>
                  <a:srgbClr val="666666"/>
                </a:solidFill>
                <a:latin typeface="Courier"/>
              </a:rPr>
              <a:t>=</a:t>
            </a:r>
            <a:r>
              <a:rPr>
                <a:solidFill>
                  <a:srgbClr val="40A070"/>
                </a:solidFill>
                <a:latin typeface="Courier"/>
              </a:rPr>
              <a:t>0.1</a:t>
            </a:r>
            <a:r>
              <a:rPr>
                <a:latin typeface="Courier"/>
              </a:rPr>
              <a:t>, fc</a:t>
            </a:r>
            <a:r>
              <a:rPr>
                <a:solidFill>
                  <a:srgbClr val="666666"/>
                </a:solidFill>
                <a:latin typeface="Courier"/>
              </a:rPr>
              <a:t>=</a:t>
            </a:r>
            <a:r>
              <a:rPr>
                <a:solidFill>
                  <a:srgbClr val="4070A0"/>
                </a:solidFill>
                <a:latin typeface="Courier"/>
              </a:rPr>
              <a:t>'black'</a:t>
            </a:r>
            <a:r>
              <a:rPr>
                <a:latin typeface="Courier"/>
              </a:rPr>
              <a:t>, ec</a:t>
            </a:r>
            <a:r>
              <a:rPr>
                <a:solidFill>
                  <a:srgbClr val="666666"/>
                </a:solidFill>
                <a:latin typeface="Courier"/>
              </a:rPr>
              <a:t>=</a:t>
            </a:r>
            <a:r>
              <a:rPr>
                <a:solidFill>
                  <a:srgbClr val="4070A0"/>
                </a:solidFill>
                <a:latin typeface="Courier"/>
              </a:rPr>
              <a:t>'black'</a:t>
            </a:r>
            <a:r>
              <a:rPr>
                <a:latin typeface="Courier"/>
              </a:rPr>
              <a:t>)</a:t>
            </a:r>
            <a:br/>
            <a:br/>
            <a:r>
              <a:rPr>
                <a:latin typeface="Courier"/>
              </a:rPr>
              <a:t>ax.set_xlim(</a:t>
            </a:r>
            <a:r>
              <a:rPr>
                <a:solidFill>
                  <a:srgbClr val="40A070"/>
                </a:solidFill>
                <a:latin typeface="Courier"/>
              </a:rPr>
              <a:t>0</a:t>
            </a:r>
            <a:r>
              <a:rPr>
                <a:latin typeface="Courier"/>
              </a:rPr>
              <a:t>, </a:t>
            </a:r>
            <a:r>
              <a:rPr>
                <a:solidFill>
                  <a:srgbClr val="008000"/>
                </a:solidFill>
                <a:latin typeface="Courier"/>
              </a:rPr>
              <a:t>len</a:t>
            </a:r>
            <a:r>
              <a:rPr>
                <a:latin typeface="Courier"/>
              </a:rPr>
              <a:t>(layers))</a:t>
            </a:r>
          </a:p>
          <a:p>
            <a:pPr lvl="0" indent="0">
              <a:buNone/>
            </a:pPr>
            <a:r>
              <a:rPr>
                <a:latin typeface="Courier"/>
              </a:rPr>
              <a:t>## (0.0, 6.0)</a:t>
            </a:r>
          </a:p>
          <a:p>
            <a:pPr lvl="0" indent="0">
              <a:buNone/>
            </a:pPr>
            <a:r>
              <a:rPr>
                <a:latin typeface="Courier"/>
              </a:rPr>
              <a:t>ax.set_ylim(</a:t>
            </a:r>
            <a:r>
              <a:rPr>
                <a:solidFill>
                  <a:srgbClr val="40A070"/>
                </a:solidFill>
                <a:latin typeface="Courier"/>
              </a:rPr>
              <a:t>0</a:t>
            </a:r>
            <a:r>
              <a:rPr>
                <a:latin typeface="Courier"/>
              </a:rPr>
              <a:t>, </a:t>
            </a:r>
            <a:r>
              <a:rPr>
                <a:solidFill>
                  <a:srgbClr val="40A070"/>
                </a:solidFill>
                <a:latin typeface="Courier"/>
              </a:rPr>
              <a:t>4</a:t>
            </a:r>
            <a:r>
              <a:rPr>
                <a:latin typeface="Courier"/>
              </a:rPr>
              <a:t>)</a:t>
            </a:r>
          </a:p>
          <a:p>
            <a:pPr lvl="0" indent="0">
              <a:buNone/>
            </a:pPr>
            <a:r>
              <a:rPr>
                <a:latin typeface="Courier"/>
              </a:rPr>
              <a:t>## (0.0, 4.0)</a:t>
            </a:r>
          </a:p>
          <a:p>
            <a:pPr lvl="0" indent="0">
              <a:buNone/>
            </a:pPr>
            <a:r>
              <a:rPr>
                <a:latin typeface="Courier"/>
              </a:rPr>
              <a:t>ax.axis(</a:t>
            </a:r>
            <a:r>
              <a:rPr>
                <a:solidFill>
                  <a:srgbClr val="4070A0"/>
                </a:solidFill>
                <a:latin typeface="Courier"/>
              </a:rPr>
              <a:t>'off'</a:t>
            </a:r>
            <a:r>
              <a:rPr>
                <a:latin typeface="Courier"/>
              </a:rPr>
              <a:t>)</a:t>
            </a:r>
          </a:p>
          <a:p>
            <a:pPr lvl="0" indent="0">
              <a:buNone/>
            </a:pPr>
            <a:r>
              <a:rPr>
                <a:latin typeface="Courier"/>
              </a:rPr>
              <a:t>## (np.float64(0.0), np.float64(6.0), np.float64(0.0), np.float64(4.0))</a:t>
            </a:r>
          </a:p>
          <a:p>
            <a:pPr lvl="0" indent="0">
              <a:buNone/>
            </a:pPr>
            <a:r>
              <a:rPr>
                <a:latin typeface="Courier"/>
              </a:rPr>
              <a:t>ax.set_title(</a:t>
            </a:r>
            <a:r>
              <a:rPr>
                <a:solidFill>
                  <a:srgbClr val="4070A0"/>
                </a:solidFill>
                <a:latin typeface="Courier"/>
              </a:rPr>
              <a:t>"Basic CNN Structure for Image Reconstruction"</a:t>
            </a:r>
            <a:r>
              <a:rPr>
                <a:latin typeface="Courier"/>
              </a:rPr>
              <a:t>)</a:t>
            </a:r>
            <a:br/>
            <a:r>
              <a:rPr>
                <a:latin typeface="Courier"/>
              </a:rPr>
              <a:t>cnn_diagram_fig </a:t>
            </a:r>
            <a:r>
              <a:rPr>
                <a:solidFill>
                  <a:srgbClr val="666666"/>
                </a:solidFill>
                <a:latin typeface="Courier"/>
              </a:rPr>
              <a:t>=</a:t>
            </a:r>
            <a:r>
              <a:rPr>
                <a:latin typeface="Courier"/>
              </a:rPr>
              <a:t> plt.gcf()</a:t>
            </a:r>
          </a:p>
        </p:txBody>
      </p:sp>
      <p:pic>
        <p:nvPicPr>
          <p:cNvPr descr="presentation_files/figure-pptx/cnn_diagram_code-57.png" id="0" name="Picture 1"/>
          <p:cNvPicPr>
            <a:picLocks noGrp="1" noChangeAspect="1"/>
          </p:cNvPicPr>
          <p:nvPr/>
        </p:nvPicPr>
        <p:blipFill>
          <a:blip r:embed="rId2"/>
          <a:stretch>
            <a:fillRect/>
          </a:stretch>
        </p:blipFill>
        <p:spPr bwMode="auto">
          <a:xfrm>
            <a:off x="3568700" y="1371600"/>
            <a:ext cx="5105400" cy="2044700"/>
          </a:xfrm>
          <a:prstGeom prst="rect">
            <a:avLst/>
          </a:prstGeom>
          <a:noFill/>
          <a:ln w="9525">
            <a:noFill/>
            <a:headEnd/>
            <a:tailEnd/>
          </a:ln>
        </p:spPr>
      </p:pic>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CNN Architecture: Conceptual Diagram</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CNN Architecture: Conceptual Diagram (cont.)</a:t>
            </a:r>
          </a:p>
        </p:txBody>
      </p:sp>
      <p:sp>
        <p:nvSpPr>
          <p:cNvPr id="3" name="Content Placeholder 2"/>
          <p:cNvSpPr>
            <a:spLocks noGrp="1"/>
          </p:cNvSpPr>
          <p:nvPr>
            <p:ph idx="1"/>
          </p:nvPr>
        </p:nvSpPr>
        <p:spPr/>
        <p:txBody>
          <a:bodyPr/>
          <a:lstStyle/>
          <a:p>
            <a:pPr lvl="0"/>
            <a:r>
              <a:rPr b="1"/>
              <a:t>Input Layer:</a:t>
            </a:r>
            <a:r>
              <a:rPr/>
              <a:t> Takes the corrupted/undersampled image.</a:t>
            </a:r>
          </a:p>
          <a:p>
            <a:pPr lvl="0"/>
            <a:r>
              <a:rPr b="1"/>
              <a:t>Hidden Layers:</a:t>
            </a:r>
            <a:r>
              <a:rPr/>
              <a:t> A series of convolutional layers (often with non-linear activation functions like ReLU) extract features and learn the image structure.</a:t>
            </a:r>
          </a:p>
          <a:p>
            <a:pPr lvl="0"/>
            <a:r>
              <a:rPr b="1"/>
              <a:t>Output Layer:</a:t>
            </a:r>
            <a:r>
              <a:rPr/>
              <a:t> Produces the final, high-quality reconstructed image.</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Summary</a:t>
            </a:r>
          </a:p>
        </p:txBody>
      </p:sp>
      <p:sp>
        <p:nvSpPr>
          <p:cNvPr id="3" name="Content Placeholder 2"/>
          <p:cNvSpPr>
            <a:spLocks noGrp="1"/>
          </p:cNvSpPr>
          <p:nvPr>
            <p:ph idx="1"/>
          </p:nvPr>
        </p:nvSpPr>
        <p:spPr/>
        <p:txBody>
          <a:bodyPr/>
          <a:lstStyle/>
          <a:p>
            <a:pPr lvl="0"/>
            <a:r>
              <a:rPr b="1"/>
              <a:t>Module 1:</a:t>
            </a:r>
            <a:r>
              <a:rPr/>
              <a:t> We defined deterministic signals and LSI systems, and established convolution and the Fourier Transform as our core analytical tools.</a:t>
            </a:r>
          </a:p>
          <a:p>
            <a:pPr lvl="0"/>
            <a:r>
              <a:rPr b="1"/>
              <a:t>Module 2:</a:t>
            </a:r>
            <a:r>
              <a:rPr/>
              <a:t> We introduced the reality of stochastic systems, characterizing noise and its impact on image quality through metrics like SNR and DQE.</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Summary</a:t>
            </a:r>
          </a:p>
        </p:txBody>
      </p:sp>
      <p:sp>
        <p:nvSpPr>
          <p:cNvPr id="3" name="Content Placeholder 2"/>
          <p:cNvSpPr>
            <a:spLocks noGrp="1"/>
          </p:cNvSpPr>
          <p:nvPr>
            <p:ph idx="1"/>
          </p:nvPr>
        </p:nvSpPr>
        <p:spPr/>
        <p:txBody>
          <a:bodyPr/>
          <a:lstStyle/>
          <a:p>
            <a:pPr lvl="0"/>
            <a:r>
              <a:rPr b="1"/>
              <a:t>Module 3:</a:t>
            </a:r>
            <a:r>
              <a:rPr/>
              <a:t> We applied these tools to understand tomography, the process of image reconstruction from projections, using algorithms like FBP.</a:t>
            </a:r>
          </a:p>
          <a:p>
            <a:pPr lvl="0"/>
            <a:r>
              <a:rPr b="1"/>
              <a:t>Module 4:</a:t>
            </a:r>
            <a:r>
              <a:rPr/>
              <a:t> We saw how these fundamental concepts extend to other modalities like MRI and form the basis for modern techniques like compressed sensing and deep learning.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 Processing &amp; Systems in Medical Physics</dc:title>
  <dc:creator>Graduate Medical Physics Program</dc:creator>
  <cp:keywords/>
  <dcterms:created xsi:type="dcterms:W3CDTF">2025-12-19T10:51:09Z</dcterms:created>
  <dcterms:modified xsi:type="dcterms:W3CDTF">2025-12-19T10:51:09Z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2025-12-19</vt:lpwstr>
  </property>
  <property fmtid="{D5CDD505-2E9C-101B-9397-08002B2CF9AE}" pid="3" name="output">
    <vt:lpwstr/>
  </property>
</Properties>
</file>