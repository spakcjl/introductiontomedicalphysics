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notesMaster" Target="notesMasters/notesMaster1.xml" /><Relationship Id="rId37" Type="http://schemas.openxmlformats.org/officeDocument/2006/relationships/viewProps" Target="viewProps.xml" /><Relationship Id="rId36" Type="http://schemas.openxmlformats.org/officeDocument/2006/relationships/presProps" Target="presProps.xml" /><Relationship Id="rId1" Type="http://schemas.openxmlformats.org/officeDocument/2006/relationships/slideMaster" Target="slideMasters/slideMaster1.xml" /><Relationship Id="rId39" Type="http://schemas.openxmlformats.org/officeDocument/2006/relationships/tableStyles" Target="tableStyles.xml" /><Relationship Id="rId3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“Good morning, everyone. Welcome to what is arguably the most important mathematical concept in medical imaging: The Fourier Transform.</a:t>
            </a:r>
          </a:p>
          <a:p>
            <a:pPr lvl="0" indent="0" marL="0">
              <a:buNone/>
            </a:pPr>
          </a:p>
          <a:p>
            <a:pPr lvl="0" indent="0" marL="0">
              <a:buNone/>
            </a:pPr>
            <a:r>
              <a:rPr/>
              <a:t>I want to start by asking you to close your eyes for a second. Imagine I am sitting at a grand piano. I strike three keys simultaneously—a C, an E, and a G. You hear a single, rich sound—a chord. Your ear doesn’t need to do any calculations to understand this. Instantly, your brain processes that complex pressure wave hitting your eardrum and breaks it down: you hear the bass of the C, the harmony of the E, and the treble of the G.</a:t>
            </a:r>
          </a:p>
          <a:p>
            <a:pPr lvl="0" indent="0" marL="0">
              <a:buNone/>
            </a:pPr>
          </a:p>
          <a:p>
            <a:pPr lvl="0" indent="0" marL="0">
              <a:buNone/>
            </a:pPr>
            <a:r>
              <a:rPr/>
              <a:t>Open your eyes. What your ear just did is exactly what we need to do in MRI.”</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Magnetic Resonance Imaging, we do not take a picture of the brain. We cannot simply ‘photograph’ protons. Instead, we listen to them. We record the ‘musical chord’ sung by the hydrogen atoms in your body. This signal is a complex, jumbled mess of radio waves.</a:t>
            </a:r>
          </a:p>
          <a:p>
            <a:pPr lvl="0" indent="0" marL="0">
              <a:buNone/>
            </a:pPr>
          </a:p>
          <a:p>
            <a:pPr lvl="0" indent="0" marL="0">
              <a:buNone/>
            </a:pPr>
            <a:r>
              <a:rPr/>
              <a:t>The Fourier Transform is the mathematical machine that acts like your ear. It takes that complex signal and unmixes it. It tells us: ‘This much signal came from the left ear, and this much came from the nose.’ It acts like a prism, splitting the white light of the raw data into the color spectrum of the final image. Without Fourier, MRI is just a noisy radio recording. With it, it is a diagnostic miracle.”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formalize this. In the early 1800s, Joseph Fourier proposed an idea that his contemporaries thought was insane. He claimed that you could build any repeating shape using only smooth, curving waves.”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“Look at the equation on the board. </a:t>
            </a:r>
            <a:r>
              <a:rPr/>
              <a:t>a_0</a:t>
            </a:r>
            <a:r>
              <a:rPr/>
              <a:t> is simply the average. If we are imaging a liver, </a:t>
            </a:r>
            <a:r>
              <a:rPr/>
              <a:t>a_0</a:t>
            </a:r>
            <a:r>
              <a:rPr/>
              <a:t> is the average brightness of the whole liver. Then we have the summation. We start with a fundamental frequency—a simple sine wave. It’s too round to look like a square pixel. So, what do we do? We add a second wave, twice as fast, but maybe with a smaller amplitude. Then a third, three times as fast.”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I want to build a square wave—which represents a sharp edge in an image—I need to stack many sine waves. The low-frequency waves give me the general ‘up and down’ shape. The high-frequency waves—the ones where </a:t>
            </a:r>
            <a:r>
              <a:rPr/>
              <a:t>n</a:t>
            </a:r>
            <a:r>
              <a:rPr/>
              <a:t> is large—sharpen the corners.</a:t>
            </a:r>
          </a:p>
          <a:p>
            <a:pPr lvl="0" indent="0" marL="0">
              <a:buNone/>
            </a:pPr>
          </a:p>
          <a:p>
            <a:pPr lvl="0" indent="0" marL="0">
              <a:buNone/>
            </a:pPr>
            <a:r>
              <a:rPr/>
              <a:t>Crucial Point: If we stop the summation early—say we only add the first 5 waves—our square wave looks ‘wobbly.’ The corners are soft. In MRI, this corresponds to a low-resolution image. If we want sharp edges (high resolution), we need to collect high values of </a:t>
            </a:r>
            <a:r>
              <a:rPr/>
              <a:t>n</a:t>
            </a:r>
            <a:r>
              <a:rPr/>
              <a:t>. We need the high frequencies.”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we transition from the Series (for repeating signals) to the Transform (for any signal). And we meet the equation that scares every undergraduate: the complex exponential.”</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“Don’t let the imaginary number </a:t>
            </a:r>
            <a:r>
              <a:rPr/>
              <a:t>i</a:t>
            </a:r>
            <a:r>
              <a:rPr/>
              <a:t> intimidate you. In this class, we treat </a:t>
            </a:r>
            <a:r>
              <a:rPr/>
              <a:t>e^{i\theta}</a:t>
            </a:r>
            <a:r>
              <a:rPr/>
              <a:t> physically. It is a rotation machine. Imagine a clock hand spinning on a face. If you look at that clock from the side, the tip of the hand traces a sine wave moving up and down.”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look at the Transform equation: </a:t>
            </a:r>
            <a:r>
              <a:rPr/>
              <a:t>\int f(t) e^{-i\omega t} dt</a:t>
            </a:r>
            <a:r>
              <a:rPr/>
              <a:t>. What is this actually doing?</a:t>
            </a:r>
          </a:p>
          <a:p>
            <a:pPr lvl="0" indent="0" marL="0">
              <a:buNone/>
            </a:pPr>
          </a:p>
          <a:p>
            <a:pPr lvl="0" indent="0" marL="0">
              <a:buNone/>
            </a:pPr>
            <a:r>
              <a:rPr/>
              <a:t>We take our signal, </a:t>
            </a:r>
            <a:r>
              <a:rPr/>
              <a:t>f(t)</a:t>
            </a:r>
            <a:r>
              <a:rPr/>
              <a:t>.</a:t>
            </a:r>
          </a:p>
          <a:p>
            <a:pPr lvl="0" indent="0" marL="0">
              <a:buNone/>
            </a:pPr>
          </a:p>
          <a:p>
            <a:pPr lvl="0" indent="0" marL="0">
              <a:buNone/>
            </a:pPr>
            <a:r>
              <a:rPr/>
              <a:t>We multiply it by a ‘winding machine’, </a:t>
            </a:r>
            <a:r>
              <a:rPr/>
              <a:t>e^{-i\omega t}</a:t>
            </a:r>
            <a:r>
              <a:rPr/>
              <a:t>, which spins at a specific speed </a:t>
            </a:r>
            <a:r>
              <a:rPr/>
              <a:t>\omega</a:t>
            </a:r>
            <a:r>
              <a:rPr/>
              <a:t>.</a:t>
            </a:r>
          </a:p>
          <a:p>
            <a:pPr lvl="0" indent="0" marL="0">
              <a:buNone/>
            </a:pPr>
          </a:p>
          <a:p>
            <a:pPr lvl="0" indent="0" marL="0">
              <a:buNone/>
            </a:pPr>
            <a:r>
              <a:rPr/>
              <a:t>We sum up (integrate) the result over time.</a:t>
            </a:r>
          </a:p>
          <a:p>
            <a:pPr lvl="0" indent="0" marL="0">
              <a:buNone/>
            </a:pPr>
          </a:p>
          <a:p>
            <a:pPr lvl="0" indent="0" marL="0">
              <a:buNone/>
            </a:pPr>
            <a:r>
              <a:rPr/>
              <a:t>Think of it this way: We wrap our signal around a circle. If the signal has a periodic pattern that matches the winding speed </a:t>
            </a:r>
            <a:r>
              <a:rPr/>
              <a:t>\omega</a:t>
            </a:r>
            <a:r>
              <a:rPr/>
              <a:t>, all the ‘bumps’ in the signal line up on one side of the circle. The center of mass shifts. The integral becomes large. We get a spike in the spectrum. If the winding speed </a:t>
            </a:r>
            <a:r>
              <a:rPr/>
              <a:t>\omega</a:t>
            </a:r>
            <a:r>
              <a:rPr/>
              <a:t> doesn’t match the signal, the signal wraps around the circle randomly. The positive parts cancel the negative parts. The average is zero.</a:t>
            </a:r>
          </a:p>
          <a:p>
            <a:pPr lvl="0" indent="0" marL="0">
              <a:buNone/>
            </a:pPr>
          </a:p>
          <a:p>
            <a:pPr lvl="0" indent="0" marL="0">
              <a:buNone/>
            </a:pPr>
            <a:r>
              <a:rPr/>
              <a:t>The Fourier Transform is effectively asking: ‘If I wind this signal at speed </a:t>
            </a:r>
            <a:r>
              <a:rPr/>
              <a:t>\omega</a:t>
            </a:r>
            <a:r>
              <a:rPr/>
              <a:t>, does it pile up?’ If yes, that frequency exists in the signal.”</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integral we just looked at is mathematically beautiful, but computationally impossible. A computer cannot store a continuous function; it has finite memory. It can only store a list of numbers. In MRI, the scanner reads the signal at specific time points: </a:t>
            </a:r>
            <a:r>
              <a:rPr/>
              <a:t>t_0, t_1, t_2...</a:t>
            </a:r>
            <a:r>
              <a:rPr/>
              <a:t> This is called sampling.”</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“Consequently, we must swap our tools.</a:t>
            </a:r>
          </a:p>
          <a:p>
            <a:pPr lvl="0" indent="0" marL="0">
              <a:buNone/>
            </a:pPr>
          </a:p>
          <a:p>
            <a:pPr lvl="0" indent="0" marL="0">
              <a:buNone/>
            </a:pPr>
            <a:r>
              <a:rPr/>
              <a:t>The Integral (</a:t>
            </a:r>
            <a:r>
              <a:rPr/>
              <a:t>\int</a:t>
            </a:r>
            <a:r>
              <a:rPr/>
              <a:t>) becomes a Summation (</a:t>
            </a:r>
            <a:r>
              <a:rPr/>
              <a:t>\sum</a:t>
            </a:r>
            <a:r>
              <a:rPr/>
              <a:t>).</a:t>
            </a:r>
          </a:p>
          <a:p>
            <a:pPr lvl="0" indent="0" marL="0">
              <a:buNone/>
            </a:pPr>
          </a:p>
          <a:p>
            <a:pPr lvl="0" indent="0" marL="0">
              <a:buNone/>
            </a:pPr>
            <a:r>
              <a:rPr/>
              <a:t>The continuous time </a:t>
            </a:r>
            <a:r>
              <a:rPr/>
              <a:t>t</a:t>
            </a:r>
            <a:r>
              <a:rPr/>
              <a:t> becomes an index </a:t>
            </a:r>
            <a:r>
              <a:rPr/>
              <a:t>n</a:t>
            </a:r>
            <a:r>
              <a:rPr/>
              <a:t> (sample number 1, sample number 2…).</a:t>
            </a:r>
          </a:p>
          <a:p>
            <a:pPr lvl="0" indent="0" marL="0">
              <a:buNone/>
            </a:pPr>
          </a:p>
          <a:p>
            <a:pPr lvl="0" indent="0" marL="0">
              <a:buNone/>
            </a:pPr>
            <a:r>
              <a:rPr/>
              <a:t>The infinite range becomes a finite number of samples </a:t>
            </a:r>
            <a:r>
              <a:rPr/>
              <a:t>N</a:t>
            </a:r>
            <a:r>
              <a:rPr/>
              <a:t>.</a:t>
            </a:r>
          </a:p>
          <a:p>
            <a:pPr lvl="0" indent="0" marL="0">
              <a:buNone/>
            </a:pPr>
          </a:p>
          <a:p>
            <a:pPr lvl="0" indent="0" marL="0">
              <a:buNone/>
            </a:pPr>
            <a:r>
              <a:rPr/>
              <a:t>This equation on the slide—the DFT—is the workhorse of modern medical imaging. Every time you see a reconstructed MR image, this specific summation has been calculated millions of times.”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have to be careful when we sample. Has anyone ever watched a video of a car driving on the highway, and the wheels look like they are spinning backwards? That is Aliasing.”</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camera is taking pictures (sampling) at 30 frames per second. The wheel is spinning faster than that. Between one frame and the next, the wheel spins almost all the way around, so it looks like it moved slightly backward.</a:t>
            </a:r>
          </a:p>
          <a:p>
            <a:pPr lvl="0" indent="0" marL="0">
              <a:buNone/>
            </a:pPr>
          </a:p>
          <a:p>
            <a:pPr lvl="0" indent="0" marL="0">
              <a:buNone/>
            </a:pPr>
            <a:r>
              <a:rPr/>
              <a:t>The camera—the sampler—lied to you. It told you the frequency was </a:t>
            </a:r>
            <a:r>
              <a:rPr/>
              <a:t>-5</a:t>
            </a:r>
            <a:r>
              <a:rPr/>
              <a:t> Hz when it was actually </a:t>
            </a:r>
            <a:r>
              <a:rPr/>
              <a:t>+100</a:t>
            </a:r>
            <a:r>
              <a:rPr/>
              <a:t> Hz.</a:t>
            </a:r>
          </a:p>
          <a:p>
            <a:pPr lvl="0" indent="0" marL="0">
              <a:buNone/>
            </a:pPr>
          </a:p>
          <a:p>
            <a:pPr lvl="0" indent="0" marL="0">
              <a:buNone/>
            </a:pPr>
            <a:r>
              <a:rPr/>
              <a:t>In MRI, this is a disaster. If the signal from the patient changes faster than our scanner samples it, that high-frequency data (usually edges or noise) will ‘fold over’ and appear as low-frequency data in the wrong part of the image. This leads to the ‘Wrap-Around Artifact,’ where a patient’s nose might wrap around and appear inside the back of their head.”</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“You will often hear ‘DFT’ and ‘FFT’ used interchangeably. They result in the same numbers, but the difference is speed.”</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“Imagine you have an image that is </a:t>
            </a:r>
            <a:r>
              <a:rPr/>
              <a:t>256 \times 256</a:t>
            </a:r>
            <a:r>
              <a:rPr/>
              <a:t> pixels. If you use the standard DFT definition, the computer has to do roughly </a:t>
            </a:r>
            <a:r>
              <a:rPr/>
              <a:t>N</a:t>
            </a:r>
            <a:r>
              <a:rPr/>
              <a:t> squared operations. For high-resolution medical images, this would take minutes, maybe hours on older hardware.</a:t>
            </a:r>
          </a:p>
          <a:p>
            <a:pPr lvl="0" indent="0" marL="0">
              <a:buNone/>
            </a:pPr>
          </a:p>
          <a:p>
            <a:pPr lvl="0" indent="0" marL="0">
              <a:buNone/>
            </a:pPr>
            <a:r>
              <a:rPr/>
              <a:t>In 1965, Cooley and Tukey popularized the FFT. They realized that the calculation repeats itself. By dividing the samples into even and odd groups, computing them separately, and combining them, you save massive amounts of time. The FFT allows us to reconstruct an MRI slice in milliseconds. Without this algorithm, MRI would be a slow, academic curiosity, not a clinical tool used in emergency rooms.”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we move from sound to sight. From 1D to 2D.”</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“When we perform a Fourier Transform on an image, we are decomposing the picture into layers of stripes. I want you to imagine a clear plastic sheet with wide vertical black bars painted on it. Now imagine another sheet with thin horizontal bars. If I stack thousands of these sheets—some with diagonal bars, some thick, some thin—and I look through the whole stack, the overlapping patterns will form a picture. That is the Inverse 2D Fourier Transform. We are building an image out of gratings.”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concept that trips up most students. When you look at the raw data file coming off an MRI scanner, you do not see a brain. You see a galaxy of bright dots. This is K-Space.”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“K-space is a map. But it’s not a map of ‘where things are’ (like a nose or an ear). It is a map of ‘how fast things change.’</a:t>
            </a:r>
          </a:p>
          <a:p>
            <a:pPr lvl="0" indent="0" marL="0">
              <a:buNone/>
            </a:pPr>
          </a:p>
          <a:p>
            <a:pPr lvl="0" indent="0" marL="0">
              <a:buNone/>
            </a:pPr>
            <a:r>
              <a:rPr/>
              <a:t>Let’s navigate this map:</a:t>
            </a:r>
          </a:p>
          <a:p>
            <a:pPr lvl="0" indent="0" marL="0">
              <a:buNone/>
            </a:pPr>
          </a:p>
          <a:p>
            <a:pPr lvl="0" indent="0" marL="0">
              <a:buNone/>
            </a:pPr>
            <a:r>
              <a:rPr/>
              <a:t>Stand in the center: You are at low frequency. This data tells us about the large, smooth shapes. The general contrast of the brain vs the skull. If we delete the center of K-space, the image turns grey and ghostly; we lose the contrast.</a:t>
            </a:r>
          </a:p>
          <a:p>
            <a:pPr lvl="0" indent="0" marL="0">
              <a:buNone/>
            </a:pPr>
          </a:p>
          <a:p>
            <a:pPr lvl="0" indent="0" marL="0">
              <a:buNone/>
            </a:pPr>
            <a:r>
              <a:rPr/>
              <a:t>Walk to the edge: You are at high frequency. This data tells us about sharp changes—the edges of the ventricles, the boundary of a tumor. If we delete the edges of K-space, the image gets blurry. The details vanish.”</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The Fourier Transform in Medical Imaging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From Principles to Practice</a:t>
            </a:r>
            <a:br/>
            <a:br/>
            <a:r>
              <a:rPr/>
              <a:t>Graduate Medical Physics Program</a:t>
            </a:r>
          </a:p>
        </p:txBody>
      </p:sp>
      <p:sp>
        <p:nvSpPr>
          <p:cNvPr id="4" name="Date Placeholder 3"/>
          <p:cNvSpPr>
            <a:spLocks noGrp="1"/>
          </p:cNvSpPr>
          <p:nvPr>
            <p:ph idx="10" sz="half" type="dt"/>
          </p:nvPr>
        </p:nvSpPr>
        <p:spPr/>
        <p:txBody>
          <a:bodyPr/>
          <a:lstStyle/>
          <a:p>
            <a:pPr lvl="0" indent="0" marL="0">
              <a:buNone/>
            </a:pPr>
            <a:r>
              <a:rPr/>
              <a:t>2025-12-27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1: The Foundation</a:t>
            </a:r>
          </a:p>
        </p:txBody>
      </p:sp>
      <p:sp>
        <p:nvSpPr>
          <p:cNvPr id="3" name="Content Placeholder 2"/>
          <p:cNvSpPr>
            <a:spLocks noGrp="1"/>
          </p:cNvSpPr>
          <p:nvPr>
            <p:ph idx="1"/>
          </p:nvPr>
        </p:nvSpPr>
        <p:spPr/>
        <p:txBody>
          <a:bodyPr/>
          <a:lstStyle/>
          <a:p>
            <a:pPr lvl="0" indent="0" marL="0">
              <a:spcBef>
                <a:spcPts val="3000"/>
              </a:spcBef>
              <a:buNone/>
            </a:pPr>
            <a:r>
              <a:rPr b="1"/>
              <a:t>Intuition First: The Musical Chord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Concept: Decomposition</a:t>
            </a:r>
          </a:p>
          <a:p>
            <a:pPr lvl="0"/>
            <a:r>
              <a:rPr/>
              <a:t>Signals (sound, light, MR echoes) are often composites.</a:t>
            </a:r>
          </a:p>
          <a:p>
            <a:pPr lvl="0"/>
            <a:r>
              <a:rPr/>
              <a:t>Imagine a C-Major chord: one sound, but composed of three distinct notes (C, E, G).</a:t>
            </a:r>
          </a:p>
          <a:p>
            <a:pPr lvl="0"/>
            <a:r>
              <a:rPr/>
              <a:t>The Fourier Transform is the mathematical “ear” that identifies the constituent frequencies and their amplitudes.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Visual Aid: Prism Analogy</a:t>
            </a:r>
          </a:p>
          <a:p>
            <a:pPr lvl="0"/>
            <a:r>
              <a:rPr/>
              <a:t>A prism splits white light into a rainbow.</a:t>
            </a:r>
          </a:p>
          <a:p>
            <a:pPr lvl="0"/>
            <a:r>
              <a:rPr/>
              <a:t>The Fourier Transform acts like a prism, splitting a complex signal into its simple frequency components.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Python Code: Waveform Decomposition</a:t>
            </a:r>
          </a:p>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Time base</a:t>
            </a:r>
            <a:br/>
            <a:r>
              <a:rPr>
                <a:latin typeface="Courier"/>
              </a:rPr>
              <a:t>t </a:t>
            </a:r>
            <a:r>
              <a:rPr>
                <a:solidFill>
                  <a:srgbClr val="666666"/>
                </a:solidFill>
                <a:latin typeface="Courier"/>
              </a:rPr>
              <a:t>=</a:t>
            </a:r>
            <a:r>
              <a:rPr>
                <a:latin typeface="Courier"/>
              </a:rPr>
              <a:t> np.linspace(</a:t>
            </a:r>
            <a:r>
              <a:rPr>
                <a:solidFill>
                  <a:srgbClr val="40A070"/>
                </a:solidFill>
                <a:latin typeface="Courier"/>
              </a:rPr>
              <a:t>0</a:t>
            </a:r>
            <a:r>
              <a:rPr>
                <a:latin typeface="Courier"/>
              </a:rPr>
              <a:t>, </a:t>
            </a:r>
            <a:r>
              <a:rPr>
                <a:solidFill>
                  <a:srgbClr val="40A070"/>
                </a:solidFill>
                <a:latin typeface="Courier"/>
              </a:rPr>
              <a:t>2</a:t>
            </a:r>
            <a:r>
              <a:rPr>
                <a:latin typeface="Courier"/>
              </a:rPr>
              <a:t> </a:t>
            </a:r>
            <a:r>
              <a:rPr>
                <a:solidFill>
                  <a:srgbClr val="666666"/>
                </a:solidFill>
                <a:latin typeface="Courier"/>
              </a:rPr>
              <a:t>*</a:t>
            </a:r>
            <a:r>
              <a:rPr>
                <a:latin typeface="Courier"/>
              </a:rPr>
              <a:t> np.pi, </a:t>
            </a:r>
            <a:r>
              <a:rPr>
                <a:solidFill>
                  <a:srgbClr val="40A070"/>
                </a:solidFill>
                <a:latin typeface="Courier"/>
              </a:rPr>
              <a:t>500</a:t>
            </a:r>
            <a:r>
              <a:rPr>
                <a:latin typeface="Courier"/>
              </a:rPr>
              <a:t>)</a:t>
            </a:r>
            <a:br/>
            <a:r>
              <a:rPr i="1">
                <a:solidFill>
                  <a:srgbClr val="60A0B0"/>
                </a:solidFill>
                <a:latin typeface="Courier"/>
              </a:rPr>
              <a:t># Frequencies</a:t>
            </a:r>
            <a:br/>
            <a:r>
              <a:rPr>
                <a:latin typeface="Courier"/>
              </a:rPr>
              <a:t>f1 </a:t>
            </a:r>
            <a:r>
              <a:rPr>
                <a:solidFill>
                  <a:srgbClr val="666666"/>
                </a:solidFill>
                <a:latin typeface="Courier"/>
              </a:rPr>
              <a:t>=</a:t>
            </a:r>
            <a:r>
              <a:rPr>
                <a:latin typeface="Courier"/>
              </a:rPr>
              <a:t> </a:t>
            </a:r>
            <a:r>
              <a:rPr>
                <a:solidFill>
                  <a:srgbClr val="40A070"/>
                </a:solidFill>
                <a:latin typeface="Courier"/>
              </a:rPr>
              <a:t>1</a:t>
            </a:r>
            <a:br/>
            <a:r>
              <a:rPr>
                <a:latin typeface="Courier"/>
              </a:rPr>
              <a:t>f2 </a:t>
            </a:r>
            <a:r>
              <a:rPr>
                <a:solidFill>
                  <a:srgbClr val="666666"/>
                </a:solidFill>
                <a:latin typeface="Courier"/>
              </a:rPr>
              <a:t>=</a:t>
            </a:r>
            <a:r>
              <a:rPr>
                <a:latin typeface="Courier"/>
              </a:rPr>
              <a:t> </a:t>
            </a:r>
            <a:r>
              <a:rPr>
                <a:solidFill>
                  <a:srgbClr val="40A070"/>
                </a:solidFill>
                <a:latin typeface="Courier"/>
              </a:rPr>
              <a:t>1.5</a:t>
            </a:r>
            <a:br/>
            <a:r>
              <a:rPr>
                <a:latin typeface="Courier"/>
              </a:rPr>
              <a:t>f3 </a:t>
            </a:r>
            <a:r>
              <a:rPr>
                <a:solidFill>
                  <a:srgbClr val="666666"/>
                </a:solidFill>
                <a:latin typeface="Courier"/>
              </a:rPr>
              <a:t>=</a:t>
            </a:r>
            <a:r>
              <a:rPr>
                <a:latin typeface="Courier"/>
              </a:rPr>
              <a:t> </a:t>
            </a:r>
            <a:r>
              <a:rPr>
                <a:solidFill>
                  <a:srgbClr val="40A070"/>
                </a:solidFill>
                <a:latin typeface="Courier"/>
              </a:rPr>
              <a:t>2</a:t>
            </a:r>
            <a:br/>
            <a:br/>
            <a:r>
              <a:rPr i="1">
                <a:solidFill>
                  <a:srgbClr val="60A0B0"/>
                </a:solidFill>
                <a:latin typeface="Courier"/>
              </a:rPr>
              <a:t># Individual sine waves</a:t>
            </a:r>
            <a:br/>
            <a:r>
              <a:rPr>
                <a:latin typeface="Courier"/>
              </a:rPr>
              <a:t>wave1 </a:t>
            </a:r>
            <a:r>
              <a:rPr>
                <a:solidFill>
                  <a:srgbClr val="666666"/>
                </a:solidFill>
                <a:latin typeface="Courier"/>
              </a:rPr>
              <a:t>=</a:t>
            </a:r>
            <a:r>
              <a:rPr>
                <a:latin typeface="Courier"/>
              </a:rPr>
              <a:t> np.sin(f1 </a:t>
            </a:r>
            <a:r>
              <a:rPr>
                <a:solidFill>
                  <a:srgbClr val="666666"/>
                </a:solidFill>
                <a:latin typeface="Courier"/>
              </a:rPr>
              <a:t>*</a:t>
            </a:r>
            <a:r>
              <a:rPr>
                <a:latin typeface="Courier"/>
              </a:rPr>
              <a:t> t)</a:t>
            </a:r>
            <a:br/>
            <a:r>
              <a:rPr>
                <a:latin typeface="Courier"/>
              </a:rPr>
              <a:t>wave2 </a:t>
            </a:r>
            <a:r>
              <a:rPr>
                <a:solidFill>
                  <a:srgbClr val="666666"/>
                </a:solidFill>
                <a:latin typeface="Courier"/>
              </a:rPr>
              <a:t>=</a:t>
            </a:r>
            <a:r>
              <a:rPr>
                <a:latin typeface="Courier"/>
              </a:rPr>
              <a:t> </a:t>
            </a:r>
            <a:r>
              <a:rPr>
                <a:solidFill>
                  <a:srgbClr val="40A070"/>
                </a:solidFill>
                <a:latin typeface="Courier"/>
              </a:rPr>
              <a:t>0.7</a:t>
            </a:r>
            <a:r>
              <a:rPr>
                <a:latin typeface="Courier"/>
              </a:rPr>
              <a:t> </a:t>
            </a:r>
            <a:r>
              <a:rPr>
                <a:solidFill>
                  <a:srgbClr val="666666"/>
                </a:solidFill>
                <a:latin typeface="Courier"/>
              </a:rPr>
              <a:t>*</a:t>
            </a:r>
            <a:r>
              <a:rPr>
                <a:latin typeface="Courier"/>
              </a:rPr>
              <a:t> np.sin(f2 </a:t>
            </a:r>
            <a:r>
              <a:rPr>
                <a:solidFill>
                  <a:srgbClr val="666666"/>
                </a:solidFill>
                <a:latin typeface="Courier"/>
              </a:rPr>
              <a:t>*</a:t>
            </a:r>
            <a:r>
              <a:rPr>
                <a:latin typeface="Courier"/>
              </a:rPr>
              <a:t> t)</a:t>
            </a:r>
            <a:br/>
            <a:r>
              <a:rPr>
                <a:latin typeface="Courier"/>
              </a:rPr>
              <a:t>wave3 </a:t>
            </a:r>
            <a:r>
              <a:rPr>
                <a:solidFill>
                  <a:srgbClr val="666666"/>
                </a:solidFill>
                <a:latin typeface="Courier"/>
              </a:rPr>
              <a:t>=</a:t>
            </a:r>
            <a:r>
              <a:rPr>
                <a:latin typeface="Courier"/>
              </a:rPr>
              <a:t> </a:t>
            </a:r>
            <a:r>
              <a:rPr>
                <a:solidFill>
                  <a:srgbClr val="40A070"/>
                </a:solidFill>
                <a:latin typeface="Courier"/>
              </a:rPr>
              <a:t>0.5</a:t>
            </a:r>
            <a:r>
              <a:rPr>
                <a:latin typeface="Courier"/>
              </a:rPr>
              <a:t> </a:t>
            </a:r>
            <a:r>
              <a:rPr>
                <a:solidFill>
                  <a:srgbClr val="666666"/>
                </a:solidFill>
                <a:latin typeface="Courier"/>
              </a:rPr>
              <a:t>*</a:t>
            </a:r>
            <a:r>
              <a:rPr>
                <a:latin typeface="Courier"/>
              </a:rPr>
              <a:t> np.sin(f3 </a:t>
            </a:r>
            <a:r>
              <a:rPr>
                <a:solidFill>
                  <a:srgbClr val="666666"/>
                </a:solidFill>
                <a:latin typeface="Courier"/>
              </a:rPr>
              <a:t>*</a:t>
            </a:r>
            <a:r>
              <a:rPr>
                <a:latin typeface="Courier"/>
              </a:rPr>
              <a:t> t)</a:t>
            </a:r>
            <a:br/>
            <a:br/>
            <a:r>
              <a:rPr i="1">
                <a:solidFill>
                  <a:srgbClr val="60A0B0"/>
                </a:solidFill>
                <a:latin typeface="Courier"/>
              </a:rPr>
              <a:t># Summed wave</a:t>
            </a:r>
            <a:br/>
            <a:r>
              <a:rPr>
                <a:latin typeface="Courier"/>
              </a:rPr>
              <a:t>summed_wave </a:t>
            </a:r>
            <a:r>
              <a:rPr>
                <a:solidFill>
                  <a:srgbClr val="666666"/>
                </a:solidFill>
                <a:latin typeface="Courier"/>
              </a:rPr>
              <a:t>=</a:t>
            </a:r>
            <a:r>
              <a:rPr>
                <a:latin typeface="Courier"/>
              </a:rPr>
              <a:t> wave1 </a:t>
            </a:r>
            <a:r>
              <a:rPr>
                <a:solidFill>
                  <a:srgbClr val="666666"/>
                </a:solidFill>
                <a:latin typeface="Courier"/>
              </a:rPr>
              <a:t>+</a:t>
            </a:r>
            <a:r>
              <a:rPr>
                <a:latin typeface="Courier"/>
              </a:rPr>
              <a:t> wave2 </a:t>
            </a:r>
            <a:r>
              <a:rPr>
                <a:solidFill>
                  <a:srgbClr val="666666"/>
                </a:solidFill>
                <a:latin typeface="Courier"/>
              </a:rPr>
              <a:t>+</a:t>
            </a:r>
            <a:r>
              <a:rPr>
                <a:latin typeface="Courier"/>
              </a:rPr>
              <a:t> wave3</a:t>
            </a:r>
            <a:br/>
            <a:br/>
            <a:r>
              <a:rPr i="1">
                <a:solidFill>
                  <a:srgbClr val="60A0B0"/>
                </a:solidFill>
                <a:latin typeface="Courier"/>
              </a:rPr>
              <a:t># Plotting</a:t>
            </a:r>
            <a:br/>
            <a:r>
              <a:rPr>
                <a:latin typeface="Courier"/>
              </a:rPr>
              <a:t>fig, axs </a:t>
            </a:r>
            <a:r>
              <a:rPr>
                <a:solidFill>
                  <a:srgbClr val="666666"/>
                </a:solidFill>
                <a:latin typeface="Courier"/>
              </a:rPr>
              <a:t>=</a:t>
            </a:r>
            <a:r>
              <a:rPr>
                <a:latin typeface="Courier"/>
              </a:rPr>
              <a:t> plt.subplots(</a:t>
            </a:r>
            <a:r>
              <a:rPr>
                <a:solidFill>
                  <a:srgbClr val="40A070"/>
                </a:solidFill>
                <a:latin typeface="Courier"/>
              </a:rPr>
              <a:t>4</a:t>
            </a:r>
            <a:r>
              <a:rPr>
                <a:latin typeface="Courier"/>
              </a:rPr>
              <a:t>, </a:t>
            </a:r>
            <a:r>
              <a:rPr>
                <a:solidFill>
                  <a:srgbClr val="40A070"/>
                </a:solidFill>
                <a:latin typeface="Courier"/>
              </a:rPr>
              <a:t>1</a:t>
            </a:r>
            <a:r>
              <a:rPr>
                <a:latin typeface="Courier"/>
              </a:rPr>
              <a:t>, figsize</a:t>
            </a:r>
            <a:r>
              <a:rPr>
                <a:solidFill>
                  <a:srgbClr val="666666"/>
                </a:solidFill>
                <a:latin typeface="Courier"/>
              </a:rPr>
              <a:t>=</a:t>
            </a:r>
            <a:r>
              <a:rPr>
                <a:latin typeface="Courier"/>
              </a:rPr>
              <a:t>(</a:t>
            </a:r>
            <a:r>
              <a:rPr>
                <a:solidFill>
                  <a:srgbClr val="40A070"/>
                </a:solidFill>
                <a:latin typeface="Courier"/>
              </a:rPr>
              <a:t>10</a:t>
            </a:r>
            <a:r>
              <a:rPr>
                <a:latin typeface="Courier"/>
              </a:rPr>
              <a:t>, </a:t>
            </a:r>
            <a:r>
              <a:rPr>
                <a:solidFill>
                  <a:srgbClr val="40A070"/>
                </a:solidFill>
                <a:latin typeface="Courier"/>
              </a:rPr>
              <a:t>8</a:t>
            </a:r>
            <a:r>
              <a:rPr>
                <a:latin typeface="Courier"/>
              </a:rPr>
              <a:t>), sharex</a:t>
            </a:r>
            <a:r>
              <a:rPr>
                <a:solidFill>
                  <a:srgbClr val="666666"/>
                </a:solidFill>
                <a:latin typeface="Courier"/>
              </a:rPr>
              <a:t>=</a:t>
            </a:r>
            <a:r>
              <a:rPr>
                <a:solidFill>
                  <a:srgbClr val="19177C"/>
                </a:solidFill>
                <a:latin typeface="Courier"/>
              </a:rPr>
              <a:t>True</a:t>
            </a:r>
            <a:r>
              <a:rPr>
                <a:latin typeface="Courier"/>
              </a:rPr>
              <a:t>)</a:t>
            </a:r>
            <a:br/>
            <a:br/>
            <a:r>
              <a:rPr i="1">
                <a:solidFill>
                  <a:srgbClr val="60A0B0"/>
                </a:solidFill>
                <a:latin typeface="Courier"/>
              </a:rPr>
              <a:t># Plot individual waves</a:t>
            </a:r>
            <a:br/>
            <a:r>
              <a:rPr>
                <a:latin typeface="Courier"/>
              </a:rPr>
              <a:t>axs[</a:t>
            </a:r>
            <a:r>
              <a:rPr>
                <a:solidFill>
                  <a:srgbClr val="40A070"/>
                </a:solidFill>
                <a:latin typeface="Courier"/>
              </a:rPr>
              <a:t>0</a:t>
            </a:r>
            <a:r>
              <a:rPr>
                <a:latin typeface="Courier"/>
              </a:rPr>
              <a:t>].plot(t, wave1, </a:t>
            </a:r>
            <a:r>
              <a:rPr>
                <a:solidFill>
                  <a:srgbClr val="4070A0"/>
                </a:solidFill>
                <a:latin typeface="Courier"/>
              </a:rPr>
              <a:t>'r'</a:t>
            </a:r>
            <a:r>
              <a:rPr>
                <a:latin typeface="Courier"/>
              </a:rPr>
              <a:t>, label</a:t>
            </a:r>
            <a:r>
              <a:rPr>
                <a:solidFill>
                  <a:srgbClr val="666666"/>
                </a:solidFill>
                <a:latin typeface="Courier"/>
              </a:rPr>
              <a:t>=</a:t>
            </a:r>
            <a:r>
              <a:rPr>
                <a:solidFill>
                  <a:srgbClr val="BB6688"/>
                </a:solidFill>
                <a:latin typeface="Courier"/>
              </a:rPr>
              <a:t>f'Frequency = </a:t>
            </a:r>
            <a:r>
              <a:rPr>
                <a:solidFill>
                  <a:srgbClr val="4070A0"/>
                </a:solidFill>
                <a:latin typeface="Courier"/>
              </a:rPr>
              <a:t>{</a:t>
            </a:r>
            <a:r>
              <a:rPr>
                <a:latin typeface="Courier"/>
              </a:rPr>
              <a:t>f1</a:t>
            </a:r>
            <a:r>
              <a:rPr>
                <a:solidFill>
                  <a:srgbClr val="4070A0"/>
                </a:solidFill>
                <a:latin typeface="Courier"/>
              </a:rPr>
              <a:t>}</a:t>
            </a:r>
            <a:r>
              <a:rPr>
                <a:solidFill>
                  <a:srgbClr val="BB6688"/>
                </a:solidFill>
                <a:latin typeface="Courier"/>
              </a:rPr>
              <a:t>'</a:t>
            </a:r>
            <a:r>
              <a:rPr>
                <a:latin typeface="Courier"/>
              </a:rPr>
              <a:t>)</a:t>
            </a:r>
            <a:br/>
            <a:r>
              <a:rPr>
                <a:latin typeface="Courier"/>
              </a:rPr>
              <a:t>axs[</a:t>
            </a:r>
            <a:r>
              <a:rPr>
                <a:solidFill>
                  <a:srgbClr val="40A070"/>
                </a:solidFill>
                <a:latin typeface="Courier"/>
              </a:rPr>
              <a:t>0</a:t>
            </a:r>
            <a:r>
              <a:rPr>
                <a:latin typeface="Courier"/>
              </a:rPr>
              <a:t>].legend()</a:t>
            </a:r>
            <a:br/>
            <a:r>
              <a:rPr>
                <a:latin typeface="Courier"/>
              </a:rPr>
              <a:t>axs[</a:t>
            </a:r>
            <a:r>
              <a:rPr>
                <a:solidFill>
                  <a:srgbClr val="40A070"/>
                </a:solidFill>
                <a:latin typeface="Courier"/>
              </a:rPr>
              <a:t>1</a:t>
            </a:r>
            <a:r>
              <a:rPr>
                <a:latin typeface="Courier"/>
              </a:rPr>
              <a:t>].plot(t, wave2, </a:t>
            </a:r>
            <a:r>
              <a:rPr>
                <a:solidFill>
                  <a:srgbClr val="4070A0"/>
                </a:solidFill>
                <a:latin typeface="Courier"/>
              </a:rPr>
              <a:t>'g'</a:t>
            </a:r>
            <a:r>
              <a:rPr>
                <a:latin typeface="Courier"/>
              </a:rPr>
              <a:t>, label</a:t>
            </a:r>
            <a:r>
              <a:rPr>
                <a:solidFill>
                  <a:srgbClr val="666666"/>
                </a:solidFill>
                <a:latin typeface="Courier"/>
              </a:rPr>
              <a:t>=</a:t>
            </a:r>
            <a:r>
              <a:rPr>
                <a:solidFill>
                  <a:srgbClr val="BB6688"/>
                </a:solidFill>
                <a:latin typeface="Courier"/>
              </a:rPr>
              <a:t>f'Frequency = </a:t>
            </a:r>
            <a:r>
              <a:rPr>
                <a:solidFill>
                  <a:srgbClr val="4070A0"/>
                </a:solidFill>
                <a:latin typeface="Courier"/>
              </a:rPr>
              <a:t>{</a:t>
            </a:r>
            <a:r>
              <a:rPr>
                <a:latin typeface="Courier"/>
              </a:rPr>
              <a:t>f2</a:t>
            </a:r>
            <a:r>
              <a:rPr>
                <a:solidFill>
                  <a:srgbClr val="4070A0"/>
                </a:solidFill>
                <a:latin typeface="Courier"/>
              </a:rPr>
              <a:t>}</a:t>
            </a:r>
            <a:r>
              <a:rPr>
                <a:solidFill>
                  <a:srgbClr val="BB6688"/>
                </a:solidFill>
                <a:latin typeface="Courier"/>
              </a:rPr>
              <a:t>'</a:t>
            </a:r>
            <a:r>
              <a:rPr>
                <a:latin typeface="Courier"/>
              </a:rPr>
              <a:t>)</a:t>
            </a:r>
            <a:br/>
            <a:r>
              <a:rPr>
                <a:latin typeface="Courier"/>
              </a:rPr>
              <a:t>axs[</a:t>
            </a:r>
            <a:r>
              <a:rPr>
                <a:solidFill>
                  <a:srgbClr val="40A070"/>
                </a:solidFill>
                <a:latin typeface="Courier"/>
              </a:rPr>
              <a:t>1</a:t>
            </a:r>
            <a:r>
              <a:rPr>
                <a:latin typeface="Courier"/>
              </a:rPr>
              <a:t>].legend()</a:t>
            </a:r>
            <a:br/>
            <a:r>
              <a:rPr>
                <a:latin typeface="Courier"/>
              </a:rPr>
              <a:t>axs[</a:t>
            </a:r>
            <a:r>
              <a:rPr>
                <a:solidFill>
                  <a:srgbClr val="40A070"/>
                </a:solidFill>
                <a:latin typeface="Courier"/>
              </a:rPr>
              <a:t>2</a:t>
            </a:r>
            <a:r>
              <a:rPr>
                <a:latin typeface="Courier"/>
              </a:rPr>
              <a:t>].plot(t, wave3, </a:t>
            </a:r>
            <a:r>
              <a:rPr>
                <a:solidFill>
                  <a:srgbClr val="4070A0"/>
                </a:solidFill>
                <a:latin typeface="Courier"/>
              </a:rPr>
              <a:t>'b'</a:t>
            </a:r>
            <a:r>
              <a:rPr>
                <a:latin typeface="Courier"/>
              </a:rPr>
              <a:t>, label</a:t>
            </a:r>
            <a:r>
              <a:rPr>
                <a:solidFill>
                  <a:srgbClr val="666666"/>
                </a:solidFill>
                <a:latin typeface="Courier"/>
              </a:rPr>
              <a:t>=</a:t>
            </a:r>
            <a:r>
              <a:rPr>
                <a:solidFill>
                  <a:srgbClr val="BB6688"/>
                </a:solidFill>
                <a:latin typeface="Courier"/>
              </a:rPr>
              <a:t>f'Frequency = </a:t>
            </a:r>
            <a:r>
              <a:rPr>
                <a:solidFill>
                  <a:srgbClr val="4070A0"/>
                </a:solidFill>
                <a:latin typeface="Courier"/>
              </a:rPr>
              <a:t>{</a:t>
            </a:r>
            <a:r>
              <a:rPr>
                <a:latin typeface="Courier"/>
              </a:rPr>
              <a:t>f3</a:t>
            </a:r>
            <a:r>
              <a:rPr>
                <a:solidFill>
                  <a:srgbClr val="4070A0"/>
                </a:solidFill>
                <a:latin typeface="Courier"/>
              </a:rPr>
              <a:t>}</a:t>
            </a:r>
            <a:r>
              <a:rPr>
                <a:solidFill>
                  <a:srgbClr val="BB6688"/>
                </a:solidFill>
                <a:latin typeface="Courier"/>
              </a:rPr>
              <a:t>'</a:t>
            </a:r>
            <a:r>
              <a:rPr>
                <a:latin typeface="Courier"/>
              </a:rPr>
              <a:t>)</a:t>
            </a:r>
            <a:br/>
            <a:r>
              <a:rPr>
                <a:latin typeface="Courier"/>
              </a:rPr>
              <a:t>axs[</a:t>
            </a:r>
            <a:r>
              <a:rPr>
                <a:solidFill>
                  <a:srgbClr val="40A070"/>
                </a:solidFill>
                <a:latin typeface="Courier"/>
              </a:rPr>
              <a:t>2</a:t>
            </a:r>
            <a:r>
              <a:rPr>
                <a:latin typeface="Courier"/>
              </a:rPr>
              <a:t>].legend()</a:t>
            </a:r>
            <a:br/>
            <a:br/>
            <a:r>
              <a:rPr i="1">
                <a:solidFill>
                  <a:srgbClr val="60A0B0"/>
                </a:solidFill>
                <a:latin typeface="Courier"/>
              </a:rPr>
              <a:t># Plot summed wave</a:t>
            </a:r>
            <a:br/>
            <a:r>
              <a:rPr>
                <a:latin typeface="Courier"/>
              </a:rPr>
              <a:t>axs[</a:t>
            </a:r>
            <a:r>
              <a:rPr>
                <a:solidFill>
                  <a:srgbClr val="40A070"/>
                </a:solidFill>
                <a:latin typeface="Courier"/>
              </a:rPr>
              <a:t>3</a:t>
            </a:r>
            <a:r>
              <a:rPr>
                <a:latin typeface="Courier"/>
              </a:rPr>
              <a:t>].plot(t, summed_wave, </a:t>
            </a:r>
            <a:r>
              <a:rPr>
                <a:solidFill>
                  <a:srgbClr val="4070A0"/>
                </a:solidFill>
                <a:latin typeface="Courier"/>
              </a:rPr>
              <a:t>'k'</a:t>
            </a:r>
            <a:r>
              <a:rPr>
                <a:latin typeface="Courier"/>
              </a:rPr>
              <a:t>, label</a:t>
            </a:r>
            <a:r>
              <a:rPr>
                <a:solidFill>
                  <a:srgbClr val="666666"/>
                </a:solidFill>
                <a:latin typeface="Courier"/>
              </a:rPr>
              <a:t>=</a:t>
            </a:r>
            <a:r>
              <a:rPr>
                <a:solidFill>
                  <a:srgbClr val="4070A0"/>
                </a:solidFill>
                <a:latin typeface="Courier"/>
              </a:rPr>
              <a:t>'Summed Wave'</a:t>
            </a:r>
            <a:r>
              <a:rPr>
                <a:latin typeface="Courier"/>
              </a:rPr>
              <a:t>)</a:t>
            </a:r>
            <a:br/>
            <a:r>
              <a:rPr>
                <a:latin typeface="Courier"/>
              </a:rPr>
              <a:t>axs[</a:t>
            </a:r>
            <a:r>
              <a:rPr>
                <a:solidFill>
                  <a:srgbClr val="40A070"/>
                </a:solidFill>
                <a:latin typeface="Courier"/>
              </a:rPr>
              <a:t>3</a:t>
            </a:r>
            <a:r>
              <a:rPr>
                <a:latin typeface="Courier"/>
              </a:rPr>
              <a:t>].legend()</a:t>
            </a:r>
            <a:br/>
            <a:br/>
            <a:r>
              <a:rPr>
                <a:latin typeface="Courier"/>
              </a:rPr>
              <a:t>plt.xlabel(</a:t>
            </a:r>
            <a:r>
              <a:rPr>
                <a:solidFill>
                  <a:srgbClr val="4070A0"/>
                </a:solidFill>
                <a:latin typeface="Courier"/>
              </a:rPr>
              <a:t>'Time'</a:t>
            </a:r>
            <a:r>
              <a:rPr>
                <a:latin typeface="Courier"/>
              </a:rPr>
              <a:t>)</a:t>
            </a:r>
            <a:br/>
            <a:r>
              <a:rPr>
                <a:latin typeface="Courier"/>
              </a:rPr>
              <a:t>fig.suptitle(</a:t>
            </a:r>
            <a:r>
              <a:rPr>
                <a:solidFill>
                  <a:srgbClr val="4070A0"/>
                </a:solidFill>
                <a:latin typeface="Courier"/>
              </a:rPr>
              <a:t>'Waveform Decomposition'</a:t>
            </a:r>
            <a:r>
              <a:rPr>
                <a:latin typeface="Courier"/>
              </a:rPr>
              <a:t>, fontsize</a:t>
            </a:r>
            <a:r>
              <a:rPr>
                <a:solidFill>
                  <a:srgbClr val="666666"/>
                </a:solidFill>
                <a:latin typeface="Courier"/>
              </a:rPr>
              <a:t>=</a:t>
            </a:r>
            <a:r>
              <a:rPr>
                <a:solidFill>
                  <a:srgbClr val="40A070"/>
                </a:solidFill>
                <a:latin typeface="Courier"/>
              </a:rPr>
              <a:t>16</a:t>
            </a:r>
            <a:r>
              <a:rPr>
                <a:latin typeface="Courier"/>
              </a:rPr>
              <a:t>)</a:t>
            </a:r>
            <a:br/>
            <a:r>
              <a:rPr>
                <a:latin typeface="Courier"/>
              </a:rPr>
              <a:t>plt.tight_layout(rect</a:t>
            </a:r>
            <a:r>
              <a:rPr>
                <a:solidFill>
                  <a:srgbClr val="666666"/>
                </a:solidFill>
                <a:latin typeface="Courier"/>
              </a:rPr>
              <a:t>=</a:t>
            </a:r>
            <a:r>
              <a:rPr>
                <a:latin typeface="Courier"/>
              </a:rPr>
              <a:t>[</a:t>
            </a:r>
            <a:r>
              <a:rPr>
                <a:solidFill>
                  <a:srgbClr val="40A070"/>
                </a:solidFill>
                <a:latin typeface="Courier"/>
              </a:rPr>
              <a:t>0</a:t>
            </a:r>
            <a:r>
              <a:rPr>
                <a:latin typeface="Courier"/>
              </a:rPr>
              <a:t>, </a:t>
            </a:r>
            <a:r>
              <a:rPr>
                <a:solidFill>
                  <a:srgbClr val="40A070"/>
                </a:solidFill>
                <a:latin typeface="Courier"/>
              </a:rPr>
              <a:t>0.03</a:t>
            </a:r>
            <a:r>
              <a:rPr>
                <a:latin typeface="Courier"/>
              </a:rPr>
              <a:t>, </a:t>
            </a:r>
            <a:r>
              <a:rPr>
                <a:solidFill>
                  <a:srgbClr val="40A070"/>
                </a:solidFill>
                <a:latin typeface="Courier"/>
              </a:rPr>
              <a:t>1</a:t>
            </a:r>
            <a:r>
              <a:rPr>
                <a:latin typeface="Courier"/>
              </a:rPr>
              <a:t>, </a:t>
            </a:r>
            <a:r>
              <a:rPr>
                <a:solidFill>
                  <a:srgbClr val="40A070"/>
                </a:solidFill>
                <a:latin typeface="Courier"/>
              </a:rPr>
              <a:t>0.95</a:t>
            </a:r>
            <a:r>
              <a:rPr>
                <a:latin typeface="Courier"/>
              </a:rPr>
              <a:t>])</a:t>
            </a:r>
            <a:br/>
            <a:r>
              <a:rPr>
                <a:latin typeface="Courier"/>
              </a:rPr>
              <a:t>plt.show()</a:t>
            </a:r>
          </a:p>
        </p:txBody>
      </p:sp>
      <p:pic>
        <p:nvPicPr>
          <p:cNvPr descr="Fourier_Transform_Lecture_files/figure-pptx/waveform_decomposition-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Fourier Series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Concept: Building Blocks</a:t>
            </a:r>
          </a:p>
          <a:p>
            <a:pPr lvl="0"/>
            <a:r>
              <a:rPr/>
              <a:t>Joseph Fourier’s insight: Any periodic function can be constructed by adding together infinite smooth sine and cosine waves.</a:t>
            </a:r>
          </a:p>
          <a:p>
            <a:pPr lvl="0"/>
            <a:r>
              <a:rPr/>
              <a:t>This applies even to jagged, discontinuous, or square functions.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Math: Fourier Series Equation</a:t>
                </a:r>
              </a:p>
              <a:p>
                <a:pPr lvl="0" indent="0" marL="0">
                  <a:buNone/>
                </a:pPr>
                <a:r>
                  <a:rPr/>
                  <a:t>The Fourier Series for a periodic function </a:t>
                </a:r>
                <a14:m>
                  <m:oMath xmlns:m="http://schemas.openxmlformats.org/officeDocument/2006/math">
                    <m:r>
                      <m:t>f</m:t>
                    </m:r>
                    <m:d>
                      <m:dPr>
                        <m:begChr m:val="("/>
                        <m:endChr m:val=")"/>
                        <m:sepChr m:val=""/>
                        <m:grow/>
                      </m:dPr>
                      <m:e>
                        <m:r>
                          <m:t>t</m:t>
                        </m:r>
                      </m:e>
                    </m:d>
                  </m:oMath>
                </a14:m>
                <a:r>
                  <a:rPr/>
                  <a:t> with period </a:t>
                </a:r>
                <a14:m>
                  <m:oMath xmlns:m="http://schemas.openxmlformats.org/officeDocument/2006/math">
                    <m:r>
                      <m:t>T</m:t>
                    </m:r>
                  </m:oMath>
                </a14:m>
                <a:r>
                  <a:rPr/>
                  <a:t>:</a:t>
                </a:r>
              </a:p>
              <a:p>
                <a:pPr lvl="0" indent="0" marL="0">
                  <a:buNone/>
                </a:pPr>
                <a14:m>
                  <m:oMathPara xmlns:m="http://schemas.openxmlformats.org/officeDocument/2006/math">
                    <m:oMathParaPr>
                      <m:jc m:val="center"/>
                    </m:oMathParaPr>
                    <m:oMath>
                      <m:r>
                        <m:t>f</m:t>
                      </m:r>
                      <m:d>
                        <m:dPr>
                          <m:begChr m:val="("/>
                          <m:endChr m:val=")"/>
                          <m:sepChr m:val=""/>
                          <m:grow/>
                        </m:dPr>
                        <m:e>
                          <m:r>
                            <m:t>t</m:t>
                          </m:r>
                        </m:e>
                      </m:d>
                      <m:r>
                        <m:rPr>
                          <m:sty m:val="p"/>
                        </m:rPr>
                        <m:t>=</m:t>
                      </m:r>
                      <m:sSub>
                        <m:e>
                          <m:r>
                            <m:t>a</m:t>
                          </m:r>
                        </m:e>
                        <m:sub>
                          <m:r>
                            <m:t>0</m:t>
                          </m:r>
                        </m:sub>
                      </m:sSub>
                      <m:r>
                        <m:rPr>
                          <m:sty m:val="p"/>
                        </m:rPr>
                        <m:t>+</m:t>
                      </m:r>
                      <m:nary>
                        <m:naryPr>
                          <m:chr m:val="∑"/>
                          <m:limLoc m:val="undOvr"/>
                          <m:subHide m:val="off"/>
                          <m:supHide m:val="off"/>
                        </m:naryPr>
                        <m:sub>
                          <m:r>
                            <m:t>n</m:t>
                          </m:r>
                          <m:r>
                            <m:rPr>
                              <m:sty m:val="p"/>
                            </m:rPr>
                            <m:t>=</m:t>
                          </m:r>
                          <m:r>
                            <m:t>1</m:t>
                          </m:r>
                        </m:sub>
                        <m:sup>
                          <m:r>
                            <m:rPr>
                              <m:sty m:val="p"/>
                            </m:rPr>
                            <m:t>∞</m:t>
                          </m:r>
                        </m:sup>
                        <m:e>
                          <m:d>
                            <m:dPr>
                              <m:begChr m:val="("/>
                              <m:endChr m:val=")"/>
                              <m:sepChr m:val=""/>
                              <m:grow/>
                            </m:dPr>
                            <m:e>
                              <m:sSub>
                                <m:e>
                                  <m:r>
                                    <m:t>a</m:t>
                                  </m:r>
                                </m:e>
                                <m:sub>
                                  <m:r>
                                    <m:t>n</m:t>
                                  </m:r>
                                </m:sub>
                              </m:sSub>
                              <m:r>
                                <m:rPr>
                                  <m:sty m:val="p"/>
                                </m:rPr>
                                <m:t>cos</m:t>
                              </m:r>
                              <m:d>
                                <m:dPr>
                                  <m:begChr m:val="("/>
                                  <m:endChr m:val=")"/>
                                  <m:sepChr m:val=""/>
                                  <m:grow/>
                                </m:dPr>
                                <m:e>
                                  <m:r>
                                    <m:t>n</m:t>
                                  </m:r>
                                  <m:sSub>
                                    <m:e>
                                      <m:r>
                                        <m:t>ω</m:t>
                                      </m:r>
                                    </m:e>
                                    <m:sub>
                                      <m:r>
                                        <m:t>0</m:t>
                                      </m:r>
                                    </m:sub>
                                  </m:sSub>
                                  <m:r>
                                    <m:t>t</m:t>
                                  </m:r>
                                </m:e>
                              </m:d>
                              <m:r>
                                <m:rPr>
                                  <m:sty m:val="p"/>
                                </m:rPr>
                                <m:t>+</m:t>
                              </m:r>
                              <m:sSub>
                                <m:e>
                                  <m:r>
                                    <m:t>b</m:t>
                                  </m:r>
                                </m:e>
                                <m:sub>
                                  <m:r>
                                    <m:t>n</m:t>
                                  </m:r>
                                </m:sub>
                              </m:sSub>
                              <m:r>
                                <m:rPr>
                                  <m:sty m:val="p"/>
                                </m:rPr>
                                <m:t>sin</m:t>
                              </m:r>
                              <m:d>
                                <m:dPr>
                                  <m:begChr m:val="("/>
                                  <m:endChr m:val=")"/>
                                  <m:sepChr m:val=""/>
                                  <m:grow/>
                                </m:dPr>
                                <m:e>
                                  <m:r>
                                    <m:t>n</m:t>
                                  </m:r>
                                  <m:sSub>
                                    <m:e>
                                      <m:r>
                                        <m:t>ω</m:t>
                                      </m:r>
                                    </m:e>
                                    <m:sub>
                                      <m:r>
                                        <m:t>0</m:t>
                                      </m:r>
                                    </m:sub>
                                  </m:sSub>
                                  <m:r>
                                    <m:t>t</m:t>
                                  </m:r>
                                </m:e>
                              </m:d>
                            </m:e>
                          </m:d>
                        </m:e>
                      </m:nary>
                    </m:oMath>
                  </m:oMathPara>
                </a14:m>
              </a:p>
            </p:txBody>
          </p:sp>
        </mc:Choice>
      </mc:AlternateContent>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Math: Equation Breakdown</a:t>
                </a:r>
              </a:p>
              <a:p>
                <a:pPr lvl="0"/>
                <a14:m>
                  <m:oMath xmlns:m="http://schemas.openxmlformats.org/officeDocument/2006/math">
                    <m:sSub>
                      <m:e>
                        <m:r>
                          <m:t>a</m:t>
                        </m:r>
                      </m:e>
                      <m:sub>
                        <m:r>
                          <m:t>0</m:t>
                        </m:r>
                      </m:sub>
                    </m:sSub>
                  </m:oMath>
                </a14:m>
                <a:r>
                  <a:rPr/>
                  <a:t>: The “DC offset” or average value of the signal.</a:t>
                </a:r>
              </a:p>
              <a:p>
                <a:pPr lvl="0"/>
                <a14:m>
                  <m:oMath xmlns:m="http://schemas.openxmlformats.org/officeDocument/2006/math">
                    <m:sSub>
                      <m:e>
                        <m:r>
                          <m:t>ω</m:t>
                        </m:r>
                      </m:e>
                      <m:sub>
                        <m:r>
                          <m:t>0</m:t>
                        </m:r>
                      </m:sub>
                    </m:sSub>
                  </m:oMath>
                </a14:m>
                <a:r>
                  <a:rPr/>
                  <a:t>: The fundamental frequency (</a:t>
                </a:r>
                <a14:m>
                  <m:oMath xmlns:m="http://schemas.openxmlformats.org/officeDocument/2006/math">
                    <m:r>
                      <m:t>2</m:t>
                    </m:r>
                    <m:r>
                      <m:t>π</m:t>
                    </m:r>
                    <m:r>
                      <m:rPr>
                        <m:sty m:val="p"/>
                      </m:rPr>
                      <m:t>/</m:t>
                    </m:r>
                    <m:r>
                      <m:t>T</m:t>
                    </m:r>
                  </m:oMath>
                </a14:m>
                <a:r>
                  <a:rPr/>
                  <a:t>).</a:t>
                </a:r>
              </a:p>
              <a:p>
                <a:pPr lvl="0"/>
                <a14:m>
                  <m:oMath xmlns:m="http://schemas.openxmlformats.org/officeDocument/2006/math">
                    <m:r>
                      <m:t>n</m:t>
                    </m:r>
                  </m:oMath>
                </a14:m>
                <a:r>
                  <a:rPr/>
                  <a:t>: The harmonic index (1st, 2nd, 3rd…).</a:t>
                </a:r>
              </a:p>
              <a:p>
                <a:pPr lvl="0"/>
                <a14:m>
                  <m:oMath xmlns:m="http://schemas.openxmlformats.org/officeDocument/2006/math">
                    <m:sSub>
                      <m:e>
                        <m:r>
                          <m:t>a</m:t>
                        </m:r>
                      </m:e>
                      <m:sub>
                        <m:r>
                          <m:t>n</m:t>
                        </m:r>
                      </m:sub>
                    </m:sSub>
                    <m:r>
                      <m:rPr>
                        <m:sty m:val="p"/>
                      </m:rPr>
                      <m:t>,</m:t>
                    </m:r>
                    <m:sSub>
                      <m:e>
                        <m:r>
                          <m:t>b</m:t>
                        </m:r>
                      </m:e>
                      <m:sub>
                        <m:r>
                          <m:t>n</m:t>
                        </m:r>
                      </m:sub>
                    </m:sSub>
                  </m:oMath>
                </a14:m>
                <a:r>
                  <a:rPr/>
                  <a:t>: The “weights” or amplitudes of each frequency component.</a:t>
                </a:r>
              </a:p>
            </p:txBody>
          </p:sp>
        </mc:Choice>
      </mc:AlternateContent>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Crucial Point: Resolution</a:t>
                </a:r>
              </a:p>
              <a:p>
                <a:pPr lvl="0"/>
                <a:r>
                  <a:rPr/>
                  <a:t>To build a square wave (representing a sharp edge in an image), we need many sine waves.</a:t>
                </a:r>
              </a:p>
              <a:p>
                <a:pPr lvl="0"/>
                <a:r>
                  <a:rPr b="1"/>
                  <a:t>Low-frequency waves</a:t>
                </a:r>
                <a:r>
                  <a:rPr/>
                  <a:t> give the general shape.</a:t>
                </a:r>
              </a:p>
              <a:p>
                <a:pPr lvl="0"/>
                <a:r>
                  <a:rPr b="1"/>
                  <a:t>High-frequency waves</a:t>
                </a:r>
                <a:r>
                  <a:rPr/>
                  <a:t> (large </a:t>
                </a:r>
                <a14:m>
                  <m:oMath xmlns:m="http://schemas.openxmlformats.org/officeDocument/2006/math">
                    <m:r>
                      <m:t>n</m:t>
                    </m:r>
                  </m:oMath>
                </a14:m>
                <a:r>
                  <a:rPr/>
                  <a:t>) sharpen the corners.</a:t>
                </a:r>
              </a:p>
            </p:txBody>
          </p:sp>
        </mc:Choice>
      </mc:AlternateContent>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Euler’s Formula: The Rotation Machine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Concept: Oscillation as Rotation</a:t>
            </a:r>
          </a:p>
          <a:p>
            <a:pPr lvl="0"/>
            <a:r>
              <a:rPr/>
              <a:t>Sines and cosines can be difficult to manipulate.</a:t>
            </a:r>
          </a:p>
          <a:p>
            <a:pPr lvl="0"/>
            <a:r>
              <a:rPr/>
              <a:t>Euler’s formula lets us treat oscillation as rotation.</a:t>
            </a:r>
          </a:p>
          <a:p>
            <a:pPr lvl="0"/>
            <a:r>
              <a:rPr/>
              <a:t>This allows us to visualize the Fourier Transform as a “winding” process.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Math: Euler’s Identity</a:t>
                </a:r>
              </a:p>
              <a:p>
                <a:pPr lvl="0" indent="0" marL="0">
                  <a:buNone/>
                </a:pPr>
                <a14:m>
                  <m:oMathPara xmlns:m="http://schemas.openxmlformats.org/officeDocument/2006/math">
                    <m:oMathParaPr>
                      <m:jc m:val="center"/>
                    </m:oMathParaPr>
                    <m:oMath>
                      <m:sSup>
                        <m:e>
                          <m:r>
                            <m:t>e</m:t>
                          </m:r>
                        </m:e>
                        <m:sup>
                          <m:r>
                            <m:t>i</m:t>
                          </m:r>
                          <m:r>
                            <m:t>θ</m:t>
                          </m:r>
                        </m:sup>
                      </m:sSup>
                      <m:r>
                        <m:rPr>
                          <m:sty m:val="p"/>
                        </m:rPr>
                        <m:t>=</m:t>
                      </m:r>
                      <m:r>
                        <m:rPr>
                          <m:sty m:val="p"/>
                        </m:rPr>
                        <m:t>cos</m:t>
                      </m:r>
                      <m:d>
                        <m:dPr>
                          <m:begChr m:val="("/>
                          <m:endChr m:val=")"/>
                          <m:sepChr m:val=""/>
                          <m:grow/>
                        </m:dPr>
                        <m:e>
                          <m:r>
                            <m:t>θ</m:t>
                          </m:r>
                        </m:e>
                      </m:d>
                      <m:r>
                        <m:rPr>
                          <m:sty m:val="p"/>
                        </m:rPr>
                        <m:t>+</m:t>
                      </m:r>
                      <m:r>
                        <m:t>i</m:t>
                      </m:r>
                      <m:r>
                        <m:rPr>
                          <m:sty m:val="p"/>
                        </m:rPr>
                        <m:t>sin</m:t>
                      </m:r>
                      <m:d>
                        <m:dPr>
                          <m:begChr m:val="("/>
                          <m:endChr m:val=")"/>
                          <m:sepChr m:val=""/>
                          <m:grow/>
                        </m:dPr>
                        <m:e>
                          <m:r>
                            <m:t>θ</m:t>
                          </m:r>
                        </m:e>
                      </m:d>
                    </m:oMath>
                  </m:oMathPara>
                </a14:m>
              </a:p>
            </p:txBody>
          </p:sp>
        </mc:Choice>
      </mc:AlternateContent>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Math: The Fourier Transform</a:t>
                </a:r>
              </a:p>
              <a:p>
                <a:pPr lvl="0" indent="0" marL="0">
                  <a:buNone/>
                </a:pPr>
                <a:r>
                  <a:rPr/>
                  <a:t>The General Fourier Transform equation:</a:t>
                </a:r>
              </a:p>
              <a:p>
                <a:pPr lvl="0" indent="0" marL="0">
                  <a:buNone/>
                </a:pPr>
                <a14:m>
                  <m:oMathPara xmlns:m="http://schemas.openxmlformats.org/officeDocument/2006/math">
                    <m:oMathParaPr>
                      <m:jc m:val="center"/>
                    </m:oMathParaPr>
                    <m:oMath>
                      <m:r>
                        <m:t>F</m:t>
                      </m:r>
                      <m:d>
                        <m:dPr>
                          <m:begChr m:val="("/>
                          <m:endChr m:val=")"/>
                          <m:sepChr m:val=""/>
                          <m:grow/>
                        </m:dPr>
                        <m:e>
                          <m:r>
                            <m:t>ω</m:t>
                          </m:r>
                        </m:e>
                      </m:d>
                      <m:r>
                        <m:rPr>
                          <m:sty m:val="p"/>
                        </m:rPr>
                        <m:t>=</m:t>
                      </m:r>
                      <m:nary>
                        <m:naryPr>
                          <m:chr m:val="∫"/>
                          <m:limLoc m:val="subSup"/>
                          <m:subHide m:val="off"/>
                          <m:supHide m:val="off"/>
                        </m:naryPr>
                        <m:sub>
                          <m:r>
                            <m:rPr>
                              <m:sty m:val="p"/>
                            </m:rPr>
                            <m:t>−</m:t>
                          </m:r>
                          <m:r>
                            <m:rPr>
                              <m:sty m:val="p"/>
                            </m:rPr>
                            <m:t>∞</m:t>
                          </m:r>
                        </m:sub>
                        <m:sup>
                          <m:r>
                            <m:rPr>
                              <m:sty m:val="p"/>
                            </m:rPr>
                            <m:t>∞</m:t>
                          </m:r>
                        </m:sup>
                        <m:e>
                          <m:r>
                            <m:t>f</m:t>
                          </m:r>
                        </m:e>
                      </m:nary>
                      <m:d>
                        <m:dPr>
                          <m:begChr m:val="("/>
                          <m:endChr m:val=")"/>
                          <m:sepChr m:val=""/>
                          <m:grow/>
                        </m:dPr>
                        <m:e>
                          <m:r>
                            <m:t>t</m:t>
                          </m:r>
                        </m:e>
                      </m:d>
                      <m:sSup>
                        <m:e>
                          <m:r>
                            <m:t>e</m:t>
                          </m:r>
                        </m:e>
                        <m:sup>
                          <m:r>
                            <m:rPr>
                              <m:sty m:val="p"/>
                            </m:rPr>
                            <m:t>−</m:t>
                          </m:r>
                          <m:r>
                            <m:t>i</m:t>
                          </m:r>
                          <m:r>
                            <m:t>ω</m:t>
                          </m:r>
                          <m:r>
                            <m:t>t</m:t>
                          </m:r>
                        </m:sup>
                      </m:sSup>
                      <m:r>
                        <m:t>d</m:t>
                      </m:r>
                      <m:r>
                        <m:t>t</m:t>
                      </m:r>
                    </m:oMath>
                  </m:oMathPara>
                </a14:m>
              </a:p>
            </p:txBody>
          </p:sp>
        </mc:Choice>
      </mc:AlternateContent>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Intuition: Winding the Signal</a:t>
                </a:r>
              </a:p>
              <a:p>
                <a:pPr lvl="0" indent="0" marL="0">
                  <a:buNone/>
                </a:pPr>
                <a:r>
                  <a:rPr/>
                  <a:t>What is this equation doing? 1. We take our signal, </a:t>
                </a:r>
                <a14:m>
                  <m:oMath xmlns:m="http://schemas.openxmlformats.org/officeDocument/2006/math">
                    <m:r>
                      <m:t>f</m:t>
                    </m:r>
                    <m:d>
                      <m:dPr>
                        <m:begChr m:val="("/>
                        <m:endChr m:val=")"/>
                        <m:sepChr m:val=""/>
                        <m:grow/>
                      </m:dPr>
                      <m:e>
                        <m:r>
                          <m:t>t</m:t>
                        </m:r>
                      </m:e>
                    </m:d>
                  </m:oMath>
                </a14:m>
                <a:r>
                  <a:rPr/>
                  <a:t>. 2. We multiply it by a ‘winding machine’, </a:t>
                </a:r>
                <a14:m>
                  <m:oMath xmlns:m="http://schemas.openxmlformats.org/officeDocument/2006/math">
                    <m:sSup>
                      <m:e>
                        <m:r>
                          <m:t>e</m:t>
                        </m:r>
                      </m:e>
                      <m:sup>
                        <m:r>
                          <m:rPr>
                            <m:sty m:val="p"/>
                          </m:rPr>
                          <m:t>−</m:t>
                        </m:r>
                        <m:r>
                          <m:t>i</m:t>
                        </m:r>
                        <m:r>
                          <m:t>ω</m:t>
                        </m:r>
                        <m:r>
                          <m:t>t</m:t>
                        </m:r>
                      </m:sup>
                    </m:sSup>
                  </m:oMath>
                </a14:m>
                <a:r>
                  <a:rPr/>
                  <a:t>, which spins at a specific speed </a:t>
                </a:r>
                <a14:m>
                  <m:oMath xmlns:m="http://schemas.openxmlformats.org/officeDocument/2006/math">
                    <m:r>
                      <m:t>ω</m:t>
                    </m:r>
                  </m:oMath>
                </a14:m>
                <a:r>
                  <a:rPr/>
                  <a:t>. 3. We sum up (integrate) the result over time.</a:t>
                </a:r>
              </a:p>
            </p:txBody>
          </p:sp>
        </mc:Choice>
      </mc:AlternateContent>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Python Code: Square Wave Approximation</a:t>
            </a:r>
          </a:p>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Setup time domain</a:t>
            </a:r>
            <a:br/>
            <a:r>
              <a:rPr>
                <a:latin typeface="Courier"/>
              </a:rPr>
              <a:t>t </a:t>
            </a:r>
            <a:r>
              <a:rPr>
                <a:solidFill>
                  <a:srgbClr val="666666"/>
                </a:solidFill>
                <a:latin typeface="Courier"/>
              </a:rPr>
              <a:t>=</a:t>
            </a:r>
            <a:r>
              <a:rPr>
                <a:latin typeface="Courier"/>
              </a:rPr>
              <a:t> np.linspace(</a:t>
            </a:r>
            <a:r>
              <a:rPr>
                <a:solidFill>
                  <a:srgbClr val="40A070"/>
                </a:solidFill>
                <a:latin typeface="Courier"/>
              </a:rPr>
              <a:t>0</a:t>
            </a:r>
            <a:r>
              <a:rPr>
                <a:latin typeface="Courier"/>
              </a:rPr>
              <a:t>, </a:t>
            </a:r>
            <a:r>
              <a:rPr>
                <a:solidFill>
                  <a:srgbClr val="40A070"/>
                </a:solidFill>
                <a:latin typeface="Courier"/>
              </a:rPr>
              <a:t>4</a:t>
            </a:r>
            <a:r>
              <a:rPr>
                <a:solidFill>
                  <a:srgbClr val="666666"/>
                </a:solidFill>
                <a:latin typeface="Courier"/>
              </a:rPr>
              <a:t>*</a:t>
            </a:r>
            <a:r>
              <a:rPr>
                <a:latin typeface="Courier"/>
              </a:rPr>
              <a:t>np.pi, </a:t>
            </a:r>
            <a:r>
              <a:rPr>
                <a:solidFill>
                  <a:srgbClr val="40A070"/>
                </a:solidFill>
                <a:latin typeface="Courier"/>
              </a:rPr>
              <a:t>1000</a:t>
            </a:r>
            <a:r>
              <a:rPr>
                <a:latin typeface="Courier"/>
              </a:rPr>
              <a:t>)</a:t>
            </a:r>
            <a:br/>
            <a:r>
              <a:rPr>
                <a:latin typeface="Courier"/>
              </a:rPr>
              <a:t>square_approx </a:t>
            </a:r>
            <a:r>
              <a:rPr>
                <a:solidFill>
                  <a:srgbClr val="666666"/>
                </a:solidFill>
                <a:latin typeface="Courier"/>
              </a:rPr>
              <a:t>=</a:t>
            </a:r>
            <a:r>
              <a:rPr>
                <a:latin typeface="Courier"/>
              </a:rPr>
              <a:t> np.zeros_like(t)</a:t>
            </a:r>
            <a:br/>
            <a:r>
              <a:rPr i="1">
                <a:solidFill>
                  <a:srgbClr val="60A0B0"/>
                </a:solidFill>
                <a:latin typeface="Courier"/>
              </a:rPr>
              <a:t># We use odd harmonics for a square wave (1, 3, 5, etc.)</a:t>
            </a:r>
            <a:br/>
            <a:r>
              <a:rPr>
                <a:latin typeface="Courier"/>
              </a:rPr>
              <a:t>terms </a:t>
            </a:r>
            <a:r>
              <a:rPr>
                <a:solidFill>
                  <a:srgbClr val="666666"/>
                </a:solidFill>
                <a:latin typeface="Courier"/>
              </a:rPr>
              <a:t>=</a:t>
            </a:r>
            <a:r>
              <a:rPr>
                <a:latin typeface="Courier"/>
              </a:rPr>
              <a:t> [</a:t>
            </a:r>
            <a:r>
              <a:rPr>
                <a:solidFill>
                  <a:srgbClr val="40A070"/>
                </a:solidFill>
                <a:latin typeface="Courier"/>
              </a:rPr>
              <a:t>1</a:t>
            </a:r>
            <a:r>
              <a:rPr>
                <a:latin typeface="Courier"/>
              </a:rPr>
              <a:t>, </a:t>
            </a:r>
            <a:r>
              <a:rPr>
                <a:solidFill>
                  <a:srgbClr val="40A070"/>
                </a:solidFill>
                <a:latin typeface="Courier"/>
              </a:rPr>
              <a:t>3</a:t>
            </a:r>
            <a:r>
              <a:rPr>
                <a:latin typeface="Courier"/>
              </a:rPr>
              <a:t>, </a:t>
            </a:r>
            <a:r>
              <a:rPr>
                <a:solidFill>
                  <a:srgbClr val="40A070"/>
                </a:solidFill>
                <a:latin typeface="Courier"/>
              </a:rPr>
              <a:t>5</a:t>
            </a:r>
            <a:r>
              <a:rPr>
                <a:latin typeface="Courier"/>
              </a:rPr>
              <a:t>, </a:t>
            </a:r>
            <a:r>
              <a:rPr>
                <a:solidFill>
                  <a:srgbClr val="40A070"/>
                </a:solidFill>
                <a:latin typeface="Courier"/>
              </a:rPr>
              <a:t>7</a:t>
            </a:r>
            <a:r>
              <a:rPr>
                <a:latin typeface="Courier"/>
              </a:rPr>
              <a:t>, </a:t>
            </a:r>
            <a:r>
              <a:rPr>
                <a:solidFill>
                  <a:srgbClr val="40A070"/>
                </a:solidFill>
                <a:latin typeface="Courier"/>
              </a:rPr>
              <a:t>9</a:t>
            </a:r>
            <a:r>
              <a:rPr>
                <a:latin typeface="Courier"/>
              </a:rPr>
              <a:t>, </a:t>
            </a:r>
            <a:r>
              <a:rPr>
                <a:solidFill>
                  <a:srgbClr val="40A070"/>
                </a:solidFill>
                <a:latin typeface="Courier"/>
              </a:rPr>
              <a:t>11</a:t>
            </a:r>
            <a:r>
              <a:rPr>
                <a:latin typeface="Courier"/>
              </a:rPr>
              <a:t>, </a:t>
            </a:r>
            <a:r>
              <a:rPr>
                <a:solidFill>
                  <a:srgbClr val="40A070"/>
                </a:solidFill>
                <a:latin typeface="Courier"/>
              </a:rPr>
              <a:t>13</a:t>
            </a:r>
            <a:r>
              <a:rPr>
                <a:latin typeface="Courier"/>
              </a:rPr>
              <a:t>, </a:t>
            </a:r>
            <a:r>
              <a:rPr>
                <a:solidFill>
                  <a:srgbClr val="40A070"/>
                </a:solidFill>
                <a:latin typeface="Courier"/>
              </a:rPr>
              <a:t>15</a:t>
            </a:r>
            <a:r>
              <a:rPr>
                <a:latin typeface="Courier"/>
              </a:rPr>
              <a:t>]</a:t>
            </a:r>
            <a:br/>
            <a:br/>
            <a:r>
              <a:rPr>
                <a:latin typeface="Courier"/>
              </a:rPr>
              <a:t>plt.figure(figsize</a:t>
            </a:r>
            <a:r>
              <a:rPr>
                <a:solidFill>
                  <a:srgbClr val="666666"/>
                </a:solidFill>
                <a:latin typeface="Courier"/>
              </a:rPr>
              <a:t>=</a:t>
            </a:r>
            <a:r>
              <a:rPr>
                <a:latin typeface="Courier"/>
              </a:rPr>
              <a:t>(</a:t>
            </a:r>
            <a:r>
              <a:rPr>
                <a:solidFill>
                  <a:srgbClr val="40A070"/>
                </a:solidFill>
                <a:latin typeface="Courier"/>
              </a:rPr>
              <a:t>12</a:t>
            </a:r>
            <a:r>
              <a:rPr>
                <a:latin typeface="Courier"/>
              </a:rPr>
              <a:t>, </a:t>
            </a:r>
            <a:r>
              <a:rPr>
                <a:solidFill>
                  <a:srgbClr val="40A070"/>
                </a:solidFill>
                <a:latin typeface="Courier"/>
              </a:rPr>
              <a:t>8</a:t>
            </a:r>
            <a:r>
              <a:rPr>
                <a:latin typeface="Courier"/>
              </a:rPr>
              <a:t>))</a:t>
            </a:r>
            <a:br/>
            <a:br/>
            <a:r>
              <a:rPr i="1">
                <a:solidFill>
                  <a:srgbClr val="60A0B0"/>
                </a:solidFill>
                <a:latin typeface="Courier"/>
              </a:rPr>
              <a:t># Subplot 1: The individual components</a:t>
            </a:r>
            <a:br/>
            <a:r>
              <a:rPr>
                <a:latin typeface="Courier"/>
              </a:rPr>
              <a:t>plt.subplot(</a:t>
            </a:r>
            <a:r>
              <a:rPr>
                <a:solidFill>
                  <a:srgbClr val="40A070"/>
                </a:solidFill>
                <a:latin typeface="Courier"/>
              </a:rPr>
              <a:t>2</a:t>
            </a:r>
            <a:r>
              <a:rPr>
                <a:latin typeface="Courier"/>
              </a:rPr>
              <a:t>, </a:t>
            </a:r>
            <a:r>
              <a:rPr>
                <a:solidFill>
                  <a:srgbClr val="40A070"/>
                </a:solidFill>
                <a:latin typeface="Courier"/>
              </a:rPr>
              <a:t>1</a:t>
            </a:r>
            <a:r>
              <a:rPr>
                <a:latin typeface="Courier"/>
              </a:rPr>
              <a:t>, </a:t>
            </a:r>
            <a:r>
              <a:rPr>
                <a:solidFill>
                  <a:srgbClr val="40A070"/>
                </a:solidFill>
                <a:latin typeface="Courier"/>
              </a:rPr>
              <a:t>1</a:t>
            </a:r>
            <a:r>
              <a:rPr>
                <a:latin typeface="Courier"/>
              </a:rPr>
              <a:t>)</a:t>
            </a:r>
            <a:br/>
            <a:r>
              <a:rPr>
                <a:latin typeface="Courier"/>
              </a:rPr>
              <a:t>plt.title(</a:t>
            </a:r>
            <a:r>
              <a:rPr>
                <a:solidFill>
                  <a:srgbClr val="4070A0"/>
                </a:solidFill>
                <a:latin typeface="Courier"/>
              </a:rPr>
              <a:t>"Individual Frequency Components"</a:t>
            </a:r>
            <a:r>
              <a:rPr>
                <a:latin typeface="Courier"/>
              </a:rPr>
              <a:t>)</a:t>
            </a:r>
            <a:br/>
            <a:r>
              <a:rPr>
                <a:latin typeface="Courier"/>
              </a:rPr>
              <a:t>colors </a:t>
            </a:r>
            <a:r>
              <a:rPr>
                <a:solidFill>
                  <a:srgbClr val="666666"/>
                </a:solidFill>
                <a:latin typeface="Courier"/>
              </a:rPr>
              <a:t>=</a:t>
            </a:r>
            <a:r>
              <a:rPr>
                <a:latin typeface="Courier"/>
              </a:rPr>
              <a:t> plt.cm.viridis(np.linspace(</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008000"/>
                </a:solidFill>
                <a:latin typeface="Courier"/>
              </a:rPr>
              <a:t>len</a:t>
            </a:r>
            <a:r>
              <a:rPr>
                <a:latin typeface="Courier"/>
              </a:rPr>
              <a:t>(terms[:</a:t>
            </a:r>
            <a:r>
              <a:rPr>
                <a:solidFill>
                  <a:srgbClr val="40A070"/>
                </a:solidFill>
                <a:latin typeface="Courier"/>
              </a:rPr>
              <a:t>4</a:t>
            </a:r>
            <a:r>
              <a:rPr>
                <a:latin typeface="Courier"/>
              </a:rPr>
              <a:t>])))</a:t>
            </a:r>
            <a:br/>
            <a:r>
              <a:rPr b="1">
                <a:solidFill>
                  <a:srgbClr val="007020"/>
                </a:solidFill>
                <a:latin typeface="Courier"/>
              </a:rPr>
              <a:t>for</a:t>
            </a:r>
            <a:r>
              <a:rPr>
                <a:latin typeface="Courier"/>
              </a:rPr>
              <a:t> i, n </a:t>
            </a:r>
            <a:r>
              <a:rPr b="1">
                <a:solidFill>
                  <a:srgbClr val="007020"/>
                </a:solidFill>
                <a:latin typeface="Courier"/>
              </a:rPr>
              <a:t>in</a:t>
            </a:r>
            <a:r>
              <a:rPr>
                <a:latin typeface="Courier"/>
              </a:rPr>
              <a:t> </a:t>
            </a:r>
            <a:r>
              <a:rPr>
                <a:solidFill>
                  <a:srgbClr val="008000"/>
                </a:solidFill>
                <a:latin typeface="Courier"/>
              </a:rPr>
              <a:t>enumerate</a:t>
            </a:r>
            <a:r>
              <a:rPr>
                <a:latin typeface="Courier"/>
              </a:rPr>
              <a:t>(terms[:</a:t>
            </a:r>
            <a:r>
              <a:rPr>
                <a:solidFill>
                  <a:srgbClr val="40A070"/>
                </a:solidFill>
                <a:latin typeface="Courier"/>
              </a:rPr>
              <a:t>4</a:t>
            </a:r>
            <a:r>
              <a:rPr>
                <a:latin typeface="Courier"/>
              </a:rPr>
              <a:t>]): </a:t>
            </a:r>
            <a:r>
              <a:rPr i="1">
                <a:solidFill>
                  <a:srgbClr val="60A0B0"/>
                </a:solidFill>
                <a:latin typeface="Courier"/>
              </a:rPr>
              <a:t># Plot first 4 components</a:t>
            </a:r>
            <a:br/>
            <a:r>
              <a:rPr>
                <a:latin typeface="Courier"/>
              </a:rPr>
              <a:t>    amplitude </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np.pi)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latin typeface="Courier"/>
              </a:rPr>
              <a:t>n)</a:t>
            </a:r>
            <a:br/>
            <a:r>
              <a:rPr>
                <a:latin typeface="Courier"/>
              </a:rPr>
              <a:t>    component </a:t>
            </a:r>
            <a:r>
              <a:rPr>
                <a:solidFill>
                  <a:srgbClr val="666666"/>
                </a:solidFill>
                <a:latin typeface="Courier"/>
              </a:rPr>
              <a:t>=</a:t>
            </a:r>
            <a:r>
              <a:rPr>
                <a:latin typeface="Courier"/>
              </a:rPr>
              <a:t> amplitude </a:t>
            </a:r>
            <a:r>
              <a:rPr>
                <a:solidFill>
                  <a:srgbClr val="666666"/>
                </a:solidFill>
                <a:latin typeface="Courier"/>
              </a:rPr>
              <a:t>*</a:t>
            </a:r>
            <a:r>
              <a:rPr>
                <a:latin typeface="Courier"/>
              </a:rPr>
              <a:t> np.sin(n </a:t>
            </a:r>
            <a:r>
              <a:rPr>
                <a:solidFill>
                  <a:srgbClr val="666666"/>
                </a:solidFill>
                <a:latin typeface="Courier"/>
              </a:rPr>
              <a:t>*</a:t>
            </a:r>
            <a:r>
              <a:rPr>
                <a:latin typeface="Courier"/>
              </a:rPr>
              <a:t> t)</a:t>
            </a:r>
            <a:br/>
            <a:r>
              <a:rPr>
                <a:latin typeface="Courier"/>
              </a:rPr>
              <a:t>    plt.plot(t, component, label</a:t>
            </a:r>
            <a:r>
              <a:rPr>
                <a:solidFill>
                  <a:srgbClr val="666666"/>
                </a:solidFill>
                <a:latin typeface="Courier"/>
              </a:rPr>
              <a:t>=</a:t>
            </a:r>
            <a:r>
              <a:rPr>
                <a:solidFill>
                  <a:srgbClr val="BB6688"/>
                </a:solidFill>
                <a:latin typeface="Courier"/>
              </a:rPr>
              <a:t>f'Harmonic n=</a:t>
            </a:r>
            <a:r>
              <a:rPr>
                <a:solidFill>
                  <a:srgbClr val="4070A0"/>
                </a:solidFill>
                <a:latin typeface="Courier"/>
              </a:rPr>
              <a:t>{</a:t>
            </a:r>
            <a:r>
              <a:rPr>
                <a:latin typeface="Courier"/>
              </a:rPr>
              <a:t>n</a:t>
            </a:r>
            <a:r>
              <a:rPr>
                <a:solidFill>
                  <a:srgbClr val="4070A0"/>
                </a:solidFill>
                <a:latin typeface="Courier"/>
              </a:rPr>
              <a:t>}</a:t>
            </a:r>
            <a:r>
              <a:rPr>
                <a:solidFill>
                  <a:srgbClr val="BB6688"/>
                </a:solidFill>
                <a:latin typeface="Courier"/>
              </a:rPr>
              <a:t>'</a:t>
            </a:r>
            <a:r>
              <a:rPr>
                <a:latin typeface="Courier"/>
              </a:rPr>
              <a:t>, color</a:t>
            </a:r>
            <a:r>
              <a:rPr>
                <a:solidFill>
                  <a:srgbClr val="666666"/>
                </a:solidFill>
                <a:latin typeface="Courier"/>
              </a:rPr>
              <a:t>=</a:t>
            </a:r>
            <a:r>
              <a:rPr>
                <a:latin typeface="Courier"/>
              </a:rPr>
              <a:t>colors[i], linewidth</a:t>
            </a:r>
            <a:r>
              <a:rPr>
                <a:solidFill>
                  <a:srgbClr val="666666"/>
                </a:solidFill>
                <a:latin typeface="Courier"/>
              </a:rPr>
              <a:t>=</a:t>
            </a:r>
            <a:r>
              <a:rPr>
                <a:solidFill>
                  <a:srgbClr val="40A070"/>
                </a:solidFill>
                <a:latin typeface="Courier"/>
              </a:rPr>
              <a:t>1.5</a:t>
            </a:r>
            <a:r>
              <a:rPr>
                <a:latin typeface="Courier"/>
              </a:rPr>
              <a:t>)</a:t>
            </a:r>
            <a:br/>
            <a:r>
              <a:rPr>
                <a:latin typeface="Courier"/>
              </a:rPr>
              <a:t>plt.legend(loc</a:t>
            </a:r>
            <a:r>
              <a:rPr>
                <a:solidFill>
                  <a:srgbClr val="666666"/>
                </a:solidFill>
                <a:latin typeface="Courier"/>
              </a:rPr>
              <a:t>=</a:t>
            </a:r>
            <a:r>
              <a:rPr>
                <a:solidFill>
                  <a:srgbClr val="4070A0"/>
                </a:solidFill>
                <a:latin typeface="Courier"/>
              </a:rPr>
              <a:t>'upper right'</a:t>
            </a:r>
            <a:r>
              <a:rPr>
                <a:latin typeface="Courier"/>
              </a:rPr>
              <a:t>)</a:t>
            </a:r>
            <a:br/>
            <a:r>
              <a:rPr>
                <a:latin typeface="Courier"/>
              </a:rPr>
              <a:t>plt.grid(</a:t>
            </a:r>
            <a:r>
              <a:rPr>
                <a:solidFill>
                  <a:srgbClr val="19177C"/>
                </a:solidFill>
                <a:latin typeface="Courier"/>
              </a:rPr>
              <a:t>True</a:t>
            </a:r>
            <a:r>
              <a:rPr>
                <a:latin typeface="Courier"/>
              </a:rPr>
              <a:t>, alpha</a:t>
            </a:r>
            <a:r>
              <a:rPr>
                <a:solidFill>
                  <a:srgbClr val="666666"/>
                </a:solidFill>
                <a:latin typeface="Courier"/>
              </a:rPr>
              <a:t>=</a:t>
            </a:r>
            <a:r>
              <a:rPr>
                <a:solidFill>
                  <a:srgbClr val="40A070"/>
                </a:solidFill>
                <a:latin typeface="Courier"/>
              </a:rPr>
              <a:t>0.3</a:t>
            </a:r>
            <a:r>
              <a:rPr>
                <a:latin typeface="Courier"/>
              </a:rPr>
              <a:t>)</a:t>
            </a:r>
            <a:br/>
            <a:br/>
            <a:r>
              <a:rPr i="1">
                <a:solidFill>
                  <a:srgbClr val="60A0B0"/>
                </a:solidFill>
                <a:latin typeface="Courier"/>
              </a:rPr>
              <a:t># Subplot 2: The Summation</a:t>
            </a:r>
            <a:br/>
            <a:r>
              <a:rPr>
                <a:latin typeface="Courier"/>
              </a:rPr>
              <a:t>plt.subplot(</a:t>
            </a:r>
            <a:r>
              <a:rPr>
                <a:solidFill>
                  <a:srgbClr val="40A070"/>
                </a:solidFill>
                <a:latin typeface="Courier"/>
              </a:rPr>
              <a:t>2</a:t>
            </a:r>
            <a:r>
              <a:rPr>
                <a:latin typeface="Courier"/>
              </a:rPr>
              <a:t>, </a:t>
            </a:r>
            <a:r>
              <a:rPr>
                <a:solidFill>
                  <a:srgbClr val="40A070"/>
                </a:solidFill>
                <a:latin typeface="Courier"/>
              </a:rPr>
              <a:t>1</a:t>
            </a:r>
            <a:r>
              <a:rPr>
                <a:latin typeface="Courier"/>
              </a:rPr>
              <a:t>, </a:t>
            </a:r>
            <a:r>
              <a:rPr>
                <a:solidFill>
                  <a:srgbClr val="40A070"/>
                </a:solidFill>
                <a:latin typeface="Courier"/>
              </a:rPr>
              <a:t>2</a:t>
            </a:r>
            <a:r>
              <a:rPr>
                <a:latin typeface="Courier"/>
              </a:rPr>
              <a:t>)</a:t>
            </a:r>
            <a:br/>
            <a:r>
              <a:rPr>
                <a:latin typeface="Courier"/>
              </a:rPr>
              <a:t>plt.title(</a:t>
            </a:r>
            <a:r>
              <a:rPr>
                <a:solidFill>
                  <a:srgbClr val="4070A0"/>
                </a:solidFill>
                <a:latin typeface="Courier"/>
              </a:rPr>
              <a:t>"Summation: Building the Square Wave"</a:t>
            </a:r>
            <a:r>
              <a:rPr>
                <a:latin typeface="Courier"/>
              </a:rPr>
              <a:t>)</a:t>
            </a:r>
            <a:br/>
            <a:r>
              <a:rPr b="1">
                <a:solidFill>
                  <a:srgbClr val="007020"/>
                </a:solidFill>
                <a:latin typeface="Courier"/>
              </a:rPr>
              <a:t>for</a:t>
            </a:r>
            <a:r>
              <a:rPr>
                <a:latin typeface="Courier"/>
              </a:rPr>
              <a:t> n </a:t>
            </a:r>
            <a:r>
              <a:rPr b="1">
                <a:solidFill>
                  <a:srgbClr val="007020"/>
                </a:solidFill>
                <a:latin typeface="Courier"/>
              </a:rPr>
              <a:t>in</a:t>
            </a:r>
            <a:r>
              <a:rPr>
                <a:latin typeface="Courier"/>
              </a:rPr>
              <a:t> terms:</a:t>
            </a:r>
            <a:br/>
            <a:r>
              <a:rPr>
                <a:latin typeface="Courier"/>
              </a:rPr>
              <a:t>    square_approx </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np.pi)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latin typeface="Courier"/>
              </a:rPr>
              <a:t>n) </a:t>
            </a:r>
            <a:r>
              <a:rPr>
                <a:solidFill>
                  <a:srgbClr val="666666"/>
                </a:solidFill>
                <a:latin typeface="Courier"/>
              </a:rPr>
              <a:t>*</a:t>
            </a:r>
            <a:r>
              <a:rPr>
                <a:latin typeface="Courier"/>
              </a:rPr>
              <a:t> np.sin(n </a:t>
            </a:r>
            <a:r>
              <a:rPr>
                <a:solidFill>
                  <a:srgbClr val="666666"/>
                </a:solidFill>
                <a:latin typeface="Courier"/>
              </a:rPr>
              <a:t>*</a:t>
            </a:r>
            <a:r>
              <a:rPr>
                <a:latin typeface="Courier"/>
              </a:rPr>
              <a:t> t)</a:t>
            </a:r>
            <a:br/>
            <a:br/>
            <a:r>
              <a:rPr>
                <a:latin typeface="Courier"/>
              </a:rPr>
              <a:t>plt.plot(t, square_approx, </a:t>
            </a:r>
            <a:r>
              <a:rPr>
                <a:solidFill>
                  <a:srgbClr val="4070A0"/>
                </a:solidFill>
                <a:latin typeface="Courier"/>
              </a:rPr>
              <a:t>'k-'</a:t>
            </a:r>
            <a:r>
              <a:rPr>
                <a:latin typeface="Courier"/>
              </a:rPr>
              <a:t>, linewidth</a:t>
            </a:r>
            <a:r>
              <a:rPr>
                <a:solidFill>
                  <a:srgbClr val="666666"/>
                </a:solidFill>
                <a:latin typeface="Courier"/>
              </a:rPr>
              <a:t>=</a:t>
            </a:r>
            <a:r>
              <a:rPr>
                <a:solidFill>
                  <a:srgbClr val="40A070"/>
                </a:solidFill>
                <a:latin typeface="Courier"/>
              </a:rPr>
              <a:t>2</a:t>
            </a:r>
            <a:r>
              <a:rPr>
                <a:latin typeface="Courier"/>
              </a:rPr>
              <a:t>, label</a:t>
            </a:r>
            <a:r>
              <a:rPr>
                <a:solidFill>
                  <a:srgbClr val="666666"/>
                </a:solidFill>
                <a:latin typeface="Courier"/>
              </a:rPr>
              <a:t>=</a:t>
            </a:r>
            <a:r>
              <a:rPr>
                <a:solidFill>
                  <a:srgbClr val="BB6688"/>
                </a:solidFill>
                <a:latin typeface="Courier"/>
              </a:rPr>
              <a:t>f'Sum of first </a:t>
            </a:r>
            <a:r>
              <a:rPr>
                <a:solidFill>
                  <a:srgbClr val="4070A0"/>
                </a:solidFill>
                <a:latin typeface="Courier"/>
              </a:rPr>
              <a:t>{</a:t>
            </a:r>
            <a:r>
              <a:rPr>
                <a:solidFill>
                  <a:srgbClr val="008000"/>
                </a:solidFill>
                <a:latin typeface="Courier"/>
              </a:rPr>
              <a:t>len</a:t>
            </a:r>
            <a:r>
              <a:rPr>
                <a:latin typeface="Courier"/>
              </a:rPr>
              <a:t>(terms)</a:t>
            </a:r>
            <a:r>
              <a:rPr>
                <a:solidFill>
                  <a:srgbClr val="4070A0"/>
                </a:solidFill>
                <a:latin typeface="Courier"/>
              </a:rPr>
              <a:t>}</a:t>
            </a:r>
            <a:r>
              <a:rPr>
                <a:solidFill>
                  <a:srgbClr val="BB6688"/>
                </a:solidFill>
                <a:latin typeface="Courier"/>
              </a:rPr>
              <a:t> terms'</a:t>
            </a:r>
            <a:r>
              <a:rPr>
                <a:latin typeface="Courier"/>
              </a:rPr>
              <a:t>)</a:t>
            </a:r>
            <a:br/>
            <a:r>
              <a:rPr i="1">
                <a:solidFill>
                  <a:srgbClr val="60A0B0"/>
                </a:solidFill>
                <a:latin typeface="Courier"/>
              </a:rPr>
              <a:t># Overlay the ideal square wave for comparison</a:t>
            </a:r>
            <a:br/>
            <a:r>
              <a:rPr>
                <a:latin typeface="Courier"/>
              </a:rPr>
              <a:t>ideal_square </a:t>
            </a:r>
            <a:r>
              <a:rPr>
                <a:solidFill>
                  <a:srgbClr val="666666"/>
                </a:solidFill>
                <a:latin typeface="Courier"/>
              </a:rPr>
              <a:t>=</a:t>
            </a:r>
            <a:r>
              <a:rPr>
                <a:latin typeface="Courier"/>
              </a:rPr>
              <a:t> np.sign(np.sin(t))</a:t>
            </a:r>
            <a:br/>
            <a:r>
              <a:rPr>
                <a:latin typeface="Courier"/>
              </a:rPr>
              <a:t>plt.plot(t, ideal_square, </a:t>
            </a:r>
            <a:r>
              <a:rPr>
                <a:solidFill>
                  <a:srgbClr val="4070A0"/>
                </a:solidFill>
                <a:latin typeface="Courier"/>
              </a:rPr>
              <a:t>'r--'</a:t>
            </a:r>
            <a:r>
              <a:rPr>
                <a:latin typeface="Courier"/>
              </a:rPr>
              <a:t>, alpha</a:t>
            </a:r>
            <a:r>
              <a:rPr>
                <a:solidFill>
                  <a:srgbClr val="666666"/>
                </a:solidFill>
                <a:latin typeface="Courier"/>
              </a:rPr>
              <a:t>=</a:t>
            </a:r>
            <a:r>
              <a:rPr>
                <a:solidFill>
                  <a:srgbClr val="40A070"/>
                </a:solidFill>
                <a:latin typeface="Courier"/>
              </a:rPr>
              <a:t>0.4</a:t>
            </a:r>
            <a:r>
              <a:rPr>
                <a:latin typeface="Courier"/>
              </a:rPr>
              <a:t>, label</a:t>
            </a:r>
            <a:r>
              <a:rPr>
                <a:solidFill>
                  <a:srgbClr val="666666"/>
                </a:solidFill>
                <a:latin typeface="Courier"/>
              </a:rPr>
              <a:t>=</a:t>
            </a:r>
            <a:r>
              <a:rPr>
                <a:solidFill>
                  <a:srgbClr val="4070A0"/>
                </a:solidFill>
                <a:latin typeface="Courier"/>
              </a:rPr>
              <a:t>'Ideal Square Wave'</a:t>
            </a:r>
            <a:r>
              <a:rPr>
                <a:latin typeface="Courier"/>
              </a:rPr>
              <a:t>)</a:t>
            </a:r>
            <a:br/>
            <a:br/>
            <a:r>
              <a:rPr>
                <a:latin typeface="Courier"/>
              </a:rPr>
              <a:t>plt.xlabel(</a:t>
            </a:r>
            <a:r>
              <a:rPr>
                <a:solidFill>
                  <a:srgbClr val="4070A0"/>
                </a:solidFill>
                <a:latin typeface="Courier"/>
              </a:rPr>
              <a:t>'Time'</a:t>
            </a:r>
            <a:r>
              <a:rPr>
                <a:latin typeface="Courier"/>
              </a:rPr>
              <a:t>)</a:t>
            </a:r>
            <a:br/>
            <a:r>
              <a:rPr>
                <a:latin typeface="Courier"/>
              </a:rPr>
              <a:t>plt.ylabel(</a:t>
            </a:r>
            <a:r>
              <a:rPr>
                <a:solidFill>
                  <a:srgbClr val="4070A0"/>
                </a:solidFill>
                <a:latin typeface="Courier"/>
              </a:rPr>
              <a:t>'Amplitude'</a:t>
            </a:r>
            <a:r>
              <a:rPr>
                <a:latin typeface="Courier"/>
              </a:rPr>
              <a:t>)</a:t>
            </a:r>
            <a:br/>
            <a:r>
              <a:rPr>
                <a:latin typeface="Courier"/>
              </a:rPr>
              <a:t>plt.legend(loc</a:t>
            </a:r>
            <a:r>
              <a:rPr>
                <a:solidFill>
                  <a:srgbClr val="666666"/>
                </a:solidFill>
                <a:latin typeface="Courier"/>
              </a:rPr>
              <a:t>=</a:t>
            </a:r>
            <a:r>
              <a:rPr>
                <a:solidFill>
                  <a:srgbClr val="4070A0"/>
                </a:solidFill>
                <a:latin typeface="Courier"/>
              </a:rPr>
              <a:t>'upper right'</a:t>
            </a:r>
            <a:r>
              <a:rPr>
                <a:latin typeface="Courier"/>
              </a:rPr>
              <a:t>)</a:t>
            </a:r>
            <a:br/>
            <a:r>
              <a:rPr>
                <a:latin typeface="Courier"/>
              </a:rPr>
              <a:t>plt.grid(</a:t>
            </a:r>
            <a:r>
              <a:rPr>
                <a:solidFill>
                  <a:srgbClr val="19177C"/>
                </a:solidFill>
                <a:latin typeface="Courier"/>
              </a:rPr>
              <a:t>True</a:t>
            </a:r>
            <a:r>
              <a:rPr>
                <a:latin typeface="Courier"/>
              </a:rPr>
              <a:t>, alpha</a:t>
            </a:r>
            <a:r>
              <a:rPr>
                <a:solidFill>
                  <a:srgbClr val="666666"/>
                </a:solidFill>
                <a:latin typeface="Courier"/>
              </a:rPr>
              <a:t>=</a:t>
            </a:r>
            <a:r>
              <a:rPr>
                <a:solidFill>
                  <a:srgbClr val="40A070"/>
                </a:solidFill>
                <a:latin typeface="Courier"/>
              </a:rPr>
              <a:t>0.3</a:t>
            </a:r>
            <a:r>
              <a:rPr>
                <a:latin typeface="Courier"/>
              </a:rPr>
              <a:t>)</a:t>
            </a:r>
            <a:br/>
            <a:br/>
            <a:r>
              <a:rPr>
                <a:latin typeface="Courier"/>
              </a:rPr>
              <a:t>plt.tight_layout()</a:t>
            </a:r>
            <a:br/>
            <a:r>
              <a:rPr>
                <a:latin typeface="Courier"/>
              </a:rPr>
              <a:t>plt.show()</a:t>
            </a:r>
          </a:p>
        </p:txBody>
      </p:sp>
      <p:pic>
        <p:nvPicPr>
          <p:cNvPr descr="Fourier_Transform_Lecture_files/figure-pptx/square_wave-3.png" id="0" name="Picture 1"/>
          <p:cNvPicPr>
            <a:picLocks noGrp="1" noChangeAspect="1"/>
          </p:cNvPicPr>
          <p:nvPr/>
        </p:nvPicPr>
        <p:blipFill>
          <a:blip r:embed="rId2"/>
          <a:stretch>
            <a:fillRect/>
          </a:stretch>
        </p:blipFill>
        <p:spPr bwMode="auto">
          <a:xfrm>
            <a:off x="3568700" y="685800"/>
            <a:ext cx="5105400" cy="34036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2: The Digital Domain &amp; FFT</a:t>
            </a:r>
          </a:p>
        </p:txBody>
      </p:sp>
      <p:sp>
        <p:nvSpPr>
          <p:cNvPr id="3" name="Content Placeholder 2"/>
          <p:cNvSpPr>
            <a:spLocks noGrp="1"/>
          </p:cNvSpPr>
          <p:nvPr>
            <p:ph idx="1"/>
          </p:nvPr>
        </p:nvSpPr>
        <p:spPr/>
        <p:txBody>
          <a:bodyPr/>
          <a:lstStyle/>
          <a:p>
            <a:pPr lvl="0" indent="0" marL="0">
              <a:spcBef>
                <a:spcPts val="3000"/>
              </a:spcBef>
              <a:buNone/>
            </a:pPr>
            <a:r>
              <a:rPr b="1"/>
              <a:t>Continuous to Discrete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Concept: Sampling</a:t>
                </a:r>
              </a:p>
              <a:p>
                <a:pPr lvl="0"/>
                <a:r>
                  <a:rPr/>
                  <a:t>Real life physics is continuous (analog).</a:t>
                </a:r>
              </a:p>
              <a:p>
                <a:pPr lvl="0"/>
                <a:r>
                  <a:rPr/>
                  <a:t>Computers and MRI scanners are discrete (digital).</a:t>
                </a:r>
              </a:p>
              <a:p>
                <a:pPr lvl="0"/>
                <a:r>
                  <a:rPr/>
                  <a:t>We cannot integrate from </a:t>
                </a:r>
                <a14:m>
                  <m:oMath xmlns:m="http://schemas.openxmlformats.org/officeDocument/2006/math">
                    <m:r>
                      <m:rPr>
                        <m:sty m:val="p"/>
                      </m:rPr>
                      <m:t>−</m:t>
                    </m:r>
                    <m:r>
                      <m:rPr>
                        <m:sty m:val="p"/>
                      </m:rPr>
                      <m:t>∞</m:t>
                    </m:r>
                  </m:oMath>
                </a14:m>
                <a:r>
                  <a:rPr/>
                  <a:t> to </a:t>
                </a:r>
                <a14:m>
                  <m:oMath xmlns:m="http://schemas.openxmlformats.org/officeDocument/2006/math">
                    <m:r>
                      <m:rPr>
                        <m:sty m:val="p"/>
                      </m:rPr>
                      <m:t>+</m:t>
                    </m:r>
                    <m:r>
                      <m:rPr>
                        <m:sty m:val="p"/>
                      </m:rPr>
                      <m:t>∞</m:t>
                    </m:r>
                  </m:oMath>
                </a14:m>
                <a:r>
                  <a:rPr/>
                  <a:t>. We must take snapshots (samples) at fixed intervals.</a:t>
                </a:r>
              </a:p>
            </p:txBody>
          </p:sp>
        </mc:Choice>
      </mc:AlternateContent>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Math: The Discrete Fourier Transform (DFT)</a:t>
                </a:r>
              </a:p>
              <a:p>
                <a:pPr lvl="0" indent="0" marL="0">
                  <a:buNone/>
                </a:pPr>
                <a14:m>
                  <m:oMathPara xmlns:m="http://schemas.openxmlformats.org/officeDocument/2006/math">
                    <m:oMathParaPr>
                      <m:jc m:val="center"/>
                    </m:oMathParaPr>
                    <m:oMath>
                      <m:sSub>
                        <m:e>
                          <m:r>
                            <m:t>X</m:t>
                          </m:r>
                        </m:e>
                        <m:sub>
                          <m:r>
                            <m:t>k</m:t>
                          </m:r>
                        </m:sub>
                      </m:sSub>
                      <m:r>
                        <m:rPr>
                          <m:sty m:val="p"/>
                        </m:rPr>
                        <m:t>=</m:t>
                      </m:r>
                      <m:nary>
                        <m:naryPr>
                          <m:chr m:val="∑"/>
                          <m:limLoc m:val="undOvr"/>
                          <m:subHide m:val="off"/>
                          <m:supHide m:val="off"/>
                        </m:naryPr>
                        <m:sub>
                          <m:r>
                            <m:t>n</m:t>
                          </m:r>
                          <m:r>
                            <m:rPr>
                              <m:sty m:val="p"/>
                            </m:rPr>
                            <m:t>=</m:t>
                          </m:r>
                          <m:r>
                            <m:t>0</m:t>
                          </m:r>
                        </m:sub>
                        <m:sup>
                          <m:r>
                            <m:t>N</m:t>
                          </m:r>
                          <m:r>
                            <m:rPr>
                              <m:sty m:val="p"/>
                            </m:rPr>
                            <m:t>−</m:t>
                          </m:r>
                          <m:r>
                            <m:t>1</m:t>
                          </m:r>
                        </m:sup>
                        <m:e>
                          <m:sSub>
                            <m:e>
                              <m:r>
                                <m:t>x</m:t>
                              </m:r>
                            </m:e>
                            <m:sub>
                              <m:r>
                                <m:t>n</m:t>
                              </m:r>
                            </m:sub>
                          </m:sSub>
                        </m:e>
                      </m:nary>
                      <m:sSup>
                        <m:e>
                          <m:r>
                            <m:t>e</m:t>
                          </m:r>
                        </m:e>
                        <m:sup>
                          <m:r>
                            <m:rPr>
                              <m:sty m:val="p"/>
                            </m:rPr>
                            <m:t>−</m:t>
                          </m:r>
                          <m:r>
                            <m:t>i</m:t>
                          </m:r>
                          <m:r>
                            <m:t>2</m:t>
                          </m:r>
                          <m:r>
                            <m:t>π</m:t>
                          </m:r>
                          <m:r>
                            <m:t>k</m:t>
                          </m:r>
                          <m:r>
                            <m:t>n</m:t>
                          </m:r>
                          <m:r>
                            <m:rPr>
                              <m:sty m:val="p"/>
                            </m:rPr>
                            <m:t>/</m:t>
                          </m:r>
                          <m:r>
                            <m:t>N</m:t>
                          </m:r>
                        </m:sup>
                      </m:sSup>
                    </m:oMath>
                  </m:oMathPara>
                </a14:m>
              </a:p>
            </p:txBody>
          </p:sp>
        </mc:Choice>
      </mc:AlternateContent>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Sampling and Aliasing</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Nyquist-Shannon Theorem</a:t>
                </a:r>
              </a:p>
              <a:p>
                <a:pPr lvl="0"/>
                <a:r>
                  <a:rPr/>
                  <a:t>To accurately digitize a signal of frequency </a:t>
                </a:r>
                <a14:m>
                  <m:oMath xmlns:m="http://schemas.openxmlformats.org/officeDocument/2006/math">
                    <m:r>
                      <m:t>f</m:t>
                    </m:r>
                  </m:oMath>
                </a14:m>
                <a:r>
                  <a:rPr/>
                  <a:t>, you must sample at a rate of at least </a:t>
                </a:r>
                <a14:m>
                  <m:oMath xmlns:m="http://schemas.openxmlformats.org/officeDocument/2006/math">
                    <m:r>
                      <m:t>2</m:t>
                    </m:r>
                    <m:r>
                      <m:t>f</m:t>
                    </m:r>
                  </m:oMath>
                </a14:m>
                <a:r>
                  <a:rPr/>
                  <a:t>.</a:t>
                </a:r>
              </a:p>
              <a:p>
                <a:pPr lvl="0"/>
                <a:r>
                  <a:rPr/>
                  <a:t>If you sample too slowly, high-frequency signals are misinterpreted as low-frequency signals. This is </a:t>
                </a:r>
                <a:r>
                  <a:rPr b="1"/>
                  <a:t>Aliasing</a:t>
                </a:r>
                <a:r>
                  <a:rPr/>
                  <a:t>.</a:t>
                </a:r>
              </a:p>
            </p:txBody>
          </p:sp>
        </mc:Choice>
      </mc:AlternateContent>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Python Code: The “Wagon Wheel” Effect (Aliasing)</a:t>
            </a:r>
          </a:p>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High-frequency signal</a:t>
            </a:r>
            <a:br/>
            <a:r>
              <a:rPr>
                <a:latin typeface="Courier"/>
              </a:rPr>
              <a:t>f_high </a:t>
            </a:r>
            <a:r>
              <a:rPr>
                <a:solidFill>
                  <a:srgbClr val="666666"/>
                </a:solidFill>
                <a:latin typeface="Courier"/>
              </a:rPr>
              <a:t>=</a:t>
            </a:r>
            <a:r>
              <a:rPr>
                <a:latin typeface="Courier"/>
              </a:rPr>
              <a:t> </a:t>
            </a:r>
            <a:r>
              <a:rPr>
                <a:solidFill>
                  <a:srgbClr val="40A070"/>
                </a:solidFill>
                <a:latin typeface="Courier"/>
              </a:rPr>
              <a:t>10</a:t>
            </a:r>
            <a:r>
              <a:rPr>
                <a:latin typeface="Courier"/>
              </a:rPr>
              <a:t>  </a:t>
            </a:r>
            <a:r>
              <a:rPr i="1">
                <a:solidFill>
                  <a:srgbClr val="60A0B0"/>
                </a:solidFill>
                <a:latin typeface="Courier"/>
              </a:rPr>
              <a:t># Hz</a:t>
            </a:r>
            <a:br/>
            <a:r>
              <a:rPr>
                <a:latin typeface="Courier"/>
              </a:rPr>
              <a:t>t_cont </a:t>
            </a:r>
            <a:r>
              <a:rPr>
                <a:solidFill>
                  <a:srgbClr val="666666"/>
                </a:solidFill>
                <a:latin typeface="Courier"/>
              </a:rPr>
              <a:t>=</a:t>
            </a:r>
            <a:r>
              <a:rPr>
                <a:latin typeface="Courier"/>
              </a:rPr>
              <a:t> np.linspace(</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40A070"/>
                </a:solidFill>
                <a:latin typeface="Courier"/>
              </a:rPr>
              <a:t>1000</a:t>
            </a:r>
            <a:r>
              <a:rPr>
                <a:latin typeface="Courier"/>
              </a:rPr>
              <a:t>)</a:t>
            </a:r>
            <a:br/>
            <a:r>
              <a:rPr>
                <a:latin typeface="Courier"/>
              </a:rPr>
              <a:t>signal_cont </a:t>
            </a:r>
            <a:r>
              <a:rPr>
                <a:solidFill>
                  <a:srgbClr val="666666"/>
                </a:solidFill>
                <a:latin typeface="Courier"/>
              </a:rPr>
              <a:t>=</a:t>
            </a:r>
            <a:r>
              <a:rPr>
                <a:latin typeface="Courier"/>
              </a:rPr>
              <a:t> np.sin(</a:t>
            </a:r>
            <a:r>
              <a:rPr>
                <a:solidFill>
                  <a:srgbClr val="40A070"/>
                </a:solidFill>
                <a:latin typeface="Courier"/>
              </a:rPr>
              <a:t>2</a:t>
            </a:r>
            <a:r>
              <a:rPr>
                <a:latin typeface="Courier"/>
              </a:rPr>
              <a:t> </a:t>
            </a:r>
            <a:r>
              <a:rPr>
                <a:solidFill>
                  <a:srgbClr val="666666"/>
                </a:solidFill>
                <a:latin typeface="Courier"/>
              </a:rPr>
              <a:t>*</a:t>
            </a:r>
            <a:r>
              <a:rPr>
                <a:latin typeface="Courier"/>
              </a:rPr>
              <a:t> np.pi </a:t>
            </a:r>
            <a:r>
              <a:rPr>
                <a:solidFill>
                  <a:srgbClr val="666666"/>
                </a:solidFill>
                <a:latin typeface="Courier"/>
              </a:rPr>
              <a:t>*</a:t>
            </a:r>
            <a:r>
              <a:rPr>
                <a:latin typeface="Courier"/>
              </a:rPr>
              <a:t> f_high </a:t>
            </a:r>
            <a:r>
              <a:rPr>
                <a:solidFill>
                  <a:srgbClr val="666666"/>
                </a:solidFill>
                <a:latin typeface="Courier"/>
              </a:rPr>
              <a:t>*</a:t>
            </a:r>
            <a:r>
              <a:rPr>
                <a:latin typeface="Courier"/>
              </a:rPr>
              <a:t> t_cont)</a:t>
            </a:r>
            <a:br/>
            <a:br/>
            <a:r>
              <a:rPr i="1">
                <a:solidFill>
                  <a:srgbClr val="60A0B0"/>
                </a:solidFill>
                <a:latin typeface="Courier"/>
              </a:rPr>
              <a:t># Undersampling</a:t>
            </a:r>
            <a:br/>
            <a:r>
              <a:rPr>
                <a:latin typeface="Courier"/>
              </a:rPr>
              <a:t>fs_bad </a:t>
            </a:r>
            <a:r>
              <a:rPr>
                <a:solidFill>
                  <a:srgbClr val="666666"/>
                </a:solidFill>
                <a:latin typeface="Courier"/>
              </a:rPr>
              <a:t>=</a:t>
            </a:r>
            <a:r>
              <a:rPr>
                <a:latin typeface="Courier"/>
              </a:rPr>
              <a:t> </a:t>
            </a:r>
            <a:r>
              <a:rPr>
                <a:solidFill>
                  <a:srgbClr val="40A070"/>
                </a:solidFill>
                <a:latin typeface="Courier"/>
              </a:rPr>
              <a:t>12</a:t>
            </a:r>
            <a:r>
              <a:rPr>
                <a:latin typeface="Courier"/>
              </a:rPr>
              <a:t>  </a:t>
            </a:r>
            <a:r>
              <a:rPr i="1">
                <a:solidFill>
                  <a:srgbClr val="60A0B0"/>
                </a:solidFill>
                <a:latin typeface="Courier"/>
              </a:rPr>
              <a:t># Sampling freq &lt; 2 * f_high</a:t>
            </a:r>
            <a:br/>
            <a:r>
              <a:rPr>
                <a:latin typeface="Courier"/>
              </a:rPr>
              <a:t>t_bad </a:t>
            </a:r>
            <a:r>
              <a:rPr>
                <a:solidFill>
                  <a:srgbClr val="666666"/>
                </a:solidFill>
                <a:latin typeface="Courier"/>
              </a:rPr>
              <a:t>=</a:t>
            </a:r>
            <a:r>
              <a:rPr>
                <a:latin typeface="Courier"/>
              </a:rPr>
              <a:t> np.arange(</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40A070"/>
                </a:solidFill>
                <a:latin typeface="Courier"/>
              </a:rPr>
              <a:t>1</a:t>
            </a:r>
            <a:r>
              <a:rPr>
                <a:solidFill>
                  <a:srgbClr val="666666"/>
                </a:solidFill>
                <a:latin typeface="Courier"/>
              </a:rPr>
              <a:t>/</a:t>
            </a:r>
            <a:r>
              <a:rPr>
                <a:latin typeface="Courier"/>
              </a:rPr>
              <a:t>fs_bad)</a:t>
            </a:r>
            <a:br/>
            <a:r>
              <a:rPr>
                <a:latin typeface="Courier"/>
              </a:rPr>
              <a:t>signal_bad </a:t>
            </a:r>
            <a:r>
              <a:rPr>
                <a:solidFill>
                  <a:srgbClr val="666666"/>
                </a:solidFill>
                <a:latin typeface="Courier"/>
              </a:rPr>
              <a:t>=</a:t>
            </a:r>
            <a:r>
              <a:rPr>
                <a:latin typeface="Courier"/>
              </a:rPr>
              <a:t> np.sin(</a:t>
            </a:r>
            <a:r>
              <a:rPr>
                <a:solidFill>
                  <a:srgbClr val="40A070"/>
                </a:solidFill>
                <a:latin typeface="Courier"/>
              </a:rPr>
              <a:t>2</a:t>
            </a:r>
            <a:r>
              <a:rPr>
                <a:latin typeface="Courier"/>
              </a:rPr>
              <a:t> </a:t>
            </a:r>
            <a:r>
              <a:rPr>
                <a:solidFill>
                  <a:srgbClr val="666666"/>
                </a:solidFill>
                <a:latin typeface="Courier"/>
              </a:rPr>
              <a:t>*</a:t>
            </a:r>
            <a:r>
              <a:rPr>
                <a:latin typeface="Courier"/>
              </a:rPr>
              <a:t> np.pi </a:t>
            </a:r>
            <a:r>
              <a:rPr>
                <a:solidFill>
                  <a:srgbClr val="666666"/>
                </a:solidFill>
                <a:latin typeface="Courier"/>
              </a:rPr>
              <a:t>*</a:t>
            </a:r>
            <a:r>
              <a:rPr>
                <a:latin typeface="Courier"/>
              </a:rPr>
              <a:t> f_high </a:t>
            </a:r>
            <a:r>
              <a:rPr>
                <a:solidFill>
                  <a:srgbClr val="666666"/>
                </a:solidFill>
                <a:latin typeface="Courier"/>
              </a:rPr>
              <a:t>*</a:t>
            </a:r>
            <a:r>
              <a:rPr>
                <a:latin typeface="Courier"/>
              </a:rPr>
              <a:t> t_bad)</a:t>
            </a:r>
            <a:br/>
            <a:br/>
            <a:r>
              <a:rPr i="1">
                <a:solidFill>
                  <a:srgbClr val="60A0B0"/>
                </a:solidFill>
                <a:latin typeface="Courier"/>
              </a:rPr>
              <a:t># Aliased frequency</a:t>
            </a:r>
            <a:br/>
            <a:r>
              <a:rPr>
                <a:latin typeface="Courier"/>
              </a:rPr>
              <a:t>f_alias </a:t>
            </a:r>
            <a:r>
              <a:rPr>
                <a:solidFill>
                  <a:srgbClr val="666666"/>
                </a:solidFill>
                <a:latin typeface="Courier"/>
              </a:rPr>
              <a:t>=</a:t>
            </a:r>
            <a:r>
              <a:rPr>
                <a:latin typeface="Courier"/>
              </a:rPr>
              <a:t> </a:t>
            </a:r>
            <a:r>
              <a:rPr>
                <a:solidFill>
                  <a:srgbClr val="008000"/>
                </a:solidFill>
                <a:latin typeface="Courier"/>
              </a:rPr>
              <a:t>abs</a:t>
            </a:r>
            <a:r>
              <a:rPr>
                <a:latin typeface="Courier"/>
              </a:rPr>
              <a:t>(f_high </a:t>
            </a:r>
            <a:r>
              <a:rPr>
                <a:solidFill>
                  <a:srgbClr val="666666"/>
                </a:solidFill>
                <a:latin typeface="Courier"/>
              </a:rPr>
              <a:t>-</a:t>
            </a:r>
            <a:r>
              <a:rPr>
                <a:latin typeface="Courier"/>
              </a:rPr>
              <a:t> fs_bad)</a:t>
            </a:r>
            <a:br/>
            <a:r>
              <a:rPr>
                <a:latin typeface="Courier"/>
              </a:rPr>
              <a:t>signal_alias </a:t>
            </a:r>
            <a:r>
              <a:rPr>
                <a:solidFill>
                  <a:srgbClr val="666666"/>
                </a:solidFill>
                <a:latin typeface="Courier"/>
              </a:rPr>
              <a:t>=</a:t>
            </a:r>
            <a:r>
              <a:rPr>
                <a:latin typeface="Courier"/>
              </a:rPr>
              <a:t> np.sin(</a:t>
            </a:r>
            <a:r>
              <a:rPr>
                <a:solidFill>
                  <a:srgbClr val="40A070"/>
                </a:solidFill>
                <a:latin typeface="Courier"/>
              </a:rPr>
              <a:t>2</a:t>
            </a:r>
            <a:r>
              <a:rPr>
                <a:latin typeface="Courier"/>
              </a:rPr>
              <a:t> </a:t>
            </a:r>
            <a:r>
              <a:rPr>
                <a:solidFill>
                  <a:srgbClr val="666666"/>
                </a:solidFill>
                <a:latin typeface="Courier"/>
              </a:rPr>
              <a:t>*</a:t>
            </a:r>
            <a:r>
              <a:rPr>
                <a:latin typeface="Courier"/>
              </a:rPr>
              <a:t> np.pi </a:t>
            </a:r>
            <a:r>
              <a:rPr>
                <a:solidFill>
                  <a:srgbClr val="666666"/>
                </a:solidFill>
                <a:latin typeface="Courier"/>
              </a:rPr>
              <a:t>*</a:t>
            </a:r>
            <a:r>
              <a:rPr>
                <a:latin typeface="Courier"/>
              </a:rPr>
              <a:t> f_alias </a:t>
            </a:r>
            <a:r>
              <a:rPr>
                <a:solidFill>
                  <a:srgbClr val="666666"/>
                </a:solidFill>
                <a:latin typeface="Courier"/>
              </a:rPr>
              <a:t>*</a:t>
            </a:r>
            <a:r>
              <a:rPr>
                <a:latin typeface="Courier"/>
              </a:rPr>
              <a:t> t_cont)</a:t>
            </a:r>
            <a:br/>
            <a:br/>
            <a:r>
              <a:rPr i="1">
                <a:solidFill>
                  <a:srgbClr val="60A0B0"/>
                </a:solidFill>
                <a:latin typeface="Courier"/>
              </a:rPr>
              <a:t># Plotting</a:t>
            </a:r>
            <a:br/>
            <a:r>
              <a:rPr>
                <a:latin typeface="Courier"/>
              </a:rPr>
              <a:t>plt.figure(figsize</a:t>
            </a:r>
            <a:r>
              <a:rPr>
                <a:solidFill>
                  <a:srgbClr val="666666"/>
                </a:solidFill>
                <a:latin typeface="Courier"/>
              </a:rPr>
              <a:t>=</a:t>
            </a:r>
            <a:r>
              <a:rPr>
                <a:latin typeface="Courier"/>
              </a:rPr>
              <a:t>(</a:t>
            </a:r>
            <a:r>
              <a:rPr>
                <a:solidFill>
                  <a:srgbClr val="40A070"/>
                </a:solidFill>
                <a:latin typeface="Courier"/>
              </a:rPr>
              <a:t>12</a:t>
            </a:r>
            <a:r>
              <a:rPr>
                <a:latin typeface="Courier"/>
              </a:rPr>
              <a:t>, </a:t>
            </a:r>
            <a:r>
              <a:rPr>
                <a:solidFill>
                  <a:srgbClr val="40A070"/>
                </a:solidFill>
                <a:latin typeface="Courier"/>
              </a:rPr>
              <a:t>6</a:t>
            </a:r>
            <a:r>
              <a:rPr>
                <a:latin typeface="Courier"/>
              </a:rPr>
              <a:t>))</a:t>
            </a:r>
            <a:br/>
            <a:r>
              <a:rPr>
                <a:latin typeface="Courier"/>
              </a:rPr>
              <a:t>plt.plot(t_cont, signal_cont, </a:t>
            </a:r>
            <a:r>
              <a:rPr>
                <a:solidFill>
                  <a:srgbClr val="4070A0"/>
                </a:solidFill>
                <a:latin typeface="Courier"/>
              </a:rPr>
              <a:t>'k--'</a:t>
            </a:r>
            <a:r>
              <a:rPr>
                <a:latin typeface="Courier"/>
              </a:rPr>
              <a:t>, label</a:t>
            </a:r>
            <a:r>
              <a:rPr>
                <a:solidFill>
                  <a:srgbClr val="666666"/>
                </a:solidFill>
                <a:latin typeface="Courier"/>
              </a:rPr>
              <a:t>=</a:t>
            </a:r>
            <a:r>
              <a:rPr>
                <a:solidFill>
                  <a:srgbClr val="BB6688"/>
                </a:solidFill>
                <a:latin typeface="Courier"/>
              </a:rPr>
              <a:t>f'Original Signal (</a:t>
            </a:r>
            <a:r>
              <a:rPr>
                <a:solidFill>
                  <a:srgbClr val="4070A0"/>
                </a:solidFill>
                <a:latin typeface="Courier"/>
              </a:rPr>
              <a:t>{</a:t>
            </a:r>
            <a:r>
              <a:rPr>
                <a:latin typeface="Courier"/>
              </a:rPr>
              <a:t>f_high</a:t>
            </a:r>
            <a:r>
              <a:rPr>
                <a:solidFill>
                  <a:srgbClr val="4070A0"/>
                </a:solidFill>
                <a:latin typeface="Courier"/>
              </a:rPr>
              <a:t>}</a:t>
            </a:r>
            <a:r>
              <a:rPr>
                <a:solidFill>
                  <a:srgbClr val="BB6688"/>
                </a:solidFill>
                <a:latin typeface="Courier"/>
              </a:rPr>
              <a:t> Hz)'</a:t>
            </a:r>
            <a:r>
              <a:rPr>
                <a:latin typeface="Courier"/>
              </a:rPr>
              <a:t>, alpha</a:t>
            </a:r>
            <a:r>
              <a:rPr>
                <a:solidFill>
                  <a:srgbClr val="666666"/>
                </a:solidFill>
                <a:latin typeface="Courier"/>
              </a:rPr>
              <a:t>=</a:t>
            </a:r>
            <a:r>
              <a:rPr>
                <a:solidFill>
                  <a:srgbClr val="40A070"/>
                </a:solidFill>
                <a:latin typeface="Courier"/>
              </a:rPr>
              <a:t>0.5</a:t>
            </a:r>
            <a:r>
              <a:rPr>
                <a:latin typeface="Courier"/>
              </a:rPr>
              <a:t>)</a:t>
            </a:r>
            <a:br/>
            <a:r>
              <a:rPr>
                <a:latin typeface="Courier"/>
              </a:rPr>
              <a:t>plt.plot(t_cont, signal_alias, </a:t>
            </a:r>
            <a:r>
              <a:rPr>
                <a:solidFill>
                  <a:srgbClr val="4070A0"/>
                </a:solidFill>
                <a:latin typeface="Courier"/>
              </a:rPr>
              <a:t>'b-'</a:t>
            </a:r>
            <a:r>
              <a:rPr>
                <a:latin typeface="Courier"/>
              </a:rPr>
              <a:t>, label</a:t>
            </a:r>
            <a:r>
              <a:rPr>
                <a:solidFill>
                  <a:srgbClr val="666666"/>
                </a:solidFill>
                <a:latin typeface="Courier"/>
              </a:rPr>
              <a:t>=</a:t>
            </a:r>
            <a:r>
              <a:rPr>
                <a:solidFill>
                  <a:srgbClr val="BB6688"/>
                </a:solidFill>
                <a:latin typeface="Courier"/>
              </a:rPr>
              <a:t>f'Aliased Signal (</a:t>
            </a:r>
            <a:r>
              <a:rPr>
                <a:solidFill>
                  <a:srgbClr val="4070A0"/>
                </a:solidFill>
                <a:latin typeface="Courier"/>
              </a:rPr>
              <a:t>{</a:t>
            </a:r>
            <a:r>
              <a:rPr>
                <a:latin typeface="Courier"/>
              </a:rPr>
              <a:t>f_alias</a:t>
            </a:r>
            <a:r>
              <a:rPr>
                <a:solidFill>
                  <a:srgbClr val="4070A0"/>
                </a:solidFill>
                <a:latin typeface="Courier"/>
              </a:rPr>
              <a:t>}</a:t>
            </a:r>
            <a:r>
              <a:rPr>
                <a:solidFill>
                  <a:srgbClr val="BB6688"/>
                </a:solidFill>
                <a:latin typeface="Courier"/>
              </a:rPr>
              <a:t> Hz)'</a:t>
            </a:r>
            <a:r>
              <a:rPr>
                <a:latin typeface="Courier"/>
              </a:rPr>
              <a:t>)</a:t>
            </a:r>
            <a:br/>
            <a:r>
              <a:rPr>
                <a:latin typeface="Courier"/>
              </a:rPr>
              <a:t>plt.plot(t_bad, signal_bad, </a:t>
            </a:r>
            <a:r>
              <a:rPr>
                <a:solidFill>
                  <a:srgbClr val="4070A0"/>
                </a:solidFill>
                <a:latin typeface="Courier"/>
              </a:rPr>
              <a:t>'ro'</a:t>
            </a:r>
            <a:r>
              <a:rPr>
                <a:latin typeface="Courier"/>
              </a:rPr>
              <a:t>, label</a:t>
            </a:r>
            <a:r>
              <a:rPr>
                <a:solidFill>
                  <a:srgbClr val="666666"/>
                </a:solidFill>
                <a:latin typeface="Courier"/>
              </a:rPr>
              <a:t>=</a:t>
            </a:r>
            <a:r>
              <a:rPr>
                <a:solidFill>
                  <a:srgbClr val="BB6688"/>
                </a:solidFill>
                <a:latin typeface="Courier"/>
              </a:rPr>
              <a:t>f'Samples (at </a:t>
            </a:r>
            <a:r>
              <a:rPr>
                <a:solidFill>
                  <a:srgbClr val="4070A0"/>
                </a:solidFill>
                <a:latin typeface="Courier"/>
              </a:rPr>
              <a:t>{</a:t>
            </a:r>
            <a:r>
              <a:rPr>
                <a:latin typeface="Courier"/>
              </a:rPr>
              <a:t>fs_bad</a:t>
            </a:r>
            <a:r>
              <a:rPr>
                <a:solidFill>
                  <a:srgbClr val="4070A0"/>
                </a:solidFill>
                <a:latin typeface="Courier"/>
              </a:rPr>
              <a:t>}</a:t>
            </a:r>
            <a:r>
              <a:rPr>
                <a:solidFill>
                  <a:srgbClr val="BB6688"/>
                </a:solidFill>
                <a:latin typeface="Courier"/>
              </a:rPr>
              <a:t> Hz)'</a:t>
            </a:r>
            <a:r>
              <a:rPr>
                <a:latin typeface="Courier"/>
              </a:rPr>
              <a:t>)</a:t>
            </a:r>
            <a:br/>
            <a:r>
              <a:rPr>
                <a:latin typeface="Courier"/>
              </a:rPr>
              <a:t>plt.title(</a:t>
            </a:r>
            <a:r>
              <a:rPr>
                <a:solidFill>
                  <a:srgbClr val="4070A0"/>
                </a:solidFill>
                <a:latin typeface="Courier"/>
              </a:rPr>
              <a:t>'Aliasing: The Wagon Wheel Effect'</a:t>
            </a:r>
            <a:r>
              <a:rPr>
                <a:latin typeface="Courier"/>
              </a:rPr>
              <a:t>)</a:t>
            </a:r>
            <a:br/>
            <a:r>
              <a:rPr>
                <a:latin typeface="Courier"/>
              </a:rPr>
              <a:t>plt.xlabel(</a:t>
            </a:r>
            <a:r>
              <a:rPr>
                <a:solidFill>
                  <a:srgbClr val="4070A0"/>
                </a:solidFill>
                <a:latin typeface="Courier"/>
              </a:rPr>
              <a:t>'Time (s)'</a:t>
            </a:r>
            <a:r>
              <a:rPr>
                <a:latin typeface="Courier"/>
              </a:rPr>
              <a:t>)</a:t>
            </a:r>
            <a:br/>
            <a:r>
              <a:rPr>
                <a:latin typeface="Courier"/>
              </a:rPr>
              <a:t>plt.ylabel(</a:t>
            </a:r>
            <a:r>
              <a:rPr>
                <a:solidFill>
                  <a:srgbClr val="4070A0"/>
                </a:solidFill>
                <a:latin typeface="Courier"/>
              </a:rPr>
              <a:t>'Amplitude'</a:t>
            </a:r>
            <a:r>
              <a:rPr>
                <a:latin typeface="Courier"/>
              </a:rPr>
              <a:t>)</a:t>
            </a:r>
            <a:br/>
            <a:r>
              <a:rPr>
                <a:latin typeface="Courier"/>
              </a:rPr>
              <a:t>plt.legend()</a:t>
            </a:r>
            <a:br/>
            <a:r>
              <a:rPr>
                <a:latin typeface="Courier"/>
              </a:rPr>
              <a:t>plt.grid(</a:t>
            </a:r>
            <a:r>
              <a:rPr>
                <a:solidFill>
                  <a:srgbClr val="19177C"/>
                </a:solidFill>
                <a:latin typeface="Courier"/>
              </a:rPr>
              <a:t>True</a:t>
            </a:r>
            <a:r>
              <a:rPr>
                <a:latin typeface="Courier"/>
              </a:rPr>
              <a:t>)</a:t>
            </a:r>
            <a:br/>
            <a:r>
              <a:rPr>
                <a:latin typeface="Courier"/>
              </a:rPr>
              <a:t>plt.show()</a:t>
            </a:r>
          </a:p>
        </p:txBody>
      </p:sp>
      <p:pic>
        <p:nvPicPr>
          <p:cNvPr descr="Fourier_Transform_Lecture_files/figure-pptx/aliasing_effect-5.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Fast Fourier Transform (FFT)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Concept: An Efficient Algorithm</a:t>
                </a:r>
              </a:p>
              <a:p>
                <a:pPr lvl="0"/>
                <a:r>
                  <a:rPr/>
                  <a:t>The FFT is not a new concept; it is an efficient algorithm for calculating the DFT.</a:t>
                </a:r>
              </a:p>
              <a:p>
                <a:pPr lvl="0"/>
                <a:r>
                  <a:rPr/>
                  <a:t>Naive DFT: Complexity </a:t>
                </a:r>
                <a14:m>
                  <m:oMath xmlns:m="http://schemas.openxmlformats.org/officeDocument/2006/math">
                    <m:r>
                      <m:t>O</m:t>
                    </m:r>
                    <m:d>
                      <m:dPr>
                        <m:begChr m:val="("/>
                        <m:endChr m:val=")"/>
                        <m:sepChr m:val=""/>
                        <m:grow/>
                      </m:dPr>
                      <m:e>
                        <m:sSup>
                          <m:e>
                            <m:r>
                              <m:t>N</m:t>
                            </m:r>
                          </m:e>
                          <m:sup>
                            <m:r>
                              <m:t>2</m:t>
                            </m:r>
                          </m:sup>
                        </m:sSup>
                      </m:e>
                    </m:d>
                  </m:oMath>
                </a14:m>
                <a:r>
                  <a:rPr/>
                  <a:t>.</a:t>
                </a:r>
              </a:p>
              <a:p>
                <a:pPr lvl="0"/>
                <a:r>
                  <a:rPr/>
                  <a:t>FFT: Complexity </a:t>
                </a:r>
                <a14:m>
                  <m:oMath xmlns:m="http://schemas.openxmlformats.org/officeDocument/2006/math">
                    <m:r>
                      <m:t>O</m:t>
                    </m:r>
                    <m:d>
                      <m:dPr>
                        <m:begChr m:val="("/>
                        <m:endChr m:val=")"/>
                        <m:sepChr m:val=""/>
                        <m:grow/>
                      </m:dPr>
                      <m:e>
                        <m:r>
                          <m:t>N</m:t>
                        </m:r>
                        <m:r>
                          <m:rPr>
                            <m:sty m:val="p"/>
                          </m:rPr>
                          <m:t>log</m:t>
                        </m:r>
                        <m:r>
                          <m:t>N</m:t>
                        </m:r>
                      </m:e>
                    </m:d>
                  </m:oMath>
                </a14:m>
                <a:r>
                  <a:rPr/>
                  <a:t>.</a:t>
                </a:r>
              </a:p>
              <a:p>
                <a:pPr lvl="0"/>
                <a:r>
                  <a:rPr/>
                  <a:t>This speed difference makes real-time MRI possible.</a:t>
                </a:r>
              </a:p>
            </p:txBody>
          </p:sp>
        </mc:Choice>
      </mc:AlternateContent>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3: Higher Dimensions &amp; K-Space</a:t>
            </a:r>
          </a:p>
        </p:txBody>
      </p:sp>
      <p:sp>
        <p:nvSpPr>
          <p:cNvPr id="3" name="Content Placeholder 2"/>
          <p:cNvSpPr>
            <a:spLocks noGrp="1"/>
          </p:cNvSpPr>
          <p:nvPr>
            <p:ph idx="1"/>
          </p:nvPr>
        </p:nvSpPr>
        <p:spPr/>
        <p:txBody>
          <a:bodyPr/>
          <a:lstStyle/>
          <a:p>
            <a:pPr lvl="0" indent="0" marL="0">
              <a:spcBef>
                <a:spcPts val="3000"/>
              </a:spcBef>
              <a:buNone/>
            </a:pPr>
            <a:r>
              <a:rPr b="1"/>
              <a:t>The Leap to 2D</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Concept: 2D Waves</a:t>
            </a:r>
          </a:p>
          <a:p>
            <a:pPr lvl="0"/>
            <a:r>
              <a:rPr/>
              <a:t>A 1D signal is a ripple on a string.</a:t>
            </a:r>
          </a:p>
          <a:p>
            <a:pPr lvl="0"/>
            <a:r>
              <a:rPr/>
              <a:t>A 2D signal is a “corrugated sheet” or a pattern of stripes.</a:t>
            </a:r>
          </a:p>
          <a:p>
            <a:pPr lvl="0"/>
            <a:r>
              <a:rPr/>
              <a:t>It has three properties:</a:t>
            </a:r>
          </a:p>
          <a:p>
            <a:pPr lvl="1"/>
            <a:r>
              <a:rPr b="1"/>
              <a:t>Amplitude:</a:t>
            </a:r>
            <a:r>
              <a:rPr/>
              <a:t> How bright the stripes are.</a:t>
            </a:r>
          </a:p>
          <a:p>
            <a:pPr lvl="1"/>
            <a:r>
              <a:rPr b="1"/>
              <a:t>Frequency:</a:t>
            </a:r>
            <a:r>
              <a:rPr/>
              <a:t> How close the stripes are packed.</a:t>
            </a:r>
          </a:p>
          <a:p>
            <a:pPr lvl="1"/>
            <a:r>
              <a:rPr b="1"/>
              <a:t>Orientation:</a:t>
            </a:r>
            <a:r>
              <a:rPr/>
              <a:t> The angle of the stripes.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Python Code: 2D Sine Waves (“Gratings”)</a:t>
            </a:r>
          </a:p>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Grid</a:t>
            </a:r>
            <a:br/>
            <a:r>
              <a:rPr>
                <a:latin typeface="Courier"/>
              </a:rPr>
              <a:t>x </a:t>
            </a:r>
            <a:r>
              <a:rPr>
                <a:solidFill>
                  <a:srgbClr val="666666"/>
                </a:solidFill>
                <a:latin typeface="Courier"/>
              </a:rPr>
              <a:t>=</a:t>
            </a:r>
            <a:r>
              <a:rPr>
                <a:latin typeface="Courier"/>
              </a:rPr>
              <a:t> np.linspace(</a:t>
            </a:r>
            <a:r>
              <a:rPr>
                <a:solidFill>
                  <a:srgbClr val="666666"/>
                </a:solidFill>
                <a:latin typeface="Courier"/>
              </a:rPr>
              <a:t>-</a:t>
            </a:r>
            <a:r>
              <a:rPr>
                <a:latin typeface="Courier"/>
              </a:rPr>
              <a:t>np.pi, np.pi, </a:t>
            </a:r>
            <a:r>
              <a:rPr>
                <a:solidFill>
                  <a:srgbClr val="40A070"/>
                </a:solidFill>
                <a:latin typeface="Courier"/>
              </a:rPr>
              <a:t>256</a:t>
            </a:r>
            <a:r>
              <a:rPr>
                <a:latin typeface="Courier"/>
              </a:rPr>
              <a:t>)</a:t>
            </a:r>
            <a:br/>
            <a:r>
              <a:rPr>
                <a:latin typeface="Courier"/>
              </a:rPr>
              <a:t>y </a:t>
            </a:r>
            <a:r>
              <a:rPr>
                <a:solidFill>
                  <a:srgbClr val="666666"/>
                </a:solidFill>
                <a:latin typeface="Courier"/>
              </a:rPr>
              <a:t>=</a:t>
            </a:r>
            <a:r>
              <a:rPr>
                <a:latin typeface="Courier"/>
              </a:rPr>
              <a:t> np.linspace(</a:t>
            </a:r>
            <a:r>
              <a:rPr>
                <a:solidFill>
                  <a:srgbClr val="666666"/>
                </a:solidFill>
                <a:latin typeface="Courier"/>
              </a:rPr>
              <a:t>-</a:t>
            </a:r>
            <a:r>
              <a:rPr>
                <a:latin typeface="Courier"/>
              </a:rPr>
              <a:t>np.pi, np.pi, </a:t>
            </a:r>
            <a:r>
              <a:rPr>
                <a:solidFill>
                  <a:srgbClr val="40A070"/>
                </a:solidFill>
                <a:latin typeface="Courier"/>
              </a:rPr>
              <a:t>256</a:t>
            </a:r>
            <a:r>
              <a:rPr>
                <a:latin typeface="Courier"/>
              </a:rPr>
              <a:t>)</a:t>
            </a:r>
            <a:br/>
            <a:r>
              <a:rPr>
                <a:latin typeface="Courier"/>
              </a:rPr>
              <a:t>X, Y </a:t>
            </a:r>
            <a:r>
              <a:rPr>
                <a:solidFill>
                  <a:srgbClr val="666666"/>
                </a:solidFill>
                <a:latin typeface="Courier"/>
              </a:rPr>
              <a:t>=</a:t>
            </a:r>
            <a:r>
              <a:rPr>
                <a:latin typeface="Courier"/>
              </a:rPr>
              <a:t> np.meshgrid(x, y)</a:t>
            </a:r>
            <a:br/>
            <a:br/>
            <a:r>
              <a:rPr i="1">
                <a:solidFill>
                  <a:srgbClr val="60A0B0"/>
                </a:solidFill>
                <a:latin typeface="Courier"/>
              </a:rPr>
              <a:t># Gratings</a:t>
            </a:r>
            <a:br/>
            <a:r>
              <a:rPr i="1">
                <a:solidFill>
                  <a:srgbClr val="60A0B0"/>
                </a:solidFill>
                <a:latin typeface="Courier"/>
              </a:rPr>
              <a:t># A: Low frequency, x-direction</a:t>
            </a:r>
            <a:br/>
            <a:r>
              <a:rPr>
                <a:latin typeface="Courier"/>
              </a:rPr>
              <a:t>grating_A </a:t>
            </a:r>
            <a:r>
              <a:rPr>
                <a:solidFill>
                  <a:srgbClr val="666666"/>
                </a:solidFill>
                <a:latin typeface="Courier"/>
              </a:rPr>
              <a:t>=</a:t>
            </a:r>
            <a:r>
              <a:rPr>
                <a:latin typeface="Courier"/>
              </a:rPr>
              <a:t> np.sin(</a:t>
            </a:r>
            <a:r>
              <a:rPr>
                <a:solidFill>
                  <a:srgbClr val="40A070"/>
                </a:solidFill>
                <a:latin typeface="Courier"/>
              </a:rPr>
              <a:t>2</a:t>
            </a:r>
            <a:r>
              <a:rPr>
                <a:latin typeface="Courier"/>
              </a:rPr>
              <a:t> </a:t>
            </a:r>
            <a:r>
              <a:rPr>
                <a:solidFill>
                  <a:srgbClr val="666666"/>
                </a:solidFill>
                <a:latin typeface="Courier"/>
              </a:rPr>
              <a:t>*</a:t>
            </a:r>
            <a:r>
              <a:rPr>
                <a:latin typeface="Courier"/>
              </a:rPr>
              <a:t> X)</a:t>
            </a:r>
            <a:br/>
            <a:r>
              <a:rPr i="1">
                <a:solidFill>
                  <a:srgbClr val="60A0B0"/>
                </a:solidFill>
                <a:latin typeface="Courier"/>
              </a:rPr>
              <a:t># B: High frequency, y-direction</a:t>
            </a:r>
            <a:br/>
            <a:r>
              <a:rPr>
                <a:latin typeface="Courier"/>
              </a:rPr>
              <a:t>grating_B </a:t>
            </a:r>
            <a:r>
              <a:rPr>
                <a:solidFill>
                  <a:srgbClr val="666666"/>
                </a:solidFill>
                <a:latin typeface="Courier"/>
              </a:rPr>
              <a:t>=</a:t>
            </a:r>
            <a:r>
              <a:rPr>
                <a:latin typeface="Courier"/>
              </a:rPr>
              <a:t> np.sin(</a:t>
            </a:r>
            <a:r>
              <a:rPr>
                <a:solidFill>
                  <a:srgbClr val="40A070"/>
                </a:solidFill>
                <a:latin typeface="Courier"/>
              </a:rPr>
              <a:t>8</a:t>
            </a:r>
            <a:r>
              <a:rPr>
                <a:latin typeface="Courier"/>
              </a:rPr>
              <a:t> </a:t>
            </a:r>
            <a:r>
              <a:rPr>
                <a:solidFill>
                  <a:srgbClr val="666666"/>
                </a:solidFill>
                <a:latin typeface="Courier"/>
              </a:rPr>
              <a:t>*</a:t>
            </a:r>
            <a:r>
              <a:rPr>
                <a:latin typeface="Courier"/>
              </a:rPr>
              <a:t> Y)</a:t>
            </a:r>
            <a:br/>
            <a:r>
              <a:rPr i="1">
                <a:solidFill>
                  <a:srgbClr val="60A0B0"/>
                </a:solidFill>
                <a:latin typeface="Courier"/>
              </a:rPr>
              <a:t># C: Diagonal</a:t>
            </a:r>
            <a:br/>
            <a:r>
              <a:rPr>
                <a:latin typeface="Courier"/>
              </a:rPr>
              <a:t>grating_C </a:t>
            </a:r>
            <a:r>
              <a:rPr>
                <a:solidFill>
                  <a:srgbClr val="666666"/>
                </a:solidFill>
                <a:latin typeface="Courier"/>
              </a:rPr>
              <a:t>=</a:t>
            </a:r>
            <a:r>
              <a:rPr>
                <a:latin typeface="Courier"/>
              </a:rPr>
              <a:t> np.sin(</a:t>
            </a:r>
            <a:r>
              <a:rPr>
                <a:solidFill>
                  <a:srgbClr val="40A070"/>
                </a:solidFill>
                <a:latin typeface="Courier"/>
              </a:rPr>
              <a:t>4</a:t>
            </a:r>
            <a:r>
              <a:rPr>
                <a:latin typeface="Courier"/>
              </a:rPr>
              <a:t> </a:t>
            </a:r>
            <a:r>
              <a:rPr>
                <a:solidFill>
                  <a:srgbClr val="666666"/>
                </a:solidFill>
                <a:latin typeface="Courier"/>
              </a:rPr>
              <a:t>*</a:t>
            </a:r>
            <a:r>
              <a:rPr>
                <a:latin typeface="Courier"/>
              </a:rPr>
              <a:t> X </a:t>
            </a:r>
            <a:r>
              <a:rPr>
                <a:solidFill>
                  <a:srgbClr val="666666"/>
                </a:solidFill>
                <a:latin typeface="Courier"/>
              </a:rPr>
              <a:t>+</a:t>
            </a:r>
            <a:r>
              <a:rPr>
                <a:latin typeface="Courier"/>
              </a:rPr>
              <a:t> </a:t>
            </a:r>
            <a:r>
              <a:rPr>
                <a:solidFill>
                  <a:srgbClr val="40A070"/>
                </a:solidFill>
                <a:latin typeface="Courier"/>
              </a:rPr>
              <a:t>4</a:t>
            </a:r>
            <a:r>
              <a:rPr>
                <a:latin typeface="Courier"/>
              </a:rPr>
              <a:t> </a:t>
            </a:r>
            <a:r>
              <a:rPr>
                <a:solidFill>
                  <a:srgbClr val="666666"/>
                </a:solidFill>
                <a:latin typeface="Courier"/>
              </a:rPr>
              <a:t>*</a:t>
            </a:r>
            <a:r>
              <a:rPr>
                <a:latin typeface="Courier"/>
              </a:rPr>
              <a:t> Y)</a:t>
            </a:r>
            <a:br/>
            <a:br/>
            <a:r>
              <a:rPr i="1">
                <a:solidFill>
                  <a:srgbClr val="60A0B0"/>
                </a:solidFill>
                <a:latin typeface="Courier"/>
              </a:rPr>
              <a:t># Plotting</a:t>
            </a:r>
            <a:br/>
            <a:r>
              <a:rPr>
                <a:latin typeface="Courier"/>
              </a:rPr>
              <a:t>fig, axs </a:t>
            </a:r>
            <a:r>
              <a:rPr>
                <a:solidFill>
                  <a:srgbClr val="666666"/>
                </a:solidFill>
                <a:latin typeface="Courier"/>
              </a:rPr>
              <a:t>=</a:t>
            </a:r>
            <a:r>
              <a:rPr>
                <a:latin typeface="Courier"/>
              </a:rPr>
              <a:t> plt.subplots(</a:t>
            </a:r>
            <a:r>
              <a:rPr>
                <a:solidFill>
                  <a:srgbClr val="40A070"/>
                </a:solidFill>
                <a:latin typeface="Courier"/>
              </a:rPr>
              <a:t>1</a:t>
            </a:r>
            <a:r>
              <a:rPr>
                <a:latin typeface="Courier"/>
              </a:rPr>
              <a:t>, </a:t>
            </a:r>
            <a:r>
              <a:rPr>
                <a:solidFill>
                  <a:srgbClr val="40A070"/>
                </a:solidFill>
                <a:latin typeface="Courier"/>
              </a:rPr>
              <a:t>3</a:t>
            </a:r>
            <a:r>
              <a:rPr>
                <a:latin typeface="Courier"/>
              </a:rPr>
              <a:t>, figsize</a:t>
            </a:r>
            <a:r>
              <a:rPr>
                <a:solidFill>
                  <a:srgbClr val="666666"/>
                </a:solidFill>
                <a:latin typeface="Courier"/>
              </a:rPr>
              <a:t>=</a:t>
            </a:r>
            <a:r>
              <a:rPr>
                <a:latin typeface="Courier"/>
              </a:rPr>
              <a:t>(</a:t>
            </a:r>
            <a:r>
              <a:rPr>
                <a:solidFill>
                  <a:srgbClr val="40A070"/>
                </a:solidFill>
                <a:latin typeface="Courier"/>
              </a:rPr>
              <a:t>15</a:t>
            </a:r>
            <a:r>
              <a:rPr>
                <a:latin typeface="Courier"/>
              </a:rPr>
              <a:t>, </a:t>
            </a:r>
            <a:r>
              <a:rPr>
                <a:solidFill>
                  <a:srgbClr val="40A070"/>
                </a:solidFill>
                <a:latin typeface="Courier"/>
              </a:rPr>
              <a:t>5</a:t>
            </a:r>
            <a:r>
              <a:rPr>
                <a:latin typeface="Courier"/>
              </a:rPr>
              <a:t>))</a:t>
            </a:r>
            <a:br/>
            <a:br/>
            <a:r>
              <a:rPr>
                <a:latin typeface="Courier"/>
              </a:rPr>
              <a:t>axs[</a:t>
            </a:r>
            <a:r>
              <a:rPr>
                <a:solidFill>
                  <a:srgbClr val="40A070"/>
                </a:solidFill>
                <a:latin typeface="Courier"/>
              </a:rPr>
              <a:t>0</a:t>
            </a:r>
            <a:r>
              <a:rPr>
                <a:latin typeface="Courier"/>
              </a:rPr>
              <a:t>].imshow(grating_A, cmap</a:t>
            </a:r>
            <a:r>
              <a:rPr>
                <a:solidFill>
                  <a:srgbClr val="666666"/>
                </a:solidFill>
                <a:latin typeface="Courier"/>
              </a:rPr>
              <a:t>=</a:t>
            </a:r>
            <a:r>
              <a:rPr>
                <a:solidFill>
                  <a:srgbClr val="4070A0"/>
                </a:solidFill>
                <a:latin typeface="Courier"/>
              </a:rPr>
              <a:t>'gray'</a:t>
            </a:r>
            <a:r>
              <a:rPr>
                <a:latin typeface="Courier"/>
              </a:rPr>
              <a:t>)</a:t>
            </a:r>
            <a:br/>
            <a:r>
              <a:rPr>
                <a:latin typeface="Courier"/>
              </a:rPr>
              <a:t>axs[</a:t>
            </a:r>
            <a:r>
              <a:rPr>
                <a:solidFill>
                  <a:srgbClr val="40A070"/>
                </a:solidFill>
                <a:latin typeface="Courier"/>
              </a:rPr>
              <a:t>0</a:t>
            </a:r>
            <a:r>
              <a:rPr>
                <a:latin typeface="Courier"/>
              </a:rPr>
              <a:t>].set_title(</a:t>
            </a:r>
            <a:r>
              <a:rPr>
                <a:solidFill>
                  <a:srgbClr val="4070A0"/>
                </a:solidFill>
                <a:latin typeface="Courier"/>
              </a:rPr>
              <a:t>'A: Low Freq, X-direction'</a:t>
            </a:r>
            <a:r>
              <a:rPr>
                <a:latin typeface="Courier"/>
              </a:rPr>
              <a:t>)</a:t>
            </a:r>
            <a:br/>
            <a:r>
              <a:rPr>
                <a:latin typeface="Courier"/>
              </a:rPr>
              <a:t>axs[</a:t>
            </a:r>
            <a:r>
              <a:rPr>
                <a:solidFill>
                  <a:srgbClr val="40A070"/>
                </a:solidFill>
                <a:latin typeface="Courier"/>
              </a:rPr>
              <a:t>0</a:t>
            </a:r>
            <a:r>
              <a:rPr>
                <a:latin typeface="Courier"/>
              </a:rPr>
              <a:t>].axis(</a:t>
            </a:r>
            <a:r>
              <a:rPr>
                <a:solidFill>
                  <a:srgbClr val="4070A0"/>
                </a:solidFill>
                <a:latin typeface="Courier"/>
              </a:rPr>
              <a:t>'off'</a:t>
            </a:r>
            <a:r>
              <a:rPr>
                <a:latin typeface="Courier"/>
              </a:rPr>
              <a:t>)</a:t>
            </a:r>
          </a:p>
          <a:p>
            <a:pPr lvl="0" indent="0">
              <a:buNone/>
            </a:pPr>
            <a:r>
              <a:rPr>
                <a:latin typeface="Courier"/>
              </a:rPr>
              <a:t>## (np.float64(-0.5), np.float64(255.5), np.float64(255.5), np.float64(-0.5))</a:t>
            </a:r>
          </a:p>
          <a:p>
            <a:pPr lvl="0" indent="0">
              <a:buNone/>
            </a:pPr>
            <a:r>
              <a:rPr>
                <a:latin typeface="Courier"/>
              </a:rPr>
              <a:t>axs[</a:t>
            </a:r>
            <a:r>
              <a:rPr>
                <a:solidFill>
                  <a:srgbClr val="40A070"/>
                </a:solidFill>
                <a:latin typeface="Courier"/>
              </a:rPr>
              <a:t>1</a:t>
            </a:r>
            <a:r>
              <a:rPr>
                <a:latin typeface="Courier"/>
              </a:rPr>
              <a:t>].imshow(grating_B, cmap</a:t>
            </a:r>
            <a:r>
              <a:rPr>
                <a:solidFill>
                  <a:srgbClr val="666666"/>
                </a:solidFill>
                <a:latin typeface="Courier"/>
              </a:rPr>
              <a:t>=</a:t>
            </a:r>
            <a:r>
              <a:rPr>
                <a:solidFill>
                  <a:srgbClr val="4070A0"/>
                </a:solidFill>
                <a:latin typeface="Courier"/>
              </a:rPr>
              <a:t>'gray'</a:t>
            </a:r>
            <a:r>
              <a:rPr>
                <a:latin typeface="Courier"/>
              </a:rPr>
              <a:t>)</a:t>
            </a:r>
            <a:br/>
            <a:r>
              <a:rPr>
                <a:latin typeface="Courier"/>
              </a:rPr>
              <a:t>axs[</a:t>
            </a:r>
            <a:r>
              <a:rPr>
                <a:solidFill>
                  <a:srgbClr val="40A070"/>
                </a:solidFill>
                <a:latin typeface="Courier"/>
              </a:rPr>
              <a:t>1</a:t>
            </a:r>
            <a:r>
              <a:rPr>
                <a:latin typeface="Courier"/>
              </a:rPr>
              <a:t>].set_title(</a:t>
            </a:r>
            <a:r>
              <a:rPr>
                <a:solidFill>
                  <a:srgbClr val="4070A0"/>
                </a:solidFill>
                <a:latin typeface="Courier"/>
              </a:rPr>
              <a:t>'B: High Freq, Y-direction'</a:t>
            </a:r>
            <a:r>
              <a:rPr>
                <a:latin typeface="Courier"/>
              </a:rPr>
              <a:t>)</a:t>
            </a:r>
            <a:br/>
            <a:r>
              <a:rPr>
                <a:latin typeface="Courier"/>
              </a:rPr>
              <a:t>axs[</a:t>
            </a:r>
            <a:r>
              <a:rPr>
                <a:solidFill>
                  <a:srgbClr val="40A070"/>
                </a:solidFill>
                <a:latin typeface="Courier"/>
              </a:rPr>
              <a:t>1</a:t>
            </a:r>
            <a:r>
              <a:rPr>
                <a:latin typeface="Courier"/>
              </a:rPr>
              <a:t>].axis(</a:t>
            </a:r>
            <a:r>
              <a:rPr>
                <a:solidFill>
                  <a:srgbClr val="4070A0"/>
                </a:solidFill>
                <a:latin typeface="Courier"/>
              </a:rPr>
              <a:t>'off'</a:t>
            </a:r>
            <a:r>
              <a:rPr>
                <a:latin typeface="Courier"/>
              </a:rPr>
              <a:t>)</a:t>
            </a:r>
          </a:p>
          <a:p>
            <a:pPr lvl="0" indent="0">
              <a:buNone/>
            </a:pPr>
            <a:r>
              <a:rPr>
                <a:latin typeface="Courier"/>
              </a:rPr>
              <a:t>## (np.float64(-0.5), np.float64(255.5), np.float64(255.5), np.float64(-0.5))</a:t>
            </a:r>
          </a:p>
          <a:p>
            <a:pPr lvl="0" indent="0">
              <a:buNone/>
            </a:pPr>
            <a:r>
              <a:rPr>
                <a:latin typeface="Courier"/>
              </a:rPr>
              <a:t>axs[</a:t>
            </a:r>
            <a:r>
              <a:rPr>
                <a:solidFill>
                  <a:srgbClr val="40A070"/>
                </a:solidFill>
                <a:latin typeface="Courier"/>
              </a:rPr>
              <a:t>2</a:t>
            </a:r>
            <a:r>
              <a:rPr>
                <a:latin typeface="Courier"/>
              </a:rPr>
              <a:t>].imshow(grating_C, cmap</a:t>
            </a:r>
            <a:r>
              <a:rPr>
                <a:solidFill>
                  <a:srgbClr val="666666"/>
                </a:solidFill>
                <a:latin typeface="Courier"/>
              </a:rPr>
              <a:t>=</a:t>
            </a:r>
            <a:r>
              <a:rPr>
                <a:solidFill>
                  <a:srgbClr val="4070A0"/>
                </a:solidFill>
                <a:latin typeface="Courier"/>
              </a:rPr>
              <a:t>'gray'</a:t>
            </a:r>
            <a:r>
              <a:rPr>
                <a:latin typeface="Courier"/>
              </a:rPr>
              <a:t>)</a:t>
            </a:r>
            <a:br/>
            <a:r>
              <a:rPr>
                <a:latin typeface="Courier"/>
              </a:rPr>
              <a:t>axs[</a:t>
            </a:r>
            <a:r>
              <a:rPr>
                <a:solidFill>
                  <a:srgbClr val="40A070"/>
                </a:solidFill>
                <a:latin typeface="Courier"/>
              </a:rPr>
              <a:t>2</a:t>
            </a:r>
            <a:r>
              <a:rPr>
                <a:latin typeface="Courier"/>
              </a:rPr>
              <a:t>].set_title(</a:t>
            </a:r>
            <a:r>
              <a:rPr>
                <a:solidFill>
                  <a:srgbClr val="4070A0"/>
                </a:solidFill>
                <a:latin typeface="Courier"/>
              </a:rPr>
              <a:t>'C: Diagonal Grating'</a:t>
            </a:r>
            <a:r>
              <a:rPr>
                <a:latin typeface="Courier"/>
              </a:rPr>
              <a:t>)</a:t>
            </a:r>
            <a:br/>
            <a:r>
              <a:rPr>
                <a:latin typeface="Courier"/>
              </a:rPr>
              <a:t>axs[</a:t>
            </a:r>
            <a:r>
              <a:rPr>
                <a:solidFill>
                  <a:srgbClr val="40A070"/>
                </a:solidFill>
                <a:latin typeface="Courier"/>
              </a:rPr>
              <a:t>2</a:t>
            </a:r>
            <a:r>
              <a:rPr>
                <a:latin typeface="Courier"/>
              </a:rPr>
              <a:t>].axis(</a:t>
            </a:r>
            <a:r>
              <a:rPr>
                <a:solidFill>
                  <a:srgbClr val="4070A0"/>
                </a:solidFill>
                <a:latin typeface="Courier"/>
              </a:rPr>
              <a:t>'off'</a:t>
            </a:r>
            <a:r>
              <a:rPr>
                <a:latin typeface="Courier"/>
              </a:rPr>
              <a:t>)</a:t>
            </a:r>
          </a:p>
          <a:p>
            <a:pPr lvl="0" indent="0">
              <a:buNone/>
            </a:pPr>
            <a:r>
              <a:rPr>
                <a:latin typeface="Courier"/>
              </a:rPr>
              <a:t>## (np.float64(-0.5), np.float64(255.5), np.float64(255.5), np.float64(-0.5))</a:t>
            </a:r>
          </a:p>
          <a:p>
            <a:pPr lvl="0" indent="0">
              <a:buNone/>
            </a:pPr>
            <a:r>
              <a:rPr>
                <a:latin typeface="Courier"/>
              </a:rPr>
              <a:t>plt.tight_layout()</a:t>
            </a:r>
            <a:br/>
            <a:r>
              <a:rPr>
                <a:latin typeface="Courier"/>
              </a:rPr>
              <a:t>plt.show()</a:t>
            </a:r>
          </a:p>
        </p:txBody>
      </p:sp>
      <p:pic>
        <p:nvPicPr>
          <p:cNvPr descr="Fourier_Transform_Lecture_files/figure-pptx/gratings_plot-7.png" id="0" name="Picture 1"/>
          <p:cNvPicPr>
            <a:picLocks noGrp="1" noChangeAspect="1"/>
          </p:cNvPicPr>
          <p:nvPr/>
        </p:nvPicPr>
        <p:blipFill>
          <a:blip r:embed="rId2"/>
          <a:stretch>
            <a:fillRect/>
          </a:stretch>
        </p:blipFill>
        <p:spPr bwMode="auto">
          <a:xfrm>
            <a:off x="3568700" y="1549400"/>
            <a:ext cx="5105400" cy="17018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Defining K-Space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Concept: A Frequency Map</a:t>
                </a:r>
              </a:p>
              <a:p>
                <a:pPr lvl="0"/>
                <a:r>
                  <a:rPr/>
                  <a:t>K-Space is the “frequency domain” map of the image.</a:t>
                </a:r>
              </a:p>
              <a:p>
                <a:pPr lvl="0"/>
                <a:r>
                  <a:rPr/>
                  <a:t>It is a coordinate system </a:t>
                </a:r>
                <a14:m>
                  <m:oMath xmlns:m="http://schemas.openxmlformats.org/officeDocument/2006/math">
                    <m:d>
                      <m:dPr>
                        <m:begChr m:val="("/>
                        <m:endChr m:val=")"/>
                        <m:sepChr m:val=""/>
                        <m:grow/>
                      </m:dPr>
                      <m:e>
                        <m:sSub>
                          <m:e>
                            <m:r>
                              <m:t>k</m:t>
                            </m:r>
                          </m:e>
                          <m:sub>
                            <m:r>
                              <m:t>x</m:t>
                            </m:r>
                          </m:sub>
                        </m:sSub>
                        <m:r>
                          <m:rPr>
                            <m:sty m:val="p"/>
                          </m:rPr>
                          <m:t>,</m:t>
                        </m:r>
                        <m:sSub>
                          <m:e>
                            <m:r>
                              <m:t>k</m:t>
                            </m:r>
                          </m:e>
                          <m:sub>
                            <m:r>
                              <m:t>y</m:t>
                            </m:r>
                          </m:sub>
                        </m:sSub>
                      </m:e>
                    </m:d>
                  </m:oMath>
                </a14:m>
                <a:r>
                  <a:rPr/>
                  <a:t>.</a:t>
                </a:r>
              </a:p>
              <a:p>
                <a:pPr lvl="1"/>
                <a14:m>
                  <m:oMath xmlns:m="http://schemas.openxmlformats.org/officeDocument/2006/math">
                    <m:sSub>
                      <m:e>
                        <m:r>
                          <m:t>k</m:t>
                        </m:r>
                      </m:e>
                      <m:sub>
                        <m:r>
                          <m:t>x</m:t>
                        </m:r>
                      </m:sub>
                    </m:sSub>
                  </m:oMath>
                </a14:m>
                <a:r>
                  <a:rPr/>
                  <a:t> axis: Horizontal frequencies (vertical stripes).</a:t>
                </a:r>
              </a:p>
              <a:p>
                <a:pPr lvl="1"/>
                <a14:m>
                  <m:oMath xmlns:m="http://schemas.openxmlformats.org/officeDocument/2006/math">
                    <m:sSub>
                      <m:e>
                        <m:r>
                          <m:t>k</m:t>
                        </m:r>
                      </m:e>
                      <m:sub>
                        <m:r>
                          <m:t>y</m:t>
                        </m:r>
                      </m:sub>
                    </m:sSub>
                  </m:oMath>
                </a14:m>
                <a:r>
                  <a:rPr/>
                  <a:t> axis: Vertical frequencies (horizontal stripes).</a:t>
                </a:r>
              </a:p>
            </p:txBody>
          </p:sp>
        </mc:Choice>
      </mc:AlternateContent>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Navigating K-Space</a:t>
                </a:r>
              </a:p>
              <a:p>
                <a:pPr lvl="0"/>
                <a:r>
                  <a:rPr b="1"/>
                  <a:t>Center </a:t>
                </a:r>
                <a14:m>
                  <m:oMath xmlns:m="http://schemas.openxmlformats.org/officeDocument/2006/math">
                    <m:d>
                      <m:dPr>
                        <m:begChr m:val="("/>
                        <m:endChr m:val=")"/>
                        <m:sepChr m:val=""/>
                        <m:grow/>
                      </m:dPr>
                      <m:e>
                        <m:r>
                          <m:t>0</m:t>
                        </m:r>
                        <m:r>
                          <m:rPr>
                            <m:sty m:val="p"/>
                          </m:rPr>
                          <m:t>,</m:t>
                        </m:r>
                        <m:r>
                          <m:t>0</m:t>
                        </m:r>
                      </m:e>
                    </m:d>
                  </m:oMath>
                </a14:m>
                <a:r>
                  <a:rPr b="1"/>
                  <a:t>:</a:t>
                </a:r>
                <a:r>
                  <a:rPr/>
                  <a:t> Zero frequency. Average brightness (contrast). Contains the most energy.</a:t>
                </a:r>
              </a:p>
              <a:p>
                <a:pPr lvl="0"/>
                <a:r>
                  <a:rPr b="1"/>
                  <a:t>Periphery:</a:t>
                </a:r>
                <a:r>
                  <a:rPr/>
                  <a:t> High frequencies. Fine details and sharp edges.</a:t>
                </a:r>
              </a:p>
            </p:txBody>
          </p:sp>
        </mc:Choice>
      </mc:AlternateContent>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Python Code: 2D FFT and K-Space</a:t>
            </a:r>
          </a:p>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r>
              <a:rPr b="1">
                <a:solidFill>
                  <a:srgbClr val="008000"/>
                </a:solidFill>
                <a:latin typeface="Courier"/>
              </a:rPr>
              <a:t>from</a:t>
            </a:r>
            <a:r>
              <a:rPr>
                <a:latin typeface="Courier"/>
              </a:rPr>
              <a:t> scipy </a:t>
            </a:r>
            <a:r>
              <a:rPr b="1">
                <a:solidFill>
                  <a:srgbClr val="008000"/>
                </a:solidFill>
                <a:latin typeface="Courier"/>
              </a:rPr>
              <a:t>import</a:t>
            </a:r>
            <a:r>
              <a:rPr>
                <a:latin typeface="Courier"/>
              </a:rPr>
              <a:t> fftpack</a:t>
            </a:r>
            <a:br/>
            <a:br/>
            <a:r>
              <a:rPr i="1">
                <a:solidFill>
                  <a:srgbClr val="60A0B0"/>
                </a:solidFill>
                <a:latin typeface="Courier"/>
              </a:rPr>
              <a:t># 1. Create a simple 2D phantom</a:t>
            </a:r>
            <a:br/>
            <a:r>
              <a:rPr>
                <a:latin typeface="Courier"/>
              </a:rPr>
              <a:t>phantom </a:t>
            </a:r>
            <a:r>
              <a:rPr>
                <a:solidFill>
                  <a:srgbClr val="666666"/>
                </a:solidFill>
                <a:latin typeface="Courier"/>
              </a:rPr>
              <a:t>=</a:t>
            </a:r>
            <a:r>
              <a:rPr>
                <a:latin typeface="Courier"/>
              </a:rPr>
              <a:t> np.zeros((</a:t>
            </a:r>
            <a:r>
              <a:rPr>
                <a:solidFill>
                  <a:srgbClr val="40A070"/>
                </a:solidFill>
                <a:latin typeface="Courier"/>
              </a:rPr>
              <a:t>256</a:t>
            </a:r>
            <a:r>
              <a:rPr>
                <a:latin typeface="Courier"/>
              </a:rPr>
              <a:t>, </a:t>
            </a:r>
            <a:r>
              <a:rPr>
                <a:solidFill>
                  <a:srgbClr val="40A070"/>
                </a:solidFill>
                <a:latin typeface="Courier"/>
              </a:rPr>
              <a:t>256</a:t>
            </a:r>
            <a:r>
              <a:rPr>
                <a:latin typeface="Courier"/>
              </a:rPr>
              <a:t>))</a:t>
            </a:r>
            <a:br/>
            <a:r>
              <a:rPr>
                <a:latin typeface="Courier"/>
              </a:rPr>
              <a:t>phantom[</a:t>
            </a:r>
            <a:r>
              <a:rPr>
                <a:solidFill>
                  <a:srgbClr val="40A070"/>
                </a:solidFill>
                <a:latin typeface="Courier"/>
              </a:rPr>
              <a:t>64</a:t>
            </a:r>
            <a:r>
              <a:rPr>
                <a:latin typeface="Courier"/>
              </a:rPr>
              <a:t>:</a:t>
            </a:r>
            <a:r>
              <a:rPr>
                <a:solidFill>
                  <a:srgbClr val="40A070"/>
                </a:solidFill>
                <a:latin typeface="Courier"/>
              </a:rPr>
              <a:t>192</a:t>
            </a:r>
            <a:r>
              <a:rPr>
                <a:latin typeface="Courier"/>
              </a:rPr>
              <a:t>, </a:t>
            </a:r>
            <a:r>
              <a:rPr>
                <a:solidFill>
                  <a:srgbClr val="40A070"/>
                </a:solidFill>
                <a:latin typeface="Courier"/>
              </a:rPr>
              <a:t>80</a:t>
            </a:r>
            <a:r>
              <a:rPr>
                <a:latin typeface="Courier"/>
              </a:rPr>
              <a:t>:</a:t>
            </a:r>
            <a:r>
              <a:rPr>
                <a:solidFill>
                  <a:srgbClr val="40A070"/>
                </a:solidFill>
                <a:latin typeface="Courier"/>
              </a:rPr>
              <a:t>176</a:t>
            </a:r>
            <a:r>
              <a:rPr>
                <a:latin typeface="Courier"/>
              </a:rPr>
              <a:t>] </a:t>
            </a:r>
            <a:r>
              <a:rPr>
                <a:solidFill>
                  <a:srgbClr val="666666"/>
                </a:solidFill>
                <a:latin typeface="Courier"/>
              </a:rPr>
              <a:t>=</a:t>
            </a:r>
            <a:r>
              <a:rPr>
                <a:latin typeface="Courier"/>
              </a:rPr>
              <a:t> </a:t>
            </a:r>
            <a:r>
              <a:rPr>
                <a:solidFill>
                  <a:srgbClr val="40A070"/>
                </a:solidFill>
                <a:latin typeface="Courier"/>
              </a:rPr>
              <a:t>1</a:t>
            </a:r>
            <a:r>
              <a:rPr>
                <a:latin typeface="Courier"/>
              </a:rPr>
              <a:t> </a:t>
            </a:r>
            <a:r>
              <a:rPr i="1">
                <a:solidFill>
                  <a:srgbClr val="60A0B0"/>
                </a:solidFill>
                <a:latin typeface="Courier"/>
              </a:rPr>
              <a:t># Big rectangle</a:t>
            </a:r>
            <a:br/>
            <a:r>
              <a:rPr>
                <a:latin typeface="Courier"/>
              </a:rPr>
              <a:t>phantom[</a:t>
            </a:r>
            <a:r>
              <a:rPr>
                <a:solidFill>
                  <a:srgbClr val="40A070"/>
                </a:solidFill>
                <a:latin typeface="Courier"/>
              </a:rPr>
              <a:t>100</a:t>
            </a:r>
            <a:r>
              <a:rPr>
                <a:latin typeface="Courier"/>
              </a:rPr>
              <a:t>:</a:t>
            </a:r>
            <a:r>
              <a:rPr>
                <a:solidFill>
                  <a:srgbClr val="40A070"/>
                </a:solidFill>
                <a:latin typeface="Courier"/>
              </a:rPr>
              <a:t>150</a:t>
            </a:r>
            <a:r>
              <a:rPr>
                <a:latin typeface="Courier"/>
              </a:rPr>
              <a:t>, </a:t>
            </a:r>
            <a:r>
              <a:rPr>
                <a:solidFill>
                  <a:srgbClr val="40A070"/>
                </a:solidFill>
                <a:latin typeface="Courier"/>
              </a:rPr>
              <a:t>100</a:t>
            </a:r>
            <a:r>
              <a:rPr>
                <a:latin typeface="Courier"/>
              </a:rPr>
              <a:t>:</a:t>
            </a:r>
            <a:r>
              <a:rPr>
                <a:solidFill>
                  <a:srgbClr val="40A070"/>
                </a:solidFill>
                <a:latin typeface="Courier"/>
              </a:rPr>
              <a:t>150</a:t>
            </a:r>
            <a:r>
              <a:rPr>
                <a:latin typeface="Courier"/>
              </a:rPr>
              <a:t>] </a:t>
            </a:r>
            <a:r>
              <a:rPr>
                <a:solidFill>
                  <a:srgbClr val="666666"/>
                </a:solidFill>
                <a:latin typeface="Courier"/>
              </a:rPr>
              <a:t>=</a:t>
            </a:r>
            <a:r>
              <a:rPr>
                <a:latin typeface="Courier"/>
              </a:rPr>
              <a:t> </a:t>
            </a:r>
            <a:r>
              <a:rPr>
                <a:solidFill>
                  <a:srgbClr val="40A070"/>
                </a:solidFill>
                <a:latin typeface="Courier"/>
              </a:rPr>
              <a:t>0</a:t>
            </a:r>
            <a:r>
              <a:rPr>
                <a:latin typeface="Courier"/>
              </a:rPr>
              <a:t> </a:t>
            </a:r>
            <a:r>
              <a:rPr i="1">
                <a:solidFill>
                  <a:srgbClr val="60A0B0"/>
                </a:solidFill>
                <a:latin typeface="Courier"/>
              </a:rPr>
              <a:t># Hole in the middle</a:t>
            </a:r>
            <a:br/>
            <a:br/>
            <a:r>
              <a:rPr i="1">
                <a:solidFill>
                  <a:srgbClr val="60A0B0"/>
                </a:solidFill>
                <a:latin typeface="Courier"/>
              </a:rPr>
              <a:t># 2. Perform 2D FFT</a:t>
            </a:r>
            <a:br/>
            <a:r>
              <a:rPr>
                <a:latin typeface="Courier"/>
              </a:rPr>
              <a:t>f_transform </a:t>
            </a:r>
            <a:r>
              <a:rPr>
                <a:solidFill>
                  <a:srgbClr val="666666"/>
                </a:solidFill>
                <a:latin typeface="Courier"/>
              </a:rPr>
              <a:t>=</a:t>
            </a:r>
            <a:r>
              <a:rPr>
                <a:latin typeface="Courier"/>
              </a:rPr>
              <a:t> fftpack.fft2(phantom)</a:t>
            </a:r>
            <a:br/>
            <a:br/>
            <a:r>
              <a:rPr i="1">
                <a:solidFill>
                  <a:srgbClr val="60A0B0"/>
                </a:solidFill>
                <a:latin typeface="Courier"/>
              </a:rPr>
              <a:t># 3. Shift the zero-frequency component to the center</a:t>
            </a:r>
            <a:br/>
            <a:r>
              <a:rPr>
                <a:latin typeface="Courier"/>
              </a:rPr>
              <a:t>f_shift </a:t>
            </a:r>
            <a:r>
              <a:rPr>
                <a:solidFill>
                  <a:srgbClr val="666666"/>
                </a:solidFill>
                <a:latin typeface="Courier"/>
              </a:rPr>
              <a:t>=</a:t>
            </a:r>
            <a:r>
              <a:rPr>
                <a:latin typeface="Courier"/>
              </a:rPr>
              <a:t> fftpack.fftshift(f_transform)</a:t>
            </a:r>
            <a:br/>
            <a:br/>
            <a:r>
              <a:rPr i="1">
                <a:solidFill>
                  <a:srgbClr val="60A0B0"/>
                </a:solidFill>
                <a:latin typeface="Courier"/>
              </a:rPr>
              <a:t># 4. Calculate magnitude spectrum (log scale)</a:t>
            </a:r>
            <a:br/>
            <a:r>
              <a:rPr>
                <a:latin typeface="Courier"/>
              </a:rPr>
              <a:t>magnitude_spectrum </a:t>
            </a:r>
            <a:r>
              <a:rPr>
                <a:solidFill>
                  <a:srgbClr val="666666"/>
                </a:solidFill>
                <a:latin typeface="Courier"/>
              </a:rPr>
              <a:t>=</a:t>
            </a:r>
            <a:r>
              <a:rPr>
                <a:latin typeface="Courier"/>
              </a:rPr>
              <a:t> </a:t>
            </a:r>
            <a:r>
              <a:rPr>
                <a:solidFill>
                  <a:srgbClr val="40A070"/>
                </a:solidFill>
                <a:latin typeface="Courier"/>
              </a:rPr>
              <a:t>20</a:t>
            </a:r>
            <a:r>
              <a:rPr>
                <a:latin typeface="Courier"/>
              </a:rPr>
              <a:t> </a:t>
            </a:r>
            <a:r>
              <a:rPr>
                <a:solidFill>
                  <a:srgbClr val="666666"/>
                </a:solidFill>
                <a:latin typeface="Courier"/>
              </a:rPr>
              <a:t>*</a:t>
            </a:r>
            <a:r>
              <a:rPr>
                <a:latin typeface="Courier"/>
              </a:rPr>
              <a:t> np.log(np.</a:t>
            </a:r>
            <a:r>
              <a:rPr>
                <a:solidFill>
                  <a:srgbClr val="008000"/>
                </a:solidFill>
                <a:latin typeface="Courier"/>
              </a:rPr>
              <a:t>abs</a:t>
            </a:r>
            <a:r>
              <a:rPr>
                <a:latin typeface="Courier"/>
              </a:rPr>
              <a:t>(f_shift) </a:t>
            </a:r>
            <a:r>
              <a:rPr>
                <a:solidFill>
                  <a:srgbClr val="666666"/>
                </a:solidFill>
                <a:latin typeface="Courier"/>
              </a:rPr>
              <a:t>+</a:t>
            </a:r>
            <a:r>
              <a:rPr>
                <a:latin typeface="Courier"/>
              </a:rPr>
              <a:t> </a:t>
            </a:r>
            <a:r>
              <a:rPr>
                <a:solidFill>
                  <a:srgbClr val="40A070"/>
                </a:solidFill>
                <a:latin typeface="Courier"/>
              </a:rPr>
              <a:t>1</a:t>
            </a:r>
            <a:r>
              <a:rPr>
                <a:latin typeface="Courier"/>
              </a:rPr>
              <a:t>)</a:t>
            </a:r>
            <a:br/>
            <a:br/>
            <a:r>
              <a:rPr i="1">
                <a:solidFill>
                  <a:srgbClr val="60A0B0"/>
                </a:solidFill>
                <a:latin typeface="Courier"/>
              </a:rPr>
              <a:t># Visualization</a:t>
            </a:r>
            <a:br/>
            <a:r>
              <a:rPr>
                <a:latin typeface="Courier"/>
              </a:rPr>
              <a:t>plt.figure(figsize</a:t>
            </a:r>
            <a:r>
              <a:rPr>
                <a:solidFill>
                  <a:srgbClr val="666666"/>
                </a:solidFill>
                <a:latin typeface="Courier"/>
              </a:rPr>
              <a:t>=</a:t>
            </a:r>
            <a:r>
              <a:rPr>
                <a:latin typeface="Courier"/>
              </a:rPr>
              <a:t>(</a:t>
            </a:r>
            <a:r>
              <a:rPr>
                <a:solidFill>
                  <a:srgbClr val="40A070"/>
                </a:solidFill>
                <a:latin typeface="Courier"/>
              </a:rPr>
              <a:t>14</a:t>
            </a:r>
            <a:r>
              <a:rPr>
                <a:latin typeface="Courier"/>
              </a:rPr>
              <a:t>, </a:t>
            </a:r>
            <a:r>
              <a:rPr>
                <a:solidFill>
                  <a:srgbClr val="40A070"/>
                </a:solidFill>
                <a:latin typeface="Courier"/>
              </a:rPr>
              <a:t>6</a:t>
            </a:r>
            <a:r>
              <a:rPr>
                <a:latin typeface="Courier"/>
              </a:rPr>
              <a:t>))</a:t>
            </a:r>
            <a:br/>
            <a:br/>
            <a:r>
              <a:rPr>
                <a:latin typeface="Courier"/>
              </a:rPr>
              <a:t>plt.subplot(</a:t>
            </a:r>
            <a:r>
              <a:rPr>
                <a:solidFill>
                  <a:srgbClr val="40A070"/>
                </a:solidFill>
                <a:latin typeface="Courier"/>
              </a:rPr>
              <a:t>1</a:t>
            </a:r>
            <a:r>
              <a:rPr>
                <a:latin typeface="Courier"/>
              </a:rPr>
              <a:t>, </a:t>
            </a:r>
            <a:r>
              <a:rPr>
                <a:solidFill>
                  <a:srgbClr val="40A070"/>
                </a:solidFill>
                <a:latin typeface="Courier"/>
              </a:rPr>
              <a:t>2</a:t>
            </a:r>
            <a:r>
              <a:rPr>
                <a:latin typeface="Courier"/>
              </a:rPr>
              <a:t>, </a:t>
            </a:r>
            <a:r>
              <a:rPr>
                <a:solidFill>
                  <a:srgbClr val="40A070"/>
                </a:solidFill>
                <a:latin typeface="Courier"/>
              </a:rPr>
              <a:t>1</a:t>
            </a:r>
            <a:r>
              <a:rPr>
                <a:latin typeface="Courier"/>
              </a:rPr>
              <a:t>)</a:t>
            </a:r>
            <a:br/>
            <a:r>
              <a:rPr>
                <a:latin typeface="Courier"/>
              </a:rPr>
              <a:t>plt.imshow(phantom, cmap</a:t>
            </a:r>
            <a:r>
              <a:rPr>
                <a:solidFill>
                  <a:srgbClr val="666666"/>
                </a:solidFill>
                <a:latin typeface="Courier"/>
              </a:rPr>
              <a:t>=</a:t>
            </a:r>
            <a:r>
              <a:rPr>
                <a:solidFill>
                  <a:srgbClr val="4070A0"/>
                </a:solidFill>
                <a:latin typeface="Courier"/>
              </a:rPr>
              <a:t>'gray'</a:t>
            </a:r>
            <a:r>
              <a:rPr>
                <a:latin typeface="Courier"/>
              </a:rPr>
              <a:t>)</a:t>
            </a:r>
            <a:br/>
            <a:r>
              <a:rPr>
                <a:latin typeface="Courier"/>
              </a:rPr>
              <a:t>plt.title(</a:t>
            </a:r>
            <a:r>
              <a:rPr>
                <a:solidFill>
                  <a:srgbClr val="4070A0"/>
                </a:solidFill>
                <a:latin typeface="Courier"/>
              </a:rPr>
              <a:t>'Input Image (Space Domain)\nYour Brain'</a:t>
            </a:r>
            <a:r>
              <a:rPr>
                <a:latin typeface="Courier"/>
              </a:rPr>
              <a:t>)</a:t>
            </a:r>
            <a:br/>
            <a:r>
              <a:rPr>
                <a:latin typeface="Courier"/>
              </a:rPr>
              <a:t>plt.axis(</a:t>
            </a:r>
            <a:r>
              <a:rPr>
                <a:solidFill>
                  <a:srgbClr val="4070A0"/>
                </a:solidFill>
                <a:latin typeface="Courier"/>
              </a:rPr>
              <a:t>'off'</a:t>
            </a:r>
            <a:r>
              <a:rPr>
                <a:latin typeface="Courier"/>
              </a:rPr>
              <a:t>)</a:t>
            </a:r>
          </a:p>
          <a:p>
            <a:pPr lvl="0" indent="0">
              <a:buNone/>
            </a:pPr>
            <a:r>
              <a:rPr>
                <a:latin typeface="Courier"/>
              </a:rPr>
              <a:t>## (np.float64(-0.5), np.float64(255.5), np.float64(255.5), np.float64(-0.5))</a:t>
            </a:r>
          </a:p>
          <a:p>
            <a:pPr lvl="0" indent="0">
              <a:buNone/>
            </a:pPr>
            <a:r>
              <a:rPr>
                <a:latin typeface="Courier"/>
              </a:rPr>
              <a:t>plt.subplot(</a:t>
            </a:r>
            <a:r>
              <a:rPr>
                <a:solidFill>
                  <a:srgbClr val="40A070"/>
                </a:solidFill>
                <a:latin typeface="Courier"/>
              </a:rPr>
              <a:t>1</a:t>
            </a:r>
            <a:r>
              <a:rPr>
                <a:latin typeface="Courier"/>
              </a:rPr>
              <a:t>, </a:t>
            </a:r>
            <a:r>
              <a:rPr>
                <a:solidFill>
                  <a:srgbClr val="40A070"/>
                </a:solidFill>
                <a:latin typeface="Courier"/>
              </a:rPr>
              <a:t>2</a:t>
            </a:r>
            <a:r>
              <a:rPr>
                <a:latin typeface="Courier"/>
              </a:rPr>
              <a:t>, </a:t>
            </a:r>
            <a:r>
              <a:rPr>
                <a:solidFill>
                  <a:srgbClr val="40A070"/>
                </a:solidFill>
                <a:latin typeface="Courier"/>
              </a:rPr>
              <a:t>2</a:t>
            </a:r>
            <a:r>
              <a:rPr>
                <a:latin typeface="Courier"/>
              </a:rPr>
              <a:t>)</a:t>
            </a:r>
            <a:br/>
            <a:r>
              <a:rPr>
                <a:latin typeface="Courier"/>
              </a:rPr>
              <a:t>plt.imshow(magnitude_spectrum, cmap</a:t>
            </a:r>
            <a:r>
              <a:rPr>
                <a:solidFill>
                  <a:srgbClr val="666666"/>
                </a:solidFill>
                <a:latin typeface="Courier"/>
              </a:rPr>
              <a:t>=</a:t>
            </a:r>
            <a:r>
              <a:rPr>
                <a:solidFill>
                  <a:srgbClr val="4070A0"/>
                </a:solidFill>
                <a:latin typeface="Courier"/>
              </a:rPr>
              <a:t>'inferno'</a:t>
            </a:r>
            <a:r>
              <a:rPr>
                <a:latin typeface="Courier"/>
              </a:rPr>
              <a:t>)</a:t>
            </a:r>
            <a:br/>
            <a:r>
              <a:rPr>
                <a:latin typeface="Courier"/>
              </a:rPr>
              <a:t>plt.title(</a:t>
            </a:r>
            <a:r>
              <a:rPr>
                <a:solidFill>
                  <a:srgbClr val="4070A0"/>
                </a:solidFill>
                <a:latin typeface="Courier"/>
              </a:rPr>
              <a:t>'Magnitude Spectrum (K-Space)\nThe Raw Data'</a:t>
            </a:r>
            <a:r>
              <a:rPr>
                <a:latin typeface="Courier"/>
              </a:rPr>
              <a:t>)</a:t>
            </a:r>
            <a:br/>
            <a:r>
              <a:rPr>
                <a:latin typeface="Courier"/>
              </a:rPr>
              <a:t>plt.axis(</a:t>
            </a:r>
            <a:r>
              <a:rPr>
                <a:solidFill>
                  <a:srgbClr val="4070A0"/>
                </a:solidFill>
                <a:latin typeface="Courier"/>
              </a:rPr>
              <a:t>'off'</a:t>
            </a:r>
            <a:r>
              <a:rPr>
                <a:latin typeface="Courier"/>
              </a:rPr>
              <a:t>)</a:t>
            </a:r>
          </a:p>
          <a:p>
            <a:pPr lvl="0" indent="0">
              <a:buNone/>
            </a:pPr>
            <a:r>
              <a:rPr>
                <a:latin typeface="Courier"/>
              </a:rPr>
              <a:t>## (np.float64(-0.5), np.float64(255.5), np.float64(255.5), np.float64(-0.5))</a:t>
            </a:r>
          </a:p>
          <a:p>
            <a:pPr lvl="0" indent="0">
              <a:buNone/>
            </a:pPr>
            <a:r>
              <a:rPr>
                <a:latin typeface="Courier"/>
              </a:rPr>
              <a:t>plt.tight_layout()</a:t>
            </a:r>
            <a:br/>
            <a:r>
              <a:rPr>
                <a:latin typeface="Courier"/>
              </a:rPr>
              <a:t>plt.show()</a:t>
            </a:r>
          </a:p>
        </p:txBody>
      </p:sp>
      <p:pic>
        <p:nvPicPr>
          <p:cNvPr descr="Fourier_Transform_Lecture_files/figure-pptx/kspace_viz-9.png" id="0" name="Picture 1"/>
          <p:cNvPicPr>
            <a:picLocks noGrp="1" noChangeAspect="1"/>
          </p:cNvPicPr>
          <p:nvPr/>
        </p:nvPicPr>
        <p:blipFill>
          <a:blip r:embed="rId2"/>
          <a:stretch>
            <a:fillRect/>
          </a:stretch>
        </p:blipFill>
        <p:spPr bwMode="auto">
          <a:xfrm>
            <a:off x="3568700" y="1295400"/>
            <a:ext cx="5105400" cy="21844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Fourier Transform in Medical Imaging</dc:title>
  <dc:creator>Graduate Medical Physics Program</dc:creator>
  <cp:keywords/>
  <dcterms:created xsi:type="dcterms:W3CDTF">2025-12-27T13:53:07Z</dcterms:created>
  <dcterms:modified xsi:type="dcterms:W3CDTF">2025-12-27T13:53:07Z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2025-12-27</vt:lpwstr>
  </property>
  <property fmtid="{D5CDD505-2E9C-101B-9397-08002B2CF9AE}" pid="3" name="output">
    <vt:lpwstr/>
  </property>
  <property fmtid="{D5CDD505-2E9C-101B-9397-08002B2CF9AE}" pid="4" name="subtitle">
    <vt:lpwstr>From Principles to Practice</vt:lpwstr>
  </property>
</Properties>
</file>