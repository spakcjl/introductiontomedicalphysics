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notesMaster" Target="notesMasters/notesMaster1.xml" /><Relationship Id="rId35" Type="http://schemas.openxmlformats.org/officeDocument/2006/relationships/viewProps" Target="viewProps.xml" /><Relationship Id="rId34" Type="http://schemas.openxmlformats.org/officeDocument/2006/relationships/presProps" Target="presProps.xml" /><Relationship Id="rId1" Type="http://schemas.openxmlformats.org/officeDocument/2006/relationships/slideMaster" Target="slideMasters/slideMaster1.xml" /><Relationship Id="rId37" Type="http://schemas.openxmlformats.org/officeDocument/2006/relationships/tableStyles" Target="tableStyles.xml" /><Relationship Id="rId36"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Introduce the fundamental concepts of signals and systems. Use the examples from chapter1.md (RC circuit, automobile, speech) to illustrate the diversity of signals in the real world. Emphasize that the mathematical framework we’ll be learning is applicable across many different fields.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illustrates two different types of signals. The speech signal on the left is characterized by rapid, high-frequency variations. This is typical of audio signals. On the right, the vertical wind profile shows a much smoother, slowly varying curve. This highlights the vast range of behaviors that signals can exhibit.</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Here we see the fundamental difference between CT and DT signals. The blue dashed line represents a continuous sine wave, defined for all values of time ‘t’. The red points represent a discrete-time signal, obtained by “sampling” the continuous signal at regular intervals. Notice the discrete signal is only defined at these specific integer points ‘n’. A major theme in this course will be understanding the relationship between a CT signal and the DT signal derived from it.</a:t>
            </a:r>
          </a:p>
          <a:p>
            <a:pPr lvl="0" indent="0" marL="0">
              <a:buNone/>
            </a:pPr>
          </a:p>
          <a:p>
            <a:pPr lvl="0" indent="0" marL="0">
              <a:buNone/>
            </a:pPr>
            <a:r>
              <a:rPr/>
              <a:t>It’s important to clarify that these are generalized definitions. The terms ‘energy’ and ‘power’ might not correspond to physical energy and power in all contexts. For instance, if x(t) is voltage, the formula for physical energy would require dividing by resistance. However, these definitions provide a consistent way to measure the “size” or “strength” of a signal.</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plot shows the instantaneous power dissipated by a resistor when a decaying exponential voltage is applied. As the voltage across the resistor decreases exponentially, the power dissipated decreases even faster, following the square of the voltage. This is an example of an energy signal, where the total energy is finite.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 the left, we have a simple rectangular pulse signal that is non-zero only between t=0 and t=2. On the right, we see the accumulated energy of this signal. The energy starts at zero, increases quadratically while the pulse is active, and then holds at its maximum value after the pulse ends. This maximum value represents the total energy of the signal.</a:t>
            </a:r>
          </a:p>
          <a:p>
            <a:pPr lvl="0" indent="0" marL="0">
              <a:buNone/>
            </a:pPr>
          </a:p>
          <a:p>
            <a:pPr lvl="0" indent="0" marL="0">
              <a:buNone/>
            </a:pPr>
            <a:r>
              <a:rPr/>
              <a:t>Time shifts are fundamental in signal processing. They arise in applications like radar and sonar, where a transmitted signal is received at a later time. Understanding how to mathematically represent and manipulate these shifts is a crucial first step in system analysis.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visually demonstrates the concept of time shifting. The first plot shows our original signal, a simple triangular pulse centered at zero. The middle plot shows the same signal delayed, or shifted to the right, by 2 units. Every point on the original signal now occurs 2 units later. The third plot shows the signal advanced, or shifted to the left, by 1.5 units.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shows the importance of the order of operations. The original signal is a triangular pulse shifted to be centered at t=1. The middle plot shows the result of replacing t with 2t+1. The final plot shows scaling first, then shifting. The results are different.</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Time reversal is like looking in a mirror placed at time zero. The future becomes the past, and the past becomes the future. This operation is straightforward mathematically but has profound implications for concepts like causality, which we will discuss later.</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Here, the signal on the left is an asymmetric triangle. The signal on the right is its time-reversed counterpart. Notice how the ramp up from -1 to 1 in the original signal becomes a ramp down from -1 to 1 in the reversed signal, and the ramp down from 1 to 2 becomes a ramp up from -2 to -1.</a:t>
            </a:r>
          </a:p>
          <a:p>
            <a:pPr lvl="0" indent="0" marL="0">
              <a:buNone/>
            </a:pPr>
          </a:p>
          <a:p>
            <a:pPr lvl="0" indent="0" marL="0">
              <a:buNone/>
            </a:pPr>
            <a:r>
              <a:rPr/>
              <a:t>Time scaling is a very intuitive concept. Compressing a signal means the events within the signal occur more quickly, while stretching it means they occur more slowly. Pay close attention to the notation: the factor ‘a’ appears inside the function argument, and its effect is somewhat counter-intuitive. A larger ‘a’ leads to compression, not stretching.</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original triangular pulse has a width of 2 (from -1 to 1). The compressed signal, x(2t), has its width halved to 1 (from -0.5 to 0.5). The stretched signal, x(0.5t), has its width doubled to 4 (from -2 to 2). This demonstrates the compression and stretching effect of time scaling.</a:t>
            </a:r>
          </a:p>
          <a:p>
            <a:pPr lvl="0" indent="0" marL="0">
              <a:buNone/>
            </a:pPr>
          </a:p>
          <a:p>
            <a:pPr lvl="0" indent="0" marL="0">
              <a:buNone/>
            </a:pPr>
            <a:r>
              <a:rPr/>
              <a:t>Periodicity is a crucial concept, especially when we get to Fourier analysis. A periodic signal repeats itself exactly over a certain duration, the period. An aperiodic signal never repeats. Many signals in nature can be modeled as sums of periodic signals.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top plot shows cos(t), which is clearly periodic. It repeats every 2*pi units. The bottom plot shows the sum of two sinusoids whose frequencies do not have a rational ratio (1 and sqrt(2)). The result is a signal that never exactly repeats its values, making it aperiodic.</a:t>
            </a:r>
          </a:p>
          <a:p>
            <a:pPr lvl="0" indent="0" marL="0">
              <a:buNone/>
            </a:pPr>
          </a:p>
          <a:p>
            <a:pPr lvl="0" indent="0" marL="0">
              <a:buNone/>
            </a:pPr>
            <a:r>
              <a:rPr/>
              <a:t>The concept of even and odd signals is a form of symmetry that simplifies analysis. The decomposition is unique and powerful. Knowing how a system responds to even or odd signals can tell us a lot about its overall behavior.</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top plot shows an arbitrary sequence. The middle plot shows its even part, which you can see is perfectly symmetric around n=0. The bottom plot shows its odd part, which is anti-symmetric. If you add the even and odd parts together point by point, you will reconstruct the original signal.</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signal is a fundamental building block. We will see that a huge class of signals can be represented as a sum of complex exponentials. Understanding their properties is key to the rest of the course. We will first look at the case where ‘a’ is purely real.</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plot shows the behavior of the real exponential signal for a fixed C. When ‘a’ is positive (solid lines), the signal grows exponentially. The larger the value of ‘a’, the faster the growth. When ‘a’ is negative (dashed lines), the signal decays exponentially. The more negative ‘a’ is, the faster the decay. When a=0, the signal is a constant.</a:t>
            </a:r>
          </a:p>
          <a:p>
            <a:pPr lvl="0" indent="0" marL="0">
              <a:buNone/>
            </a:pPr>
          </a:p>
          <a:p>
            <a:pPr lvl="0" indent="0" marL="0">
              <a:buNone/>
            </a:pPr>
            <a:r>
              <a:rPr/>
              <a:t>This is one of the most important signals in the entire field. The real and imaginary parts are sinusoids, which are fundamental to describing oscillations and periodic phenomena. The frequency is determined by omega_0.</a:t>
            </a:r>
          </a:p>
          <a:p>
            <a:pPr lvl="0" indent="0" marL="0">
              <a:buNone/>
            </a:pPr>
          </a:p>
          <a:p>
            <a:pPr lvl="0" indent="0" marL="0">
              <a:buNone/>
            </a:pPr>
            <a:r>
              <a:rPr/>
              <a:t>We will frequently move back and forth between the sinusoidal representation and the complex exponential representation. The complex exponential form is often easier to manipulate mathematically, but the sinusoid is what we often measure in the real world (e.g., voltage, pressure).</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plot shows the real part (cosine) and the imaginary part (sine) of the complex exponential signal. They are both sinusoids, but they are 90 degrees out of phase with each other. When the real part is at a maximum, the imaginary part is zero, and vice-versa.</a:t>
            </a:r>
          </a:p>
          <a:p>
            <a:pPr lvl="0" indent="0" marL="0">
              <a:buNone/>
            </a:pPr>
          </a:p>
          <a:p>
            <a:pPr lvl="0" indent="0" marL="0">
              <a:buNone/>
            </a:pPr>
            <a:r>
              <a:rPr/>
              <a:t>The concept of harmonics is fundamental to music and, as we’ll see in Chapter 3, to the analysis of any periodic signal. It means that complex periodic signals can be broken down into a sum of simpler signals whose frequencies are neatly related as integer multiples.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plot shows the first three harmonics of a signal with a fundamental frequency of 2. The top plot (k=1) shows the fundamental signal, which completes two cycles in this interval. The middle plot (k=2) is the second harmonic, which oscillates twice as fast. The bottom plot (k=3) is the third harmonic, oscillating three times as fast. All are periodic with the same fundamental period.</a:t>
            </a:r>
          </a:p>
          <a:p>
            <a:pPr lvl="0" indent="0" marL="0">
              <a:buNone/>
            </a:pPr>
          </a:p>
          <a:p>
            <a:pPr lvl="0" indent="0" marL="0">
              <a:buNone/>
            </a:pPr>
            <a:r>
              <a:rPr/>
              <a:t>This is the most general form of the complex exponential. It’s a powerful signal that can represent pure growth/decay, pure oscillation, or, most interestingly, oscillations that grow or decay in amplitude over time.</a:t>
            </a:r>
          </a:p>
          <a:p>
            <a:pPr lvl="0" indent="0" marL="0">
              <a:buNone/>
            </a:pPr>
          </a:p>
          <a:p>
            <a:pPr lvl="0" indent="0" marL="0">
              <a:buNone/>
            </a:pPr>
            <a:r>
              <a:rPr/>
              <a:t>Damped sinusoids are what you see in the real world when something oscillates and then settles down. Think of a guitar string being plucked or a car’s suspension after hitting a bump. The oscillation is the sinusoidal part, and the settling down is the exponential decay.</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plot clearly illustrates the concept of a damped sinusoid. The blue curve is the signal itself, oscillating back and forth. The red dashed lines form the exponential envelope. The amplitude of the oscillations is bounded by this decaying envelope, showing how the signal loses energy over time.</a:t>
            </a:r>
          </a:p>
          <a:p>
            <a:pPr lvl="0" indent="0" marL="0">
              <a:buNone/>
            </a:pPr>
          </a:p>
          <a:p>
            <a:pPr lvl="0" indent="0" marL="0">
              <a:buNone/>
            </a:pPr>
            <a:r>
              <a:rPr/>
              <a:t>This is one of the most important and sometimes tricky concepts. In discrete time, the signal is only defined at integer values of ‘n’. For the signal to repeat, the total phase shift after N samples (which is omega_0 * N) must be a multiple of 2</a:t>
            </a:r>
            <a:r>
              <a:rPr i="1"/>
              <a:t>pi. This condition only holds if the frequency is a rational multiple of 2</a:t>
            </a:r>
            <a:r>
              <a:rPr/>
              <a:t>pi.</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top plot shows cos(pi</a:t>
            </a:r>
            <a:r>
              <a:rPr i="1"/>
              <a:t>n/8). You can see a clear repeating pattern. The fundamental period is N=16, because after 16 samples, the phase has advanced by (pi/8)</a:t>
            </a:r>
            <a:r>
              <a:rPr/>
              <a:t>16 = 2*pi. The bottom plot shows cos(n). Although the underlying continuous cosine is periodic, the samples of it are not. The pattern of sample values never exactly repeats, making the discrete-time signal non-periodic.</a:t>
            </a:r>
          </a:p>
          <a:p>
            <a:pPr lvl="0" indent="0" marL="0">
              <a:buNone/>
            </a:pPr>
          </a:p>
          <a:p>
            <a:pPr lvl="0" indent="0" marL="0">
              <a:buNone/>
            </a:pPr>
            <a:r>
              <a:rPr/>
              <a:t>This is a profound concept. In continuous time, increasing the frequency omega always increases the rate of oscillation. In discrete time, this is not true. Once you go past pi, the perceived rate of oscillation starts to decrease. Frequencies like 3*pi/2 and -pi/2 are identical. This is called aliasing.</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plot demonstrates aliasing perfectly. We are plotting two discrete signals with very different underlying frequencies: pi/4 and pi/4 + 2*pi. However, when we sample them at integer values of ‘n’, the resulting sequences are identical. The points lie exactly on top of each other. This shows that in discrete time, these two frequencies are aliases of one another.</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impulse and step functions are idealized signals that are incredibly important in system analysis. The impulse can be thought of as a single, instantaneous burst, while the step represents a signal that turns on at a specific time and stays on. Their relationship as a difference and a sum is a key concept.</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sequence of plots shows how the unit step is constructed by summing impulses. In Stage 1, we sum up to n=0, and we only capture the impulse at n=0. In Stage 2, we sum up to n=2, accumulating the impulses at 0, 1, and 2. In the final stage, the running sum has accumulated all impulses up to the current point, resulting in the full unit step sequence.</a:t>
            </a:r>
          </a:p>
          <a:p>
            <a:pPr lvl="0" indent="0" marL="0">
              <a:buNone/>
            </a:pPr>
          </a:p>
          <a:p>
            <a:pPr lvl="0" indent="0" marL="0">
              <a:buNone/>
            </a:pPr>
            <a:r>
              <a:rPr/>
              <a:t>The continuous-time impulse is a “singularity function.” It’s not a function in the traditional sense. It’s an idealization of a pulse that is infinitely short in duration but has a finite area of one. We can visualize it as the limit of a sequence of progressively shorter and taller pulses.</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Since the unit step has a discontinuity, its derivative is formally undefined. However, we can think of it by approximating the step with a smooth, steep function like the sigmoid shown on the left. The derivative of this steep function, shown on the right, is a narrow, tall pulse. As the sigmoid gets steeper and closer to an ideal step, its derivative gets narrower and taller, approaching our idealization of the unit impulse.</a:t>
            </a:r>
          </a:p>
          <a:p>
            <a:pPr lvl="0" indent="0" marL="0">
              <a:buNone/>
            </a:pPr>
          </a:p>
          <a:p>
            <a:pPr lvl="0" indent="0" marL="0">
              <a:buNone/>
            </a:pPr>
            <a:r>
              <a:rPr/>
              <a:t>The term “sifting” is very descriptive. Think of the impulse as a sieve that only lets the value of the signal at one specific point pass through. All other values are multiplied by zero and eliminated. We will use this property extensively when we discuss system responses.</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top plot shows an arbitrary signal x[n]. The middle plot shows a unit impulse located at n=3. When we multiply these two signals point-by-point, the result is zero everywhere except at n=3, where the impulse is non-zero. The value of the resulting signal at n=3 is exactly the value of the original signal x[n] at n=3.</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concept of memory is about cause and effect. In a memoryless system, the effect is simultaneous with the cause. In a system with memory, past inputs influence the present output. This is often associated with the system’s ability to store energy, like a capacitor storing charge or a mass storing kinetic energy.</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plot on the left shows the input-output relationship for a resistor. It’s a straight line, meaning the output voltage is always directly proportional to the input current at that instant. This is a memoryless system. The plot on the right shows the relationship for a capacitor with a sinusoidal input current. It forms a loop, known as a hysteresis loop. For a given input current, the output voltage can be different depending on the history of the input, demonstrating the system’s memory.</a:t>
            </a:r>
          </a:p>
          <a:p>
            <a:pPr lvl="0" indent="0" marL="0">
              <a:buNone/>
            </a:pPr>
          </a:p>
          <a:p>
            <a:pPr lvl="0" indent="0" marL="0">
              <a:buNone/>
            </a:pPr>
            <a:r>
              <a:rPr/>
              <a:t>Invertibility is crucial in applications like communications and data compression. If you apply an encoding or compression scheme to a signal, you need to be able to reverse the process to get the original signal back. This means the encoding system must be invertible.</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plot on the left shows a clear, one-to-one mapping between input and output. For any given output value, there is only one possible input value. This system is invertible. The plot on the right shows the relationship y=x^2. Notice that for an output value of y=4 (the dashed red line), there are two possible input values, x=-2 and x=2. Since we can’t uniquely determine the input, this system is non-invertible.</a:t>
            </a:r>
          </a:p>
          <a:p>
            <a:pPr lvl="0" indent="0" marL="0">
              <a:buNone/>
            </a:pPr>
          </a:p>
          <a:p>
            <a:pPr lvl="0" indent="0" marL="0">
              <a:buNone/>
            </a:pPr>
            <a:r>
              <a:rPr/>
              <a:t>Causality is a fundamental constraint in systems that operate in real time. You can’t react to an event before it happens. However, if you have a complete recording of a signal, you can design a non-causal filter. For example, to smooth a noisy signal at a certain point, you might want to average the values just before and just after that point, which requires knowledge of “future” data.</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black dots represent a noisy step input. The blue line is the output of a non-causal smoothing filter. Notice how it starts to rise </a:t>
            </a:r>
            <a:r>
              <a:rPr i="1"/>
              <a:t>before</a:t>
            </a:r>
            <a:r>
              <a:rPr/>
              <a:t> the step at n=30. This is because it averages future values, anticipating the jump. The red line is from a causal filter. It only starts to react at n=30 and exhibits a characteristic lag as it catches up to the input. This lag is typical of real-time causal systems.</a:t>
            </a:r>
          </a:p>
          <a:p>
            <a:pPr lvl="0" indent="0" marL="0">
              <a:buNone/>
            </a:pPr>
          </a:p>
          <a:p>
            <a:pPr lvl="0" indent="0" marL="0">
              <a:buNone/>
            </a:pPr>
            <a:r>
              <a:rPr/>
              <a:t>Stability is about predictability and control. If you put a bounded, well-behaved signal into a system, you expect the output to also be well-behaved. If it can “explode” or grow without limit, the system is unstable and often dangerous in physical applications. Think of the inverted pendulum vs. the stable one.</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Both systems are given the same bounded step input. The stable system on the left has a response that rises and settles to a finite, bounded value. The unstable system on the right, however, has a response that grows exponentially without limit. Even though the input is perfectly bounded, the output diverges. This is the hallmark of an unstable system.</a:t>
            </a:r>
          </a:p>
          <a:p>
            <a:pPr lvl="0" indent="0" marL="0">
              <a:buNone/>
            </a:pPr>
          </a:p>
          <a:p>
            <a:pPr lvl="0" indent="0" marL="0">
              <a:buNone/>
            </a:pPr>
            <a:r>
              <a:rPr/>
              <a:t>Linearity is arguably the most important property we will study. Linear systems are much easier to analyze than non-linear ones, and many real-world systems can be approximated as linear. The superposition principle allows us to break down complex inputs into simpler components, analyze the system’s response to each, and then add the responses up.</a:t>
            </a:r>
          </a:p>
          <a:p>
            <a:pPr lvl="0" indent="0" marL="0">
              <a:buNone/>
            </a:pPr>
          </a:p>
          <a:p>
            <a:pPr lvl="0" indent="0" marL="0">
              <a:buNone/>
            </a:pPr>
            <a:r>
              <a:rPr/>
              <a:t>Time-invariance means the “rules” of the system don’t change over time. If you perform an experiment today and get a certain result, you should get the same result if you perform the exact same experiment tomorrow. The combination of Linearity and Time-Invariance (LTI) defines the class of systems we will focus on for most of this course.</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chapter has laid the mathematical groundwork for everything that follows. We’ve introduced the language of signals and systems. The key takeaway is the classification of signals and the properties of systems. In the next chapter, we will focus heavily on the class of Linear Time-Invariant (LTI) systems.</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xml" /><Relationship Id="rId3"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xml" /><Relationship Id="rId3" Type="http://schemas.openxmlformats.org/officeDocument/2006/relationships/image" Target="../media/image2.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xml" /><Relationship Id="rId3" Type="http://schemas.openxmlformats.org/officeDocument/2006/relationships/image" Target="../media/image3.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xml" /><Relationship Id="rId3" Type="http://schemas.openxmlformats.org/officeDocument/2006/relationships/image" Target="../media/image4.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xml" /><Relationship Id="rId3" Type="http://schemas.openxmlformats.org/officeDocument/2006/relationships/image" Target="../media/image5.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6.xml" /><Relationship Id="rId3" Type="http://schemas.openxmlformats.org/officeDocument/2006/relationships/image" Target="../media/image6.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8.xml" /><Relationship Id="rId3" Type="http://schemas.openxmlformats.org/officeDocument/2006/relationships/image" Target="../media/image7.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9.xml" /><Relationship Id="rId3" Type="http://schemas.openxmlformats.org/officeDocument/2006/relationships/image" Target="../media/image8.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0.xml" /><Relationship Id="rId3" Type="http://schemas.openxmlformats.org/officeDocument/2006/relationships/image" Target="../media/image9.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1.xml" /><Relationship Id="rId3" Type="http://schemas.openxmlformats.org/officeDocument/2006/relationships/image" Target="../media/image10.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3.xml" /><Relationship Id="rId3" Type="http://schemas.openxmlformats.org/officeDocument/2006/relationships/image" Target="../media/image11.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4.xml" /><Relationship Id="rId3" Type="http://schemas.openxmlformats.org/officeDocument/2006/relationships/image" Target="../media/image12.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5.xml" /><Relationship Id="rId3" Type="http://schemas.openxmlformats.org/officeDocument/2006/relationships/image" Target="../media/image13.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6.xml" /><Relationship Id="rId3" Type="http://schemas.openxmlformats.org/officeDocument/2006/relationships/image" Target="../media/image14.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7.xml" /><Relationship Id="rId3" Type="http://schemas.openxmlformats.org/officeDocument/2006/relationships/image" Target="../media/image15.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8.xml" /><Relationship Id="rId3" Type="http://schemas.openxmlformats.org/officeDocument/2006/relationships/image" Target="../media/image16.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0.xml" /><Relationship Id="rId3" Type="http://schemas.openxmlformats.org/officeDocument/2006/relationships/image" Target="../media/image17.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1.xml" /><Relationship Id="rId3" Type="http://schemas.openxmlformats.org/officeDocument/2006/relationships/image" Target="../media/image18.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2.xml" /><Relationship Id="rId3" Type="http://schemas.openxmlformats.org/officeDocument/2006/relationships/image" Target="../media/image19.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4.xml" /><Relationship Id="rId3" Type="http://schemas.openxmlformats.org/officeDocument/2006/relationships/image" Target="../media/image20.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5.xml" /><Relationship Id="rId3" Type="http://schemas.openxmlformats.org/officeDocument/2006/relationships/image" Target="../media/image21.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6.xml" /><Relationship Id="rId3" Type="http://schemas.openxmlformats.org/officeDocument/2006/relationships/image" Target="../media/image22.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7.xml" /><Relationship Id="rId3" Type="http://schemas.openxmlformats.org/officeDocument/2006/relationships/image" Target="../media/image23.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Medical Physics 1: Signals and Systems</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p>
        </p:txBody>
      </p:sp>
      <p:sp>
        <p:nvSpPr>
          <p:cNvPr id="4" name="Date Placeholder 3"/>
          <p:cNvSpPr>
            <a:spLocks noGrp="1"/>
          </p:cNvSpPr>
          <p:nvPr>
            <p:ph idx="10" sz="half" type="dt"/>
          </p:nvPr>
        </p:nvSpPr>
        <p:spPr/>
        <p:txBody>
          <a:bodyPr/>
          <a:lstStyle/>
          <a:p>
            <a:pPr lvl="0" indent="0" marL="0">
              <a:buNone/>
            </a:pPr>
            <a:r>
              <a:rPr/>
              <a:t>2025-12-16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Introduction to Signals and Systems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What are Signals?</a:t>
                </a:r>
              </a:p>
              <a:p>
                <a:pPr lvl="0"/>
                <a:r>
                  <a:rPr/>
                  <a:t>Signals are functions of one or more independent variables that contain information about a physical phenomenon.</a:t>
                </a:r>
              </a:p>
              <a:p>
                <a:pPr lvl="0"/>
                <a:r>
                  <a:rPr/>
                  <a:t>We represent signals mathematically as functions, like </a:t>
                </a:r>
                <a14:m>
                  <m:oMath xmlns:m="http://schemas.openxmlformats.org/officeDocument/2006/math">
                    <m:r>
                      <m:t>x</m:t>
                    </m:r>
                    <m:d>
                      <m:dPr>
                        <m:begChr m:val="("/>
                        <m:endChr m:val=")"/>
                        <m:sepChr m:val=""/>
                        <m:grow/>
                      </m:dPr>
                      <m:e>
                        <m:r>
                          <m:t>t</m:t>
                        </m:r>
                      </m:e>
                    </m:d>
                  </m:oMath>
                </a14:m>
                <a:r>
                  <a:rPr/>
                  <a:t> for continuous-time signals or </a:t>
                </a:r>
                <a14:m>
                  <m:oMath xmlns:m="http://schemas.openxmlformats.org/officeDocument/2006/math">
                    <m:r>
                      <m:t>x</m:t>
                    </m:r>
                    <m:d>
                      <m:dPr>
                        <m:begChr m:val="["/>
                        <m:endChr m:val="]"/>
                        <m:sepChr m:val=""/>
                        <m:grow/>
                      </m:dPr>
                      <m:e>
                        <m:r>
                          <m:t>n</m:t>
                        </m:r>
                      </m:e>
                    </m:d>
                  </m:oMath>
                </a14:m>
                <a:r>
                  <a:rPr/>
                  <a:t> for discrete-time signals.</a:t>
                </a:r>
              </a:p>
            </p:txBody>
          </p:sp>
        </mc:Choice>
      </mc:AlternateContent>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a:r>
              <a:rPr b="1"/>
              <a:t>Continuous-Time (CT) Signals:</a:t>
            </a:r>
            <a:r>
              <a:rPr/>
              <a:t> The independent variable is continuous. Examples include audio recordings and voltage in a circuit.</a:t>
            </a:r>
          </a:p>
          <a:p>
            <a:pPr lvl="0"/>
            <a:r>
              <a:rPr b="1"/>
              <a:t>Discrete-Time (DT) Signals:</a:t>
            </a:r>
            <a:r>
              <a:rPr/>
              <a:t> The independent variable takes on only a discrete set of values. Examples include daily stock prices or digital images.</a:t>
            </a:r>
          </a:p>
          <a:p>
            <a:pPr lvl="0" indent="0" marL="0">
              <a:spcBef>
                <a:spcPts val="3000"/>
              </a:spcBef>
              <a:buNone/>
            </a:pPr>
            <a:r>
              <a:rPr b="1"/>
              <a:t>Visualizing Signals</a:t>
            </a:r>
          </a:p>
        </p:txBody>
      </p:sp>
      <p:pic>
        <p:nvPicPr>
          <p:cNvPr descr="Presentation_v1_files/figure-pptx/speech_vs_wind-1.png" id="0" name="Picture 1"/>
          <p:cNvPicPr>
            <a:picLocks noGrp="1" noChangeAspect="1"/>
          </p:cNvPicPr>
          <p:nvPr/>
        </p:nvPicPr>
        <p:blipFill>
          <a:blip r:embed="rId3"/>
          <a:stretch>
            <a:fillRect/>
          </a:stretch>
        </p:blipFill>
        <p:spPr bwMode="auto">
          <a:xfrm>
            <a:off x="3568700" y="1117600"/>
            <a:ext cx="5105400" cy="25527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spcBef>
                <a:spcPts val="3000"/>
              </a:spcBef>
              <a:buNone/>
            </a:pPr>
            <a:r>
              <a:rPr b="1"/>
              <a:t>Continuous vs. Discrete Signals</a:t>
            </a:r>
          </a:p>
        </p:txBody>
      </p:sp>
      <p:pic>
        <p:nvPicPr>
          <p:cNvPr descr="Presentation_v1_files/figure-pptx/ct_vs_dt-1.png" id="0" name="Picture 1"/>
          <p:cNvPicPr>
            <a:picLocks noGrp="1" noChangeAspect="1"/>
          </p:cNvPicPr>
          <p:nvPr/>
        </p:nvPicPr>
        <p:blipFill>
          <a:blip r:embed="rId3"/>
          <a:stretch>
            <a:fillRect/>
          </a:stretch>
        </p:blipFill>
        <p:spPr bwMode="auto">
          <a:xfrm>
            <a:off x="3568700" y="1117600"/>
            <a:ext cx="5105400" cy="25527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0">
                  <a:spcBef>
                    <a:spcPts val="3000"/>
                  </a:spcBef>
                  <a:buNone/>
                </a:pPr>
                <a:r>
                  <a:rPr b="1"/>
                  <a:t>Signal Energy</a:t>
                </a:r>
              </a:p>
              <a:p>
                <a:pPr lvl="0"/>
                <a:r>
                  <a:rPr/>
                  <a:t>We often use concepts of “energy” and “power” to characterize signals, drawing an analogy from electrical circuits.</a:t>
                </a:r>
              </a:p>
              <a:p>
                <a:pPr lvl="0"/>
                <a:r>
                  <a:rPr b="1"/>
                  <a:t>Total Energy</a:t>
                </a:r>
                <a:r>
                  <a:rPr/>
                  <a:t> over an infinite interval for a CT signal </a:t>
                </a:r>
                <a14:m>
                  <m:oMath xmlns:m="http://schemas.openxmlformats.org/officeDocument/2006/math">
                    <m:r>
                      <m:t>x</m:t>
                    </m:r>
                    <m:d>
                      <m:dPr>
                        <m:begChr m:val="("/>
                        <m:endChr m:val=")"/>
                        <m:sepChr m:val=""/>
                        <m:grow/>
                      </m:dPr>
                      <m:e>
                        <m:r>
                          <m:t>t</m:t>
                        </m:r>
                      </m:e>
                    </m:d>
                  </m:oMath>
                </a14:m>
                <a:r>
                  <a:rPr/>
                  <a:t> is:</a:t>
                </a:r>
              </a:p>
              <a:p>
                <a:pPr lvl="0"/>
                <a14:m>
                  <m:oMathPara xmlns:m="http://schemas.openxmlformats.org/officeDocument/2006/math">
                    <m:oMathParaPr>
                      <m:jc m:val="center"/>
                    </m:oMathParaPr>
                    <m:oMath>
                      <m:sSub>
                        <m:e>
                          <m:r>
                            <m:t>E</m:t>
                          </m:r>
                        </m:e>
                        <m:sub>
                          <m:r>
                            <m:rPr>
                              <m:sty m:val="p"/>
                            </m:rPr>
                            <m:t>∞</m:t>
                          </m:r>
                        </m:sub>
                      </m:sSub>
                      <m:r>
                        <m:rPr>
                          <m:sty m:val="p"/>
                        </m:rPr>
                        <m:t>=</m:t>
                      </m:r>
                      <m:nary>
                        <m:naryPr>
                          <m:chr m:val="∫"/>
                          <m:limLoc m:val="subSup"/>
                          <m:subHide m:val="off"/>
                          <m:supHide m:val="off"/>
                        </m:naryPr>
                        <m:sub>
                          <m:r>
                            <m:rPr>
                              <m:sty m:val="p"/>
                            </m:rPr>
                            <m:t>−</m:t>
                          </m:r>
                          <m:r>
                            <m:rPr>
                              <m:sty m:val="p"/>
                            </m:rPr>
                            <m:t>∞</m:t>
                          </m:r>
                        </m:sub>
                        <m:sup>
                          <m:r>
                            <m:rPr>
                              <m:sty m:val="p"/>
                            </m:rPr>
                            <m:t>∞</m:t>
                          </m:r>
                        </m:sup>
                        <m:e>
                          <m:sSup>
                            <m:e>
                              <m:d>
                                <m:dPr>
                                  <m:begChr m:val="|"/>
                                  <m:endChr m:val="|"/>
                                  <m:sepChr m:val=""/>
                                  <m:grow/>
                                </m:dPr>
                                <m:e>
                                  <m:r>
                                    <m:t>x</m:t>
                                  </m:r>
                                  <m:d>
                                    <m:dPr>
                                      <m:begChr m:val="("/>
                                      <m:endChr m:val=")"/>
                                      <m:sepChr m:val=""/>
                                      <m:grow/>
                                    </m:dPr>
                                    <m:e>
                                      <m:r>
                                        <m:t>t</m:t>
                                      </m:r>
                                    </m:e>
                                  </m:d>
                                </m:e>
                              </m:d>
                            </m:e>
                            <m:sup>
                              <m:r>
                                <m:t>2</m:t>
                              </m:r>
                            </m:sup>
                          </m:sSup>
                        </m:e>
                      </m:nary>
                      <m:r>
                        <m:t>d</m:t>
                      </m:r>
                      <m:r>
                        <m:t>t</m:t>
                      </m:r>
                    </m:oMath>
                  </m:oMathPara>
                </a14:m>
              </a:p>
              <a:p>
                <a:pPr lvl="0" indent="0" marL="0">
                  <a:spcBef>
                    <a:spcPts val="3000"/>
                  </a:spcBef>
                  <a:buNone/>
                </a:pPr>
                <a:r>
                  <a:rPr b="1"/>
                  <a:t>Average Signal Power</a:t>
                </a:r>
              </a:p>
              <a:p>
                <a:pPr lvl="0"/>
                <a:r>
                  <a:rPr b="1"/>
                  <a:t>Average Power</a:t>
                </a:r>
                <a:r>
                  <a:rPr/>
                  <a:t> over an infinite interval is:</a:t>
                </a:r>
              </a:p>
              <a:p>
                <a:pPr lvl="0"/>
                <a14:m>
                  <m:oMathPara xmlns:m="http://schemas.openxmlformats.org/officeDocument/2006/math">
                    <m:oMathParaPr>
                      <m:jc m:val="center"/>
                    </m:oMathParaPr>
                    <m:oMath>
                      <m:sSub>
                        <m:e>
                          <m:r>
                            <m:t>P</m:t>
                          </m:r>
                        </m:e>
                        <m:sub>
                          <m:r>
                            <m:rPr>
                              <m:sty m:val="p"/>
                            </m:rPr>
                            <m:t>∞</m:t>
                          </m:r>
                        </m:sub>
                      </m:sSub>
                      <m:r>
                        <m:rPr>
                          <m:sty m:val="p"/>
                        </m:rPr>
                        <m:t>=</m:t>
                      </m:r>
                      <m:limLow>
                        <m:e>
                          <m:r>
                            <m:rPr>
                              <m:sty m:val="p"/>
                            </m:rPr>
                            <m:t>lim</m:t>
                          </m:r>
                        </m:e>
                        <m:lim>
                          <m:r>
                            <m:t>T</m:t>
                          </m:r>
                          <m:r>
                            <m:rPr>
                              <m:sty m:val="p"/>
                            </m:rPr>
                            <m:t>→</m:t>
                          </m:r>
                          <m:r>
                            <m:rPr>
                              <m:sty m:val="p"/>
                            </m:rPr>
                            <m:t>∞</m:t>
                          </m:r>
                        </m:lim>
                      </m:limLow>
                      <m:f>
                        <m:fPr>
                          <m:type m:val="bar"/>
                        </m:fPr>
                        <m:num>
                          <m:r>
                            <m:t>1</m:t>
                          </m:r>
                        </m:num>
                        <m:den>
                          <m:r>
                            <m:t>2</m:t>
                          </m:r>
                          <m:r>
                            <m:t>T</m:t>
                          </m:r>
                        </m:den>
                      </m:f>
                      <m:nary>
                        <m:naryPr>
                          <m:chr m:val="∫"/>
                          <m:limLoc m:val="subSup"/>
                          <m:subHide m:val="off"/>
                          <m:supHide m:val="off"/>
                        </m:naryPr>
                        <m:sub>
                          <m:r>
                            <m:rPr>
                              <m:sty m:val="p"/>
                            </m:rPr>
                            <m:t>−</m:t>
                          </m:r>
                          <m:r>
                            <m:t>T</m:t>
                          </m:r>
                        </m:sub>
                        <m:sup>
                          <m:r>
                            <m:t>T</m:t>
                          </m:r>
                        </m:sup>
                        <m:e>
                          <m:sSup>
                            <m:e>
                              <m:d>
                                <m:dPr>
                                  <m:begChr m:val="|"/>
                                  <m:endChr m:val="|"/>
                                  <m:sepChr m:val=""/>
                                  <m:grow/>
                                </m:dPr>
                                <m:e>
                                  <m:r>
                                    <m:t>x</m:t>
                                  </m:r>
                                  <m:d>
                                    <m:dPr>
                                      <m:begChr m:val="("/>
                                      <m:endChr m:val=")"/>
                                      <m:sepChr m:val=""/>
                                      <m:grow/>
                                    </m:dPr>
                                    <m:e>
                                      <m:r>
                                        <m:t>t</m:t>
                                      </m:r>
                                    </m:e>
                                  </m:d>
                                </m:e>
                              </m:d>
                            </m:e>
                            <m:sup>
                              <m:r>
                                <m:t>2</m:t>
                              </m:r>
                            </m:sup>
                          </m:sSup>
                        </m:e>
                      </m:nary>
                      <m:r>
                        <m:t>d</m:t>
                      </m:r>
                      <m:r>
                        <m:t>t</m:t>
                      </m:r>
                    </m:oMath>
                  </m:oMathPara>
                </a14:m>
              </a:p>
              <a:p>
                <a:pPr lvl="0"/>
                <a:r>
                  <a:rPr/>
                  <a:t>Similar definitions exist for discrete-time signals. A signal is an </a:t>
                </a:r>
                <a:r>
                  <a:rPr b="1"/>
                  <a:t>energy signal</a:t>
                </a:r>
                <a:r>
                  <a:rPr/>
                  <a:t> if </a:t>
                </a:r>
                <a14:m>
                  <m:oMath xmlns:m="http://schemas.openxmlformats.org/officeDocument/2006/math">
                    <m:sSub>
                      <m:e>
                        <m:r>
                          <m:t>E</m:t>
                        </m:r>
                      </m:e>
                      <m:sub>
                        <m:r>
                          <m:rPr>
                            <m:sty m:val="p"/>
                          </m:rPr>
                          <m:t>∞</m:t>
                        </m:r>
                      </m:sub>
                    </m:sSub>
                    <m:r>
                      <m:rPr>
                        <m:sty m:val="p"/>
                      </m:rPr>
                      <m:t>&lt;</m:t>
                    </m:r>
                    <m:r>
                      <m:rPr>
                        <m:sty m:val="p"/>
                      </m:rPr>
                      <m:t>∞</m:t>
                    </m:r>
                  </m:oMath>
                </a14:m>
                <a:r>
                  <a:rPr/>
                  <a:t>. A signal is a </a:t>
                </a:r>
                <a:r>
                  <a:rPr b="1"/>
                  <a:t>power signal</a:t>
                </a:r>
                <a:r>
                  <a:rPr/>
                  <a:t> if </a:t>
                </a:r>
                <a14:m>
                  <m:oMath xmlns:m="http://schemas.openxmlformats.org/officeDocument/2006/math">
                    <m:r>
                      <m:t>0</m:t>
                    </m:r>
                    <m:r>
                      <m:rPr>
                        <m:sty m:val="p"/>
                      </m:rPr>
                      <m:t>&lt;</m:t>
                    </m:r>
                    <m:sSub>
                      <m:e>
                        <m:r>
                          <m:t>P</m:t>
                        </m:r>
                      </m:e>
                      <m:sub>
                        <m:r>
                          <m:rPr>
                            <m:sty m:val="p"/>
                          </m:rPr>
                          <m:t>∞</m:t>
                        </m:r>
                      </m:sub>
                    </m:sSub>
                    <m:r>
                      <m:rPr>
                        <m:sty m:val="p"/>
                      </m:rPr>
                      <m:t>&lt;</m:t>
                    </m:r>
                    <m:r>
                      <m:rPr>
                        <m:sty m:val="p"/>
                      </m:rPr>
                      <m:t>∞</m:t>
                    </m:r>
                  </m:oMath>
                </a14:m>
                <a:r>
                  <a:rPr/>
                  <a:t>.</a:t>
                </a:r>
              </a:p>
              <a:p>
                <a:pPr lvl="0" indent="0" marL="0">
                  <a:spcBef>
                    <a:spcPts val="3000"/>
                  </a:spcBef>
                  <a:buNone/>
                </a:pPr>
                <a:r>
                  <a:rPr b="1"/>
                  <a:t>Instantaneous Power Example</a:t>
                </a:r>
              </a:p>
            </p:txBody>
          </p:sp>
        </mc:Choice>
      </mc:AlternateContent>
      <p:pic>
        <p:nvPicPr>
          <p:cNvPr descr="Presentation_v1_files/figure-pptx/power_plot-1.png" id="0" name="Picture 1"/>
          <p:cNvPicPr>
            <a:picLocks noGrp="1" noChangeAspect="1"/>
          </p:cNvPicPr>
          <p:nvPr/>
        </p:nvPicPr>
        <p:blipFill>
          <a:blip r:embed="rId3"/>
          <a:stretch>
            <a:fillRect/>
          </a:stretch>
        </p:blipFill>
        <p:spPr bwMode="auto">
          <a:xfrm>
            <a:off x="3568700" y="1117600"/>
            <a:ext cx="5105400" cy="25527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spcBef>
                <a:spcPts val="3000"/>
              </a:spcBef>
              <a:buNone/>
            </a:pPr>
            <a:r>
              <a:rPr b="1"/>
              <a:t>Total Energy Calculation</a:t>
            </a:r>
          </a:p>
          <a:p>
            <a:pPr lvl="0"/>
            <a:r>
              <a:rPr/>
              <a:t>The </a:t>
            </a:r>
            <a:r>
              <a:rPr b="1"/>
              <a:t>Total Energy</a:t>
            </a:r>
            <a:r>
              <a:rPr/>
              <a:t> of a signal is the integral (or sum for DT) of its squared magnitude.</a:t>
            </a:r>
          </a:p>
          <a:p>
            <a:pPr lvl="0"/>
            <a:r>
              <a:rPr/>
              <a:t>For a finite-duration signal, this represents the total energy it contains.</a:t>
            </a:r>
          </a:p>
          <a:p>
            <a:pPr lvl="0"/>
            <a:r>
              <a:rPr/>
              <a:t>Let’s visualize how this energy accumulates over time.</a:t>
            </a:r>
          </a:p>
          <a:p>
            <a:pPr lvl="0" indent="0" marL="0">
              <a:spcBef>
                <a:spcPts val="3000"/>
              </a:spcBef>
              <a:buNone/>
            </a:pPr>
            <a:r>
              <a:rPr b="1"/>
              <a:t>Energy Accumulation Plot</a:t>
            </a:r>
          </a:p>
        </p:txBody>
      </p:sp>
      <p:pic>
        <p:nvPicPr>
          <p:cNvPr descr="Presentation_v1_files/figure-pptx/energy_accumulation-3.png" id="0" name="Picture 1"/>
          <p:cNvPicPr>
            <a:picLocks noGrp="1" noChangeAspect="1"/>
          </p:cNvPicPr>
          <p:nvPr/>
        </p:nvPicPr>
        <p:blipFill>
          <a:blip r:embed="rId3"/>
          <a:stretch>
            <a:fillRect/>
          </a:stretch>
        </p:blipFill>
        <p:spPr bwMode="auto">
          <a:xfrm>
            <a:off x="3568700" y="1117600"/>
            <a:ext cx="5105400" cy="25527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0">
                  <a:spcBef>
                    <a:spcPts val="3000"/>
                  </a:spcBef>
                  <a:buNone/>
                </a:pPr>
                <a:r>
                  <a:rPr b="1"/>
                  <a:t>Transformations of the Independent Variable</a:t>
                </a:r>
              </a:p>
              <a:p>
                <a:pPr lvl="0"/>
                <a:r>
                  <a:rPr/>
                  <a:t>We can transform a signal by changing its independent variable. The most common transformation is a </a:t>
                </a:r>
                <a:r>
                  <a:rPr b="1"/>
                  <a:t>time shift</a:t>
                </a:r>
                <a:r>
                  <a:rPr/>
                  <a:t>.</a:t>
                </a:r>
              </a:p>
              <a:p>
                <a:pPr lvl="0"/>
                <a:r>
                  <a:rPr/>
                  <a:t>A signal </a:t>
                </a:r>
                <a14:m>
                  <m:oMath xmlns:m="http://schemas.openxmlformats.org/officeDocument/2006/math">
                    <m:r>
                      <m:t>x</m:t>
                    </m:r>
                    <m:d>
                      <m:dPr>
                        <m:begChr m:val="("/>
                        <m:endChr m:val=")"/>
                        <m:sepChr m:val=""/>
                        <m:grow/>
                      </m:dPr>
                      <m:e>
                        <m:r>
                          <m:t>t</m:t>
                        </m:r>
                        <m:r>
                          <m:rPr>
                            <m:sty m:val="p"/>
                          </m:rPr>
                          <m:t>−</m:t>
                        </m:r>
                        <m:sSub>
                          <m:e>
                            <m:r>
                              <m:t>t</m:t>
                            </m:r>
                          </m:e>
                          <m:sub>
                            <m:r>
                              <m:t>0</m:t>
                            </m:r>
                          </m:sub>
                        </m:sSub>
                      </m:e>
                    </m:d>
                  </m:oMath>
                </a14:m>
                <a:r>
                  <a:rPr/>
                  <a:t> is a time-shifted version of </a:t>
                </a:r>
                <a14:m>
                  <m:oMath xmlns:m="http://schemas.openxmlformats.org/officeDocument/2006/math">
                    <m:r>
                      <m:t>x</m:t>
                    </m:r>
                    <m:d>
                      <m:dPr>
                        <m:begChr m:val="("/>
                        <m:endChr m:val=")"/>
                        <m:sepChr m:val=""/>
                        <m:grow/>
                      </m:dPr>
                      <m:e>
                        <m:r>
                          <m:t>t</m:t>
                        </m:r>
                      </m:e>
                    </m:d>
                  </m:oMath>
                </a14:m>
                <a:r>
                  <a:rPr/>
                  <a:t>.</a:t>
                </a:r>
              </a:p>
              <a:p>
                <a:pPr lvl="1"/>
                <a:r>
                  <a:rPr/>
                  <a:t>If </a:t>
                </a:r>
                <a14:m>
                  <m:oMath xmlns:m="http://schemas.openxmlformats.org/officeDocument/2006/math">
                    <m:sSub>
                      <m:e>
                        <m:r>
                          <m:t>t</m:t>
                        </m:r>
                      </m:e>
                      <m:sub>
                        <m:r>
                          <m:t>0</m:t>
                        </m:r>
                      </m:sub>
                    </m:sSub>
                    <m:r>
                      <m:rPr>
                        <m:sty m:val="p"/>
                      </m:rPr>
                      <m:t>&gt;</m:t>
                    </m:r>
                    <m:r>
                      <m:t>0</m:t>
                    </m:r>
                  </m:oMath>
                </a14:m>
                <a:r>
                  <a:rPr/>
                  <a:t>, the signal is delayed (shifted right).</a:t>
                </a:r>
              </a:p>
              <a:p>
                <a:pPr lvl="1"/>
                <a:r>
                  <a:rPr/>
                  <a:t>If </a:t>
                </a:r>
                <a14:m>
                  <m:oMath xmlns:m="http://schemas.openxmlformats.org/officeDocument/2006/math">
                    <m:sSub>
                      <m:e>
                        <m:r>
                          <m:t>t</m:t>
                        </m:r>
                      </m:e>
                      <m:sub>
                        <m:r>
                          <m:t>0</m:t>
                        </m:r>
                      </m:sub>
                    </m:sSub>
                    <m:r>
                      <m:rPr>
                        <m:sty m:val="p"/>
                      </m:rPr>
                      <m:t>&lt;</m:t>
                    </m:r>
                    <m:r>
                      <m:t>0</m:t>
                    </m:r>
                  </m:oMath>
                </a14:m>
                <a:r>
                  <a:rPr/>
                  <a:t>, the signal is advanced (shifted left).</a:t>
                </a:r>
              </a:p>
              <a:p>
                <a:pPr lvl="0"/>
                <a:r>
                  <a:rPr/>
                  <a:t>Similarly for discrete-time signals, </a:t>
                </a:r>
                <a14:m>
                  <m:oMath xmlns:m="http://schemas.openxmlformats.org/officeDocument/2006/math">
                    <m:r>
                      <m:t>x</m:t>
                    </m:r>
                    <m:d>
                      <m:dPr>
                        <m:begChr m:val="["/>
                        <m:endChr m:val="]"/>
                        <m:sepChr m:val=""/>
                        <m:grow/>
                      </m:dPr>
                      <m:e>
                        <m:r>
                          <m:t>n</m:t>
                        </m:r>
                        <m:r>
                          <m:rPr>
                            <m:sty m:val="p"/>
                          </m:rPr>
                          <m:t>−</m:t>
                        </m:r>
                        <m:sSub>
                          <m:e>
                            <m:r>
                              <m:t>n</m:t>
                            </m:r>
                          </m:e>
                          <m:sub>
                            <m:r>
                              <m:t>0</m:t>
                            </m:r>
                          </m:sub>
                        </m:sSub>
                      </m:e>
                    </m:d>
                  </m:oMath>
                </a14:m>
                <a:r>
                  <a:rPr/>
                  <a:t>.</a:t>
                </a:r>
              </a:p>
              <a:p>
                <a:pPr lvl="0" indent="0" marL="0">
                  <a:spcBef>
                    <a:spcPts val="3000"/>
                  </a:spcBef>
                  <a:buNone/>
                </a:pPr>
                <a:r>
                  <a:rPr b="1"/>
                  <a:t>Visualizing Time Shifts</a:t>
                </a:r>
              </a:p>
            </p:txBody>
          </p:sp>
        </mc:Choice>
      </mc:AlternateContent>
      <p:pic>
        <p:nvPicPr>
          <p:cNvPr descr="Presentation_v1_files/figure-pptx/time_shift_plot-1.png" id="0" name="Picture 1"/>
          <p:cNvPicPr>
            <a:picLocks noGrp="1" noChangeAspect="1"/>
          </p:cNvPicPr>
          <p:nvPr/>
        </p:nvPicPr>
        <p:blipFill>
          <a:blip r:embed="rId3"/>
          <a:stretch>
            <a:fillRect/>
          </a:stretch>
        </p:blipFill>
        <p:spPr bwMode="auto">
          <a:xfrm>
            <a:off x="3568700" y="1549400"/>
            <a:ext cx="5105400" cy="17018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0">
                  <a:spcBef>
                    <a:spcPts val="3000"/>
                  </a:spcBef>
                  <a:buNone/>
                </a:pPr>
                <a:r>
                  <a:rPr b="1"/>
                  <a:t>Combined Transformations</a:t>
                </a:r>
              </a:p>
              <a:p>
                <a:pPr lvl="0"/>
                <a:r>
                  <a:rPr/>
                  <a:t>We can combine shifting, reversal, and scaling.</a:t>
                </a:r>
              </a:p>
              <a:p>
                <a:pPr lvl="0"/>
                <a:r>
                  <a:rPr/>
                  <a:t>The operation </a:t>
                </a:r>
                <a14:m>
                  <m:oMath xmlns:m="http://schemas.openxmlformats.org/officeDocument/2006/math">
                    <m:r>
                      <m:t>x</m:t>
                    </m:r>
                    <m:d>
                      <m:dPr>
                        <m:begChr m:val="("/>
                        <m:endChr m:val=")"/>
                        <m:sepChr m:val=""/>
                        <m:grow/>
                      </m:dPr>
                      <m:e>
                        <m:r>
                          <m:t>a</m:t>
                        </m:r>
                        <m:r>
                          <m:t>t</m:t>
                        </m:r>
                        <m:r>
                          <m:rPr>
                            <m:sty m:val="p"/>
                          </m:rPr>
                          <m:t>+</m:t>
                        </m:r>
                        <m:r>
                          <m:t>b</m:t>
                        </m:r>
                      </m:e>
                    </m:d>
                  </m:oMath>
                </a14:m>
                <a:r>
                  <a:rPr/>
                  <a:t> can be visualized by first shifting </a:t>
                </a:r>
                <a14:m>
                  <m:oMath xmlns:m="http://schemas.openxmlformats.org/officeDocument/2006/math">
                    <m:r>
                      <m:t>x</m:t>
                    </m:r>
                    <m:d>
                      <m:dPr>
                        <m:begChr m:val="("/>
                        <m:endChr m:val=")"/>
                        <m:sepChr m:val=""/>
                        <m:grow/>
                      </m:dPr>
                      <m:e>
                        <m:r>
                          <m:t>t</m:t>
                        </m:r>
                      </m:e>
                    </m:d>
                  </m:oMath>
                </a14:m>
                <a:r>
                  <a:rPr/>
                  <a:t> by </a:t>
                </a:r>
                <a14:m>
                  <m:oMath xmlns:m="http://schemas.openxmlformats.org/officeDocument/2006/math">
                    <m:r>
                      <m:t>b</m:t>
                    </m:r>
                  </m:oMath>
                </a14:m>
                <a:r>
                  <a:rPr/>
                  <a:t> to get </a:t>
                </a:r>
                <a14:m>
                  <m:oMath xmlns:m="http://schemas.openxmlformats.org/officeDocument/2006/math">
                    <m:r>
                      <m:t>x</m:t>
                    </m:r>
                    <m:d>
                      <m:dPr>
                        <m:begChr m:val="("/>
                        <m:endChr m:val=")"/>
                        <m:sepChr m:val=""/>
                        <m:grow/>
                      </m:dPr>
                      <m:e>
                        <m:r>
                          <m:t>t</m:t>
                        </m:r>
                        <m:r>
                          <m:rPr>
                            <m:sty m:val="p"/>
                          </m:rPr>
                          <m:t>+</m:t>
                        </m:r>
                        <m:r>
                          <m:t>b</m:t>
                        </m:r>
                      </m:e>
                    </m:d>
                  </m:oMath>
                </a14:m>
                <a:r>
                  <a:rPr/>
                  <a:t>, and then scaling the result by </a:t>
                </a:r>
                <a14:m>
                  <m:oMath xmlns:m="http://schemas.openxmlformats.org/officeDocument/2006/math">
                    <m:r>
                      <m:t>a</m:t>
                    </m:r>
                  </m:oMath>
                </a14:m>
                <a:r>
                  <a:rPr/>
                  <a:t>.</a:t>
                </a:r>
              </a:p>
              <a:p>
                <a:pPr lvl="0"/>
                <a:r>
                  <a:rPr/>
                  <a:t>Order matters! Shifting then scaling is different from scaling then shifting.</a:t>
                </a:r>
              </a:p>
            </p:txBody>
          </p:sp>
        </mc:Choice>
      </mc:AlternateContent>
      <p:pic>
        <p:nvPicPr>
          <p:cNvPr descr="Presentation_v1_files/figure-pptx/combined_transform_plot-3.png" id="0" name="Picture 1"/>
          <p:cNvPicPr>
            <a:picLocks noGrp="1" noChangeAspect="1"/>
          </p:cNvPicPr>
          <p:nvPr/>
        </p:nvPicPr>
        <p:blipFill>
          <a:blip r:embed="rId3"/>
          <a:stretch>
            <a:fillRect/>
          </a:stretch>
        </p:blipFill>
        <p:spPr bwMode="auto">
          <a:xfrm>
            <a:off x="3568700" y="1549400"/>
            <a:ext cx="5105400" cy="17018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Transformations of the Independent Variable</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spcBef>
                    <a:spcPts val="3000"/>
                  </a:spcBef>
                  <a:buNone/>
                </a:pPr>
                <a:r>
                  <a:rPr b="1"/>
                  <a:t>Time Reversal</a:t>
                </a:r>
              </a:p>
              <a:p>
                <a:pPr lvl="0"/>
                <a:r>
                  <a:rPr/>
                  <a:t>Another common transformation is </a:t>
                </a:r>
                <a:r>
                  <a:rPr b="1"/>
                  <a:t>time reversal</a:t>
                </a:r>
                <a:r>
                  <a:rPr/>
                  <a:t>.</a:t>
                </a:r>
              </a:p>
              <a:p>
                <a:pPr lvl="0"/>
                <a:r>
                  <a:rPr/>
                  <a:t>The signal </a:t>
                </a:r>
                <a14:m>
                  <m:oMath xmlns:m="http://schemas.openxmlformats.org/officeDocument/2006/math">
                    <m:r>
                      <m:t>x</m:t>
                    </m:r>
                    <m:d>
                      <m:dPr>
                        <m:begChr m:val="("/>
                        <m:endChr m:val=")"/>
                        <m:sepChr m:val=""/>
                        <m:grow/>
                      </m:dPr>
                      <m:e>
                        <m:r>
                          <m:rPr>
                            <m:sty m:val="p"/>
                          </m:rPr>
                          <m:t>−</m:t>
                        </m:r>
                        <m:r>
                          <m:t>t</m:t>
                        </m:r>
                      </m:e>
                    </m:d>
                  </m:oMath>
                </a14:m>
                <a:r>
                  <a:rPr/>
                  <a:t> is the version of </a:t>
                </a:r>
                <a14:m>
                  <m:oMath xmlns:m="http://schemas.openxmlformats.org/officeDocument/2006/math">
                    <m:r>
                      <m:t>x</m:t>
                    </m:r>
                    <m:d>
                      <m:dPr>
                        <m:begChr m:val="("/>
                        <m:endChr m:val=")"/>
                        <m:sepChr m:val=""/>
                        <m:grow/>
                      </m:dPr>
                      <m:e>
                        <m:r>
                          <m:t>t</m:t>
                        </m:r>
                      </m:e>
                    </m:d>
                  </m:oMath>
                </a14:m>
                <a:r>
                  <a:rPr/>
                  <a:t> reflected about the origin (</a:t>
                </a:r>
                <a14:m>
                  <m:oMath xmlns:m="http://schemas.openxmlformats.org/officeDocument/2006/math">
                    <m:r>
                      <m:t>t</m:t>
                    </m:r>
                    <m:r>
                      <m:rPr>
                        <m:sty m:val="p"/>
                      </m:rPr>
                      <m:t>=</m:t>
                    </m:r>
                    <m:r>
                      <m:t>0</m:t>
                    </m:r>
                  </m:oMath>
                </a14:m>
                <a:r>
                  <a:rPr/>
                  <a:t>).</a:t>
                </a:r>
              </a:p>
              <a:p>
                <a:pPr lvl="0"/>
                <a:r>
                  <a:rPr/>
                  <a:t>If you were to play a tape recording of </a:t>
                </a:r>
                <a14:m>
                  <m:oMath xmlns:m="http://schemas.openxmlformats.org/officeDocument/2006/math">
                    <m:r>
                      <m:t>x</m:t>
                    </m:r>
                    <m:d>
                      <m:dPr>
                        <m:begChr m:val="("/>
                        <m:endChr m:val=")"/>
                        <m:sepChr m:val=""/>
                        <m:grow/>
                      </m:dPr>
                      <m:e>
                        <m:r>
                          <m:t>t</m:t>
                        </m:r>
                      </m:e>
                    </m:d>
                  </m:oMath>
                </a14:m>
                <a:r>
                  <a:rPr/>
                  <a:t> backward, you would hear </a:t>
                </a:r>
                <a14:m>
                  <m:oMath xmlns:m="http://schemas.openxmlformats.org/officeDocument/2006/math">
                    <m:r>
                      <m:t>x</m:t>
                    </m:r>
                    <m:d>
                      <m:dPr>
                        <m:begChr m:val="("/>
                        <m:endChr m:val=")"/>
                        <m:sepChr m:val=""/>
                        <m:grow/>
                      </m:dPr>
                      <m:e>
                        <m:r>
                          <m:rPr>
                            <m:sty m:val="p"/>
                          </m:rPr>
                          <m:t>−</m:t>
                        </m:r>
                        <m:r>
                          <m:t>t</m:t>
                        </m:r>
                      </m:e>
                    </m:d>
                  </m:oMath>
                </a14:m>
                <a:r>
                  <a:rPr/>
                  <a:t>.</a:t>
                </a:r>
              </a:p>
              <a:p>
                <a:pPr lvl="0" indent="0" marL="0">
                  <a:spcBef>
                    <a:spcPts val="3000"/>
                  </a:spcBef>
                  <a:buNone/>
                </a:pPr>
                <a:r>
                  <a:rPr b="1"/>
                  <a:t>Visualizing Time Reversal</a:t>
                </a:r>
              </a:p>
            </p:txBody>
          </p:sp>
        </mc:Choice>
      </mc:AlternateContent>
      <p:pic>
        <p:nvPicPr>
          <p:cNvPr descr="Presentation_v1_files/figure-pptx/time_reversal_plot-5.png" id="0" name="Picture 1"/>
          <p:cNvPicPr>
            <a:picLocks noGrp="1" noChangeAspect="1"/>
          </p:cNvPicPr>
          <p:nvPr/>
        </p:nvPicPr>
        <p:blipFill>
          <a:blip r:embed="rId3"/>
          <a:stretch>
            <a:fillRect/>
          </a:stretch>
        </p:blipFill>
        <p:spPr bwMode="auto">
          <a:xfrm>
            <a:off x="3568700" y="1371600"/>
            <a:ext cx="5105400" cy="20447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0">
                  <a:spcBef>
                    <a:spcPts val="3000"/>
                  </a:spcBef>
                  <a:buNone/>
                </a:pPr>
                <a:r>
                  <a:rPr b="1"/>
                  <a:t>Time Scaling</a:t>
                </a:r>
              </a:p>
              <a:p>
                <a:pPr lvl="0"/>
                <a:r>
                  <a:rPr b="1"/>
                  <a:t>Time Scaling</a:t>
                </a:r>
                <a:r>
                  <a:rPr/>
                  <a:t> compresses or stretches a signal in time.</a:t>
                </a:r>
              </a:p>
              <a:p>
                <a:pPr lvl="0"/>
                <a:r>
                  <a:rPr/>
                  <a:t>Consider </a:t>
                </a:r>
                <a14:m>
                  <m:oMath xmlns:m="http://schemas.openxmlformats.org/officeDocument/2006/math">
                    <m:r>
                      <m:t>x</m:t>
                    </m:r>
                    <m:d>
                      <m:dPr>
                        <m:begChr m:val="("/>
                        <m:endChr m:val=")"/>
                        <m:sepChr m:val=""/>
                        <m:grow/>
                      </m:dPr>
                      <m:e>
                        <m:r>
                          <m:t>a</m:t>
                        </m:r>
                        <m:r>
                          <m:t>t</m:t>
                        </m:r>
                      </m:e>
                    </m:d>
                  </m:oMath>
                </a14:m>
                <a:r>
                  <a:rPr/>
                  <a:t>:</a:t>
                </a:r>
              </a:p>
              <a:p>
                <a:pPr lvl="1"/>
                <a:r>
                  <a:rPr/>
                  <a:t>If </a:t>
                </a:r>
                <a14:m>
                  <m:oMath xmlns:m="http://schemas.openxmlformats.org/officeDocument/2006/math">
                    <m:d>
                      <m:dPr>
                        <m:begChr m:val="|"/>
                        <m:endChr m:val="|"/>
                        <m:sepChr m:val=""/>
                        <m:grow/>
                      </m:dPr>
                      <m:e>
                        <m:r>
                          <m:t>a</m:t>
                        </m:r>
                      </m:e>
                    </m:d>
                    <m:r>
                      <m:rPr>
                        <m:sty m:val="p"/>
                      </m:rPr>
                      <m:t>&gt;</m:t>
                    </m:r>
                    <m:r>
                      <m:t>1</m:t>
                    </m:r>
                  </m:oMath>
                </a14:m>
                <a:r>
                  <a:rPr/>
                  <a:t>, the signal is </a:t>
                </a:r>
                <a:r>
                  <a:rPr b="1"/>
                  <a:t>compressed</a:t>
                </a:r>
                <a:r>
                  <a:rPr/>
                  <a:t> (it happens faster).</a:t>
                </a:r>
              </a:p>
              <a:p>
                <a:pPr lvl="1"/>
                <a:r>
                  <a:rPr/>
                  <a:t>If </a:t>
                </a:r>
                <a14:m>
                  <m:oMath xmlns:m="http://schemas.openxmlformats.org/officeDocument/2006/math">
                    <m:r>
                      <m:t>0</m:t>
                    </m:r>
                    <m:r>
                      <m:rPr>
                        <m:sty m:val="p"/>
                      </m:rPr>
                      <m:t>&lt;</m:t>
                    </m:r>
                    <m:d>
                      <m:dPr>
                        <m:begChr m:val="|"/>
                        <m:endChr m:val="|"/>
                        <m:sepChr m:val=""/>
                        <m:grow/>
                      </m:dPr>
                      <m:e>
                        <m:r>
                          <m:t>a</m:t>
                        </m:r>
                      </m:e>
                    </m:d>
                    <m:r>
                      <m:rPr>
                        <m:sty m:val="p"/>
                      </m:rPr>
                      <m:t>&lt;</m:t>
                    </m:r>
                    <m:r>
                      <m:t>1</m:t>
                    </m:r>
                  </m:oMath>
                </a14:m>
                <a:r>
                  <a:rPr/>
                  <a:t>, the signal is </a:t>
                </a:r>
                <a:r>
                  <a:rPr b="1"/>
                  <a:t>stretched</a:t>
                </a:r>
                <a:r>
                  <a:rPr/>
                  <a:t> (it happens slower).</a:t>
                </a:r>
              </a:p>
              <a:p>
                <a:pPr lvl="0"/>
                <a:r>
                  <a:rPr/>
                  <a:t>Think of playing a tape at a different speed. </a:t>
                </a:r>
                <a14:m>
                  <m:oMath xmlns:m="http://schemas.openxmlformats.org/officeDocument/2006/math">
                    <m:r>
                      <m:t>x</m:t>
                    </m:r>
                    <m:d>
                      <m:dPr>
                        <m:begChr m:val="("/>
                        <m:endChr m:val=")"/>
                        <m:sepChr m:val=""/>
                        <m:grow/>
                      </m:dPr>
                      <m:e>
                        <m:r>
                          <m:t>2</m:t>
                        </m:r>
                        <m:r>
                          <m:t>t</m:t>
                        </m:r>
                      </m:e>
                    </m:d>
                  </m:oMath>
                </a14:m>
                <a:r>
                  <a:rPr/>
                  <a:t> is twice the speed; </a:t>
                </a:r>
                <a14:m>
                  <m:oMath xmlns:m="http://schemas.openxmlformats.org/officeDocument/2006/math">
                    <m:r>
                      <m:t>x</m:t>
                    </m:r>
                    <m:d>
                      <m:dPr>
                        <m:begChr m:val="("/>
                        <m:endChr m:val=")"/>
                        <m:sepChr m:val=""/>
                        <m:grow/>
                      </m:dPr>
                      <m:e>
                        <m:r>
                          <m:t>0.5</m:t>
                        </m:r>
                        <m:r>
                          <m:t>t</m:t>
                        </m:r>
                      </m:e>
                    </m:d>
                  </m:oMath>
                </a14:m>
                <a:r>
                  <a:rPr/>
                  <a:t> is half the speed.</a:t>
                </a:r>
              </a:p>
              <a:p>
                <a:pPr lvl="0" indent="0" marL="0">
                  <a:spcBef>
                    <a:spcPts val="3000"/>
                  </a:spcBef>
                  <a:buNone/>
                </a:pPr>
                <a:r>
                  <a:rPr b="1"/>
                  <a:t>Visualizing Time Scaling</a:t>
                </a:r>
              </a:p>
            </p:txBody>
          </p:sp>
        </mc:Choice>
      </mc:AlternateContent>
      <p:pic>
        <p:nvPicPr>
          <p:cNvPr descr="Presentation_v1_files/figure-pptx/time_scaling_plot-7.png" id="0" name="Picture 1"/>
          <p:cNvPicPr>
            <a:picLocks noGrp="1" noChangeAspect="1"/>
          </p:cNvPicPr>
          <p:nvPr/>
        </p:nvPicPr>
        <p:blipFill>
          <a:blip r:embed="rId3"/>
          <a:stretch>
            <a:fillRect/>
          </a:stretch>
        </p:blipFill>
        <p:spPr bwMode="auto">
          <a:xfrm>
            <a:off x="3568700" y="1549400"/>
            <a:ext cx="5105400" cy="17018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0">
                  <a:spcBef>
                    <a:spcPts val="3000"/>
                  </a:spcBef>
                  <a:buNone/>
                </a:pPr>
                <a:r>
                  <a:rPr b="1"/>
                  <a:t>Periodic vs. Aperiodic Signals</a:t>
                </a:r>
              </a:p>
              <a:p>
                <a:pPr lvl="0"/>
                <a:r>
                  <a:rPr/>
                  <a:t>A continuous-time signal </a:t>
                </a:r>
                <a14:m>
                  <m:oMath xmlns:m="http://schemas.openxmlformats.org/officeDocument/2006/math">
                    <m:r>
                      <m:t>x</m:t>
                    </m:r>
                    <m:d>
                      <m:dPr>
                        <m:begChr m:val="("/>
                        <m:endChr m:val=")"/>
                        <m:sepChr m:val=""/>
                        <m:grow/>
                      </m:dPr>
                      <m:e>
                        <m:r>
                          <m:t>t</m:t>
                        </m:r>
                      </m:e>
                    </m:d>
                  </m:oMath>
                </a14:m>
                <a:r>
                  <a:rPr/>
                  <a:t> is </a:t>
                </a:r>
                <a:r>
                  <a:rPr b="1"/>
                  <a:t>periodic</a:t>
                </a:r>
                <a:r>
                  <a:rPr/>
                  <a:t> if there is a value </a:t>
                </a:r>
                <a14:m>
                  <m:oMath xmlns:m="http://schemas.openxmlformats.org/officeDocument/2006/math">
                    <m:r>
                      <m:t>T</m:t>
                    </m:r>
                    <m:r>
                      <m:rPr>
                        <m:sty m:val="p"/>
                      </m:rPr>
                      <m:t>&gt;</m:t>
                    </m:r>
                    <m:r>
                      <m:t>0</m:t>
                    </m:r>
                  </m:oMath>
                </a14:m>
                <a:r>
                  <a:rPr/>
                  <a:t> such that:</a:t>
                </a:r>
              </a:p>
              <a:p>
                <a:pPr lvl="0"/>
                <a14:m>
                  <m:oMathPara xmlns:m="http://schemas.openxmlformats.org/officeDocument/2006/math">
                    <m:oMathParaPr>
                      <m:jc m:val="center"/>
                    </m:oMathParaPr>
                    <m:oMath>
                      <m:r>
                        <m:t>x</m:t>
                      </m:r>
                      <m:d>
                        <m:dPr>
                          <m:begChr m:val="("/>
                          <m:endChr m:val=")"/>
                          <m:sepChr m:val=""/>
                          <m:grow/>
                        </m:dPr>
                        <m:e>
                          <m:r>
                            <m:t>t</m:t>
                          </m:r>
                        </m:e>
                      </m:d>
                      <m:r>
                        <m:rPr>
                          <m:sty m:val="p"/>
                        </m:rPr>
                        <m:t>=</m:t>
                      </m:r>
                      <m:r>
                        <m:t>x</m:t>
                      </m:r>
                      <m:d>
                        <m:dPr>
                          <m:begChr m:val="("/>
                          <m:endChr m:val=")"/>
                          <m:sepChr m:val=""/>
                          <m:grow/>
                        </m:dPr>
                        <m:e>
                          <m:r>
                            <m:t>t</m:t>
                          </m:r>
                          <m:r>
                            <m:rPr>
                              <m:sty m:val="p"/>
                            </m:rPr>
                            <m:t>+</m:t>
                          </m:r>
                          <m:r>
                            <m:t>T</m:t>
                          </m:r>
                        </m:e>
                      </m:d>
                      <m:r>
                        <m:t> </m:t>
                      </m:r>
                      <m:r>
                        <m:rPr>
                          <m:nor/>
                          <m:sty m:val="p"/>
                        </m:rPr>
                        <m:t>for all </m:t>
                      </m:r>
                      <m:r>
                        <m:t>t</m:t>
                      </m:r>
                    </m:oMath>
                  </m:oMathPara>
                </a14:m>
              </a:p>
              <a:p>
                <a:pPr lvl="0"/>
                <a:r>
                  <a:rPr/>
                  <a:t>The smallest such </a:t>
                </a:r>
                <a14:m>
                  <m:oMath xmlns:m="http://schemas.openxmlformats.org/officeDocument/2006/math">
                    <m:r>
                      <m:t>T</m:t>
                    </m:r>
                  </m:oMath>
                </a14:m>
                <a:r>
                  <a:rPr/>
                  <a:t> is the </a:t>
                </a:r>
                <a:r>
                  <a:rPr b="1"/>
                  <a:t>fundamental period</a:t>
                </a:r>
                <a:r>
                  <a:rPr/>
                  <a:t>.</a:t>
                </a:r>
              </a:p>
              <a:p>
                <a:pPr lvl="0"/>
                <a:r>
                  <a:rPr/>
                  <a:t>A discrete-time signal </a:t>
                </a:r>
                <a14:m>
                  <m:oMath xmlns:m="http://schemas.openxmlformats.org/officeDocument/2006/math">
                    <m:r>
                      <m:t>x</m:t>
                    </m:r>
                    <m:d>
                      <m:dPr>
                        <m:begChr m:val="["/>
                        <m:endChr m:val="]"/>
                        <m:sepChr m:val=""/>
                        <m:grow/>
                      </m:dPr>
                      <m:e>
                        <m:r>
                          <m:t>n</m:t>
                        </m:r>
                      </m:e>
                    </m:d>
                  </m:oMath>
                </a14:m>
                <a:r>
                  <a:rPr/>
                  <a:t> is periodic if there is an integer </a:t>
                </a:r>
                <a14:m>
                  <m:oMath xmlns:m="http://schemas.openxmlformats.org/officeDocument/2006/math">
                    <m:r>
                      <m:t>N</m:t>
                    </m:r>
                    <m:r>
                      <m:rPr>
                        <m:sty m:val="p"/>
                      </m:rPr>
                      <m:t>&gt;</m:t>
                    </m:r>
                    <m:r>
                      <m:t>0</m:t>
                    </m:r>
                  </m:oMath>
                </a14:m>
                <a:r>
                  <a:rPr/>
                  <a:t> such that:</a:t>
                </a:r>
              </a:p>
              <a:p>
                <a:pPr lvl="0"/>
                <a14:m>
                  <m:oMathPara xmlns:m="http://schemas.openxmlformats.org/officeDocument/2006/math">
                    <m:oMathParaPr>
                      <m:jc m:val="center"/>
                    </m:oMathParaPr>
                    <m:oMath>
                      <m:r>
                        <m:t>x</m:t>
                      </m:r>
                      <m:d>
                        <m:dPr>
                          <m:begChr m:val="["/>
                          <m:endChr m:val="]"/>
                          <m:sepChr m:val=""/>
                          <m:grow/>
                        </m:dPr>
                        <m:e>
                          <m:r>
                            <m:t>n</m:t>
                          </m:r>
                        </m:e>
                      </m:d>
                      <m:r>
                        <m:rPr>
                          <m:sty m:val="p"/>
                        </m:rPr>
                        <m:t>=</m:t>
                      </m:r>
                      <m:r>
                        <m:t>x</m:t>
                      </m:r>
                      <m:d>
                        <m:dPr>
                          <m:begChr m:val="["/>
                          <m:endChr m:val="]"/>
                          <m:sepChr m:val=""/>
                          <m:grow/>
                        </m:dPr>
                        <m:e>
                          <m:r>
                            <m:t>n</m:t>
                          </m:r>
                          <m:r>
                            <m:rPr>
                              <m:sty m:val="p"/>
                            </m:rPr>
                            <m:t>+</m:t>
                          </m:r>
                          <m:r>
                            <m:t>N</m:t>
                          </m:r>
                        </m:e>
                      </m:d>
                      <m:r>
                        <m:t> </m:t>
                      </m:r>
                      <m:r>
                        <m:rPr>
                          <m:nor/>
                          <m:sty m:val="p"/>
                        </m:rPr>
                        <m:t>for all </m:t>
                      </m:r>
                      <m:r>
                        <m:t>n</m:t>
                      </m:r>
                    </m:oMath>
                  </m:oMathPara>
                </a14:m>
              </a:p>
              <a:p>
                <a:pPr lvl="0"/>
                <a:r>
                  <a:rPr/>
                  <a:t>If a signal is not periodic, it is </a:t>
                </a:r>
                <a:r>
                  <a:rPr b="1"/>
                  <a:t>aperiodic</a:t>
                </a:r>
                <a:r>
                  <a:rPr/>
                  <a:t>.</a:t>
                </a:r>
              </a:p>
              <a:p>
                <a:pPr lvl="0" indent="0" marL="0">
                  <a:spcBef>
                    <a:spcPts val="3000"/>
                  </a:spcBef>
                  <a:buNone/>
                </a:pPr>
                <a:r>
                  <a:rPr b="1"/>
                  <a:t>Visualizing Periodicity</a:t>
                </a:r>
              </a:p>
            </p:txBody>
          </p:sp>
        </mc:Choice>
      </mc:AlternateContent>
      <p:pic>
        <p:nvPicPr>
          <p:cNvPr descr="Presentation_v1_files/figure-pptx/periodic_plot-9.png" id="0" name="Picture 1"/>
          <p:cNvPicPr>
            <a:picLocks noGrp="1" noChangeAspect="1"/>
          </p:cNvPicPr>
          <p:nvPr/>
        </p:nvPicPr>
        <p:blipFill>
          <a:blip r:embed="rId3"/>
          <a:stretch>
            <a:fillRect/>
          </a:stretch>
        </p:blipFill>
        <p:spPr bwMode="auto">
          <a:xfrm>
            <a:off x="3568700" y="1117600"/>
            <a:ext cx="5105400" cy="25527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0">
                  <a:spcBef>
                    <a:spcPts val="3000"/>
                  </a:spcBef>
                  <a:buNone/>
                </a:pPr>
                <a:r>
                  <a:rPr b="1"/>
                  <a:t>Even and Odd Signals</a:t>
                </a:r>
              </a:p>
              <a:p>
                <a:pPr lvl="0"/>
                <a:r>
                  <a:rPr/>
                  <a:t>A signal is </a:t>
                </a:r>
                <a:r>
                  <a:rPr b="1"/>
                  <a:t>even</a:t>
                </a:r>
                <a:r>
                  <a:rPr/>
                  <a:t> if it is symmetric about the vertical axis.</a:t>
                </a:r>
              </a:p>
              <a:p>
                <a:pPr lvl="0"/>
                <a14:m>
                  <m:oMathPara xmlns:m="http://schemas.openxmlformats.org/officeDocument/2006/math">
                    <m:oMathParaPr>
                      <m:jc m:val="center"/>
                    </m:oMathParaPr>
                    <m:oMath>
                      <m:r>
                        <m:t>x</m:t>
                      </m:r>
                      <m:d>
                        <m:dPr>
                          <m:begChr m:val="("/>
                          <m:endChr m:val=")"/>
                          <m:sepChr m:val=""/>
                          <m:grow/>
                        </m:dPr>
                        <m:e>
                          <m:r>
                            <m:t>t</m:t>
                          </m:r>
                        </m:e>
                      </m:d>
                      <m:r>
                        <m:rPr>
                          <m:sty m:val="p"/>
                        </m:rPr>
                        <m:t>=</m:t>
                      </m:r>
                      <m:r>
                        <m:t>x</m:t>
                      </m:r>
                      <m:d>
                        <m:dPr>
                          <m:begChr m:val="("/>
                          <m:endChr m:val=")"/>
                          <m:sepChr m:val=""/>
                          <m:grow/>
                        </m:dPr>
                        <m:e>
                          <m:r>
                            <m:rPr>
                              <m:sty m:val="p"/>
                            </m:rPr>
                            <m:t>−</m:t>
                          </m:r>
                          <m:r>
                            <m:t>t</m:t>
                          </m:r>
                        </m:e>
                      </m:d>
                      <m:r>
                        <m:t> </m:t>
                      </m:r>
                      <m:r>
                        <m:rPr>
                          <m:nor/>
                          <m:sty m:val="p"/>
                        </m:rPr>
                        <m:t>or</m:t>
                      </m:r>
                      <m:r>
                        <m:t> </m:t>
                      </m:r>
                      <m:r>
                        <m:t>x</m:t>
                      </m:r>
                      <m:d>
                        <m:dPr>
                          <m:begChr m:val="["/>
                          <m:endChr m:val="]"/>
                          <m:sepChr m:val=""/>
                          <m:grow/>
                        </m:dPr>
                        <m:e>
                          <m:r>
                            <m:t>n</m:t>
                          </m:r>
                        </m:e>
                      </m:d>
                      <m:r>
                        <m:rPr>
                          <m:sty m:val="p"/>
                        </m:rPr>
                        <m:t>=</m:t>
                      </m:r>
                      <m:r>
                        <m:t>x</m:t>
                      </m:r>
                      <m:d>
                        <m:dPr>
                          <m:begChr m:val="["/>
                          <m:endChr m:val="]"/>
                          <m:sepChr m:val=""/>
                          <m:grow/>
                        </m:dPr>
                        <m:e>
                          <m:r>
                            <m:rPr>
                              <m:sty m:val="p"/>
                            </m:rPr>
                            <m:t>−</m:t>
                          </m:r>
                          <m:r>
                            <m:t>n</m:t>
                          </m:r>
                        </m:e>
                      </m:d>
                    </m:oMath>
                  </m:oMathPara>
                </a14:m>
              </a:p>
              <a:p>
                <a:pPr lvl="0"/>
                <a:r>
                  <a:rPr/>
                  <a:t>A signal is </a:t>
                </a:r>
                <a:r>
                  <a:rPr b="1"/>
                  <a:t>odd</a:t>
                </a:r>
                <a:r>
                  <a:rPr/>
                  <a:t> if it is anti-symmetric about the origin.</a:t>
                </a:r>
              </a:p>
              <a:p>
                <a:pPr lvl="0"/>
                <a14:m>
                  <m:oMathPara xmlns:m="http://schemas.openxmlformats.org/officeDocument/2006/math">
                    <m:oMathParaPr>
                      <m:jc m:val="center"/>
                    </m:oMathParaPr>
                    <m:oMath>
                      <m:r>
                        <m:t>x</m:t>
                      </m:r>
                      <m:d>
                        <m:dPr>
                          <m:begChr m:val="("/>
                          <m:endChr m:val=")"/>
                          <m:sepChr m:val=""/>
                          <m:grow/>
                        </m:dPr>
                        <m:e>
                          <m:r>
                            <m:t>t</m:t>
                          </m:r>
                        </m:e>
                      </m:d>
                      <m:r>
                        <m:rPr>
                          <m:sty m:val="p"/>
                        </m:rPr>
                        <m:t>=</m:t>
                      </m:r>
                      <m:r>
                        <m:rPr>
                          <m:sty m:val="p"/>
                        </m:rPr>
                        <m:t>−</m:t>
                      </m:r>
                      <m:r>
                        <m:t>x</m:t>
                      </m:r>
                      <m:d>
                        <m:dPr>
                          <m:begChr m:val="("/>
                          <m:endChr m:val=")"/>
                          <m:sepChr m:val=""/>
                          <m:grow/>
                        </m:dPr>
                        <m:e>
                          <m:r>
                            <m:rPr>
                              <m:sty m:val="p"/>
                            </m:rPr>
                            <m:t>−</m:t>
                          </m:r>
                          <m:r>
                            <m:t>t</m:t>
                          </m:r>
                        </m:e>
                      </m:d>
                      <m:r>
                        <m:t> </m:t>
                      </m:r>
                      <m:r>
                        <m:rPr>
                          <m:nor/>
                          <m:sty m:val="p"/>
                        </m:rPr>
                        <m:t>or</m:t>
                      </m:r>
                      <m:r>
                        <m:t> </m:t>
                      </m:r>
                      <m:r>
                        <m:t>x</m:t>
                      </m:r>
                      <m:d>
                        <m:dPr>
                          <m:begChr m:val="["/>
                          <m:endChr m:val="]"/>
                          <m:sepChr m:val=""/>
                          <m:grow/>
                        </m:dPr>
                        <m:e>
                          <m:r>
                            <m:t>n</m:t>
                          </m:r>
                        </m:e>
                      </m:d>
                      <m:r>
                        <m:rPr>
                          <m:sty m:val="p"/>
                        </m:rPr>
                        <m:t>=</m:t>
                      </m:r>
                      <m:r>
                        <m:rPr>
                          <m:sty m:val="p"/>
                        </m:rPr>
                        <m:t>−</m:t>
                      </m:r>
                      <m:r>
                        <m:t>x</m:t>
                      </m:r>
                      <m:d>
                        <m:dPr>
                          <m:begChr m:val="["/>
                          <m:endChr m:val="]"/>
                          <m:sepChr m:val=""/>
                          <m:grow/>
                        </m:dPr>
                        <m:e>
                          <m:r>
                            <m:rPr>
                              <m:sty m:val="p"/>
                            </m:rPr>
                            <m:t>−</m:t>
                          </m:r>
                          <m:r>
                            <m:t>n</m:t>
                          </m:r>
                        </m:e>
                      </m:d>
                    </m:oMath>
                  </m:oMathPara>
                </a14:m>
              </a:p>
              <a:p>
                <a:pPr lvl="0"/>
                <a:r>
                  <a:rPr/>
                  <a:t>Any signal can be decomposed into a sum of an even part and an odd part.</a:t>
                </a:r>
              </a:p>
              <a:p>
                <a:pPr lvl="0"/>
                <a14:m>
                  <m:oMathPara xmlns:m="http://schemas.openxmlformats.org/officeDocument/2006/math">
                    <m:oMathParaPr>
                      <m:jc m:val="center"/>
                    </m:oMathParaPr>
                    <m:oMath>
                      <m:r>
                        <m:t>x</m:t>
                      </m:r>
                      <m:d>
                        <m:dPr>
                          <m:begChr m:val="("/>
                          <m:endChr m:val=")"/>
                          <m:sepChr m:val=""/>
                          <m:grow/>
                        </m:dPr>
                        <m:e>
                          <m:r>
                            <m:t>t</m:t>
                          </m:r>
                        </m:e>
                      </m:d>
                      <m:r>
                        <m:rPr>
                          <m:sty m:val="p"/>
                        </m:rPr>
                        <m:t>=</m:t>
                      </m:r>
                      <m:r>
                        <m:t>E</m:t>
                      </m:r>
                      <m:r>
                        <m:t>v</m:t>
                      </m:r>
                      <m:r>
                        <m:rPr>
                          <m:sty m:val="p"/>
                        </m:rPr>
                        <m:t>{</m:t>
                      </m:r>
                      <m:r>
                        <m:t>x</m:t>
                      </m:r>
                      <m:d>
                        <m:dPr>
                          <m:begChr m:val="("/>
                          <m:endChr m:val=")"/>
                          <m:sepChr m:val=""/>
                          <m:grow/>
                        </m:dPr>
                        <m:e>
                          <m:r>
                            <m:t>t</m:t>
                          </m:r>
                        </m:e>
                      </m:d>
                      <m:r>
                        <m:rPr>
                          <m:sty m:val="p"/>
                        </m:rPr>
                        <m:t>}</m:t>
                      </m:r>
                      <m:r>
                        <m:rPr>
                          <m:sty m:val="p"/>
                        </m:rPr>
                        <m:t>+</m:t>
                      </m:r>
                      <m:r>
                        <m:t>O</m:t>
                      </m:r>
                      <m:r>
                        <m:t>d</m:t>
                      </m:r>
                      <m:r>
                        <m:rPr>
                          <m:sty m:val="p"/>
                        </m:rPr>
                        <m:t>{</m:t>
                      </m:r>
                      <m:r>
                        <m:t>x</m:t>
                      </m:r>
                      <m:d>
                        <m:dPr>
                          <m:begChr m:val="("/>
                          <m:endChr m:val=")"/>
                          <m:sepChr m:val=""/>
                          <m:grow/>
                        </m:dPr>
                        <m:e>
                          <m:r>
                            <m:t>t</m:t>
                          </m:r>
                        </m:e>
                      </m:d>
                      <m:r>
                        <m:rPr>
                          <m:sty m:val="p"/>
                        </m:rPr>
                        <m:t>}</m:t>
                      </m:r>
                    </m:oMath>
                  </m:oMathPara>
                </a14:m>
              </a:p>
              <a:p>
                <a:pPr lvl="0"/>
                <a14:m>
                  <m:oMathPara xmlns:m="http://schemas.openxmlformats.org/officeDocument/2006/math">
                    <m:oMathParaPr>
                      <m:jc m:val="center"/>
                    </m:oMathParaPr>
                    <m:oMath>
                      <m:r>
                        <m:t>E</m:t>
                      </m:r>
                      <m:r>
                        <m:t>v</m:t>
                      </m:r>
                      <m:r>
                        <m:rPr>
                          <m:sty m:val="p"/>
                        </m:rPr>
                        <m:t>{</m:t>
                      </m:r>
                      <m:r>
                        <m:t>x</m:t>
                      </m:r>
                      <m:d>
                        <m:dPr>
                          <m:begChr m:val="("/>
                          <m:endChr m:val=")"/>
                          <m:sepChr m:val=""/>
                          <m:grow/>
                        </m:dPr>
                        <m:e>
                          <m:r>
                            <m:t>t</m:t>
                          </m:r>
                        </m:e>
                      </m:d>
                      <m:r>
                        <m:rPr>
                          <m:sty m:val="p"/>
                        </m:rPr>
                        <m:t>}</m:t>
                      </m:r>
                      <m:r>
                        <m:rPr>
                          <m:sty m:val="p"/>
                        </m:rPr>
                        <m:t>=</m:t>
                      </m:r>
                      <m:f>
                        <m:fPr>
                          <m:type m:val="bar"/>
                        </m:fPr>
                        <m:num>
                          <m:r>
                            <m:t>1</m:t>
                          </m:r>
                        </m:num>
                        <m:den>
                          <m:r>
                            <m:t>2</m:t>
                          </m:r>
                        </m:den>
                      </m:f>
                      <m:d>
                        <m:dPr>
                          <m:begChr m:val="["/>
                          <m:endChr m:val="]"/>
                          <m:sepChr m:val=""/>
                          <m:grow/>
                        </m:dPr>
                        <m:e>
                          <m:r>
                            <m:t>x</m:t>
                          </m:r>
                          <m:d>
                            <m:dPr>
                              <m:begChr m:val="("/>
                              <m:endChr m:val=")"/>
                              <m:sepChr m:val=""/>
                              <m:grow/>
                            </m:dPr>
                            <m:e>
                              <m:r>
                                <m:t>t</m:t>
                              </m:r>
                            </m:e>
                          </m:d>
                          <m:r>
                            <m:rPr>
                              <m:sty m:val="p"/>
                            </m:rPr>
                            <m:t>+</m:t>
                          </m:r>
                          <m:r>
                            <m:t>x</m:t>
                          </m:r>
                          <m:d>
                            <m:dPr>
                              <m:begChr m:val="("/>
                              <m:endChr m:val=")"/>
                              <m:sepChr m:val=""/>
                              <m:grow/>
                            </m:dPr>
                            <m:e>
                              <m:r>
                                <m:rPr>
                                  <m:sty m:val="p"/>
                                </m:rPr>
                                <m:t>−</m:t>
                              </m:r>
                              <m:r>
                                <m:t>t</m:t>
                              </m:r>
                            </m:e>
                          </m:d>
                        </m:e>
                      </m:d>
                    </m:oMath>
                  </m:oMathPara>
                </a14:m>
              </a:p>
              <a:p>
                <a:pPr lvl="0"/>
                <a14:m>
                  <m:oMathPara xmlns:m="http://schemas.openxmlformats.org/officeDocument/2006/math">
                    <m:oMathParaPr>
                      <m:jc m:val="center"/>
                    </m:oMathParaPr>
                    <m:oMath>
                      <m:r>
                        <m:t>O</m:t>
                      </m:r>
                      <m:r>
                        <m:t>d</m:t>
                      </m:r>
                      <m:r>
                        <m:rPr>
                          <m:sty m:val="p"/>
                        </m:rPr>
                        <m:t>{</m:t>
                      </m:r>
                      <m:r>
                        <m:t>x</m:t>
                      </m:r>
                      <m:d>
                        <m:dPr>
                          <m:begChr m:val="("/>
                          <m:endChr m:val=")"/>
                          <m:sepChr m:val=""/>
                          <m:grow/>
                        </m:dPr>
                        <m:e>
                          <m:r>
                            <m:t>t</m:t>
                          </m:r>
                        </m:e>
                      </m:d>
                      <m:r>
                        <m:rPr>
                          <m:sty m:val="p"/>
                        </m:rPr>
                        <m:t>}</m:t>
                      </m:r>
                      <m:r>
                        <m:rPr>
                          <m:sty m:val="p"/>
                        </m:rPr>
                        <m:t>=</m:t>
                      </m:r>
                      <m:f>
                        <m:fPr>
                          <m:type m:val="bar"/>
                        </m:fPr>
                        <m:num>
                          <m:r>
                            <m:t>1</m:t>
                          </m:r>
                        </m:num>
                        <m:den>
                          <m:r>
                            <m:t>2</m:t>
                          </m:r>
                        </m:den>
                      </m:f>
                      <m:d>
                        <m:dPr>
                          <m:begChr m:val="["/>
                          <m:endChr m:val="]"/>
                          <m:sepChr m:val=""/>
                          <m:grow/>
                        </m:dPr>
                        <m:e>
                          <m:r>
                            <m:t>x</m:t>
                          </m:r>
                          <m:d>
                            <m:dPr>
                              <m:begChr m:val="("/>
                              <m:endChr m:val=")"/>
                              <m:sepChr m:val=""/>
                              <m:grow/>
                            </m:dPr>
                            <m:e>
                              <m:r>
                                <m:t>t</m:t>
                              </m:r>
                            </m:e>
                          </m:d>
                          <m:r>
                            <m:rPr>
                              <m:sty m:val="p"/>
                            </m:rPr>
                            <m:t>−</m:t>
                          </m:r>
                          <m:r>
                            <m:t>x</m:t>
                          </m:r>
                          <m:d>
                            <m:dPr>
                              <m:begChr m:val="("/>
                              <m:endChr m:val=")"/>
                              <m:sepChr m:val=""/>
                              <m:grow/>
                            </m:dPr>
                            <m:e>
                              <m:r>
                                <m:rPr>
                                  <m:sty m:val="p"/>
                                </m:rPr>
                                <m:t>−</m:t>
                              </m:r>
                              <m:r>
                                <m:t>t</m:t>
                              </m:r>
                            </m:e>
                          </m:d>
                        </m:e>
                      </m:d>
                    </m:oMath>
                  </m:oMathPara>
                </a14:m>
              </a:p>
              <a:p>
                <a:pPr lvl="0" indent="0" marL="0">
                  <a:spcBef>
                    <a:spcPts val="3000"/>
                  </a:spcBef>
                  <a:buNone/>
                </a:pPr>
                <a:r>
                  <a:rPr b="1"/>
                  <a:t>Even/Odd Decomposition Example</a:t>
                </a:r>
              </a:p>
            </p:txBody>
          </p:sp>
        </mc:Choice>
      </mc:AlternateContent>
      <p:pic>
        <p:nvPicPr>
          <p:cNvPr descr="Presentation_v1_files/figure-pptx/even_odd_plot-1.png" id="0" name="Picture 1"/>
          <p:cNvPicPr>
            <a:picLocks noGrp="1" noChangeAspect="1"/>
          </p:cNvPicPr>
          <p:nvPr/>
        </p:nvPicPr>
        <p:blipFill>
          <a:blip r:embed="rId3"/>
          <a:stretch>
            <a:fillRect/>
          </a:stretch>
        </p:blipFill>
        <p:spPr bwMode="auto">
          <a:xfrm>
            <a:off x="3568700" y="482600"/>
            <a:ext cx="5105400" cy="38354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Exponential and Sinusoidal Signals</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spcBef>
                    <a:spcPts val="3000"/>
                  </a:spcBef>
                  <a:buNone/>
                </a:pPr>
                <a:r>
                  <a:rPr b="1"/>
                  <a:t>The Complex Exponential Signal</a:t>
                </a:r>
              </a:p>
              <a:p>
                <a:pPr lvl="0"/>
                <a:r>
                  <a:rPr/>
                  <a:t>One of the most important signals in this course is the continuous-time complex exponential:</a:t>
                </a:r>
              </a:p>
              <a:p>
                <a:pPr lvl="0"/>
                <a14:m>
                  <m:oMathPara xmlns:m="http://schemas.openxmlformats.org/officeDocument/2006/math">
                    <m:oMathParaPr>
                      <m:jc m:val="center"/>
                    </m:oMathParaPr>
                    <m:oMath>
                      <m:r>
                        <m:t>x</m:t>
                      </m:r>
                      <m:d>
                        <m:dPr>
                          <m:begChr m:val="("/>
                          <m:endChr m:val=")"/>
                          <m:sepChr m:val=""/>
                          <m:grow/>
                        </m:dPr>
                        <m:e>
                          <m:r>
                            <m:t>t</m:t>
                          </m:r>
                        </m:e>
                      </m:d>
                      <m:r>
                        <m:rPr>
                          <m:sty m:val="p"/>
                        </m:rPr>
                        <m:t>=</m:t>
                      </m:r>
                      <m:r>
                        <m:t>C</m:t>
                      </m:r>
                      <m:sSup>
                        <m:e>
                          <m:r>
                            <m:t>e</m:t>
                          </m:r>
                        </m:e>
                        <m:sup>
                          <m:r>
                            <m:t>a</m:t>
                          </m:r>
                          <m:r>
                            <m:t>t</m:t>
                          </m:r>
                        </m:sup>
                      </m:sSup>
                    </m:oMath>
                  </m:oMathPara>
                </a14:m>
              </a:p>
              <a:p>
                <a:pPr lvl="0"/>
                <a:r>
                  <a:rPr/>
                  <a:t>The parameters </a:t>
                </a:r>
                <a14:m>
                  <m:oMath xmlns:m="http://schemas.openxmlformats.org/officeDocument/2006/math">
                    <m:r>
                      <m:t>C</m:t>
                    </m:r>
                  </m:oMath>
                </a14:m>
                <a:r>
                  <a:rPr/>
                  <a:t> and </a:t>
                </a:r>
                <a14:m>
                  <m:oMath xmlns:m="http://schemas.openxmlformats.org/officeDocument/2006/math">
                    <m:r>
                      <m:t>a</m:t>
                    </m:r>
                  </m:oMath>
                </a14:m>
                <a:r>
                  <a:rPr/>
                  <a:t> can be complex numbers.</a:t>
                </a:r>
              </a:p>
              <a:p>
                <a:pPr lvl="0"/>
                <a:r>
                  <a:rPr/>
                  <a:t>The behavior of this signal changes dramatically depending on the values of </a:t>
                </a:r>
                <a14:m>
                  <m:oMath xmlns:m="http://schemas.openxmlformats.org/officeDocument/2006/math">
                    <m:r>
                      <m:t>C</m:t>
                    </m:r>
                  </m:oMath>
                </a14:m>
                <a:r>
                  <a:rPr/>
                  <a:t> and </a:t>
                </a:r>
                <a14:m>
                  <m:oMath xmlns:m="http://schemas.openxmlformats.org/officeDocument/2006/math">
                    <m:r>
                      <m:t>a</m:t>
                    </m:r>
                  </m:oMath>
                </a14:m>
                <a:r>
                  <a:rPr/>
                  <a:t>.</a:t>
                </a:r>
              </a:p>
              <a:p>
                <a:pPr lvl="0" indent="0" marL="0">
                  <a:spcBef>
                    <a:spcPts val="3000"/>
                  </a:spcBef>
                  <a:buNone/>
                </a:pPr>
                <a:r>
                  <a:rPr b="1"/>
                  <a:t>Real Exponentials (</a:t>
                </a:r>
                <a14:m>
                  <m:oMath xmlns:m="http://schemas.openxmlformats.org/officeDocument/2006/math">
                    <m:r>
                      <m:t>a</m:t>
                    </m:r>
                  </m:oMath>
                </a14:m>
                <a:r>
                  <a:rPr b="1"/>
                  <a:t> is real)</a:t>
                </a:r>
              </a:p>
              <a:p>
                <a:pPr lvl="0" indent="0">
                  <a:buNone/>
                </a:pPr>
                <a:r>
                  <a:rPr>
                    <a:latin typeface="Courier"/>
                  </a:rPr>
                  <a:t>## (0.0, 81.89722504971635)</a:t>
                </a:r>
              </a:p>
            </p:txBody>
          </p:sp>
        </mc:Choice>
      </mc:AlternateContent>
      <p:pic>
        <p:nvPicPr>
          <p:cNvPr descr="Presentation_v1_files/figure-pptx/real_exp_plot-1.png" id="0" name="Picture 1"/>
          <p:cNvPicPr>
            <a:picLocks noGrp="1" noChangeAspect="1"/>
          </p:cNvPicPr>
          <p:nvPr/>
        </p:nvPicPr>
        <p:blipFill>
          <a:blip r:embed="rId3"/>
          <a:stretch>
            <a:fillRect/>
          </a:stretch>
        </p:blipFill>
        <p:spPr bwMode="auto">
          <a:xfrm>
            <a:off x="3568700" y="863600"/>
            <a:ext cx="5105400" cy="30607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0">
                  <a:spcBef>
                    <a:spcPts val="3000"/>
                  </a:spcBef>
                  <a:buNone/>
                </a:pPr>
                <a:r>
                  <a:rPr b="1"/>
                  <a:t>Periodic Complex Exponentials (</a:t>
                </a:r>
                <a14:m>
                  <m:oMath xmlns:m="http://schemas.openxmlformats.org/officeDocument/2006/math">
                    <m:r>
                      <m:t>a</m:t>
                    </m:r>
                    <m:r>
                      <m:rPr>
                        <m:sty m:val="p"/>
                      </m:rPr>
                      <m:t>=</m:t>
                    </m:r>
                    <m:r>
                      <m:t>j</m:t>
                    </m:r>
                    <m:r>
                      <m:t>ω</m:t>
                    </m:r>
                  </m:oMath>
                </a14:m>
                <a:r>
                  <a:rPr b="1"/>
                  <a:t>)</a:t>
                </a:r>
              </a:p>
              <a:p>
                <a:pPr lvl="0"/>
                <a:r>
                  <a:rPr/>
                  <a:t>When </a:t>
                </a:r>
                <a14:m>
                  <m:oMath xmlns:m="http://schemas.openxmlformats.org/officeDocument/2006/math">
                    <m:r>
                      <m:t>a</m:t>
                    </m:r>
                  </m:oMath>
                </a14:m>
                <a:r>
                  <a:rPr/>
                  <a:t> is purely imaginary, we get a periodic complex exponential:</a:t>
                </a:r>
              </a:p>
              <a:p>
                <a:pPr lvl="0"/>
                <a14:m>
                  <m:oMathPara xmlns:m="http://schemas.openxmlformats.org/officeDocument/2006/math">
                    <m:oMathParaPr>
                      <m:jc m:val="center"/>
                    </m:oMathParaPr>
                    <m:oMath>
                      <m:r>
                        <m:t>x</m:t>
                      </m:r>
                      <m:d>
                        <m:dPr>
                          <m:begChr m:val="("/>
                          <m:endChr m:val=")"/>
                          <m:sepChr m:val=""/>
                          <m:grow/>
                        </m:dPr>
                        <m:e>
                          <m:r>
                            <m:t>t</m:t>
                          </m:r>
                        </m:e>
                      </m:d>
                      <m:r>
                        <m:rPr>
                          <m:sty m:val="p"/>
                        </m:rPr>
                        <m:t>=</m:t>
                      </m:r>
                      <m:sSup>
                        <m:e>
                          <m:r>
                            <m:t>e</m:t>
                          </m:r>
                        </m:e>
                        <m:sup>
                          <m:r>
                            <m:t>j</m:t>
                          </m:r>
                          <m:sSub>
                            <m:e>
                              <m:r>
                                <m:t>ω</m:t>
                              </m:r>
                            </m:e>
                            <m:sub>
                              <m:r>
                                <m:t>0</m:t>
                              </m:r>
                            </m:sub>
                          </m:sSub>
                          <m:r>
                            <m:t>t</m:t>
                          </m:r>
                        </m:sup>
                      </m:sSup>
                    </m:oMath>
                  </m:oMathPara>
                </a14:m>
              </a:p>
              <a:p>
                <a:pPr lvl="0"/>
                <a:r>
                  <a:rPr/>
                  <a:t>By Euler’s relation, we can decompose this into real and imaginary sinusoidal parts:</a:t>
                </a:r>
              </a:p>
              <a:p>
                <a:pPr lvl="0"/>
                <a14:m>
                  <m:oMathPara xmlns:m="http://schemas.openxmlformats.org/officeDocument/2006/math">
                    <m:oMathParaPr>
                      <m:jc m:val="center"/>
                    </m:oMathParaPr>
                    <m:oMath>
                      <m:sSup>
                        <m:e>
                          <m:r>
                            <m:t>e</m:t>
                          </m:r>
                        </m:e>
                        <m:sup>
                          <m:r>
                            <m:t>j</m:t>
                          </m:r>
                          <m:sSub>
                            <m:e>
                              <m:r>
                                <m:t>ω</m:t>
                              </m:r>
                            </m:e>
                            <m:sub>
                              <m:r>
                                <m:t>0</m:t>
                              </m:r>
                            </m:sub>
                          </m:sSub>
                          <m:r>
                            <m:t>t</m:t>
                          </m:r>
                        </m:sup>
                      </m:sSup>
                      <m:r>
                        <m:rPr>
                          <m:sty m:val="p"/>
                        </m:rPr>
                        <m:t>=</m:t>
                      </m:r>
                      <m:r>
                        <m:rPr>
                          <m:sty m:val="p"/>
                        </m:rPr>
                        <m:t>cos</m:t>
                      </m:r>
                      <m:d>
                        <m:dPr>
                          <m:begChr m:val="("/>
                          <m:endChr m:val=")"/>
                          <m:sepChr m:val=""/>
                          <m:grow/>
                        </m:dPr>
                        <m:e>
                          <m:sSub>
                            <m:e>
                              <m:r>
                                <m:t>ω</m:t>
                              </m:r>
                            </m:e>
                            <m:sub>
                              <m:r>
                                <m:t>0</m:t>
                              </m:r>
                            </m:sub>
                          </m:sSub>
                          <m:r>
                            <m:t>t</m:t>
                          </m:r>
                        </m:e>
                      </m:d>
                      <m:r>
                        <m:rPr>
                          <m:sty m:val="p"/>
                        </m:rPr>
                        <m:t>+</m:t>
                      </m:r>
                      <m:r>
                        <m:t>j</m:t>
                      </m:r>
                      <m:r>
                        <m:rPr>
                          <m:sty m:val="p"/>
                        </m:rPr>
                        <m:t>sin</m:t>
                      </m:r>
                      <m:d>
                        <m:dPr>
                          <m:begChr m:val="("/>
                          <m:endChr m:val=")"/>
                          <m:sepChr m:val=""/>
                          <m:grow/>
                        </m:dPr>
                        <m:e>
                          <m:sSub>
                            <m:e>
                              <m:r>
                                <m:t>ω</m:t>
                              </m:r>
                            </m:e>
                            <m:sub>
                              <m:r>
                                <m:t>0</m:t>
                              </m:r>
                            </m:sub>
                          </m:sSub>
                          <m:r>
                            <m:t>t</m:t>
                          </m:r>
                        </m:e>
                      </m:d>
                    </m:oMath>
                  </m:oMathPara>
                </a14:m>
              </a:p>
              <a:p>
                <a:pPr lvl="0"/>
                <a:r>
                  <a:rPr/>
                  <a:t>This signal is periodic with fundamental period </a:t>
                </a:r>
                <a14:m>
                  <m:oMath xmlns:m="http://schemas.openxmlformats.org/officeDocument/2006/math">
                    <m:sSub>
                      <m:e>
                        <m:r>
                          <m:t>T</m:t>
                        </m:r>
                      </m:e>
                      <m:sub>
                        <m:r>
                          <m:t>0</m:t>
                        </m:r>
                      </m:sub>
                    </m:sSub>
                    <m:r>
                      <m:rPr>
                        <m:sty m:val="p"/>
                      </m:rPr>
                      <m:t>=</m:t>
                    </m:r>
                    <m:f>
                      <m:fPr>
                        <m:type m:val="bar"/>
                      </m:fPr>
                      <m:num>
                        <m:r>
                          <m:t>2</m:t>
                        </m:r>
                        <m:r>
                          <m:t>π</m:t>
                        </m:r>
                      </m:num>
                      <m:den>
                        <m:d>
                          <m:dPr>
                            <m:begChr m:val="|"/>
                            <m:endChr m:val="|"/>
                            <m:sepChr m:val=""/>
                            <m:grow/>
                          </m:dPr>
                          <m:e>
                            <m:sSub>
                              <m:e>
                                <m:r>
                                  <m:t>ω</m:t>
                                </m:r>
                              </m:e>
                              <m:sub>
                                <m:r>
                                  <m:t>0</m:t>
                                </m:r>
                              </m:sub>
                            </m:sSub>
                          </m:e>
                        </m:d>
                      </m:den>
                    </m:f>
                  </m:oMath>
                </a14:m>
                <a:r>
                  <a:rPr/>
                  <a:t>.</a:t>
                </a:r>
              </a:p>
              <a:p>
                <a:pPr lvl="0" indent="0" marL="0">
                  <a:spcBef>
                    <a:spcPts val="3000"/>
                  </a:spcBef>
                  <a:buNone/>
                </a:pPr>
                <a:r>
                  <a:rPr b="1"/>
                  <a:t>The Sinusoidal Signal</a:t>
                </a:r>
              </a:p>
              <a:p>
                <a:pPr lvl="0"/>
                <a:r>
                  <a:rPr/>
                  <a:t>The sinusoidal signal is closely related:</a:t>
                </a:r>
              </a:p>
              <a:p>
                <a:pPr lvl="0"/>
                <a14:m>
                  <m:oMathPara xmlns:m="http://schemas.openxmlformats.org/officeDocument/2006/math">
                    <m:oMathParaPr>
                      <m:jc m:val="center"/>
                    </m:oMathParaPr>
                    <m:oMath>
                      <m:r>
                        <m:t>x</m:t>
                      </m:r>
                      <m:d>
                        <m:dPr>
                          <m:begChr m:val="("/>
                          <m:endChr m:val=")"/>
                          <m:sepChr m:val=""/>
                          <m:grow/>
                        </m:dPr>
                        <m:e>
                          <m:r>
                            <m:t>t</m:t>
                          </m:r>
                        </m:e>
                      </m:d>
                      <m:r>
                        <m:rPr>
                          <m:sty m:val="p"/>
                        </m:rPr>
                        <m:t>=</m:t>
                      </m:r>
                      <m:r>
                        <m:t>A</m:t>
                      </m:r>
                      <m:r>
                        <m:rPr>
                          <m:sty m:val="p"/>
                        </m:rPr>
                        <m:t>cos</m:t>
                      </m:r>
                      <m:d>
                        <m:dPr>
                          <m:begChr m:val="("/>
                          <m:endChr m:val=")"/>
                          <m:sepChr m:val=""/>
                          <m:grow/>
                        </m:dPr>
                        <m:e>
                          <m:sSub>
                            <m:e>
                              <m:r>
                                <m:t>ω</m:t>
                              </m:r>
                            </m:e>
                            <m:sub>
                              <m:r>
                                <m:t>0</m:t>
                              </m:r>
                            </m:sub>
                          </m:sSub>
                          <m:r>
                            <m:t>t</m:t>
                          </m:r>
                          <m:r>
                            <m:rPr>
                              <m:sty m:val="p"/>
                            </m:rPr>
                            <m:t>+</m:t>
                          </m:r>
                          <m:r>
                            <m:t>ϕ</m:t>
                          </m:r>
                        </m:e>
                      </m:d>
                    </m:oMath>
                  </m:oMathPara>
                </a14:m>
              </a:p>
              <a:p>
                <a:pPr lvl="0"/>
                <a:r>
                  <a:rPr/>
                  <a:t>It can be expressed in terms of complex exponentials:</a:t>
                </a:r>
              </a:p>
              <a:p>
                <a:pPr lvl="0"/>
                <a14:m>
                  <m:oMathPara xmlns:m="http://schemas.openxmlformats.org/officeDocument/2006/math">
                    <m:oMathParaPr>
                      <m:jc m:val="center"/>
                    </m:oMathParaPr>
                    <m:oMath>
                      <m:r>
                        <m:t>A</m:t>
                      </m:r>
                      <m:r>
                        <m:rPr>
                          <m:sty m:val="p"/>
                        </m:rPr>
                        <m:t>cos</m:t>
                      </m:r>
                      <m:d>
                        <m:dPr>
                          <m:begChr m:val="("/>
                          <m:endChr m:val=")"/>
                          <m:sepChr m:val=""/>
                          <m:grow/>
                        </m:dPr>
                        <m:e>
                          <m:sSub>
                            <m:e>
                              <m:r>
                                <m:t>ω</m:t>
                              </m:r>
                            </m:e>
                            <m:sub>
                              <m:r>
                                <m:t>0</m:t>
                              </m:r>
                            </m:sub>
                          </m:sSub>
                          <m:r>
                            <m:t>t</m:t>
                          </m:r>
                          <m:r>
                            <m:rPr>
                              <m:sty m:val="p"/>
                            </m:rPr>
                            <m:t>+</m:t>
                          </m:r>
                          <m:r>
                            <m:t>ϕ</m:t>
                          </m:r>
                        </m:e>
                      </m:d>
                      <m:r>
                        <m:rPr>
                          <m:sty m:val="p"/>
                        </m:rPr>
                        <m:t>=</m:t>
                      </m:r>
                      <m:f>
                        <m:fPr>
                          <m:type m:val="bar"/>
                        </m:fPr>
                        <m:num>
                          <m:r>
                            <m:t>A</m:t>
                          </m:r>
                        </m:num>
                        <m:den>
                          <m:r>
                            <m:t>2</m:t>
                          </m:r>
                        </m:den>
                      </m:f>
                      <m:sSup>
                        <m:e>
                          <m:r>
                            <m:t>e</m:t>
                          </m:r>
                        </m:e>
                        <m:sup>
                          <m:r>
                            <m:t>j</m:t>
                          </m:r>
                          <m:d>
                            <m:dPr>
                              <m:begChr m:val="("/>
                              <m:endChr m:val=")"/>
                              <m:sepChr m:val=""/>
                              <m:grow/>
                            </m:dPr>
                            <m:e>
                              <m:sSub>
                                <m:e>
                                  <m:r>
                                    <m:t>ω</m:t>
                                  </m:r>
                                </m:e>
                                <m:sub>
                                  <m:r>
                                    <m:t>0</m:t>
                                  </m:r>
                                </m:sub>
                              </m:sSub>
                              <m:r>
                                <m:t>t</m:t>
                              </m:r>
                              <m:r>
                                <m:rPr>
                                  <m:sty m:val="p"/>
                                </m:rPr>
                                <m:t>+</m:t>
                              </m:r>
                              <m:r>
                                <m:t>ϕ</m:t>
                              </m:r>
                            </m:e>
                          </m:d>
                        </m:sup>
                      </m:sSup>
                      <m:r>
                        <m:rPr>
                          <m:sty m:val="p"/>
                        </m:rPr>
                        <m:t>+</m:t>
                      </m:r>
                      <m:f>
                        <m:fPr>
                          <m:type m:val="bar"/>
                        </m:fPr>
                        <m:num>
                          <m:r>
                            <m:t>A</m:t>
                          </m:r>
                        </m:num>
                        <m:den>
                          <m:r>
                            <m:t>2</m:t>
                          </m:r>
                        </m:den>
                      </m:f>
                      <m:sSup>
                        <m:e>
                          <m:r>
                            <m:t>e</m:t>
                          </m:r>
                        </m:e>
                        <m:sup>
                          <m:r>
                            <m:rPr>
                              <m:sty m:val="p"/>
                            </m:rPr>
                            <m:t>−</m:t>
                          </m:r>
                          <m:r>
                            <m:t>j</m:t>
                          </m:r>
                          <m:d>
                            <m:dPr>
                              <m:begChr m:val="("/>
                              <m:endChr m:val=")"/>
                              <m:sepChr m:val=""/>
                              <m:grow/>
                            </m:dPr>
                            <m:e>
                              <m:sSub>
                                <m:e>
                                  <m:r>
                                    <m:t>ω</m:t>
                                  </m:r>
                                </m:e>
                                <m:sub>
                                  <m:r>
                                    <m:t>0</m:t>
                                  </m:r>
                                </m:sub>
                              </m:sSub>
                              <m:r>
                                <m:t>t</m:t>
                              </m:r>
                              <m:r>
                                <m:rPr>
                                  <m:sty m:val="p"/>
                                </m:rPr>
                                <m:t>+</m:t>
                              </m:r>
                              <m:r>
                                <m:t>ϕ</m:t>
                              </m:r>
                            </m:e>
                          </m:d>
                        </m:sup>
                      </m:sSup>
                    </m:oMath>
                  </m:oMathPara>
                </a14:m>
              </a:p>
              <a:p>
                <a:pPr lvl="0"/>
                <a:r>
                  <a:rPr/>
                  <a:t>It is a real-valued signal that is periodic with period </a:t>
                </a:r>
                <a14:m>
                  <m:oMath xmlns:m="http://schemas.openxmlformats.org/officeDocument/2006/math">
                    <m:sSub>
                      <m:e>
                        <m:r>
                          <m:t>T</m:t>
                        </m:r>
                      </m:e>
                      <m:sub>
                        <m:r>
                          <m:t>0</m:t>
                        </m:r>
                      </m:sub>
                    </m:sSub>
                    <m:r>
                      <m:rPr>
                        <m:sty m:val="p"/>
                      </m:rPr>
                      <m:t>=</m:t>
                    </m:r>
                    <m:f>
                      <m:fPr>
                        <m:type m:val="bar"/>
                      </m:fPr>
                      <m:num>
                        <m:r>
                          <m:t>2</m:t>
                        </m:r>
                        <m:r>
                          <m:t>π</m:t>
                        </m:r>
                      </m:num>
                      <m:den>
                        <m:d>
                          <m:dPr>
                            <m:begChr m:val="|"/>
                            <m:endChr m:val="|"/>
                            <m:sepChr m:val=""/>
                            <m:grow/>
                          </m:dPr>
                          <m:e>
                            <m:sSub>
                              <m:e>
                                <m:r>
                                  <m:t>ω</m:t>
                                </m:r>
                              </m:e>
                              <m:sub>
                                <m:r>
                                  <m:t>0</m:t>
                                </m:r>
                              </m:sub>
                            </m:sSub>
                          </m:e>
                        </m:d>
                      </m:den>
                    </m:f>
                  </m:oMath>
                </a14:m>
                <a:r>
                  <a:rPr/>
                  <a:t>.</a:t>
                </a:r>
              </a:p>
              <a:p>
                <a:pPr lvl="0" indent="0" marL="0">
                  <a:spcBef>
                    <a:spcPts val="3000"/>
                  </a:spcBef>
                  <a:buNone/>
                </a:pPr>
                <a:r>
                  <a:rPr b="1"/>
                  <a:t>Visualizing </a:t>
                </a:r>
                <a14:m>
                  <m:oMath xmlns:m="http://schemas.openxmlformats.org/officeDocument/2006/math">
                    <m:sSup>
                      <m:e>
                        <m:r>
                          <m:t>e</m:t>
                        </m:r>
                      </m:e>
                      <m:sup>
                        <m:r>
                          <m:t>j</m:t>
                        </m:r>
                        <m:r>
                          <m:t>ω</m:t>
                        </m:r>
                        <m:r>
                          <m:t>t</m:t>
                        </m:r>
                      </m:sup>
                    </m:sSup>
                  </m:oMath>
                </a14:m>
              </a:p>
            </p:txBody>
          </p:sp>
        </mc:Choice>
      </mc:AlternateContent>
      <p:pic>
        <p:nvPicPr>
          <p:cNvPr descr="Presentation_v1_files/figure-pptx/complex_exp_plot-3.png" id="0" name="Picture 1"/>
          <p:cNvPicPr>
            <a:picLocks noGrp="1" noChangeAspect="1"/>
          </p:cNvPicPr>
          <p:nvPr/>
        </p:nvPicPr>
        <p:blipFill>
          <a:blip r:embed="rId3"/>
          <a:stretch>
            <a:fillRect/>
          </a:stretch>
        </p:blipFill>
        <p:spPr bwMode="auto">
          <a:xfrm>
            <a:off x="3568700" y="800100"/>
            <a:ext cx="5105400" cy="31877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0">
                  <a:spcBef>
                    <a:spcPts val="3000"/>
                  </a:spcBef>
                  <a:buNone/>
                </a:pPr>
                <a:r>
                  <a:rPr b="1"/>
                  <a:t>Harmonically Related Exponentials</a:t>
                </a:r>
              </a:p>
              <a:p>
                <a:pPr lvl="0"/>
                <a:r>
                  <a:rPr/>
                  <a:t>A set of complex exponentials is </a:t>
                </a:r>
                <a:r>
                  <a:rPr b="1"/>
                  <a:t>harmonically related</a:t>
                </a:r>
                <a:r>
                  <a:rPr/>
                  <a:t> if their fundamental frequencies are all integer multiples of a single positive frequency, </a:t>
                </a:r>
                <a14:m>
                  <m:oMath xmlns:m="http://schemas.openxmlformats.org/officeDocument/2006/math">
                    <m:sSub>
                      <m:e>
                        <m:r>
                          <m:t>ω</m:t>
                        </m:r>
                      </m:e>
                      <m:sub>
                        <m:r>
                          <m:t>0</m:t>
                        </m:r>
                      </m:sub>
                    </m:sSub>
                  </m:oMath>
                </a14:m>
                <a:r>
                  <a:rPr/>
                  <a:t>.</a:t>
                </a:r>
              </a:p>
              <a:p>
                <a:pPr lvl="0"/>
                <a14:m>
                  <m:oMathPara xmlns:m="http://schemas.openxmlformats.org/officeDocument/2006/math">
                    <m:oMathParaPr>
                      <m:jc m:val="center"/>
                    </m:oMathParaPr>
                    <m:oMath>
                      <m:sSub>
                        <m:e>
                          <m:r>
                            <m:t>ϕ</m:t>
                          </m:r>
                        </m:e>
                        <m:sub>
                          <m:r>
                            <m:t>k</m:t>
                          </m:r>
                        </m:sub>
                      </m:sSub>
                      <m:d>
                        <m:dPr>
                          <m:begChr m:val="("/>
                          <m:endChr m:val=")"/>
                          <m:sepChr m:val=""/>
                          <m:grow/>
                        </m:dPr>
                        <m:e>
                          <m:r>
                            <m:t>t</m:t>
                          </m:r>
                        </m:e>
                      </m:d>
                      <m:r>
                        <m:rPr>
                          <m:sty m:val="p"/>
                        </m:rPr>
                        <m:t>=</m:t>
                      </m:r>
                      <m:sSup>
                        <m:e>
                          <m:r>
                            <m:t>e</m:t>
                          </m:r>
                        </m:e>
                        <m:sup>
                          <m:r>
                            <m:t>j</m:t>
                          </m:r>
                          <m:r>
                            <m:t>k</m:t>
                          </m:r>
                          <m:sSub>
                            <m:e>
                              <m:r>
                                <m:t>ω</m:t>
                              </m:r>
                            </m:e>
                            <m:sub>
                              <m:r>
                                <m:t>0</m:t>
                              </m:r>
                            </m:sub>
                          </m:sSub>
                          <m:r>
                            <m:t>t</m:t>
                          </m:r>
                        </m:sup>
                      </m:sSup>
                      <m:r>
                        <m:rPr>
                          <m:sty m:val="p"/>
                        </m:rPr>
                        <m:t>,</m:t>
                      </m:r>
                      <m:r>
                        <m:t> </m:t>
                      </m:r>
                      <m:r>
                        <m:t>k</m:t>
                      </m:r>
                      <m:r>
                        <m:rPr>
                          <m:sty m:val="p"/>
                        </m:rPr>
                        <m:t>=</m:t>
                      </m:r>
                      <m:r>
                        <m:t>0</m:t>
                      </m:r>
                      <m:r>
                        <m:rPr>
                          <m:sty m:val="p"/>
                        </m:rPr>
                        <m:t>,</m:t>
                      </m:r>
                      <m:r>
                        <m:rPr>
                          <m:sty m:val="p"/>
                        </m:rPr>
                        <m:t>±</m:t>
                      </m:r>
                      <m:r>
                        <m:t>1</m:t>
                      </m:r>
                      <m:r>
                        <m:rPr>
                          <m:sty m:val="p"/>
                        </m:rPr>
                        <m:t>,</m:t>
                      </m:r>
                      <m:r>
                        <m:rPr>
                          <m:sty m:val="p"/>
                        </m:rPr>
                        <m:t>±</m:t>
                      </m:r>
                      <m:r>
                        <m:t>2</m:t>
                      </m:r>
                      <m:r>
                        <m:rPr>
                          <m:sty m:val="p"/>
                        </m:rPr>
                        <m:t>,</m:t>
                      </m:r>
                      <m:r>
                        <m:rPr>
                          <m:sty m:val="p"/>
                        </m:rPr>
                        <m:t>…</m:t>
                      </m:r>
                    </m:oMath>
                  </m:oMathPara>
                </a14:m>
              </a:p>
              <a:p>
                <a:pPr lvl="0"/>
                <a:r>
                  <a:rPr/>
                  <a:t>The signal for </a:t>
                </a:r>
                <a14:m>
                  <m:oMath xmlns:m="http://schemas.openxmlformats.org/officeDocument/2006/math">
                    <m:r>
                      <m:t>k</m:t>
                    </m:r>
                    <m:r>
                      <m:rPr>
                        <m:sty m:val="p"/>
                      </m:rPr>
                      <m:t>=</m:t>
                    </m:r>
                    <m:r>
                      <m:t>1</m:t>
                    </m:r>
                  </m:oMath>
                </a14:m>
                <a:r>
                  <a:rPr/>
                  <a:t> is the </a:t>
                </a:r>
                <a:r>
                  <a:rPr b="1"/>
                  <a:t>fundamental</a:t>
                </a:r>
                <a:r>
                  <a:rPr/>
                  <a:t>, and the signal for </a:t>
                </a:r>
                <a14:m>
                  <m:oMath xmlns:m="http://schemas.openxmlformats.org/officeDocument/2006/math">
                    <m:r>
                      <m:t>k</m:t>
                    </m:r>
                    <m:r>
                      <m:rPr>
                        <m:sty m:val="p"/>
                      </m:rPr>
                      <m:t>=</m:t>
                    </m:r>
                    <m:r>
                      <m:t>N</m:t>
                    </m:r>
                  </m:oMath>
                </a14:m>
                <a:r>
                  <a:rPr/>
                  <a:t> is the </a:t>
                </a:r>
                <a:r>
                  <a:rPr b="1"/>
                  <a:t>Nth harmonic</a:t>
                </a:r>
                <a:r>
                  <a:rPr/>
                  <a:t>.</a:t>
                </a:r>
              </a:p>
              <a:p>
                <a:pPr lvl="0"/>
                <a:r>
                  <a:rPr/>
                  <a:t>All signals in a harmonically related set are periodic with period </a:t>
                </a:r>
                <a14:m>
                  <m:oMath xmlns:m="http://schemas.openxmlformats.org/officeDocument/2006/math">
                    <m:sSub>
                      <m:e>
                        <m:r>
                          <m:t>T</m:t>
                        </m:r>
                      </m:e>
                      <m:sub>
                        <m:r>
                          <m:t>0</m:t>
                        </m:r>
                      </m:sub>
                    </m:sSub>
                    <m:r>
                      <m:rPr>
                        <m:sty m:val="p"/>
                      </m:rPr>
                      <m:t>=</m:t>
                    </m:r>
                    <m:r>
                      <m:t>2</m:t>
                    </m:r>
                    <m:r>
                      <m:t>π</m:t>
                    </m:r>
                    <m:r>
                      <m:rPr>
                        <m:sty m:val="p"/>
                      </m:rPr>
                      <m:t>/</m:t>
                    </m:r>
                    <m:sSub>
                      <m:e>
                        <m:r>
                          <m:t>ω</m:t>
                        </m:r>
                      </m:e>
                      <m:sub>
                        <m:r>
                          <m:t>0</m:t>
                        </m:r>
                      </m:sub>
                    </m:sSub>
                  </m:oMath>
                </a14:m>
                <a:r>
                  <a:rPr/>
                  <a:t>.</a:t>
                </a:r>
              </a:p>
              <a:p>
                <a:pPr lvl="0" indent="0" marL="0">
                  <a:spcBef>
                    <a:spcPts val="3000"/>
                  </a:spcBef>
                  <a:buNone/>
                </a:pPr>
                <a:r>
                  <a:rPr b="1"/>
                  <a:t>Visualizing Harmonics</a:t>
                </a:r>
              </a:p>
            </p:txBody>
          </p:sp>
        </mc:Choice>
      </mc:AlternateContent>
      <p:pic>
        <p:nvPicPr>
          <p:cNvPr descr="Presentation_v1_files/figure-pptx/harmonics_plot-1.png" id="0" name="Picture 1"/>
          <p:cNvPicPr>
            <a:picLocks noGrp="1" noChangeAspect="1"/>
          </p:cNvPicPr>
          <p:nvPr/>
        </p:nvPicPr>
        <p:blipFill>
          <a:blip r:embed="rId3"/>
          <a:stretch>
            <a:fillRect/>
          </a:stretch>
        </p:blipFill>
        <p:spPr bwMode="auto">
          <a:xfrm>
            <a:off x="3568700" y="482600"/>
            <a:ext cx="5105400" cy="38354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0">
                  <a:spcBef>
                    <a:spcPts val="3000"/>
                  </a:spcBef>
                  <a:buNone/>
                </a:pPr>
                <a:r>
                  <a:rPr b="1"/>
                  <a:t>General Complex Exponentials (</a:t>
                </a:r>
                <a14:m>
                  <m:oMath xmlns:m="http://schemas.openxmlformats.org/officeDocument/2006/math">
                    <m:r>
                      <m:t>a</m:t>
                    </m:r>
                    <m:r>
                      <m:rPr>
                        <m:sty m:val="p"/>
                      </m:rPr>
                      <m:t>=</m:t>
                    </m:r>
                    <m:r>
                      <m:t>r</m:t>
                    </m:r>
                    <m:r>
                      <m:rPr>
                        <m:sty m:val="p"/>
                      </m:rPr>
                      <m:t>+</m:t>
                    </m:r>
                    <m:r>
                      <m:t>j</m:t>
                    </m:r>
                    <m:r>
                      <m:t>ω</m:t>
                    </m:r>
                  </m:oMath>
                </a14:m>
                <a:r>
                  <a:rPr b="1"/>
                  <a:t>)</a:t>
                </a:r>
              </a:p>
              <a:p>
                <a:pPr lvl="0"/>
                <a:r>
                  <a:rPr/>
                  <a:t>When </a:t>
                </a:r>
                <a14:m>
                  <m:oMath xmlns:m="http://schemas.openxmlformats.org/officeDocument/2006/math">
                    <m:r>
                      <m:t>a</m:t>
                    </m:r>
                  </m:oMath>
                </a14:m>
                <a:r>
                  <a:rPr/>
                  <a:t> is a general complex number, we combine the real and periodic cases.</a:t>
                </a:r>
              </a:p>
              <a:p>
                <a:pPr lvl="0"/>
                <a14:m>
                  <m:oMathPara xmlns:m="http://schemas.openxmlformats.org/officeDocument/2006/math">
                    <m:oMathParaPr>
                      <m:jc m:val="center"/>
                    </m:oMathParaPr>
                    <m:oMath>
                      <m:r>
                        <m:t>x</m:t>
                      </m:r>
                      <m:d>
                        <m:dPr>
                          <m:begChr m:val="("/>
                          <m:endChr m:val=")"/>
                          <m:sepChr m:val=""/>
                          <m:grow/>
                        </m:dPr>
                        <m:e>
                          <m:r>
                            <m:t>t</m:t>
                          </m:r>
                        </m:e>
                      </m:d>
                      <m:r>
                        <m:rPr>
                          <m:sty m:val="p"/>
                        </m:rPr>
                        <m:t>=</m:t>
                      </m:r>
                      <m:r>
                        <m:t>C</m:t>
                      </m:r>
                      <m:sSup>
                        <m:e>
                          <m:r>
                            <m:t>e</m:t>
                          </m:r>
                        </m:e>
                        <m:sup>
                          <m:d>
                            <m:dPr>
                              <m:begChr m:val="("/>
                              <m:endChr m:val=")"/>
                              <m:sepChr m:val=""/>
                              <m:grow/>
                            </m:dPr>
                            <m:e>
                              <m:r>
                                <m:t>r</m:t>
                              </m:r>
                              <m:r>
                                <m:rPr>
                                  <m:sty m:val="p"/>
                                </m:rPr>
                                <m:t>+</m:t>
                              </m:r>
                              <m:r>
                                <m:t>j</m:t>
                              </m:r>
                              <m:sSub>
                                <m:e>
                                  <m:r>
                                    <m:t>ω</m:t>
                                  </m:r>
                                </m:e>
                                <m:sub>
                                  <m:r>
                                    <m:t>0</m:t>
                                  </m:r>
                                </m:sub>
                              </m:sSub>
                            </m:e>
                          </m:d>
                          <m:r>
                            <m:t>t</m:t>
                          </m:r>
                        </m:sup>
                      </m:sSup>
                      <m:r>
                        <m:rPr>
                          <m:sty m:val="p"/>
                        </m:rPr>
                        <m:t>=</m:t>
                      </m:r>
                      <m:r>
                        <m:t>C</m:t>
                      </m:r>
                      <m:sSup>
                        <m:e>
                          <m:r>
                            <m:t>e</m:t>
                          </m:r>
                        </m:e>
                        <m:sup>
                          <m:r>
                            <m:t>r</m:t>
                          </m:r>
                          <m:r>
                            <m:t>t</m:t>
                          </m:r>
                        </m:sup>
                      </m:sSup>
                      <m:sSup>
                        <m:e>
                          <m:r>
                            <m:t>e</m:t>
                          </m:r>
                        </m:e>
                        <m:sup>
                          <m:r>
                            <m:t>j</m:t>
                          </m:r>
                          <m:sSub>
                            <m:e>
                              <m:r>
                                <m:t>ω</m:t>
                              </m:r>
                            </m:e>
                            <m:sub>
                              <m:r>
                                <m:t>0</m:t>
                              </m:r>
                            </m:sub>
                          </m:sSub>
                          <m:r>
                            <m:t>t</m:t>
                          </m:r>
                        </m:sup>
                      </m:sSup>
                    </m:oMath>
                  </m:oMathPara>
                </a14:m>
              </a:p>
              <a:p>
                <a:pPr lvl="0"/>
                <a:r>
                  <a:rPr/>
                  <a:t>This can be broken down into real and imaginary parts:</a:t>
                </a:r>
              </a:p>
              <a:p>
                <a:pPr lvl="0"/>
                <a14:m>
                  <m:oMathPara xmlns:m="http://schemas.openxmlformats.org/officeDocument/2006/math">
                    <m:oMathParaPr>
                      <m:jc m:val="center"/>
                    </m:oMathParaPr>
                    <m:oMath>
                      <m:r>
                        <m:t>x</m:t>
                      </m:r>
                      <m:d>
                        <m:dPr>
                          <m:begChr m:val="("/>
                          <m:endChr m:val=")"/>
                          <m:sepChr m:val=""/>
                          <m:grow/>
                        </m:dPr>
                        <m:e>
                          <m:r>
                            <m:t>t</m:t>
                          </m:r>
                        </m:e>
                      </m:d>
                      <m:r>
                        <m:rPr>
                          <m:sty m:val="p"/>
                        </m:rPr>
                        <m:t>=</m:t>
                      </m:r>
                      <m:r>
                        <m:t>C</m:t>
                      </m:r>
                      <m:sSup>
                        <m:e>
                          <m:r>
                            <m:t>e</m:t>
                          </m:r>
                        </m:e>
                        <m:sup>
                          <m:r>
                            <m:t>r</m:t>
                          </m:r>
                          <m:r>
                            <m:t>t</m:t>
                          </m:r>
                        </m:sup>
                      </m:sSup>
                      <m:d>
                        <m:dPr>
                          <m:begChr m:val="("/>
                          <m:endChr m:val=")"/>
                          <m:sepChr m:val=""/>
                          <m:grow/>
                        </m:dPr>
                        <m:e>
                          <m:r>
                            <m:rPr>
                              <m:sty m:val="p"/>
                            </m:rPr>
                            <m:t>cos</m:t>
                          </m:r>
                          <m:d>
                            <m:dPr>
                              <m:begChr m:val="("/>
                              <m:endChr m:val=")"/>
                              <m:sepChr m:val=""/>
                              <m:grow/>
                            </m:dPr>
                            <m:e>
                              <m:sSub>
                                <m:e>
                                  <m:r>
                                    <m:t>ω</m:t>
                                  </m:r>
                                </m:e>
                                <m:sub>
                                  <m:r>
                                    <m:t>0</m:t>
                                  </m:r>
                                </m:sub>
                              </m:sSub>
                              <m:r>
                                <m:t>t</m:t>
                              </m:r>
                            </m:e>
                          </m:d>
                          <m:r>
                            <m:rPr>
                              <m:sty m:val="p"/>
                            </m:rPr>
                            <m:t>+</m:t>
                          </m:r>
                          <m:r>
                            <m:t>j</m:t>
                          </m:r>
                          <m:r>
                            <m:rPr>
                              <m:sty m:val="p"/>
                            </m:rPr>
                            <m:t>sin</m:t>
                          </m:r>
                          <m:d>
                            <m:dPr>
                              <m:begChr m:val="("/>
                              <m:endChr m:val=")"/>
                              <m:sepChr m:val=""/>
                              <m:grow/>
                            </m:dPr>
                            <m:e>
                              <m:sSub>
                                <m:e>
                                  <m:r>
                                    <m:t>ω</m:t>
                                  </m:r>
                                </m:e>
                                <m:sub>
                                  <m:r>
                                    <m:t>0</m:t>
                                  </m:r>
                                </m:sub>
                              </m:sSub>
                              <m:r>
                                <m:t>t</m:t>
                              </m:r>
                            </m:e>
                          </m:d>
                        </m:e>
                      </m:d>
                    </m:oMath>
                  </m:oMathPara>
                </a14:m>
              </a:p>
              <a:p>
                <a:pPr lvl="0"/>
                <a:r>
                  <a:rPr/>
                  <a:t>This represents a sinusoid whose amplitude is growing or decaying exponentially.</a:t>
                </a:r>
              </a:p>
              <a:p>
                <a:pPr lvl="0" indent="0" marL="0">
                  <a:spcBef>
                    <a:spcPts val="3000"/>
                  </a:spcBef>
                  <a:buNone/>
                </a:pPr>
                <a:r>
                  <a:rPr b="1"/>
                  <a:t>Damped Sinusoids</a:t>
                </a:r>
              </a:p>
              <a:p>
                <a:pPr lvl="0"/>
                <a:r>
                  <a:rPr/>
                  <a:t>A common case is the </a:t>
                </a:r>
                <a:r>
                  <a:rPr b="1"/>
                  <a:t>damped sinusoid</a:t>
                </a:r>
                <a:r>
                  <a:rPr/>
                  <a:t>, where the real part of </a:t>
                </a:r>
                <a14:m>
                  <m:oMath xmlns:m="http://schemas.openxmlformats.org/officeDocument/2006/math">
                    <m:r>
                      <m:t>a</m:t>
                    </m:r>
                  </m:oMath>
                </a14:m>
                <a:r>
                  <a:rPr/>
                  <a:t> is negative (</a:t>
                </a:r>
                <a14:m>
                  <m:oMath xmlns:m="http://schemas.openxmlformats.org/officeDocument/2006/math">
                    <m:r>
                      <m:t>r</m:t>
                    </m:r>
                    <m:r>
                      <m:rPr>
                        <m:sty m:val="p"/>
                      </m:rPr>
                      <m:t>&lt;</m:t>
                    </m:r>
                    <m:r>
                      <m:t>0</m:t>
                    </m:r>
                  </m:oMath>
                </a14:m>
                <a:r>
                  <a:rPr/>
                  <a:t>).</a:t>
                </a:r>
              </a:p>
              <a:p>
                <a:pPr lvl="0"/>
                <a:r>
                  <a:rPr/>
                  <a:t>These signals are sinusoids multiplied by a decaying exponential.</a:t>
                </a:r>
              </a:p>
              <a:p>
                <a:pPr lvl="0"/>
                <a:r>
                  <a:rPr/>
                  <a:t>They are prevalent in physical systems with energy dissipation, like RLC circuits or mechanical systems with friction.</a:t>
                </a:r>
              </a:p>
              <a:p>
                <a:pPr lvl="0" indent="0" marL="0">
                  <a:spcBef>
                    <a:spcPts val="3000"/>
                  </a:spcBef>
                  <a:buNone/>
                </a:pPr>
                <a:r>
                  <a:rPr b="1"/>
                  <a:t>Visualizing a Damped Sinusoid</a:t>
                </a:r>
              </a:p>
            </p:txBody>
          </p:sp>
        </mc:Choice>
      </mc:AlternateContent>
      <p:pic>
        <p:nvPicPr>
          <p:cNvPr descr="Presentation_v1_files/figure-pptx/damped_sinusoid_plot-1.png" id="0" name="Picture 1"/>
          <p:cNvPicPr>
            <a:picLocks noGrp="1" noChangeAspect="1"/>
          </p:cNvPicPr>
          <p:nvPr/>
        </p:nvPicPr>
        <p:blipFill>
          <a:blip r:embed="rId3"/>
          <a:stretch>
            <a:fillRect/>
          </a:stretch>
        </p:blipFill>
        <p:spPr bwMode="auto">
          <a:xfrm>
            <a:off x="3568700" y="863600"/>
            <a:ext cx="5105400" cy="30607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0">
                  <a:spcBef>
                    <a:spcPts val="3000"/>
                  </a:spcBef>
                  <a:buNone/>
                </a:pPr>
                <a:r>
                  <a:rPr b="1"/>
                  <a:t>Discrete-Time Periodicity Rules (CRITICAL)</a:t>
                </a:r>
              </a:p>
              <a:p>
                <a:pPr lvl="0"/>
                <a:r>
                  <a:rPr/>
                  <a:t>A discrete-time exponential </a:t>
                </a:r>
                <a14:m>
                  <m:oMath xmlns:m="http://schemas.openxmlformats.org/officeDocument/2006/math">
                    <m:r>
                      <m:t>x</m:t>
                    </m:r>
                    <m:d>
                      <m:dPr>
                        <m:begChr m:val="["/>
                        <m:endChr m:val="]"/>
                        <m:sepChr m:val=""/>
                        <m:grow/>
                      </m:dPr>
                      <m:e>
                        <m:r>
                          <m:t>n</m:t>
                        </m:r>
                      </m:e>
                    </m:d>
                    <m:r>
                      <m:rPr>
                        <m:sty m:val="p"/>
                      </m:rPr>
                      <m:t>=</m:t>
                    </m:r>
                    <m:sSup>
                      <m:e>
                        <m:r>
                          <m:t>e</m:t>
                        </m:r>
                      </m:e>
                      <m:sup>
                        <m:r>
                          <m:t>j</m:t>
                        </m:r>
                        <m:sSub>
                          <m:e>
                            <m:r>
                              <m:t>ω</m:t>
                            </m:r>
                          </m:e>
                          <m:sub>
                            <m:r>
                              <m:t>0</m:t>
                            </m:r>
                          </m:sub>
                        </m:sSub>
                        <m:r>
                          <m:t>n</m:t>
                        </m:r>
                      </m:sup>
                    </m:sSup>
                  </m:oMath>
                </a14:m>
                <a:r>
                  <a:rPr/>
                  <a:t> is periodic only if its frequency </a:t>
                </a:r>
                <a14:m>
                  <m:oMath xmlns:m="http://schemas.openxmlformats.org/officeDocument/2006/math">
                    <m:sSub>
                      <m:e>
                        <m:r>
                          <m:t>ω</m:t>
                        </m:r>
                      </m:e>
                      <m:sub>
                        <m:r>
                          <m:t>0</m:t>
                        </m:r>
                      </m:sub>
                    </m:sSub>
                  </m:oMath>
                </a14:m>
                <a:r>
                  <a:rPr/>
                  <a:t> is a rational multiple of </a:t>
                </a:r>
                <a14:m>
                  <m:oMath xmlns:m="http://schemas.openxmlformats.org/officeDocument/2006/math">
                    <m:r>
                      <m:t>2</m:t>
                    </m:r>
                    <m:r>
                      <m:t>π</m:t>
                    </m:r>
                  </m:oMath>
                </a14:m>
                <a:r>
                  <a:rPr/>
                  <a:t>.</a:t>
                </a:r>
              </a:p>
              <a:p>
                <a:pPr lvl="0"/>
                <a:r>
                  <a:rPr/>
                  <a:t>That is, it is periodic if and only if:</a:t>
                </a:r>
              </a:p>
              <a:p>
                <a:pPr lvl="0"/>
                <a14:m>
                  <m:oMathPara xmlns:m="http://schemas.openxmlformats.org/officeDocument/2006/math">
                    <m:oMathParaPr>
                      <m:jc m:val="center"/>
                    </m:oMathParaPr>
                    <m:oMath>
                      <m:f>
                        <m:fPr>
                          <m:type m:val="bar"/>
                        </m:fPr>
                        <m:num>
                          <m:sSub>
                            <m:e>
                              <m:r>
                                <m:t>ω</m:t>
                              </m:r>
                            </m:e>
                            <m:sub>
                              <m:r>
                                <m:t>0</m:t>
                              </m:r>
                            </m:sub>
                          </m:sSub>
                        </m:num>
                        <m:den>
                          <m:r>
                            <m:t>2</m:t>
                          </m:r>
                          <m:r>
                            <m:t>π</m:t>
                          </m:r>
                        </m:den>
                      </m:f>
                      <m:r>
                        <m:rPr>
                          <m:sty m:val="p"/>
                        </m:rPr>
                        <m:t>=</m:t>
                      </m:r>
                      <m:f>
                        <m:fPr>
                          <m:type m:val="bar"/>
                        </m:fPr>
                        <m:num>
                          <m:r>
                            <m:t>m</m:t>
                          </m:r>
                        </m:num>
                        <m:den>
                          <m:r>
                            <m:t>N</m:t>
                          </m:r>
                        </m:den>
                      </m:f>
                    </m:oMath>
                  </m:oMathPara>
                </a14:m>
              </a:p>
              <a:p>
                <a:pPr lvl="0"/>
                <a:r>
                  <a:rPr/>
                  <a:t>where </a:t>
                </a:r>
                <a14:m>
                  <m:oMath xmlns:m="http://schemas.openxmlformats.org/officeDocument/2006/math">
                    <m:r>
                      <m:t>m</m:t>
                    </m:r>
                  </m:oMath>
                </a14:m>
                <a:r>
                  <a:rPr/>
                  <a:t> and </a:t>
                </a:r>
                <a14:m>
                  <m:oMath xmlns:m="http://schemas.openxmlformats.org/officeDocument/2006/math">
                    <m:r>
                      <m:t>N</m:t>
                    </m:r>
                  </m:oMath>
                </a14:m>
                <a:r>
                  <a:rPr/>
                  <a:t> are integers.</a:t>
                </a:r>
              </a:p>
              <a:p>
                <a:pPr lvl="0"/>
                <a:r>
                  <a:rPr/>
                  <a:t>This is a </a:t>
                </a:r>
                <a:r>
                  <a:rPr b="1"/>
                  <a:t>major difference</a:t>
                </a:r>
                <a:r>
                  <a:rPr/>
                  <a:t> from continuous time, where </a:t>
                </a:r>
                <a14:m>
                  <m:oMath xmlns:m="http://schemas.openxmlformats.org/officeDocument/2006/math">
                    <m:sSup>
                      <m:e>
                        <m:r>
                          <m:t>e</m:t>
                        </m:r>
                      </m:e>
                      <m:sup>
                        <m:r>
                          <m:t>j</m:t>
                        </m:r>
                        <m:sSub>
                          <m:e>
                            <m:r>
                              <m:t>ω</m:t>
                            </m:r>
                          </m:e>
                          <m:sub>
                            <m:r>
                              <m:t>0</m:t>
                            </m:r>
                          </m:sub>
                        </m:sSub>
                        <m:r>
                          <m:t>t</m:t>
                        </m:r>
                      </m:sup>
                    </m:sSup>
                  </m:oMath>
                </a14:m>
                <a:r>
                  <a:rPr/>
                  <a:t> is periodic for </a:t>
                </a:r>
                <a:r>
                  <a:rPr i="1"/>
                  <a:t>any</a:t>
                </a:r>
                <a:r>
                  <a:rPr/>
                  <a:t> </a:t>
                </a:r>
                <a14:m>
                  <m:oMath xmlns:m="http://schemas.openxmlformats.org/officeDocument/2006/math">
                    <m:sSub>
                      <m:e>
                        <m:r>
                          <m:t>ω</m:t>
                        </m:r>
                      </m:e>
                      <m:sub>
                        <m:r>
                          <m:t>0</m:t>
                        </m:r>
                      </m:sub>
                    </m:sSub>
                  </m:oMath>
                </a14:m>
                <a:r>
                  <a:rPr/>
                  <a:t>.</a:t>
                </a:r>
              </a:p>
              <a:p>
                <a:pPr lvl="0" indent="0" marL="0">
                  <a:spcBef>
                    <a:spcPts val="3000"/>
                  </a:spcBef>
                  <a:buNone/>
                </a:pPr>
                <a:r>
                  <a:rPr b="1"/>
                  <a:t>Discrete Periodicity Example</a:t>
                </a:r>
              </a:p>
            </p:txBody>
          </p:sp>
        </mc:Choice>
      </mc:AlternateContent>
      <p:pic>
        <p:nvPicPr>
          <p:cNvPr descr="Presentation_v1_files/figure-pptx/dt_periodicity_plot-3.png" id="0" name="Picture 1"/>
          <p:cNvPicPr>
            <a:picLocks noGrp="1" noChangeAspect="1"/>
          </p:cNvPicPr>
          <p:nvPr/>
        </p:nvPicPr>
        <p:blipFill>
          <a:blip r:embed="rId3"/>
          <a:stretch>
            <a:fillRect/>
          </a:stretch>
        </p:blipFill>
        <p:spPr bwMode="auto">
          <a:xfrm>
            <a:off x="3568700" y="800100"/>
            <a:ext cx="5105400" cy="31877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0">
                  <a:spcBef>
                    <a:spcPts val="3000"/>
                  </a:spcBef>
                  <a:buNone/>
                </a:pPr>
                <a:r>
                  <a:rPr b="1"/>
                  <a:t>Frequency Aliasing in Discrete Time</a:t>
                </a:r>
              </a:p>
              <a:p>
                <a:pPr lvl="0"/>
                <a:r>
                  <a:rPr/>
                  <a:t>Another key difference in discrete time is that distinct frequencies can be </a:t>
                </a:r>
                <a:r>
                  <a:rPr b="1"/>
                  <a:t>indistinguishable</a:t>
                </a:r>
                <a:r>
                  <a:rPr/>
                  <a:t>.</a:t>
                </a:r>
              </a:p>
              <a:p>
                <a:pPr lvl="0"/>
                <a:r>
                  <a:rPr/>
                  <a:t>Specifically, the discrete-time complex exponentials with frequencies </a:t>
                </a:r>
                <a14:m>
                  <m:oMath xmlns:m="http://schemas.openxmlformats.org/officeDocument/2006/math">
                    <m:sSub>
                      <m:e>
                        <m:r>
                          <m:t>ω</m:t>
                        </m:r>
                      </m:e>
                      <m:sub>
                        <m:r>
                          <m:t>0</m:t>
                        </m:r>
                      </m:sub>
                    </m:sSub>
                  </m:oMath>
                </a14:m>
                <a:r>
                  <a:rPr/>
                  <a:t> and </a:t>
                </a:r>
                <a14:m>
                  <m:oMath xmlns:m="http://schemas.openxmlformats.org/officeDocument/2006/math">
                    <m:sSub>
                      <m:e>
                        <m:r>
                          <m:t>ω</m:t>
                        </m:r>
                      </m:e>
                      <m:sub>
                        <m:r>
                          <m:t>0</m:t>
                        </m:r>
                      </m:sub>
                    </m:sSub>
                    <m:r>
                      <m:rPr>
                        <m:sty m:val="p"/>
                      </m:rPr>
                      <m:t>+</m:t>
                    </m:r>
                    <m:r>
                      <m:t>2</m:t>
                    </m:r>
                    <m:r>
                      <m:t>π</m:t>
                    </m:r>
                    <m:r>
                      <m:t>k</m:t>
                    </m:r>
                  </m:oMath>
                </a14:m>
                <a:r>
                  <a:rPr/>
                  <a:t> for any integer </a:t>
                </a:r>
                <a14:m>
                  <m:oMath xmlns:m="http://schemas.openxmlformats.org/officeDocument/2006/math">
                    <m:r>
                      <m:t>k</m:t>
                    </m:r>
                  </m:oMath>
                </a14:m>
                <a:r>
                  <a:rPr/>
                  <a:t> are identical:</a:t>
                </a:r>
              </a:p>
              <a:p>
                <a:pPr lvl="0"/>
                <a14:m>
                  <m:oMathPara xmlns:m="http://schemas.openxmlformats.org/officeDocument/2006/math">
                    <m:oMathParaPr>
                      <m:jc m:val="center"/>
                    </m:oMathParaPr>
                    <m:oMath>
                      <m:sSup>
                        <m:e>
                          <m:r>
                            <m:t>e</m:t>
                          </m:r>
                        </m:e>
                        <m:sup>
                          <m:r>
                            <m:t>j</m:t>
                          </m:r>
                          <m:d>
                            <m:dPr>
                              <m:begChr m:val="("/>
                              <m:endChr m:val=")"/>
                              <m:sepChr m:val=""/>
                              <m:grow/>
                            </m:dPr>
                            <m:e>
                              <m:sSub>
                                <m:e>
                                  <m:r>
                                    <m:t>ω</m:t>
                                  </m:r>
                                </m:e>
                                <m:sub>
                                  <m:r>
                                    <m:t>0</m:t>
                                  </m:r>
                                </m:sub>
                              </m:sSub>
                              <m:r>
                                <m:rPr>
                                  <m:sty m:val="p"/>
                                </m:rPr>
                                <m:t>+</m:t>
                              </m:r>
                              <m:r>
                                <m:t>2</m:t>
                              </m:r>
                              <m:r>
                                <m:t>π</m:t>
                              </m:r>
                              <m:r>
                                <m:t>k</m:t>
                              </m:r>
                            </m:e>
                          </m:d>
                          <m:r>
                            <m:t>n</m:t>
                          </m:r>
                        </m:sup>
                      </m:sSup>
                      <m:r>
                        <m:rPr>
                          <m:sty m:val="p"/>
                        </m:rPr>
                        <m:t>=</m:t>
                      </m:r>
                      <m:sSup>
                        <m:e>
                          <m:r>
                            <m:t>e</m:t>
                          </m:r>
                        </m:e>
                        <m:sup>
                          <m:r>
                            <m:t>j</m:t>
                          </m:r>
                          <m:sSub>
                            <m:e>
                              <m:r>
                                <m:t>ω</m:t>
                              </m:r>
                            </m:e>
                            <m:sub>
                              <m:r>
                                <m:t>0</m:t>
                              </m:r>
                            </m:sub>
                          </m:sSub>
                          <m:r>
                            <m:t>n</m:t>
                          </m:r>
                        </m:sup>
                      </m:sSup>
                      <m:sSup>
                        <m:e>
                          <m:r>
                            <m:t>e</m:t>
                          </m:r>
                        </m:e>
                        <m:sup>
                          <m:r>
                            <m:t>j</m:t>
                          </m:r>
                          <m:r>
                            <m:t>2</m:t>
                          </m:r>
                          <m:r>
                            <m:t>π</m:t>
                          </m:r>
                          <m:r>
                            <m:t>k</m:t>
                          </m:r>
                          <m:r>
                            <m:t>n</m:t>
                          </m:r>
                        </m:sup>
                      </m:sSup>
                      <m:r>
                        <m:rPr>
                          <m:sty m:val="p"/>
                        </m:rPr>
                        <m:t>=</m:t>
                      </m:r>
                      <m:sSup>
                        <m:e>
                          <m:r>
                            <m:t>e</m:t>
                          </m:r>
                        </m:e>
                        <m:sup>
                          <m:r>
                            <m:t>j</m:t>
                          </m:r>
                          <m:sSub>
                            <m:e>
                              <m:r>
                                <m:t>ω</m:t>
                              </m:r>
                            </m:e>
                            <m:sub>
                              <m:r>
                                <m:t>0</m:t>
                              </m:r>
                            </m:sub>
                          </m:sSub>
                          <m:r>
                            <m:t>n</m:t>
                          </m:r>
                        </m:sup>
                      </m:sSup>
                      <m:r>
                        <m:rPr>
                          <m:sty m:val="p"/>
                        </m:rPr>
                        <m:t>⋅</m:t>
                      </m:r>
                      <m:r>
                        <m:t>1</m:t>
                      </m:r>
                      <m:r>
                        <m:rPr>
                          <m:sty m:val="p"/>
                        </m:rPr>
                        <m:t>=</m:t>
                      </m:r>
                      <m:sSup>
                        <m:e>
                          <m:r>
                            <m:t>e</m:t>
                          </m:r>
                        </m:e>
                        <m:sup>
                          <m:r>
                            <m:t>j</m:t>
                          </m:r>
                          <m:sSub>
                            <m:e>
                              <m:r>
                                <m:t>ω</m:t>
                              </m:r>
                            </m:e>
                            <m:sub>
                              <m:r>
                                <m:t>0</m:t>
                              </m:r>
                            </m:sub>
                          </m:sSub>
                          <m:r>
                            <m:t>n</m:t>
                          </m:r>
                        </m:sup>
                      </m:sSup>
                    </m:oMath>
                  </m:oMathPara>
                </a14:m>
              </a:p>
              <a:p>
                <a:pPr lvl="0"/>
                <a:r>
                  <a:rPr/>
                  <a:t>This means all the information about a discrete-time signal is contained in a frequency interval of length </a:t>
                </a:r>
                <a14:m>
                  <m:oMath xmlns:m="http://schemas.openxmlformats.org/officeDocument/2006/math">
                    <m:r>
                      <m:t>2</m:t>
                    </m:r>
                    <m:r>
                      <m:t>π</m:t>
                    </m:r>
                  </m:oMath>
                </a14:m>
                <a:r>
                  <a:rPr/>
                  <a:t>, for example, </a:t>
                </a:r>
                <a14:m>
                  <m:oMath xmlns:m="http://schemas.openxmlformats.org/officeDocument/2006/math">
                    <m:r>
                      <m:rPr>
                        <m:sty m:val="p"/>
                      </m:rPr>
                      <m:t>[</m:t>
                    </m:r>
                    <m:r>
                      <m:t>0</m:t>
                    </m:r>
                    <m:r>
                      <m:rPr>
                        <m:sty m:val="p"/>
                      </m:rPr>
                      <m:t>,</m:t>
                    </m:r>
                    <m:r>
                      <m:t>2</m:t>
                    </m:r>
                    <m:r>
                      <m:t>π</m:t>
                    </m:r>
                    <m:r>
                      <m:rPr>
                        <m:sty m:val="p"/>
                      </m:rPr>
                      <m:t>)</m:t>
                    </m:r>
                  </m:oMath>
                </a14:m>
                <a:r>
                  <a:rPr/>
                  <a:t> or </a:t>
                </a:r>
                <a14:m>
                  <m:oMath xmlns:m="http://schemas.openxmlformats.org/officeDocument/2006/math">
                    <m:r>
                      <m:rPr>
                        <m:sty m:val="p"/>
                      </m:rPr>
                      <m:t>[</m:t>
                    </m:r>
                    <m:r>
                      <m:rPr>
                        <m:sty m:val="p"/>
                      </m:rPr>
                      <m:t>−</m:t>
                    </m:r>
                    <m:r>
                      <m:t>π</m:t>
                    </m:r>
                    <m:r>
                      <m:rPr>
                        <m:sty m:val="p"/>
                      </m:rPr>
                      <m:t>,</m:t>
                    </m:r>
                    <m:r>
                      <m:t>π</m:t>
                    </m:r>
                    <m:r>
                      <m:rPr>
                        <m:sty m:val="p"/>
                      </m:rPr>
                      <m:t>)</m:t>
                    </m:r>
                  </m:oMath>
                </a14:m>
                <a:r>
                  <a:rPr/>
                  <a:t>.</a:t>
                </a:r>
              </a:p>
              <a:p>
                <a:pPr lvl="0" indent="0" marL="0">
                  <a:spcBef>
                    <a:spcPts val="3000"/>
                  </a:spcBef>
                  <a:buNone/>
                </a:pPr>
                <a:r>
                  <a:rPr b="1"/>
                  <a:t>Visualizing Frequency Aliasing</a:t>
                </a:r>
              </a:p>
            </p:txBody>
          </p:sp>
        </mc:Choice>
      </mc:AlternateContent>
      <p:pic>
        <p:nvPicPr>
          <p:cNvPr descr="Presentation_v1_files/figure-pptx/aliasing_plot-1.png" id="0" name="Picture 1"/>
          <p:cNvPicPr>
            <a:picLocks noGrp="1" noChangeAspect="1"/>
          </p:cNvPicPr>
          <p:nvPr/>
        </p:nvPicPr>
        <p:blipFill>
          <a:blip r:embed="rId3"/>
          <a:stretch>
            <a:fillRect/>
          </a:stretch>
        </p:blipFill>
        <p:spPr bwMode="auto">
          <a:xfrm>
            <a:off x="3568700" y="800100"/>
            <a:ext cx="5105400" cy="31877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Unit Impulse and Unit Step Functions</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spcBef>
                    <a:spcPts val="3000"/>
                  </a:spcBef>
                  <a:buNone/>
                </a:pPr>
                <a:r>
                  <a:rPr b="1"/>
                  <a:t>The Unit Impulse Function</a:t>
                </a:r>
              </a:p>
              <a:p>
                <a:pPr lvl="0"/>
                <a:r>
                  <a:rPr/>
                  <a:t>The </a:t>
                </a:r>
                <a:r>
                  <a:rPr b="1"/>
                  <a:t>unit impulse</a:t>
                </a:r>
                <a:r>
                  <a:rPr/>
                  <a:t> (or unit sample) sequence, </a:t>
                </a:r>
                <a14:m>
                  <m:oMath xmlns:m="http://schemas.openxmlformats.org/officeDocument/2006/math">
                    <m:r>
                      <m:t>δ</m:t>
                    </m:r>
                    <m:d>
                      <m:dPr>
                        <m:begChr m:val="["/>
                        <m:endChr m:val="]"/>
                        <m:sepChr m:val=""/>
                        <m:grow/>
                      </m:dPr>
                      <m:e>
                        <m:r>
                          <m:t>n</m:t>
                        </m:r>
                      </m:e>
                    </m:d>
                  </m:oMath>
                </a14:m>
                <a:r>
                  <a:rPr/>
                  <a:t>, is a fundamental building block.</a:t>
                </a:r>
              </a:p>
              <a:p>
                <a:pPr lvl="0"/>
                <a14:m>
                  <m:oMathPara xmlns:m="http://schemas.openxmlformats.org/officeDocument/2006/math">
                    <m:oMathParaPr>
                      <m:jc m:val="center"/>
                    </m:oMathParaPr>
                    <m:oMath>
                      <m:r>
                        <m:t>δ</m:t>
                      </m:r>
                      <m:d>
                        <m:dPr>
                          <m:begChr m:val="["/>
                          <m:endChr m:val="]"/>
                          <m:sepChr m:val=""/>
                          <m:grow/>
                        </m:dPr>
                        <m:e>
                          <m:r>
                            <m:t>n</m:t>
                          </m:r>
                        </m:e>
                      </m:d>
                      <m:r>
                        <m:rPr>
                          <m:sty m:val="p"/>
                        </m:rPr>
                        <m:t>=</m:t>
                      </m:r>
                      <m:d>
                        <m:dPr>
                          <m:begChr m:val="{"/>
                          <m:endChr m:val=""/>
                          <m:sepChr m:val=""/>
                          <m:grow/>
                        </m:dPr>
                        <m:e>
                          <m:m>
                            <m:mPr>
                              <m:baseJc m:val="center"/>
                              <m:plcHide m:val="on"/>
                              <m:mcs>
                                <m:mc>
                                  <m:mcPr>
                                    <m:mcJc m:val="left"/>
                                    <m:count m:val="1"/>
                                  </m:mcPr>
                                </m:mc>
                                <m:mc>
                                  <m:mcPr>
                                    <m:mcJc m:val="left"/>
                                    <m:count m:val="1"/>
                                  </m:mcPr>
                                </m:mc>
                              </m:mcs>
                            </m:mPr>
                            <m:mr>
                              <m:e>
                                <m:r>
                                  <m:t>1</m:t>
                                </m:r>
                                <m:r>
                                  <m:rPr>
                                    <m:sty m:val="p"/>
                                  </m:rPr>
                                  <m:t>,</m:t>
                                </m:r>
                              </m:e>
                              <m:e>
                                <m:r>
                                  <m:t>n</m:t>
                                </m:r>
                                <m:r>
                                  <m:rPr>
                                    <m:sty m:val="p"/>
                                  </m:rPr>
                                  <m:t>=</m:t>
                                </m:r>
                                <m:r>
                                  <m:t>0</m:t>
                                </m:r>
                              </m:e>
                            </m:mr>
                            <m:mr>
                              <m:e>
                                <m:r>
                                  <m:t>0</m:t>
                                </m:r>
                                <m:r>
                                  <m:rPr>
                                    <m:sty m:val="p"/>
                                  </m:rPr>
                                  <m:t>,</m:t>
                                </m:r>
                              </m:e>
                              <m:e>
                                <m:r>
                                  <m:t>n</m:t>
                                </m:r>
                                <m:r>
                                  <m:rPr>
                                    <m:sty m:val="p"/>
                                  </m:rPr>
                                  <m:t>≠</m:t>
                                </m:r>
                                <m:r>
                                  <m:t>0</m:t>
                                </m:r>
                              </m:e>
                            </m:mr>
                          </m:m>
                        </m:e>
                      </m:d>
                    </m:oMath>
                  </m:oMathPara>
                </a14:m>
              </a:p>
              <a:p>
                <a:pPr lvl="0" indent="0" marL="0">
                  <a:spcBef>
                    <a:spcPts val="3000"/>
                  </a:spcBef>
                  <a:buNone/>
                </a:pPr>
                <a:r>
                  <a:rPr b="1"/>
                  <a:t>The Unit Step Function</a:t>
                </a:r>
              </a:p>
              <a:p>
                <a:pPr lvl="0"/>
                <a:r>
                  <a:rPr/>
                  <a:t>The </a:t>
                </a:r>
                <a:r>
                  <a:rPr b="1"/>
                  <a:t>unit step</a:t>
                </a:r>
                <a:r>
                  <a:rPr/>
                  <a:t> sequence, </a:t>
                </a:r>
                <a14:m>
                  <m:oMath xmlns:m="http://schemas.openxmlformats.org/officeDocument/2006/math">
                    <m:r>
                      <m:t>u</m:t>
                    </m:r>
                    <m:d>
                      <m:dPr>
                        <m:begChr m:val="["/>
                        <m:endChr m:val="]"/>
                        <m:sepChr m:val=""/>
                        <m:grow/>
                      </m:dPr>
                      <m:e>
                        <m:r>
                          <m:t>n</m:t>
                        </m:r>
                      </m:e>
                    </m:d>
                  </m:oMath>
                </a14:m>
                <a:r>
                  <a:rPr/>
                  <a:t>, is defined as:</a:t>
                </a:r>
              </a:p>
              <a:p>
                <a:pPr lvl="0"/>
                <a14:m>
                  <m:oMathPara xmlns:m="http://schemas.openxmlformats.org/officeDocument/2006/math">
                    <m:oMathParaPr>
                      <m:jc m:val="center"/>
                    </m:oMathParaPr>
                    <m:oMath>
                      <m:r>
                        <m:t>u</m:t>
                      </m:r>
                      <m:d>
                        <m:dPr>
                          <m:begChr m:val="["/>
                          <m:endChr m:val="]"/>
                          <m:sepChr m:val=""/>
                          <m:grow/>
                        </m:dPr>
                        <m:e>
                          <m:r>
                            <m:t>n</m:t>
                          </m:r>
                        </m:e>
                      </m:d>
                      <m:r>
                        <m:rPr>
                          <m:sty m:val="p"/>
                        </m:rPr>
                        <m:t>=</m:t>
                      </m:r>
                      <m:d>
                        <m:dPr>
                          <m:begChr m:val="{"/>
                          <m:endChr m:val=""/>
                          <m:sepChr m:val=""/>
                          <m:grow/>
                        </m:dPr>
                        <m:e>
                          <m:m>
                            <m:mPr>
                              <m:baseJc m:val="center"/>
                              <m:plcHide m:val="on"/>
                              <m:mcs>
                                <m:mc>
                                  <m:mcPr>
                                    <m:mcJc m:val="left"/>
                                    <m:count m:val="1"/>
                                  </m:mcPr>
                                </m:mc>
                                <m:mc>
                                  <m:mcPr>
                                    <m:mcJc m:val="left"/>
                                    <m:count m:val="1"/>
                                  </m:mcPr>
                                </m:mc>
                              </m:mcs>
                            </m:mPr>
                            <m:mr>
                              <m:e>
                                <m:r>
                                  <m:t>1</m:t>
                                </m:r>
                                <m:r>
                                  <m:rPr>
                                    <m:sty m:val="p"/>
                                  </m:rPr>
                                  <m:t>,</m:t>
                                </m:r>
                              </m:e>
                              <m:e>
                                <m:r>
                                  <m:t>n</m:t>
                                </m:r>
                                <m:r>
                                  <m:rPr>
                                    <m:sty m:val="p"/>
                                  </m:rPr>
                                  <m:t>≥</m:t>
                                </m:r>
                                <m:r>
                                  <m:t>0</m:t>
                                </m:r>
                              </m:e>
                            </m:mr>
                            <m:mr>
                              <m:e>
                                <m:r>
                                  <m:t>0</m:t>
                                </m:r>
                                <m:r>
                                  <m:rPr>
                                    <m:sty m:val="p"/>
                                  </m:rPr>
                                  <m:t>,</m:t>
                                </m:r>
                              </m:e>
                              <m:e>
                                <m:r>
                                  <m:t>n</m:t>
                                </m:r>
                                <m:r>
                                  <m:rPr>
                                    <m:sty m:val="p"/>
                                  </m:rPr>
                                  <m:t>&lt;</m:t>
                                </m:r>
                                <m:r>
                                  <m:t>0</m:t>
                                </m:r>
                              </m:e>
                            </m:mr>
                          </m:m>
                        </m:e>
                      </m:d>
                    </m:oMath>
                  </m:oMathPara>
                </a14:m>
              </a:p>
              <a:p>
                <a:pPr lvl="0"/>
                <a:r>
                  <a:rPr/>
                  <a:t>They are related: </a:t>
                </a:r>
                <a14:m>
                  <m:oMath xmlns:m="http://schemas.openxmlformats.org/officeDocument/2006/math">
                    <m:r>
                      <m:t>δ</m:t>
                    </m:r>
                    <m:d>
                      <m:dPr>
                        <m:begChr m:val="["/>
                        <m:endChr m:val="]"/>
                        <m:sepChr m:val=""/>
                        <m:grow/>
                      </m:dPr>
                      <m:e>
                        <m:r>
                          <m:t>n</m:t>
                        </m:r>
                      </m:e>
                    </m:d>
                    <m:r>
                      <m:rPr>
                        <m:sty m:val="p"/>
                      </m:rPr>
                      <m:t>=</m:t>
                    </m:r>
                    <m:r>
                      <m:t>u</m:t>
                    </m:r>
                    <m:d>
                      <m:dPr>
                        <m:begChr m:val="["/>
                        <m:endChr m:val="]"/>
                        <m:sepChr m:val=""/>
                        <m:grow/>
                      </m:dPr>
                      <m:e>
                        <m:r>
                          <m:t>n</m:t>
                        </m:r>
                      </m:e>
                    </m:d>
                    <m:r>
                      <m:rPr>
                        <m:sty m:val="p"/>
                      </m:rPr>
                      <m:t>−</m:t>
                    </m:r>
                    <m:r>
                      <m:t>u</m:t>
                    </m:r>
                    <m:d>
                      <m:dPr>
                        <m:begChr m:val="["/>
                        <m:endChr m:val="]"/>
                        <m:sepChr m:val=""/>
                        <m:grow/>
                      </m:dPr>
                      <m:e>
                        <m:r>
                          <m:t>n</m:t>
                        </m:r>
                        <m:r>
                          <m:rPr>
                            <m:sty m:val="p"/>
                          </m:rPr>
                          <m:t>−</m:t>
                        </m:r>
                        <m:r>
                          <m:t>1</m:t>
                        </m:r>
                      </m:e>
                    </m:d>
                  </m:oMath>
                </a14:m>
                <a:r>
                  <a:rPr/>
                  <a:t> and, conversely, the unit step is the running sum of the impulse:</a:t>
                </a:r>
              </a:p>
              <a:p>
                <a:pPr lvl="0"/>
                <a14:m>
                  <m:oMathPara xmlns:m="http://schemas.openxmlformats.org/officeDocument/2006/math">
                    <m:oMathParaPr>
                      <m:jc m:val="center"/>
                    </m:oMathParaPr>
                    <m:oMath>
                      <m:r>
                        <m:t>u</m:t>
                      </m:r>
                      <m:d>
                        <m:dPr>
                          <m:begChr m:val="["/>
                          <m:endChr m:val="]"/>
                          <m:sepChr m:val=""/>
                          <m:grow/>
                        </m:dPr>
                        <m:e>
                          <m:r>
                            <m:t>n</m:t>
                          </m:r>
                        </m:e>
                      </m:d>
                      <m:r>
                        <m:rPr>
                          <m:sty m:val="p"/>
                        </m:rPr>
                        <m:t>=</m:t>
                      </m:r>
                      <m:nary>
                        <m:naryPr>
                          <m:chr m:val="∑"/>
                          <m:limLoc m:val="undOvr"/>
                          <m:subHide m:val="off"/>
                          <m:supHide m:val="off"/>
                        </m:naryPr>
                        <m:sub>
                          <m:r>
                            <m:t>k</m:t>
                          </m:r>
                          <m:r>
                            <m:rPr>
                              <m:sty m:val="p"/>
                            </m:rPr>
                            <m:t>=</m:t>
                          </m:r>
                          <m:r>
                            <m:rPr>
                              <m:sty m:val="p"/>
                            </m:rPr>
                            <m:t>−</m:t>
                          </m:r>
                          <m:r>
                            <m:rPr>
                              <m:sty m:val="p"/>
                            </m:rPr>
                            <m:t>∞</m:t>
                          </m:r>
                        </m:sub>
                        <m:sup>
                          <m:r>
                            <m:t>n</m:t>
                          </m:r>
                        </m:sup>
                        <m:e>
                          <m:r>
                            <m:t>δ</m:t>
                          </m:r>
                        </m:e>
                      </m:nary>
                      <m:d>
                        <m:dPr>
                          <m:begChr m:val="["/>
                          <m:endChr m:val="]"/>
                          <m:sepChr m:val=""/>
                          <m:grow/>
                        </m:dPr>
                        <m:e>
                          <m:r>
                            <m:t>k</m:t>
                          </m:r>
                        </m:e>
                      </m:d>
                    </m:oMath>
                  </m:oMathPara>
                </a14:m>
              </a:p>
              <a:p>
                <a:pPr lvl="0" indent="0" marL="0">
                  <a:spcBef>
                    <a:spcPts val="3000"/>
                  </a:spcBef>
                  <a:buNone/>
                </a:pPr>
                <a:r>
                  <a:rPr b="1"/>
                  <a:t>Unit Step as a Sum of Impulses</a:t>
                </a:r>
              </a:p>
            </p:txBody>
          </p:sp>
        </mc:Choice>
      </mc:AlternateContent>
      <p:pic>
        <p:nvPicPr>
          <p:cNvPr descr="Presentation_v1_files/figure-pptx/step_from_impulse_plot-1.png" id="0" name="Picture 1"/>
          <p:cNvPicPr>
            <a:picLocks noGrp="1" noChangeAspect="1"/>
          </p:cNvPicPr>
          <p:nvPr/>
        </p:nvPicPr>
        <p:blipFill>
          <a:blip r:embed="rId3"/>
          <a:stretch>
            <a:fillRect/>
          </a:stretch>
        </p:blipFill>
        <p:spPr bwMode="auto">
          <a:xfrm>
            <a:off x="3568700" y="482600"/>
            <a:ext cx="5105400" cy="38354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0">
                  <a:spcBef>
                    <a:spcPts val="3000"/>
                  </a:spcBef>
                  <a:buNone/>
                </a:pPr>
                <a:r>
                  <a:rPr b="1"/>
                  <a:t>Continuous-Time Impulse and Step</a:t>
                </a:r>
              </a:p>
              <a:p>
                <a:pPr lvl="0"/>
                <a:r>
                  <a:rPr/>
                  <a:t>The continuous-time </a:t>
                </a:r>
                <a:r>
                  <a:rPr b="1"/>
                  <a:t>unit step function</a:t>
                </a:r>
                <a:r>
                  <a:rPr/>
                  <a:t>, </a:t>
                </a:r>
                <a14:m>
                  <m:oMath xmlns:m="http://schemas.openxmlformats.org/officeDocument/2006/math">
                    <m:r>
                      <m:t>u</m:t>
                    </m:r>
                    <m:d>
                      <m:dPr>
                        <m:begChr m:val="("/>
                        <m:endChr m:val=")"/>
                        <m:sepChr m:val=""/>
                        <m:grow/>
                      </m:dPr>
                      <m:e>
                        <m:r>
                          <m:t>t</m:t>
                        </m:r>
                      </m:e>
                    </m:d>
                  </m:oMath>
                </a14:m>
                <a:r>
                  <a:rPr/>
                  <a:t>, is defined as:</a:t>
                </a:r>
              </a:p>
              <a:p>
                <a:pPr lvl="0"/>
                <a14:m>
                  <m:oMathPara xmlns:m="http://schemas.openxmlformats.org/officeDocument/2006/math">
                    <m:oMathParaPr>
                      <m:jc m:val="center"/>
                    </m:oMathParaPr>
                    <m:oMath>
                      <m:r>
                        <m:t>u</m:t>
                      </m:r>
                      <m:d>
                        <m:dPr>
                          <m:begChr m:val="("/>
                          <m:endChr m:val=")"/>
                          <m:sepChr m:val=""/>
                          <m:grow/>
                        </m:dPr>
                        <m:e>
                          <m:r>
                            <m:t>t</m:t>
                          </m:r>
                        </m:e>
                      </m:d>
                      <m:r>
                        <m:rPr>
                          <m:sty m:val="p"/>
                        </m:rPr>
                        <m:t>=</m:t>
                      </m:r>
                      <m:d>
                        <m:dPr>
                          <m:begChr m:val="{"/>
                          <m:endChr m:val=""/>
                          <m:sepChr m:val=""/>
                          <m:grow/>
                        </m:dPr>
                        <m:e>
                          <m:m>
                            <m:mPr>
                              <m:baseJc m:val="center"/>
                              <m:plcHide m:val="on"/>
                              <m:mcs>
                                <m:mc>
                                  <m:mcPr>
                                    <m:mcJc m:val="left"/>
                                    <m:count m:val="1"/>
                                  </m:mcPr>
                                </m:mc>
                                <m:mc>
                                  <m:mcPr>
                                    <m:mcJc m:val="left"/>
                                    <m:count m:val="1"/>
                                  </m:mcPr>
                                </m:mc>
                              </m:mcs>
                            </m:mPr>
                            <m:mr>
                              <m:e>
                                <m:r>
                                  <m:t>1</m:t>
                                </m:r>
                                <m:r>
                                  <m:rPr>
                                    <m:sty m:val="p"/>
                                  </m:rPr>
                                  <m:t>,</m:t>
                                </m:r>
                              </m:e>
                              <m:e>
                                <m:r>
                                  <m:t>t</m:t>
                                </m:r>
                                <m:r>
                                  <m:rPr>
                                    <m:sty m:val="p"/>
                                  </m:rPr>
                                  <m:t>&gt;</m:t>
                                </m:r>
                                <m:r>
                                  <m:t>0</m:t>
                                </m:r>
                              </m:e>
                            </m:mr>
                            <m:mr>
                              <m:e>
                                <m:r>
                                  <m:t>0</m:t>
                                </m:r>
                                <m:r>
                                  <m:rPr>
                                    <m:sty m:val="p"/>
                                  </m:rPr>
                                  <m:t>,</m:t>
                                </m:r>
                              </m:e>
                              <m:e>
                                <m:r>
                                  <m:t>t</m:t>
                                </m:r>
                                <m:r>
                                  <m:rPr>
                                    <m:sty m:val="p"/>
                                  </m:rPr>
                                  <m:t>&lt;</m:t>
                                </m:r>
                                <m:r>
                                  <m:t>0</m:t>
                                </m:r>
                              </m:e>
                            </m:mr>
                          </m:m>
                        </m:e>
                      </m:d>
                    </m:oMath>
                  </m:oMathPara>
                </a14:m>
              </a:p>
              <a:p>
                <a:pPr lvl="0"/>
                <a:r>
                  <a:rPr/>
                  <a:t>The continuous-time </a:t>
                </a:r>
                <a:r>
                  <a:rPr b="1"/>
                  <a:t>unit impulse function</a:t>
                </a:r>
                <a:r>
                  <a:rPr/>
                  <a:t>, </a:t>
                </a:r>
                <a14:m>
                  <m:oMath xmlns:m="http://schemas.openxmlformats.org/officeDocument/2006/math">
                    <m:r>
                      <m:t>δ</m:t>
                    </m:r>
                    <m:d>
                      <m:dPr>
                        <m:begChr m:val="("/>
                        <m:endChr m:val=")"/>
                        <m:sepChr m:val=""/>
                        <m:grow/>
                      </m:dPr>
                      <m:e>
                        <m:r>
                          <m:t>t</m:t>
                        </m:r>
                      </m:e>
                    </m:d>
                  </m:oMath>
                </a14:m>
                <a:r>
                  <a:rPr/>
                  <a:t>, is more abstract. It is considered to be the derivative of the unit step:</a:t>
                </a:r>
              </a:p>
              <a:p>
                <a:pPr lvl="0"/>
                <a14:m>
                  <m:oMathPara xmlns:m="http://schemas.openxmlformats.org/officeDocument/2006/math">
                    <m:oMathParaPr>
                      <m:jc m:val="center"/>
                    </m:oMathParaPr>
                    <m:oMath>
                      <m:r>
                        <m:t>δ</m:t>
                      </m:r>
                      <m:d>
                        <m:dPr>
                          <m:begChr m:val="("/>
                          <m:endChr m:val=")"/>
                          <m:sepChr m:val=""/>
                          <m:grow/>
                        </m:dPr>
                        <m:e>
                          <m:r>
                            <m:t>t</m:t>
                          </m:r>
                        </m:e>
                      </m:d>
                      <m:r>
                        <m:rPr>
                          <m:sty m:val="p"/>
                        </m:rPr>
                        <m:t>=</m:t>
                      </m:r>
                      <m:f>
                        <m:fPr>
                          <m:type m:val="bar"/>
                        </m:fPr>
                        <m:num>
                          <m:r>
                            <m:t>d</m:t>
                          </m:r>
                          <m:r>
                            <m:t>u</m:t>
                          </m:r>
                          <m:d>
                            <m:dPr>
                              <m:begChr m:val="("/>
                              <m:endChr m:val=")"/>
                              <m:sepChr m:val=""/>
                              <m:grow/>
                            </m:dPr>
                            <m:e>
                              <m:r>
                                <m:t>t</m:t>
                              </m:r>
                            </m:e>
                          </m:d>
                        </m:num>
                        <m:den>
                          <m:r>
                            <m:t>d</m:t>
                          </m:r>
                          <m:r>
                            <m:t>t</m:t>
                          </m:r>
                        </m:den>
                      </m:f>
                    </m:oMath>
                  </m:oMathPara>
                </a14:m>
              </a:p>
              <a:p>
                <a:pPr lvl="0"/>
                <a:r>
                  <a:rPr/>
                  <a:t>It is zero everywhere except at </a:t>
                </a:r>
                <a14:m>
                  <m:oMath xmlns:m="http://schemas.openxmlformats.org/officeDocument/2006/math">
                    <m:r>
                      <m:t>t</m:t>
                    </m:r>
                    <m:r>
                      <m:rPr>
                        <m:sty m:val="p"/>
                      </m:rPr>
                      <m:t>=</m:t>
                    </m:r>
                    <m:r>
                      <m:t>0</m:t>
                    </m:r>
                  </m:oMath>
                </a14:m>
                <a:r>
                  <a:rPr/>
                  <a:t>, and its integral is one. </a:t>
                </a:r>
                <a14:m>
                  <m:oMath xmlns:m="http://schemas.openxmlformats.org/officeDocument/2006/math">
                    <m:nary>
                      <m:naryPr>
                        <m:chr m:val="∫"/>
                        <m:limLoc m:val="subSup"/>
                        <m:subHide m:val="off"/>
                        <m:supHide m:val="off"/>
                      </m:naryPr>
                      <m:sub>
                        <m:r>
                          <m:rPr>
                            <m:sty m:val="p"/>
                          </m:rPr>
                          <m:t>−</m:t>
                        </m:r>
                        <m:r>
                          <m:rPr>
                            <m:sty m:val="p"/>
                          </m:rPr>
                          <m:t>∞</m:t>
                        </m:r>
                      </m:sub>
                      <m:sup>
                        <m:r>
                          <m:rPr>
                            <m:sty m:val="p"/>
                          </m:rPr>
                          <m:t>∞</m:t>
                        </m:r>
                      </m:sup>
                      <m:e>
                        <m:r>
                          <m:t>δ</m:t>
                        </m:r>
                      </m:e>
                    </m:nary>
                    <m:d>
                      <m:dPr>
                        <m:begChr m:val="("/>
                        <m:endChr m:val=")"/>
                        <m:sepChr m:val=""/>
                        <m:grow/>
                      </m:dPr>
                      <m:e>
                        <m:r>
                          <m:t>t</m:t>
                        </m:r>
                      </m:e>
                    </m:d>
                    <m:r>
                      <m:t>d</m:t>
                    </m:r>
                    <m:r>
                      <m:t>t</m:t>
                    </m:r>
                    <m:r>
                      <m:rPr>
                        <m:sty m:val="p"/>
                      </m:rPr>
                      <m:t>=</m:t>
                    </m:r>
                    <m:r>
                      <m:t>1</m:t>
                    </m:r>
                  </m:oMath>
                </a14:m>
                <a:r>
                  <a:rPr/>
                  <a:t>.</a:t>
                </a:r>
              </a:p>
              <a:p>
                <a:pPr lvl="0" indent="0" marL="0">
                  <a:spcBef>
                    <a:spcPts val="3000"/>
                  </a:spcBef>
                  <a:buNone/>
                </a:pPr>
                <a:r>
                  <a:rPr b="1"/>
                  <a:t>The Impulse as the Derivative of the Step</a:t>
                </a:r>
              </a:p>
            </p:txBody>
          </p:sp>
        </mc:Choice>
      </mc:AlternateContent>
      <p:pic>
        <p:nvPicPr>
          <p:cNvPr descr="Presentation_v1_files/figure-pptx/step_derivative_plot-1.png" id="0" name="Picture 1"/>
          <p:cNvPicPr>
            <a:picLocks noGrp="1" noChangeAspect="1"/>
          </p:cNvPicPr>
          <p:nvPr/>
        </p:nvPicPr>
        <p:blipFill>
          <a:blip r:embed="rId3"/>
          <a:stretch>
            <a:fillRect/>
          </a:stretch>
        </p:blipFill>
        <p:spPr bwMode="auto">
          <a:xfrm>
            <a:off x="3568700" y="1333500"/>
            <a:ext cx="5105400" cy="21336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0">
                  <a:spcBef>
                    <a:spcPts val="3000"/>
                  </a:spcBef>
                  <a:buNone/>
                </a:pPr>
                <a:r>
                  <a:rPr b="1"/>
                  <a:t>The Sifting Property of the Impulse</a:t>
                </a:r>
              </a:p>
              <a:p>
                <a:pPr lvl="0"/>
                <a:r>
                  <a:rPr/>
                  <a:t>One of the most important properties of the unit impulse is the </a:t>
                </a:r>
                <a:r>
                  <a:rPr b="1"/>
                  <a:t>sifting property</a:t>
                </a:r>
                <a:r>
                  <a:rPr/>
                  <a:t>.</a:t>
                </a:r>
              </a:p>
              <a:p>
                <a:pPr lvl="0"/>
                <a:r>
                  <a:rPr/>
                  <a:t>Multiplying a signal by a shifted impulse isolates the signal’s value at that point.</a:t>
                </a:r>
              </a:p>
              <a:p>
                <a:pPr lvl="0"/>
                <a:r>
                  <a:rPr b="1"/>
                  <a:t>Discrete-Time:</a:t>
                </a:r>
              </a:p>
              <a:p>
                <a:pPr lvl="0"/>
                <a14:m>
                  <m:oMathPara xmlns:m="http://schemas.openxmlformats.org/officeDocument/2006/math">
                    <m:oMathParaPr>
                      <m:jc m:val="center"/>
                    </m:oMathParaPr>
                    <m:oMath>
                      <m:r>
                        <m:t>x</m:t>
                      </m:r>
                      <m:d>
                        <m:dPr>
                          <m:begChr m:val="["/>
                          <m:endChr m:val="]"/>
                          <m:sepChr m:val=""/>
                          <m:grow/>
                        </m:dPr>
                        <m:e>
                          <m:r>
                            <m:t>n</m:t>
                          </m:r>
                        </m:e>
                      </m:d>
                      <m:r>
                        <m:t>δ</m:t>
                      </m:r>
                      <m:d>
                        <m:dPr>
                          <m:begChr m:val="["/>
                          <m:endChr m:val="]"/>
                          <m:sepChr m:val=""/>
                          <m:grow/>
                        </m:dPr>
                        <m:e>
                          <m:r>
                            <m:t>n</m:t>
                          </m:r>
                          <m:r>
                            <m:rPr>
                              <m:sty m:val="p"/>
                            </m:rPr>
                            <m:t>−</m:t>
                          </m:r>
                          <m:sSub>
                            <m:e>
                              <m:r>
                                <m:t>n</m:t>
                              </m:r>
                            </m:e>
                            <m:sub>
                              <m:r>
                                <m:t>0</m:t>
                              </m:r>
                            </m:sub>
                          </m:sSub>
                        </m:e>
                      </m:d>
                      <m:r>
                        <m:rPr>
                          <m:sty m:val="p"/>
                        </m:rPr>
                        <m:t>=</m:t>
                      </m:r>
                      <m:r>
                        <m:t>x</m:t>
                      </m:r>
                      <m:d>
                        <m:dPr>
                          <m:begChr m:val="["/>
                          <m:endChr m:val="]"/>
                          <m:sepChr m:val=""/>
                          <m:grow/>
                        </m:dPr>
                        <m:e>
                          <m:sSub>
                            <m:e>
                              <m:r>
                                <m:t>n</m:t>
                              </m:r>
                            </m:e>
                            <m:sub>
                              <m:r>
                                <m:t>0</m:t>
                              </m:r>
                            </m:sub>
                          </m:sSub>
                        </m:e>
                      </m:d>
                      <m:r>
                        <m:t>δ</m:t>
                      </m:r>
                      <m:d>
                        <m:dPr>
                          <m:begChr m:val="["/>
                          <m:endChr m:val="]"/>
                          <m:sepChr m:val=""/>
                          <m:grow/>
                        </m:dPr>
                        <m:e>
                          <m:r>
                            <m:t>n</m:t>
                          </m:r>
                          <m:r>
                            <m:rPr>
                              <m:sty m:val="p"/>
                            </m:rPr>
                            <m:t>−</m:t>
                          </m:r>
                          <m:sSub>
                            <m:e>
                              <m:r>
                                <m:t>n</m:t>
                              </m:r>
                            </m:e>
                            <m:sub>
                              <m:r>
                                <m:t>0</m:t>
                              </m:r>
                            </m:sub>
                          </m:sSub>
                        </m:e>
                      </m:d>
                    </m:oMath>
                  </m:oMathPara>
                </a14:m>
              </a:p>
              <a:p>
                <a:pPr lvl="0"/>
                <a:r>
                  <a:rPr b="1"/>
                  <a:t>Continuous-Time:</a:t>
                </a:r>
              </a:p>
              <a:p>
                <a:pPr lvl="0"/>
                <a14:m>
                  <m:oMathPara xmlns:m="http://schemas.openxmlformats.org/officeDocument/2006/math">
                    <m:oMathParaPr>
                      <m:jc m:val="center"/>
                    </m:oMathParaPr>
                    <m:oMath>
                      <m:r>
                        <m:t>x</m:t>
                      </m:r>
                      <m:d>
                        <m:dPr>
                          <m:begChr m:val="("/>
                          <m:endChr m:val=")"/>
                          <m:sepChr m:val=""/>
                          <m:grow/>
                        </m:dPr>
                        <m:e>
                          <m:r>
                            <m:t>t</m:t>
                          </m:r>
                        </m:e>
                      </m:d>
                      <m:r>
                        <m:t>δ</m:t>
                      </m:r>
                      <m:d>
                        <m:dPr>
                          <m:begChr m:val="("/>
                          <m:endChr m:val=")"/>
                          <m:sepChr m:val=""/>
                          <m:grow/>
                        </m:dPr>
                        <m:e>
                          <m:r>
                            <m:t>t</m:t>
                          </m:r>
                          <m:r>
                            <m:rPr>
                              <m:sty m:val="p"/>
                            </m:rPr>
                            <m:t>−</m:t>
                          </m:r>
                          <m:sSub>
                            <m:e>
                              <m:r>
                                <m:t>t</m:t>
                              </m:r>
                            </m:e>
                            <m:sub>
                              <m:r>
                                <m:t>0</m:t>
                              </m:r>
                            </m:sub>
                          </m:sSub>
                        </m:e>
                      </m:d>
                      <m:r>
                        <m:rPr>
                          <m:sty m:val="p"/>
                        </m:rPr>
                        <m:t>=</m:t>
                      </m:r>
                      <m:r>
                        <m:t>x</m:t>
                      </m:r>
                      <m:d>
                        <m:dPr>
                          <m:begChr m:val="("/>
                          <m:endChr m:val=")"/>
                          <m:sepChr m:val=""/>
                          <m:grow/>
                        </m:dPr>
                        <m:e>
                          <m:sSub>
                            <m:e>
                              <m:r>
                                <m:t>t</m:t>
                              </m:r>
                            </m:e>
                            <m:sub>
                              <m:r>
                                <m:t>0</m:t>
                              </m:r>
                            </m:sub>
                          </m:sSub>
                        </m:e>
                      </m:d>
                      <m:r>
                        <m:t>δ</m:t>
                      </m:r>
                      <m:d>
                        <m:dPr>
                          <m:begChr m:val="("/>
                          <m:endChr m:val=")"/>
                          <m:sepChr m:val=""/>
                          <m:grow/>
                        </m:dPr>
                        <m:e>
                          <m:r>
                            <m:t>t</m:t>
                          </m:r>
                          <m:r>
                            <m:rPr>
                              <m:sty m:val="p"/>
                            </m:rPr>
                            <m:t>−</m:t>
                          </m:r>
                          <m:sSub>
                            <m:e>
                              <m:r>
                                <m:t>t</m:t>
                              </m:r>
                            </m:e>
                            <m:sub>
                              <m:r>
                                <m:t>0</m:t>
                              </m:r>
                            </m:sub>
                          </m:sSub>
                        </m:e>
                      </m:d>
                    </m:oMath>
                  </m:oMathPara>
                </a14:m>
              </a:p>
              <a:p>
                <a:pPr lvl="0"/>
                <a:r>
                  <a:rPr/>
                  <a:t>This property is fundamental to the theory of sampling and system representation.</a:t>
                </a:r>
              </a:p>
              <a:p>
                <a:pPr lvl="0" indent="0" marL="0">
                  <a:spcBef>
                    <a:spcPts val="3000"/>
                  </a:spcBef>
                  <a:buNone/>
                </a:pPr>
                <a:r>
                  <a:rPr b="1"/>
                  <a:t>Visualizing the Sifting Property</a:t>
                </a:r>
              </a:p>
            </p:txBody>
          </p:sp>
        </mc:Choice>
      </mc:AlternateContent>
      <p:pic>
        <p:nvPicPr>
          <p:cNvPr descr="Presentation_v1_files/figure-pptx/sifting_plot-3.png" id="0" name="Picture 1"/>
          <p:cNvPicPr>
            <a:picLocks noGrp="1" noChangeAspect="1"/>
          </p:cNvPicPr>
          <p:nvPr/>
        </p:nvPicPr>
        <p:blipFill>
          <a:blip r:embed="rId3"/>
          <a:stretch>
            <a:fillRect/>
          </a:stretch>
        </p:blipFill>
        <p:spPr bwMode="auto">
          <a:xfrm>
            <a:off x="3568700" y="482600"/>
            <a:ext cx="5105400" cy="38354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Systems</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spcBef>
                    <a:spcPts val="3000"/>
                  </a:spcBef>
                  <a:buNone/>
                </a:pPr>
                <a:r>
                  <a:rPr b="1"/>
                  <a:t>Memoryless Systems</a:t>
                </a:r>
              </a:p>
              <a:p>
                <a:pPr lvl="0"/>
                <a:r>
                  <a:rPr/>
                  <a:t>A system is </a:t>
                </a:r>
                <a:r>
                  <a:rPr b="1"/>
                  <a:t>memoryless</a:t>
                </a:r>
                <a:r>
                  <a:rPr/>
                  <a:t> if its output at any given time depends only on the input at that same time.</a:t>
                </a:r>
              </a:p>
              <a:p>
                <a:pPr lvl="1"/>
                <a:r>
                  <a:rPr/>
                  <a:t>Example: A resistor, </a:t>
                </a:r>
                <a14:m>
                  <m:oMath xmlns:m="http://schemas.openxmlformats.org/officeDocument/2006/math">
                    <m:r>
                      <m:t>v</m:t>
                    </m:r>
                    <m:d>
                      <m:dPr>
                        <m:begChr m:val="("/>
                        <m:endChr m:val=")"/>
                        <m:sepChr m:val=""/>
                        <m:grow/>
                      </m:dPr>
                      <m:e>
                        <m:r>
                          <m:t>t</m:t>
                        </m:r>
                      </m:e>
                    </m:d>
                    <m:r>
                      <m:rPr>
                        <m:sty m:val="p"/>
                      </m:rPr>
                      <m:t>=</m:t>
                    </m:r>
                    <m:r>
                      <m:t>R</m:t>
                    </m:r>
                    <m:r>
                      <m:rPr>
                        <m:sty m:val="p"/>
                      </m:rPr>
                      <m:t>⋅</m:t>
                    </m:r>
                    <m:r>
                      <m:t>i</m:t>
                    </m:r>
                    <m:d>
                      <m:dPr>
                        <m:begChr m:val="("/>
                        <m:endChr m:val=")"/>
                        <m:sepChr m:val=""/>
                        <m:grow/>
                      </m:dPr>
                      <m:e>
                        <m:r>
                          <m:t>t</m:t>
                        </m:r>
                      </m:e>
                    </m:d>
                  </m:oMath>
                </a14:m>
                <a:r>
                  <a:rPr/>
                  <a:t>. The voltage now depends on the current now.</a:t>
                </a:r>
              </a:p>
              <a:p>
                <a:pPr lvl="0" indent="0" marL="0">
                  <a:spcBef>
                    <a:spcPts val="3000"/>
                  </a:spcBef>
                  <a:buNone/>
                </a:pPr>
                <a:r>
                  <a:rPr b="1"/>
                  <a:t>Systems with Memory</a:t>
                </a:r>
              </a:p>
              <a:p>
                <a:pPr lvl="0"/>
                <a:r>
                  <a:rPr/>
                  <a:t>A system has </a:t>
                </a:r>
                <a:r>
                  <a:rPr b="1"/>
                  <a:t>memory</a:t>
                </a:r>
                <a:r>
                  <a:rPr/>
                  <a:t> if its output depends on past (or future) values of the input.</a:t>
                </a:r>
              </a:p>
              <a:p>
                <a:pPr lvl="1"/>
                <a:r>
                  <a:rPr/>
                  <a:t>Example: A capacitor, </a:t>
                </a:r>
                <a14:m>
                  <m:oMath xmlns:m="http://schemas.openxmlformats.org/officeDocument/2006/math">
                    <m:r>
                      <m:t>v</m:t>
                    </m:r>
                    <m:d>
                      <m:dPr>
                        <m:begChr m:val="("/>
                        <m:endChr m:val=")"/>
                        <m:sepChr m:val=""/>
                        <m:grow/>
                      </m:dPr>
                      <m:e>
                        <m:r>
                          <m:t>t</m:t>
                        </m:r>
                      </m:e>
                    </m:d>
                    <m:r>
                      <m:rPr>
                        <m:sty m:val="p"/>
                      </m:rPr>
                      <m:t>=</m:t>
                    </m:r>
                    <m:f>
                      <m:fPr>
                        <m:type m:val="bar"/>
                      </m:fPr>
                      <m:num>
                        <m:r>
                          <m:t>1</m:t>
                        </m:r>
                      </m:num>
                      <m:den>
                        <m:r>
                          <m:t>C</m:t>
                        </m:r>
                      </m:den>
                    </m:f>
                    <m:nary>
                      <m:naryPr>
                        <m:chr m:val="∫"/>
                        <m:limLoc m:val="subSup"/>
                        <m:subHide m:val="off"/>
                        <m:supHide m:val="off"/>
                      </m:naryPr>
                      <m:sub>
                        <m:r>
                          <m:rPr>
                            <m:sty m:val="p"/>
                          </m:rPr>
                          <m:t>−</m:t>
                        </m:r>
                        <m:r>
                          <m:rPr>
                            <m:sty m:val="p"/>
                          </m:rPr>
                          <m:t>∞</m:t>
                        </m:r>
                      </m:sub>
                      <m:sup>
                        <m:r>
                          <m:t>t</m:t>
                        </m:r>
                      </m:sup>
                      <m:e>
                        <m:r>
                          <m:t>i</m:t>
                        </m:r>
                      </m:e>
                    </m:nary>
                    <m:d>
                      <m:dPr>
                        <m:begChr m:val="("/>
                        <m:endChr m:val=")"/>
                        <m:sepChr m:val=""/>
                        <m:grow/>
                      </m:dPr>
                      <m:e>
                        <m:r>
                          <m:t>τ</m:t>
                        </m:r>
                      </m:e>
                    </m:d>
                    <m:r>
                      <m:t>d</m:t>
                    </m:r>
                    <m:r>
                      <m:t>τ</m:t>
                    </m:r>
                  </m:oMath>
                </a14:m>
                <a:r>
                  <a:rPr/>
                  <a:t>. The voltage now depends on all past current.</a:t>
                </a:r>
              </a:p>
              <a:p>
                <a:pPr lvl="0" indent="0" marL="0">
                  <a:spcBef>
                    <a:spcPts val="3000"/>
                  </a:spcBef>
                  <a:buNone/>
                </a:pPr>
                <a:r>
                  <a:rPr b="1"/>
                  <a:t>Memory vs. Memoryless Systems</a:t>
                </a:r>
              </a:p>
            </p:txBody>
          </p:sp>
        </mc:Choice>
      </mc:AlternateContent>
      <p:pic>
        <p:nvPicPr>
          <p:cNvPr descr="Presentation_v1_files/figure-pptx/memory_plot-1.png" id="0" name="Picture 1"/>
          <p:cNvPicPr>
            <a:picLocks noGrp="1" noChangeAspect="1"/>
          </p:cNvPicPr>
          <p:nvPr/>
        </p:nvPicPr>
        <p:blipFill>
          <a:blip r:embed="rId3"/>
          <a:stretch>
            <a:fillRect/>
          </a:stretch>
        </p:blipFill>
        <p:spPr bwMode="auto">
          <a:xfrm>
            <a:off x="3568700" y="1333500"/>
            <a:ext cx="5105400" cy="21336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0">
                  <a:spcBef>
                    <a:spcPts val="3000"/>
                  </a:spcBef>
                  <a:buNone/>
                </a:pPr>
                <a:r>
                  <a:rPr b="1"/>
                  <a:t>Invertibility and Inverse Systems</a:t>
                </a:r>
              </a:p>
              <a:p>
                <a:pPr lvl="0"/>
                <a:r>
                  <a:rPr/>
                  <a:t>A system is </a:t>
                </a:r>
                <a:r>
                  <a:rPr b="1"/>
                  <a:t>invertible</a:t>
                </a:r>
                <a:r>
                  <a:rPr/>
                  <a:t> if distinct inputs produce distinct outputs.</a:t>
                </a:r>
              </a:p>
              <a:p>
                <a:pPr lvl="0"/>
                <a:r>
                  <a:rPr/>
                  <a:t>If a system is invertible, an </a:t>
                </a:r>
                <a:r>
                  <a:rPr b="1"/>
                  <a:t>inverse system</a:t>
                </a:r>
                <a:r>
                  <a:rPr/>
                  <a:t> exists which, when cascaded with the original system, produces the original input.</a:t>
                </a:r>
              </a:p>
              <a:p>
                <a:pPr lvl="0"/>
                <a:r>
                  <a:rPr/>
                  <a:t>Example: The system </a:t>
                </a:r>
                <a14:m>
                  <m:oMath xmlns:m="http://schemas.openxmlformats.org/officeDocument/2006/math">
                    <m:r>
                      <m:t>y</m:t>
                    </m:r>
                    <m:d>
                      <m:dPr>
                        <m:begChr m:val="("/>
                        <m:endChr m:val=")"/>
                        <m:sepChr m:val=""/>
                        <m:grow/>
                      </m:dPr>
                      <m:e>
                        <m:r>
                          <m:t>t</m:t>
                        </m:r>
                      </m:e>
                    </m:d>
                    <m:r>
                      <m:rPr>
                        <m:sty m:val="p"/>
                      </m:rPr>
                      <m:t>=</m:t>
                    </m:r>
                    <m:r>
                      <m:t>2</m:t>
                    </m:r>
                    <m:r>
                      <m:t>x</m:t>
                    </m:r>
                    <m:d>
                      <m:dPr>
                        <m:begChr m:val="("/>
                        <m:endChr m:val=")"/>
                        <m:sepChr m:val=""/>
                        <m:grow/>
                      </m:dPr>
                      <m:e>
                        <m:r>
                          <m:t>t</m:t>
                        </m:r>
                      </m:e>
                    </m:d>
                  </m:oMath>
                </a14:m>
                <a:r>
                  <a:rPr/>
                  <a:t> is invertible. Its inverse is </a:t>
                </a:r>
                <a14:m>
                  <m:oMath xmlns:m="http://schemas.openxmlformats.org/officeDocument/2006/math">
                    <m:r>
                      <m:t>w</m:t>
                    </m:r>
                    <m:d>
                      <m:dPr>
                        <m:begChr m:val="("/>
                        <m:endChr m:val=")"/>
                        <m:sepChr m:val=""/>
                        <m:grow/>
                      </m:dPr>
                      <m:e>
                        <m:r>
                          <m:t>t</m:t>
                        </m:r>
                      </m:e>
                    </m:d>
                    <m:r>
                      <m:rPr>
                        <m:sty m:val="p"/>
                      </m:rPr>
                      <m:t>=</m:t>
                    </m:r>
                    <m:f>
                      <m:fPr>
                        <m:type m:val="bar"/>
                      </m:fPr>
                      <m:num>
                        <m:r>
                          <m:t>1</m:t>
                        </m:r>
                      </m:num>
                      <m:den>
                        <m:r>
                          <m:t>2</m:t>
                        </m:r>
                      </m:den>
                    </m:f>
                    <m:r>
                      <m:t>y</m:t>
                    </m:r>
                    <m:d>
                      <m:dPr>
                        <m:begChr m:val="("/>
                        <m:endChr m:val=")"/>
                        <m:sepChr m:val=""/>
                        <m:grow/>
                      </m:dPr>
                      <m:e>
                        <m:r>
                          <m:t>t</m:t>
                        </m:r>
                      </m:e>
                    </m:d>
                  </m:oMath>
                </a14:m>
                <a:r>
                  <a:rPr/>
                  <a:t>.</a:t>
                </a:r>
              </a:p>
              <a:p>
                <a:pPr lvl="0"/>
                <a:r>
                  <a:rPr/>
                  <a:t>Example: The system </a:t>
                </a:r>
                <a14:m>
                  <m:oMath xmlns:m="http://schemas.openxmlformats.org/officeDocument/2006/math">
                    <m:r>
                      <m:t>y</m:t>
                    </m:r>
                    <m:d>
                      <m:dPr>
                        <m:begChr m:val="("/>
                        <m:endChr m:val=")"/>
                        <m:sepChr m:val=""/>
                        <m:grow/>
                      </m:dPr>
                      <m:e>
                        <m:r>
                          <m:t>t</m:t>
                        </m:r>
                      </m:e>
                    </m:d>
                    <m:r>
                      <m:rPr>
                        <m:sty m:val="p"/>
                      </m:rPr>
                      <m:t>=</m:t>
                    </m:r>
                    <m:sSup>
                      <m:e>
                        <m:r>
                          <m:t>x</m:t>
                        </m:r>
                      </m:e>
                      <m:sup>
                        <m:r>
                          <m:t>2</m:t>
                        </m:r>
                      </m:sup>
                    </m:sSup>
                    <m:d>
                      <m:dPr>
                        <m:begChr m:val="("/>
                        <m:endChr m:val=")"/>
                        <m:sepChr m:val=""/>
                        <m:grow/>
                      </m:dPr>
                      <m:e>
                        <m:r>
                          <m:t>t</m:t>
                        </m:r>
                      </m:e>
                    </m:d>
                  </m:oMath>
                </a14:m>
                <a:r>
                  <a:rPr/>
                  <a:t> is </a:t>
                </a:r>
                <a:r>
                  <a:rPr b="1"/>
                  <a:t>not</a:t>
                </a:r>
                <a:r>
                  <a:rPr/>
                  <a:t> invertible, because both </a:t>
                </a:r>
                <a14:m>
                  <m:oMath xmlns:m="http://schemas.openxmlformats.org/officeDocument/2006/math">
                    <m:r>
                      <m:t>x</m:t>
                    </m:r>
                    <m:d>
                      <m:dPr>
                        <m:begChr m:val="("/>
                        <m:endChr m:val=")"/>
                        <m:sepChr m:val=""/>
                        <m:grow/>
                      </m:dPr>
                      <m:e>
                        <m:r>
                          <m:t>t</m:t>
                        </m:r>
                      </m:e>
                    </m:d>
                    <m:r>
                      <m:rPr>
                        <m:sty m:val="p"/>
                      </m:rPr>
                      <m:t>=</m:t>
                    </m:r>
                    <m:r>
                      <m:t>2</m:t>
                    </m:r>
                  </m:oMath>
                </a14:m>
                <a:r>
                  <a:rPr/>
                  <a:t> and </a:t>
                </a:r>
                <a14:m>
                  <m:oMath xmlns:m="http://schemas.openxmlformats.org/officeDocument/2006/math">
                    <m:r>
                      <m:t>x</m:t>
                    </m:r>
                    <m:d>
                      <m:dPr>
                        <m:begChr m:val="("/>
                        <m:endChr m:val=")"/>
                        <m:sepChr m:val=""/>
                        <m:grow/>
                      </m:dPr>
                      <m:e>
                        <m:r>
                          <m:t>t</m:t>
                        </m:r>
                      </m:e>
                    </m:d>
                    <m:r>
                      <m:rPr>
                        <m:sty m:val="p"/>
                      </m:rPr>
                      <m:t>=</m:t>
                    </m:r>
                    <m:r>
                      <m:rPr>
                        <m:sty m:val="p"/>
                      </m:rPr>
                      <m:t>−</m:t>
                    </m:r>
                    <m:r>
                      <m:t>2</m:t>
                    </m:r>
                  </m:oMath>
                </a14:m>
                <a:r>
                  <a:rPr/>
                  <a:t> produce the same output </a:t>
                </a:r>
                <a14:m>
                  <m:oMath xmlns:m="http://schemas.openxmlformats.org/officeDocument/2006/math">
                    <m:r>
                      <m:t>y</m:t>
                    </m:r>
                    <m:d>
                      <m:dPr>
                        <m:begChr m:val="("/>
                        <m:endChr m:val=")"/>
                        <m:sepChr m:val=""/>
                        <m:grow/>
                      </m:dPr>
                      <m:e>
                        <m:r>
                          <m:t>t</m:t>
                        </m:r>
                      </m:e>
                    </m:d>
                    <m:r>
                      <m:rPr>
                        <m:sty m:val="p"/>
                      </m:rPr>
                      <m:t>=</m:t>
                    </m:r>
                    <m:r>
                      <m:t>4</m:t>
                    </m:r>
                  </m:oMath>
                </a14:m>
                <a:r>
                  <a:rPr/>
                  <a:t>. We cannot uniquely determine the input from the output.</a:t>
                </a:r>
              </a:p>
              <a:p>
                <a:pPr lvl="0" indent="0" marL="0">
                  <a:spcBef>
                    <a:spcPts val="3000"/>
                  </a:spcBef>
                  <a:buNone/>
                </a:pPr>
                <a:r>
                  <a:rPr b="1"/>
                  <a:t>Visualizing Invertibility</a:t>
                </a:r>
              </a:p>
            </p:txBody>
          </p:sp>
        </mc:Choice>
      </mc:AlternateContent>
      <p:pic>
        <p:nvPicPr>
          <p:cNvPr descr="Presentation_v1_files/figure-pptx/invertibility_plot-3.png" id="0" name="Picture 1"/>
          <p:cNvPicPr>
            <a:picLocks noGrp="1" noChangeAspect="1"/>
          </p:cNvPicPr>
          <p:nvPr/>
        </p:nvPicPr>
        <p:blipFill>
          <a:blip r:embed="rId3"/>
          <a:stretch>
            <a:fillRect/>
          </a:stretch>
        </p:blipFill>
        <p:spPr bwMode="auto">
          <a:xfrm>
            <a:off x="3568700" y="800100"/>
            <a:ext cx="5105400" cy="31877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0">
                  <a:spcBef>
                    <a:spcPts val="3000"/>
                  </a:spcBef>
                  <a:buNone/>
                </a:pPr>
                <a:r>
                  <a:rPr b="1"/>
                  <a:t>Causality</a:t>
                </a:r>
              </a:p>
              <a:p>
                <a:pPr lvl="0"/>
                <a:r>
                  <a:rPr/>
                  <a:t>A system is </a:t>
                </a:r>
                <a:r>
                  <a:rPr b="1"/>
                  <a:t>causal</a:t>
                </a:r>
                <a:r>
                  <a:rPr/>
                  <a:t> if its output at any time depends only on the present and past values of the input.</a:t>
                </a:r>
              </a:p>
              <a:p>
                <a:pPr lvl="0"/>
                <a:r>
                  <a:rPr/>
                  <a:t>In other words, a causal system does not “anticipate” future inputs. The output </a:t>
                </a:r>
                <a14:m>
                  <m:oMath xmlns:m="http://schemas.openxmlformats.org/officeDocument/2006/math">
                    <m:r>
                      <m:t>y</m:t>
                    </m:r>
                    <m:d>
                      <m:dPr>
                        <m:begChr m:val="("/>
                        <m:endChr m:val=")"/>
                        <m:sepChr m:val=""/>
                        <m:grow/>
                      </m:dPr>
                      <m:e>
                        <m:sSub>
                          <m:e>
                            <m:r>
                              <m:t>t</m:t>
                            </m:r>
                          </m:e>
                          <m:sub>
                            <m:r>
                              <m:t>0</m:t>
                            </m:r>
                          </m:sub>
                        </m:sSub>
                      </m:e>
                    </m:d>
                  </m:oMath>
                </a14:m>
                <a:r>
                  <a:rPr/>
                  <a:t> can only depend on </a:t>
                </a:r>
                <a14:m>
                  <m:oMath xmlns:m="http://schemas.openxmlformats.org/officeDocument/2006/math">
                    <m:r>
                      <m:t>x</m:t>
                    </m:r>
                    <m:d>
                      <m:dPr>
                        <m:begChr m:val="("/>
                        <m:endChr m:val=")"/>
                        <m:sepChr m:val=""/>
                        <m:grow/>
                      </m:dPr>
                      <m:e>
                        <m:r>
                          <m:t>t</m:t>
                        </m:r>
                      </m:e>
                    </m:d>
                  </m:oMath>
                </a14:m>
                <a:r>
                  <a:rPr/>
                  <a:t> for </a:t>
                </a:r>
                <a14:m>
                  <m:oMath xmlns:m="http://schemas.openxmlformats.org/officeDocument/2006/math">
                    <m:r>
                      <m:t>t</m:t>
                    </m:r>
                    <m:r>
                      <m:rPr>
                        <m:sty m:val="p"/>
                      </m:rPr>
                      <m:t>≤</m:t>
                    </m:r>
                    <m:sSub>
                      <m:e>
                        <m:r>
                          <m:t>t</m:t>
                        </m:r>
                      </m:e>
                      <m:sub>
                        <m:r>
                          <m:t>0</m:t>
                        </m:r>
                      </m:sub>
                    </m:sSub>
                  </m:oMath>
                </a14:m>
                <a:r>
                  <a:rPr/>
                  <a:t>.</a:t>
                </a:r>
              </a:p>
              <a:p>
                <a:pPr lvl="0"/>
                <a:r>
                  <a:rPr/>
                  <a:t>All real-time physical systems are causal.</a:t>
                </a:r>
              </a:p>
              <a:p>
                <a:pPr lvl="0"/>
                <a:r>
                  <a:rPr/>
                  <a:t>Non-causal systems can be built for applications where the input signal is pre-recorded (e.g., image processing, stock market analysis).</a:t>
                </a:r>
              </a:p>
              <a:p>
                <a:pPr lvl="0"/>
                <a:r>
                  <a:rPr/>
                  <a:t>Example of non-causal: </a:t>
                </a:r>
                <a14:m>
                  <m:oMath xmlns:m="http://schemas.openxmlformats.org/officeDocument/2006/math">
                    <m:r>
                      <m:t>y</m:t>
                    </m:r>
                    <m:d>
                      <m:dPr>
                        <m:begChr m:val="["/>
                        <m:endChr m:val="]"/>
                        <m:sepChr m:val=""/>
                        <m:grow/>
                      </m:dPr>
                      <m:e>
                        <m:r>
                          <m:t>n</m:t>
                        </m:r>
                      </m:e>
                    </m:d>
                    <m:r>
                      <m:rPr>
                        <m:sty m:val="p"/>
                      </m:rPr>
                      <m:t>=</m:t>
                    </m:r>
                    <m:r>
                      <m:t>x</m:t>
                    </m:r>
                    <m:d>
                      <m:dPr>
                        <m:begChr m:val="["/>
                        <m:endChr m:val="]"/>
                        <m:sepChr m:val=""/>
                        <m:grow/>
                      </m:dPr>
                      <m:e>
                        <m:r>
                          <m:t>n</m:t>
                        </m:r>
                        <m:r>
                          <m:rPr>
                            <m:sty m:val="p"/>
                          </m:rPr>
                          <m:t>+</m:t>
                        </m:r>
                        <m:r>
                          <m:t>1</m:t>
                        </m:r>
                      </m:e>
                    </m:d>
                  </m:oMath>
                </a14:m>
                <a:r>
                  <a:rPr/>
                  <a:t> (output depends on the future).</a:t>
                </a:r>
              </a:p>
              <a:p>
                <a:pPr lvl="0" indent="0" marL="0">
                  <a:spcBef>
                    <a:spcPts val="3000"/>
                  </a:spcBef>
                  <a:buNone/>
                </a:pPr>
                <a:r>
                  <a:rPr b="1"/>
                  <a:t>Causal vs. Non-Causal Filtering</a:t>
                </a:r>
              </a:p>
            </p:txBody>
          </p:sp>
        </mc:Choice>
      </mc:AlternateContent>
      <p:pic>
        <p:nvPicPr>
          <p:cNvPr descr="Presentation_v1_files/figure-pptx/causality_plot-1.png" id="0" name="Picture 1"/>
          <p:cNvPicPr>
            <a:picLocks noGrp="1" noChangeAspect="1"/>
          </p:cNvPicPr>
          <p:nvPr/>
        </p:nvPicPr>
        <p:blipFill>
          <a:blip r:embed="rId3"/>
          <a:stretch>
            <a:fillRect/>
          </a:stretch>
        </p:blipFill>
        <p:spPr bwMode="auto">
          <a:xfrm>
            <a:off x="3568700" y="1117600"/>
            <a:ext cx="5105400" cy="25527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0">
                  <a:spcBef>
                    <a:spcPts val="3000"/>
                  </a:spcBef>
                  <a:buNone/>
                </a:pPr>
                <a:r>
                  <a:rPr b="1"/>
                  <a:t>Stability</a:t>
                </a:r>
              </a:p>
              <a:p>
                <a:pPr lvl="0"/>
                <a:r>
                  <a:rPr b="1"/>
                  <a:t>Stability</a:t>
                </a:r>
                <a:r>
                  <a:rPr/>
                  <a:t> is a critical property for most systems. Informally, a stable system is one where small inputs lead to responses that do not diverge.</a:t>
                </a:r>
              </a:p>
              <a:p>
                <a:pPr lvl="0"/>
                <a:r>
                  <a:rPr/>
                  <a:t>We use the </a:t>
                </a:r>
                <a:r>
                  <a:rPr b="1"/>
                  <a:t>Bounded-Input, Bounded-Output (BIBO)</a:t>
                </a:r>
                <a:r>
                  <a:rPr/>
                  <a:t> definition: &gt; A system is stable if every bounded input produces a bounded output.</a:t>
                </a:r>
              </a:p>
              <a:p>
                <a:pPr lvl="0" indent="0" marL="0">
                  <a:spcBef>
                    <a:spcPts val="3000"/>
                  </a:spcBef>
                  <a:buNone/>
                </a:pPr>
                <a:r>
                  <a:rPr b="1"/>
                  <a:t>BIBO Stability Conditions</a:t>
                </a:r>
              </a:p>
              <a:p>
                <a:pPr lvl="0"/>
                <a:r>
                  <a:rPr b="1"/>
                  <a:t>Bounded Input:</a:t>
                </a:r>
                <a:r>
                  <a:rPr/>
                  <a:t> There exists a constant </a:t>
                </a:r>
                <a14:m>
                  <m:oMath xmlns:m="http://schemas.openxmlformats.org/officeDocument/2006/math">
                    <m:r>
                      <m:t>B</m:t>
                    </m:r>
                  </m:oMath>
                </a14:m>
                <a:r>
                  <a:rPr/>
                  <a:t> such that </a:t>
                </a:r>
                <a14:m>
                  <m:oMath xmlns:m="http://schemas.openxmlformats.org/officeDocument/2006/math">
                    <m:d>
                      <m:dPr>
                        <m:begChr m:val="|"/>
                        <m:endChr m:val="|"/>
                        <m:sepChr m:val=""/>
                        <m:grow/>
                      </m:dPr>
                      <m:e>
                        <m:r>
                          <m:t>x</m:t>
                        </m:r>
                        <m:d>
                          <m:dPr>
                            <m:begChr m:val="("/>
                            <m:endChr m:val=")"/>
                            <m:sepChr m:val=""/>
                            <m:grow/>
                          </m:dPr>
                          <m:e>
                            <m:r>
                              <m:t>t</m:t>
                            </m:r>
                          </m:e>
                        </m:d>
                      </m:e>
                    </m:d>
                    <m:r>
                      <m:rPr>
                        <m:sty m:val="p"/>
                      </m:rPr>
                      <m:t>≤</m:t>
                    </m:r>
                    <m:r>
                      <m:t>B</m:t>
                    </m:r>
                  </m:oMath>
                </a14:m>
                <a:r>
                  <a:rPr/>
                  <a:t> for all </a:t>
                </a:r>
                <a14:m>
                  <m:oMath xmlns:m="http://schemas.openxmlformats.org/officeDocument/2006/math">
                    <m:r>
                      <m:t>t</m:t>
                    </m:r>
                  </m:oMath>
                </a14:m>
                <a:r>
                  <a:rPr/>
                  <a:t>.</a:t>
                </a:r>
              </a:p>
              <a:p>
                <a:pPr lvl="0"/>
                <a:r>
                  <a:rPr b="1"/>
                  <a:t>Bounded Output:</a:t>
                </a:r>
                <a:r>
                  <a:rPr/>
                  <a:t> There exists a constant </a:t>
                </a:r>
                <a14:m>
                  <m:oMath xmlns:m="http://schemas.openxmlformats.org/officeDocument/2006/math">
                    <m:r>
                      <m:t>C</m:t>
                    </m:r>
                  </m:oMath>
                </a14:m>
                <a:r>
                  <a:rPr/>
                  <a:t> such that </a:t>
                </a:r>
                <a14:m>
                  <m:oMath xmlns:m="http://schemas.openxmlformats.org/officeDocument/2006/math">
                    <m:d>
                      <m:dPr>
                        <m:begChr m:val="|"/>
                        <m:endChr m:val="|"/>
                        <m:sepChr m:val=""/>
                        <m:grow/>
                      </m:dPr>
                      <m:e>
                        <m:r>
                          <m:t>y</m:t>
                        </m:r>
                        <m:d>
                          <m:dPr>
                            <m:begChr m:val="("/>
                            <m:endChr m:val=")"/>
                            <m:sepChr m:val=""/>
                            <m:grow/>
                          </m:dPr>
                          <m:e>
                            <m:r>
                              <m:t>t</m:t>
                            </m:r>
                          </m:e>
                        </m:d>
                      </m:e>
                    </m:d>
                    <m:r>
                      <m:rPr>
                        <m:sty m:val="p"/>
                      </m:rPr>
                      <m:t>≤</m:t>
                    </m:r>
                    <m:r>
                      <m:t>C</m:t>
                    </m:r>
                  </m:oMath>
                </a14:m>
                <a:r>
                  <a:rPr/>
                  <a:t> for all </a:t>
                </a:r>
                <a14:m>
                  <m:oMath xmlns:m="http://schemas.openxmlformats.org/officeDocument/2006/math">
                    <m:r>
                      <m:t>t</m:t>
                    </m:r>
                  </m:oMath>
                </a14:m>
                <a:r>
                  <a:rPr/>
                  <a:t>.</a:t>
                </a:r>
              </a:p>
              <a:p>
                <a:pPr lvl="0"/>
                <a:r>
                  <a:rPr/>
                  <a:t>Example of an unstable system: an accumulator. </a:t>
                </a:r>
                <a14:m>
                  <m:oMath xmlns:m="http://schemas.openxmlformats.org/officeDocument/2006/math">
                    <m:r>
                      <m:t>y</m:t>
                    </m:r>
                    <m:d>
                      <m:dPr>
                        <m:begChr m:val="["/>
                        <m:endChr m:val="]"/>
                        <m:sepChr m:val=""/>
                        <m:grow/>
                      </m:dPr>
                      <m:e>
                        <m:r>
                          <m:t>n</m:t>
                        </m:r>
                      </m:e>
                    </m:d>
                    <m:r>
                      <m:rPr>
                        <m:sty m:val="p"/>
                      </m:rPr>
                      <m:t>=</m:t>
                    </m:r>
                    <m:nary>
                      <m:naryPr>
                        <m:chr m:val="∑"/>
                        <m:limLoc m:val="undOvr"/>
                        <m:subHide m:val="off"/>
                        <m:supHide m:val="off"/>
                      </m:naryPr>
                      <m:sub>
                        <m:r>
                          <m:t>k</m:t>
                        </m:r>
                        <m:r>
                          <m:rPr>
                            <m:sty m:val="p"/>
                          </m:rPr>
                          <m:t>=</m:t>
                        </m:r>
                        <m:r>
                          <m:rPr>
                            <m:sty m:val="p"/>
                          </m:rPr>
                          <m:t>−</m:t>
                        </m:r>
                        <m:r>
                          <m:rPr>
                            <m:sty m:val="p"/>
                          </m:rPr>
                          <m:t>∞</m:t>
                        </m:r>
                      </m:sub>
                      <m:sup>
                        <m:r>
                          <m:t>n</m:t>
                        </m:r>
                      </m:sup>
                      <m:e>
                        <m:r>
                          <m:t>x</m:t>
                        </m:r>
                      </m:e>
                    </m:nary>
                    <m:d>
                      <m:dPr>
                        <m:begChr m:val="["/>
                        <m:endChr m:val="]"/>
                        <m:sepChr m:val=""/>
                        <m:grow/>
                      </m:dPr>
                      <m:e>
                        <m:r>
                          <m:t>k</m:t>
                        </m:r>
                      </m:e>
                    </m:d>
                  </m:oMath>
                </a14:m>
                <a:r>
                  <a:rPr/>
                  <a:t>. A bounded step input </a:t>
                </a:r>
                <a14:m>
                  <m:oMath xmlns:m="http://schemas.openxmlformats.org/officeDocument/2006/math">
                    <m:r>
                      <m:t>u</m:t>
                    </m:r>
                    <m:d>
                      <m:dPr>
                        <m:begChr m:val="["/>
                        <m:endChr m:val="]"/>
                        <m:sepChr m:val=""/>
                        <m:grow/>
                      </m:dPr>
                      <m:e>
                        <m:r>
                          <m:t>n</m:t>
                        </m:r>
                      </m:e>
                    </m:d>
                  </m:oMath>
                </a14:m>
                <a:r>
                  <a:rPr/>
                  <a:t> leads to an unbounded ramp output.</a:t>
                </a:r>
              </a:p>
              <a:p>
                <a:pPr lvl="0" indent="0" marL="0">
                  <a:spcBef>
                    <a:spcPts val="3000"/>
                  </a:spcBef>
                  <a:buNone/>
                </a:pPr>
                <a:r>
                  <a:rPr b="1"/>
                  <a:t>Stable vs. Unstable System Response</a:t>
                </a:r>
              </a:p>
            </p:txBody>
          </p:sp>
        </mc:Choice>
      </mc:AlternateContent>
      <p:pic>
        <p:nvPicPr>
          <p:cNvPr descr="Presentation_v1_files/figure-pptx/stability_plot-3.png" id="0" name="Picture 1"/>
          <p:cNvPicPr>
            <a:picLocks noGrp="1" noChangeAspect="1"/>
          </p:cNvPicPr>
          <p:nvPr/>
        </p:nvPicPr>
        <p:blipFill>
          <a:blip r:embed="rId3"/>
          <a:stretch>
            <a:fillRect/>
          </a:stretch>
        </p:blipFill>
        <p:spPr bwMode="auto">
          <a:xfrm>
            <a:off x="3568700" y="800100"/>
            <a:ext cx="5105400" cy="31877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p>
              <a:p>
                <a:pPr lvl="0" indent="0" marL="0">
                  <a:spcBef>
                    <a:spcPts val="3000"/>
                  </a:spcBef>
                  <a:buNone/>
                </a:pPr>
                <a:r>
                  <a:rPr b="1"/>
                  <a:t>Linearity</a:t>
                </a:r>
              </a:p>
              <a:p>
                <a:pPr lvl="0"/>
                <a:r>
                  <a:rPr/>
                  <a:t>A system is </a:t>
                </a:r>
                <a:r>
                  <a:rPr b="1"/>
                  <a:t>linear</a:t>
                </a:r>
                <a:r>
                  <a:rPr/>
                  <a:t> if it possesses the property of </a:t>
                </a:r>
                <a:r>
                  <a:rPr b="1"/>
                  <a:t>superposition</a:t>
                </a:r>
                <a:r>
                  <a:rPr/>
                  <a:t>.</a:t>
                </a:r>
              </a:p>
              <a:p>
                <a:pPr lvl="0"/>
                <a:r>
                  <a:rPr b="1"/>
                  <a:t>Superposition</a:t>
                </a:r>
                <a:r>
                  <a:rPr/>
                  <a:t> = Additivity + Homogeneity</a:t>
                </a:r>
              </a:p>
              <a:p>
                <a:pPr lvl="0"/>
                <a:r>
                  <a:rPr/>
                  <a:t>Combined: </a:t>
                </a:r>
                <a14:m>
                  <m:oMath xmlns:m="http://schemas.openxmlformats.org/officeDocument/2006/math">
                    <m:r>
                      <m:t>a</m:t>
                    </m:r>
                    <m:sSub>
                      <m:e>
                        <m:r>
                          <m:t>x</m:t>
                        </m:r>
                      </m:e>
                      <m:sub>
                        <m:r>
                          <m:t>1</m:t>
                        </m:r>
                      </m:sub>
                    </m:sSub>
                    <m:d>
                      <m:dPr>
                        <m:begChr m:val="("/>
                        <m:endChr m:val=")"/>
                        <m:sepChr m:val=""/>
                        <m:grow/>
                      </m:dPr>
                      <m:e>
                        <m:r>
                          <m:t>t</m:t>
                        </m:r>
                      </m:e>
                    </m:d>
                    <m:r>
                      <m:rPr>
                        <m:sty m:val="p"/>
                      </m:rPr>
                      <m:t>+</m:t>
                    </m:r>
                    <m:r>
                      <m:t>b</m:t>
                    </m:r>
                    <m:sSub>
                      <m:e>
                        <m:r>
                          <m:t>x</m:t>
                        </m:r>
                      </m:e>
                      <m:sub>
                        <m:r>
                          <m:t>2</m:t>
                        </m:r>
                      </m:sub>
                    </m:sSub>
                    <m:d>
                      <m:dPr>
                        <m:begChr m:val="("/>
                        <m:endChr m:val=")"/>
                        <m:sepChr m:val=""/>
                        <m:grow/>
                      </m:dPr>
                      <m:e>
                        <m:r>
                          <m:t>t</m:t>
                        </m:r>
                      </m:e>
                    </m:d>
                    <m:r>
                      <m:rPr>
                        <m:sty m:val="p"/>
                      </m:rPr>
                      <m:t>→</m:t>
                    </m:r>
                    <m:r>
                      <m:t>a</m:t>
                    </m:r>
                    <m:sSub>
                      <m:e>
                        <m:r>
                          <m:t>y</m:t>
                        </m:r>
                      </m:e>
                      <m:sub>
                        <m:r>
                          <m:t>1</m:t>
                        </m:r>
                      </m:sub>
                    </m:sSub>
                    <m:d>
                      <m:dPr>
                        <m:begChr m:val="("/>
                        <m:endChr m:val=")"/>
                        <m:sepChr m:val=""/>
                        <m:grow/>
                      </m:dPr>
                      <m:e>
                        <m:r>
                          <m:t>t</m:t>
                        </m:r>
                      </m:e>
                    </m:d>
                    <m:r>
                      <m:rPr>
                        <m:sty m:val="p"/>
                      </m:rPr>
                      <m:t>+</m:t>
                    </m:r>
                    <m:r>
                      <m:t>b</m:t>
                    </m:r>
                    <m:sSub>
                      <m:e>
                        <m:r>
                          <m:t>y</m:t>
                        </m:r>
                      </m:e>
                      <m:sub>
                        <m:r>
                          <m:t>2</m:t>
                        </m:r>
                      </m:sub>
                    </m:sSub>
                    <m:d>
                      <m:dPr>
                        <m:begChr m:val="("/>
                        <m:endChr m:val=")"/>
                        <m:sepChr m:val=""/>
                        <m:grow/>
                      </m:dPr>
                      <m:e>
                        <m:r>
                          <m:t>t</m:t>
                        </m:r>
                      </m:e>
                    </m:d>
                  </m:oMath>
                </a14:m>
                <a:r>
                  <a:rPr/>
                  <a:t>.</a:t>
                </a:r>
              </a:p>
              <a:p>
                <a:pPr lvl="0" indent="0" marL="0">
                  <a:spcBef>
                    <a:spcPts val="3000"/>
                  </a:spcBef>
                  <a:buNone/>
                </a:pPr>
                <a:r>
                  <a:rPr b="1"/>
                  <a:t>Linearity Properties</a:t>
                </a:r>
              </a:p>
              <a:p>
                <a:pPr lvl="0"/>
                <a:r>
                  <a:rPr b="1"/>
                  <a:t>Additivity:</a:t>
                </a:r>
                <a:r>
                  <a:rPr/>
                  <a:t> If </a:t>
                </a:r>
                <a14:m>
                  <m:oMath xmlns:m="http://schemas.openxmlformats.org/officeDocument/2006/math">
                    <m:sSub>
                      <m:e>
                        <m:r>
                          <m:t>x</m:t>
                        </m:r>
                      </m:e>
                      <m:sub>
                        <m:r>
                          <m:t>1</m:t>
                        </m:r>
                      </m:sub>
                    </m:sSub>
                    <m:d>
                      <m:dPr>
                        <m:begChr m:val="("/>
                        <m:endChr m:val=")"/>
                        <m:sepChr m:val=""/>
                        <m:grow/>
                      </m:dPr>
                      <m:e>
                        <m:r>
                          <m:t>t</m:t>
                        </m:r>
                      </m:e>
                    </m:d>
                    <m:r>
                      <m:rPr>
                        <m:sty m:val="p"/>
                      </m:rPr>
                      <m:t>→</m:t>
                    </m:r>
                    <m:sSub>
                      <m:e>
                        <m:r>
                          <m:t>y</m:t>
                        </m:r>
                      </m:e>
                      <m:sub>
                        <m:r>
                          <m:t>1</m:t>
                        </m:r>
                      </m:sub>
                    </m:sSub>
                    <m:d>
                      <m:dPr>
                        <m:begChr m:val="("/>
                        <m:endChr m:val=")"/>
                        <m:sepChr m:val=""/>
                        <m:grow/>
                      </m:dPr>
                      <m:e>
                        <m:r>
                          <m:t>t</m:t>
                        </m:r>
                      </m:e>
                    </m:d>
                  </m:oMath>
                </a14:m>
                <a:r>
                  <a:rPr/>
                  <a:t> and </a:t>
                </a:r>
                <a14:m>
                  <m:oMath xmlns:m="http://schemas.openxmlformats.org/officeDocument/2006/math">
                    <m:sSub>
                      <m:e>
                        <m:r>
                          <m:t>x</m:t>
                        </m:r>
                      </m:e>
                      <m:sub>
                        <m:r>
                          <m:t>2</m:t>
                        </m:r>
                      </m:sub>
                    </m:sSub>
                    <m:d>
                      <m:dPr>
                        <m:begChr m:val="("/>
                        <m:endChr m:val=")"/>
                        <m:sepChr m:val=""/>
                        <m:grow/>
                      </m:dPr>
                      <m:e>
                        <m:r>
                          <m:t>t</m:t>
                        </m:r>
                      </m:e>
                    </m:d>
                    <m:r>
                      <m:rPr>
                        <m:sty m:val="p"/>
                      </m:rPr>
                      <m:t>→</m:t>
                    </m:r>
                    <m:sSub>
                      <m:e>
                        <m:r>
                          <m:t>y</m:t>
                        </m:r>
                      </m:e>
                      <m:sub>
                        <m:r>
                          <m:t>2</m:t>
                        </m:r>
                      </m:sub>
                    </m:sSub>
                    <m:d>
                      <m:dPr>
                        <m:begChr m:val="("/>
                        <m:endChr m:val=")"/>
                        <m:sepChr m:val=""/>
                        <m:grow/>
                      </m:dPr>
                      <m:e>
                        <m:r>
                          <m:t>t</m:t>
                        </m:r>
                      </m:e>
                    </m:d>
                  </m:oMath>
                </a14:m>
                <a:r>
                  <a:rPr/>
                  <a:t>, then </a:t>
                </a:r>
                <a14:m>
                  <m:oMath xmlns:m="http://schemas.openxmlformats.org/officeDocument/2006/math">
                    <m:sSub>
                      <m:e>
                        <m:r>
                          <m:t>x</m:t>
                        </m:r>
                      </m:e>
                      <m:sub>
                        <m:r>
                          <m:t>1</m:t>
                        </m:r>
                      </m:sub>
                    </m:sSub>
                    <m:d>
                      <m:dPr>
                        <m:begChr m:val="("/>
                        <m:endChr m:val=")"/>
                        <m:sepChr m:val=""/>
                        <m:grow/>
                      </m:dPr>
                      <m:e>
                        <m:r>
                          <m:t>t</m:t>
                        </m:r>
                      </m:e>
                    </m:d>
                    <m:r>
                      <m:rPr>
                        <m:sty m:val="p"/>
                      </m:rPr>
                      <m:t>+</m:t>
                    </m:r>
                    <m:sSub>
                      <m:e>
                        <m:r>
                          <m:t>x</m:t>
                        </m:r>
                      </m:e>
                      <m:sub>
                        <m:r>
                          <m:t>2</m:t>
                        </m:r>
                      </m:sub>
                    </m:sSub>
                    <m:d>
                      <m:dPr>
                        <m:begChr m:val="("/>
                        <m:endChr m:val=")"/>
                        <m:sepChr m:val=""/>
                        <m:grow/>
                      </m:dPr>
                      <m:e>
                        <m:r>
                          <m:t>t</m:t>
                        </m:r>
                      </m:e>
                    </m:d>
                    <m:r>
                      <m:rPr>
                        <m:sty m:val="p"/>
                      </m:rPr>
                      <m:t>→</m:t>
                    </m:r>
                    <m:sSub>
                      <m:e>
                        <m:r>
                          <m:t>y</m:t>
                        </m:r>
                      </m:e>
                      <m:sub>
                        <m:r>
                          <m:t>1</m:t>
                        </m:r>
                      </m:sub>
                    </m:sSub>
                    <m:d>
                      <m:dPr>
                        <m:begChr m:val="("/>
                        <m:endChr m:val=")"/>
                        <m:sepChr m:val=""/>
                        <m:grow/>
                      </m:dPr>
                      <m:e>
                        <m:r>
                          <m:t>t</m:t>
                        </m:r>
                      </m:e>
                    </m:d>
                    <m:r>
                      <m:rPr>
                        <m:sty m:val="p"/>
                      </m:rPr>
                      <m:t>+</m:t>
                    </m:r>
                    <m:sSub>
                      <m:e>
                        <m:r>
                          <m:t>y</m:t>
                        </m:r>
                      </m:e>
                      <m:sub>
                        <m:r>
                          <m:t>2</m:t>
                        </m:r>
                      </m:sub>
                    </m:sSub>
                    <m:d>
                      <m:dPr>
                        <m:begChr m:val="("/>
                        <m:endChr m:val=")"/>
                        <m:sepChr m:val=""/>
                        <m:grow/>
                      </m:dPr>
                      <m:e>
                        <m:r>
                          <m:t>t</m:t>
                        </m:r>
                      </m:e>
                    </m:d>
                  </m:oMath>
                </a14:m>
                <a:r>
                  <a:rPr/>
                  <a:t>.</a:t>
                </a:r>
              </a:p>
              <a:p>
                <a:pPr lvl="0"/>
                <a:r>
                  <a:rPr b="1"/>
                  <a:t>Homogeneity:</a:t>
                </a:r>
                <a:r>
                  <a:rPr/>
                  <a:t> If </a:t>
                </a:r>
                <a14:m>
                  <m:oMath xmlns:m="http://schemas.openxmlformats.org/officeDocument/2006/math">
                    <m:r>
                      <m:t>x</m:t>
                    </m:r>
                    <m:d>
                      <m:dPr>
                        <m:begChr m:val="("/>
                        <m:endChr m:val=")"/>
                        <m:sepChr m:val=""/>
                        <m:grow/>
                      </m:dPr>
                      <m:e>
                        <m:r>
                          <m:t>t</m:t>
                        </m:r>
                      </m:e>
                    </m:d>
                    <m:r>
                      <m:rPr>
                        <m:sty m:val="p"/>
                      </m:rPr>
                      <m:t>→</m:t>
                    </m:r>
                    <m:r>
                      <m:t>y</m:t>
                    </m:r>
                    <m:d>
                      <m:dPr>
                        <m:begChr m:val="("/>
                        <m:endChr m:val=")"/>
                        <m:sepChr m:val=""/>
                        <m:grow/>
                      </m:dPr>
                      <m:e>
                        <m:r>
                          <m:t>t</m:t>
                        </m:r>
                      </m:e>
                    </m:d>
                  </m:oMath>
                </a14:m>
                <a:r>
                  <a:rPr/>
                  <a:t>, then </a:t>
                </a:r>
                <a14:m>
                  <m:oMath xmlns:m="http://schemas.openxmlformats.org/officeDocument/2006/math">
                    <m:r>
                      <m:t>a</m:t>
                    </m:r>
                    <m:r>
                      <m:t>x</m:t>
                    </m:r>
                    <m:d>
                      <m:dPr>
                        <m:begChr m:val="("/>
                        <m:endChr m:val=")"/>
                        <m:sepChr m:val=""/>
                        <m:grow/>
                      </m:dPr>
                      <m:e>
                        <m:r>
                          <m:t>t</m:t>
                        </m:r>
                      </m:e>
                    </m:d>
                    <m:r>
                      <m:rPr>
                        <m:sty m:val="p"/>
                      </m:rPr>
                      <m:t>→</m:t>
                    </m:r>
                    <m:r>
                      <m:t>a</m:t>
                    </m:r>
                    <m:r>
                      <m:t>y</m:t>
                    </m:r>
                    <m:d>
                      <m:dPr>
                        <m:begChr m:val="("/>
                        <m:endChr m:val=")"/>
                        <m:sepChr m:val=""/>
                        <m:grow/>
                      </m:dPr>
                      <m:e>
                        <m:r>
                          <m:t>t</m:t>
                        </m:r>
                      </m:e>
                    </m:d>
                  </m:oMath>
                </a14:m>
                <a:r>
                  <a:rPr/>
                  <a:t> for any complex constant </a:t>
                </a:r>
                <a14:m>
                  <m:oMath xmlns:m="http://schemas.openxmlformats.org/officeDocument/2006/math">
                    <m:r>
                      <m:t>a</m:t>
                    </m:r>
                  </m:oMath>
                </a14:m>
                <a:r>
                  <a:rPr/>
                  <a:t>.</a:t>
                </a:r>
              </a:p>
              <a:p>
                <a:pPr lvl="0" indent="0" marL="0">
                  <a:spcBef>
                    <a:spcPts val="3000"/>
                  </a:spcBef>
                  <a:buNone/>
                </a:pPr>
                <a:r>
                  <a:rPr b="1"/>
                  <a:t>Time-Invariance</a:t>
                </a:r>
              </a:p>
              <a:p>
                <a:pPr lvl="0"/>
                <a:r>
                  <a:rPr/>
                  <a:t>A system is </a:t>
                </a:r>
                <a:r>
                  <a:rPr b="1"/>
                  <a:t>time-invariant</a:t>
                </a:r>
                <a:r>
                  <a:rPr/>
                  <a:t> if its behavior does not depend on what time it is.</a:t>
                </a:r>
              </a:p>
              <a:p>
                <a:pPr lvl="0"/>
                <a:r>
                  <a:rPr/>
                  <a:t>Mathematically: If </a:t>
                </a:r>
                <a14:m>
                  <m:oMath xmlns:m="http://schemas.openxmlformats.org/officeDocument/2006/math">
                    <m:r>
                      <m:t>x</m:t>
                    </m:r>
                    <m:d>
                      <m:dPr>
                        <m:begChr m:val="("/>
                        <m:endChr m:val=")"/>
                        <m:sepChr m:val=""/>
                        <m:grow/>
                      </m:dPr>
                      <m:e>
                        <m:r>
                          <m:t>t</m:t>
                        </m:r>
                      </m:e>
                    </m:d>
                    <m:r>
                      <m:rPr>
                        <m:sty m:val="p"/>
                      </m:rPr>
                      <m:t>→</m:t>
                    </m:r>
                    <m:r>
                      <m:t>y</m:t>
                    </m:r>
                    <m:d>
                      <m:dPr>
                        <m:begChr m:val="("/>
                        <m:endChr m:val=")"/>
                        <m:sepChr m:val=""/>
                        <m:grow/>
                      </m:dPr>
                      <m:e>
                        <m:r>
                          <m:t>t</m:t>
                        </m:r>
                      </m:e>
                    </m:d>
                  </m:oMath>
                </a14:m>
                <a:r>
                  <a:rPr/>
                  <a:t>, then </a:t>
                </a:r>
                <a14:m>
                  <m:oMath xmlns:m="http://schemas.openxmlformats.org/officeDocument/2006/math">
                    <m:r>
                      <m:t>x</m:t>
                    </m:r>
                    <m:d>
                      <m:dPr>
                        <m:begChr m:val="("/>
                        <m:endChr m:val=")"/>
                        <m:sepChr m:val=""/>
                        <m:grow/>
                      </m:dPr>
                      <m:e>
                        <m:r>
                          <m:t>t</m:t>
                        </m:r>
                        <m:r>
                          <m:rPr>
                            <m:sty m:val="p"/>
                          </m:rPr>
                          <m:t>−</m:t>
                        </m:r>
                        <m:sSub>
                          <m:e>
                            <m:r>
                              <m:t>t</m:t>
                            </m:r>
                          </m:e>
                          <m:sub>
                            <m:r>
                              <m:t>0</m:t>
                            </m:r>
                          </m:sub>
                        </m:sSub>
                      </m:e>
                    </m:d>
                    <m:r>
                      <m:rPr>
                        <m:sty m:val="p"/>
                      </m:rPr>
                      <m:t>→</m:t>
                    </m:r>
                    <m:r>
                      <m:t>y</m:t>
                    </m:r>
                    <m:d>
                      <m:dPr>
                        <m:begChr m:val="("/>
                        <m:endChr m:val=")"/>
                        <m:sepChr m:val=""/>
                        <m:grow/>
                      </m:dPr>
                      <m:e>
                        <m:r>
                          <m:t>t</m:t>
                        </m:r>
                        <m:r>
                          <m:rPr>
                            <m:sty m:val="p"/>
                          </m:rPr>
                          <m:t>−</m:t>
                        </m:r>
                        <m:sSub>
                          <m:e>
                            <m:r>
                              <m:t>t</m:t>
                            </m:r>
                          </m:e>
                          <m:sub>
                            <m:r>
                              <m:t>0</m:t>
                            </m:r>
                          </m:sub>
                        </m:sSub>
                      </m:e>
                    </m:d>
                  </m:oMath>
                </a14:m>
                <a:r>
                  <a:rPr/>
                  <a:t> for any time shift </a:t>
                </a:r>
                <a14:m>
                  <m:oMath xmlns:m="http://schemas.openxmlformats.org/officeDocument/2006/math">
                    <m:sSub>
                      <m:e>
                        <m:r>
                          <m:t>t</m:t>
                        </m:r>
                      </m:e>
                      <m:sub>
                        <m:r>
                          <m:t>0</m:t>
                        </m:r>
                      </m:sub>
                    </m:sSub>
                  </m:oMath>
                </a14:m>
                <a:r>
                  <a:rPr/>
                  <a:t>.</a:t>
                </a:r>
              </a:p>
              <a:p>
                <a:pPr lvl="0"/>
                <a:r>
                  <a:rPr/>
                  <a:t>A time-shift in the input signal causes an identical time-shift in the output signal.</a:t>
                </a:r>
              </a:p>
              <a:p>
                <a:pPr lvl="0"/>
                <a:r>
                  <a:rPr/>
                  <a:t>An RC circuit with constant R and C values is time-invariant. If R or C varied with time, the system would be time-varying.</a:t>
                </a:r>
              </a:p>
            </p:txBody>
          </p:sp>
        </mc:Choice>
      </mc:AlternateContent>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Chapter 1 Summary</a:t>
            </a:r>
          </a:p>
        </p:txBody>
      </p:sp>
      <p:sp>
        <p:nvSpPr>
          <p:cNvPr id="3" name="Content Placeholder 2"/>
          <p:cNvSpPr>
            <a:spLocks noGrp="1"/>
          </p:cNvSpPr>
          <p:nvPr>
            <p:ph idx="1"/>
          </p:nvPr>
        </p:nvSpPr>
        <p:spPr/>
        <p:txBody>
          <a:bodyPr/>
          <a:lstStyle/>
          <a:p>
            <a:pPr lvl="0"/>
            <a:r>
              <a:rPr b="1"/>
              <a:t>Signals</a:t>
            </a:r>
            <a:r>
              <a:rPr/>
              <a:t> are functions that carry information. They can be continuous-time (CT) or discrete-time (DT).</a:t>
            </a:r>
          </a:p>
          <a:p>
            <a:pPr lvl="0"/>
            <a:r>
              <a:rPr/>
              <a:t>We can transform signals by </a:t>
            </a:r>
            <a:r>
              <a:rPr b="1"/>
              <a:t>shifting</a:t>
            </a:r>
            <a:r>
              <a:rPr/>
              <a:t>, </a:t>
            </a:r>
            <a:r>
              <a:rPr b="1"/>
              <a:t>scaling</a:t>
            </a:r>
            <a:r>
              <a:rPr/>
              <a:t>, or </a:t>
            </a:r>
            <a:r>
              <a:rPr b="1"/>
              <a:t>reversing</a:t>
            </a:r>
            <a:r>
              <a:rPr/>
              <a:t> the independent variable.</a:t>
            </a:r>
          </a:p>
          <a:p>
            <a:pPr lvl="0"/>
            <a:r>
              <a:rPr b="1"/>
              <a:t>Complex exponentials</a:t>
            </a:r>
            <a:r>
              <a:rPr/>
              <a:t> and </a:t>
            </a:r>
            <a:r>
              <a:rPr b="1"/>
              <a:t>sinusoids</a:t>
            </a:r>
            <a:r>
              <a:rPr/>
              <a:t> are fundamental building blocks for many other signals.</a:t>
            </a:r>
          </a:p>
          <a:p>
            <a:pPr lvl="0"/>
            <a:r>
              <a:rPr b="1"/>
              <a:t>Unit impulses</a:t>
            </a:r>
            <a:r>
              <a:rPr/>
              <a:t> and </a:t>
            </a:r>
            <a:r>
              <a:rPr b="1"/>
              <a:t>unit steps</a:t>
            </a:r>
            <a:r>
              <a:rPr/>
              <a:t> are idealized signals used for system analysis.</a:t>
            </a:r>
          </a:p>
          <a:p>
            <a:pPr lvl="0"/>
            <a:r>
              <a:rPr b="1"/>
              <a:t>Systems</a:t>
            </a:r>
            <a:r>
              <a:rPr/>
              <a:t> transform input signals into output signals and are characterized by properties like </a:t>
            </a:r>
            <a:r>
              <a:rPr b="1"/>
              <a:t>memory</a:t>
            </a:r>
            <a:r>
              <a:rPr/>
              <a:t>, </a:t>
            </a:r>
            <a:r>
              <a:rPr b="1"/>
              <a:t>invertibility</a:t>
            </a:r>
            <a:r>
              <a:rPr/>
              <a:t>, </a:t>
            </a:r>
            <a:r>
              <a:rPr b="1"/>
              <a:t>causality</a:t>
            </a:r>
            <a:r>
              <a:rPr/>
              <a:t>, </a:t>
            </a:r>
            <a:r>
              <a:rPr b="1"/>
              <a:t>stability</a:t>
            </a:r>
            <a:r>
              <a:rPr/>
              <a:t>, </a:t>
            </a:r>
            <a:r>
              <a:rPr b="1"/>
              <a:t>linearity</a:t>
            </a:r>
            <a:r>
              <a:rPr/>
              <a:t>, and </a:t>
            </a:r>
            <a:r>
              <a:rPr b="1"/>
              <a:t>time-invariance</a:t>
            </a:r>
            <a:r>
              <a:rPr/>
              <a: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Physics 1: Signals and Systems</dc:title>
  <dc:creator/>
  <cp:keywords/>
  <dcterms:created xsi:type="dcterms:W3CDTF">2025-12-16T16:33:45Z</dcterms:created>
  <dcterms:modified xsi:type="dcterms:W3CDTF">2025-12-16T16:33:45Z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2025-12-16</vt:lpwstr>
  </property>
  <property fmtid="{D5CDD505-2E9C-101B-9397-08002B2CF9AE}" pid="3" name="output">
    <vt:lpwstr>powerpoint_presentation</vt:lpwstr>
  </property>
</Properties>
</file>