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notesMaster" Target="notesMasters/notesMaster1.xml" /><Relationship Id="rId41" Type="http://schemas.openxmlformats.org/officeDocument/2006/relationships/viewProps" Target="viewProps.xml" /><Relationship Id="rId40" Type="http://schemas.openxmlformats.org/officeDocument/2006/relationships/presProps" Target="presProps.xml" /><Relationship Id="rId1" Type="http://schemas.openxmlformats.org/officeDocument/2006/relationships/slideMaster" Target="slideMasters/slideMaster1.xml" /><Relationship Id="rId43" Type="http://schemas.openxmlformats.org/officeDocument/2006/relationships/tableStyles" Target="tableStyles.xml" /><Relationship Id="rId4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“Simply put, an MRI scanner is a giant magnet that can produce pictures of the inside of the body. But how does it do this? Why is it so loud, long, and expensive? This presentation explains the heart of the technology: Nuclear Magnetic Resonance (NMR).”</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“First, atomic nuclei behave like tiny bar magnets and align with the field. We send in a radio pulse to knock them over. As they spin (or precess), they give off a signal we detect. Eventually, they relax back to alignment. We repeat this over and over to build an image.”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“Ideally, think of the scanner as three nested layers. The outer layer is the main magnet—essentially 90% of the machine. Inside are gradient coils for localization, and the innermost layer contains RF coils to send signals and listen for echoes.”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could look at many elements, but hydrogen is the winner. It’s in nearly every organ, and because the body is mostly water, we have an enormous number of hydrogen atoms to work with.”</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proton has a property called spin. When you try to force a spinning object to align, it doesn’t just fall over; it precesses. Think of a spinning top fighting gravity—that is exactly what our protons do in the magnetic field.”</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“How do we actually ‘hear’ the protons? Lenz’s Law. As the magnetic moment sweeps past our coil, the changing magnetic flux induces a voltage. That voltage is the MRI signal.”</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most important equation in MRI: The Larmor Equation. It’s elegant in its simplicity.”</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“It tells us that the precession frequency, omega, is directly proportional to the magnetic field strength, B, scaled by a constant, gamma, which is unique for each type of nucleus.”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key takeaway is this: a stronger magnet makes the protons spin faster. This not only gives us a higher frequency signal to detect but also increases the signal’s amplitude, which is crucial for getting clear images.”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makes our signal louder? A stronger magnet, having more protons (N), and tipping them fully 90 degrees so they are perpendicular to the field. If the angle is small, the signal is small.”</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protons don’t stay in sync forever. They interact with neighbors and dephase. This decay is called T2 relaxation. Water has a long T2 (slow decay), while bone has a short T2 (fast decay).”</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we wait a specific amount of time, called TE, before measuring, we get contrast. At a long TE, the bone signal is gone (dark), but the water signal is still strong (bright). This is a T2-weighted image.”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if we don’t wait? If TE is zero, we just measure how many protons are there. This is a Spin Density image. It’s often less useful in the brain because proton density is similar across most brain tissue.”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“While the signal decays sideways (T2), the magnetism is also growing back upwards (T1). This is like a charging capacitor. The time we wait before knocking them down again is called TR.”</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we interrupt the recovery early (Short TR), tissues that recover slowly won’t have much signal to give. Tissues that recover fast will be bright. This is T1 weighting.”</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“How do we tip the spins? We apply a radio pulse (B1) perpendicular to the main magnet. If the frequency matches perfectly—resonance—the spins tip over into the transverse plane.”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recipe for MRI contrast. Short TR and short TE give us T1. Long TR and Long TE give us T2. By changing these timing parameters, we decide what kind of picture we get.”</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“Here is the shocking truth: MRI is incredibly inefficient. For every million protons, only about 3 are actually contributing to our signal. We rely on the sheer number of atoms in the body to make it work.”</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Boltzmann equation tells us exactly how small that excess is. Polarization is proportional to the magnetic field strength, which is good, but inversely proportional to temperature. This is why the signal is fundamentally limited by thermodynamics.”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“Physicists found a hack. By hyperpolarizing noble gases like Xenon, we can get 50% alignment. This signal is so strong we can image the gas itself inside the lungs to see asthma or obstruction.”</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“We’ve covered the physics of the signal, but we haven’t made an image yet. In the next presentation, we will see how gradients allow us to locate these signals in 3D space using K-Space and Fourier theory.”</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MRI Physics I: The Fundamentals of Nuclear Magnetic Resonance</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Professor Jules</a:t>
            </a:r>
          </a:p>
        </p:txBody>
      </p:sp>
      <p:sp>
        <p:nvSpPr>
          <p:cNvPr id="4" name="Date Placeholder 3"/>
          <p:cNvSpPr>
            <a:spLocks noGrp="1"/>
          </p:cNvSpPr>
          <p:nvPr>
            <p:ph idx="10" sz="half" type="dt"/>
          </p:nvPr>
        </p:nvSpPr>
        <p:spPr/>
        <p:txBody>
          <a:bodyPr/>
          <a:lstStyle/>
          <a:p>
            <a:pPr lvl="0" indent="0" marL="0">
              <a:buNone/>
            </a:pPr>
            <a:r>
              <a:rPr/>
              <a:t>2025-12-18</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1: The Hardware &amp; The Proton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Magic of Magnetic Resonance</a:t>
            </a:r>
          </a:p>
        </p:txBody>
      </p:sp>
      <p:sp>
        <p:nvSpPr>
          <p:cNvPr id="3" name="Content Placeholder 2"/>
          <p:cNvSpPr>
            <a:spLocks noGrp="1"/>
          </p:cNvSpPr>
          <p:nvPr>
            <p:ph idx="1"/>
          </p:nvPr>
        </p:nvSpPr>
        <p:spPr/>
        <p:txBody>
          <a:bodyPr/>
          <a:lstStyle/>
          <a:p>
            <a:pPr lvl="0"/>
            <a:r>
              <a:rPr/>
              <a:t>MRI acts as a giant magnet producing pictures of the body’s interior.</a:t>
            </a:r>
          </a:p>
          <a:p>
            <a:pPr lvl="0"/>
            <a:r>
              <a:rPr/>
              <a:t>It differs significantly from X-ray, CT, PET, and ultrasound modalities.</a:t>
            </a:r>
          </a:p>
          <a:p>
            <a:pPr lvl="0"/>
            <a:r>
              <a:rPr/>
              <a:t>The technology relies on the quantum mechanical properties of atomic nuclei.</a:t>
            </a:r>
          </a:p>
          <a:p>
            <a:pPr lvl="0"/>
            <a:r>
              <a:rPr/>
              <a:t>The goal is to provide intuition for how magnets and nuclei interact to create images.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30,000-Foot View of NMR</a:t>
            </a:r>
          </a:p>
        </p:txBody>
      </p:sp>
      <p:sp>
        <p:nvSpPr>
          <p:cNvPr id="3" name="Content Placeholder 2"/>
          <p:cNvSpPr>
            <a:spLocks noGrp="1"/>
          </p:cNvSpPr>
          <p:nvPr>
            <p:ph idx="1"/>
          </p:nvPr>
        </p:nvSpPr>
        <p:spPr/>
        <p:txBody>
          <a:bodyPr/>
          <a:lstStyle/>
          <a:p>
            <a:pPr lvl="0"/>
            <a:r>
              <a:rPr b="1"/>
              <a:t>Step 1:</a:t>
            </a:r>
            <a:r>
              <a:rPr/>
              <a:t> Nuclei align with a strong magnetic field like compass needles.</a:t>
            </a:r>
          </a:p>
          <a:p>
            <a:pPr lvl="0"/>
            <a:r>
              <a:rPr b="1"/>
              <a:t>Step 2:</a:t>
            </a:r>
            <a:r>
              <a:rPr/>
              <a:t> A radiofrequency (RF) pulse knocks nuclei out of alignment.</a:t>
            </a:r>
          </a:p>
          <a:p>
            <a:pPr lvl="0"/>
            <a:r>
              <a:rPr b="1"/>
              <a:t>Step 3:</a:t>
            </a:r>
            <a:r>
              <a:rPr/>
              <a:t> Nuclei precess and emit their own RF signal, which the scanner detects.</a:t>
            </a:r>
          </a:p>
          <a:p>
            <a:pPr lvl="0"/>
            <a:r>
              <a:rPr b="1"/>
              <a:t>Step 4:</a:t>
            </a:r>
            <a:r>
              <a:rPr/>
              <a:t> Nuclei eventually realign with the field (Relaxation).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Inside the Scanner (The Hardware)</a:t>
            </a:r>
          </a:p>
        </p:txBody>
      </p:sp>
      <p:sp>
        <p:nvSpPr>
          <p:cNvPr id="3" name="Content Placeholder 2"/>
          <p:cNvSpPr>
            <a:spLocks noGrp="1"/>
          </p:cNvSpPr>
          <p:nvPr>
            <p:ph idx="1"/>
          </p:nvPr>
        </p:nvSpPr>
        <p:spPr/>
        <p:txBody>
          <a:bodyPr/>
          <a:lstStyle/>
          <a:p>
            <a:pPr lvl="0"/>
            <a:r>
              <a:rPr b="1"/>
              <a:t>Main Magnet (Purple):</a:t>
            </a:r>
            <a:r>
              <a:rPr/>
              <a:t> A superconducting magnet (always on!) creating a strong, homogeneous B0 field (10k-100k times Earth’s field).</a:t>
            </a:r>
          </a:p>
          <a:p>
            <a:pPr lvl="0"/>
            <a:r>
              <a:rPr b="1"/>
              <a:t>Gradient Coils (Green):</a:t>
            </a:r>
            <a:r>
              <a:rPr/>
              <a:t> Coils that alter the magnetic field in X, Y, and Z for signal localization and contrast.</a:t>
            </a:r>
          </a:p>
          <a:p>
            <a:pPr lvl="0"/>
            <a:r>
              <a:rPr b="1"/>
              <a:t>RF Coils (Inner Layer):</a:t>
            </a:r>
            <a:r>
              <a:rPr/>
              <a:t> Antennas that transmit the “tipping” pulse and receive the resulting signal from the tissue.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Ideal Candidate: Hydrogen</a:t>
            </a:r>
          </a:p>
        </p:txBody>
      </p:sp>
      <p:sp>
        <p:nvSpPr>
          <p:cNvPr id="3" name="Content Placeholder 2"/>
          <p:cNvSpPr>
            <a:spLocks noGrp="1"/>
          </p:cNvSpPr>
          <p:nvPr>
            <p:ph idx="1"/>
          </p:nvPr>
        </p:nvSpPr>
        <p:spPr/>
        <p:txBody>
          <a:bodyPr/>
          <a:lstStyle/>
          <a:p>
            <a:pPr lvl="0"/>
            <a:r>
              <a:rPr/>
              <a:t>The body is approximately 70% water, meaning there are two hydrogen atoms for every water molecule.</a:t>
            </a:r>
          </a:p>
          <a:p>
            <a:pPr lvl="0"/>
            <a:r>
              <a:rPr/>
              <a:t>Hydrogen nuclei are single protons with a high gyromagnetic ratio.</a:t>
            </a:r>
          </a:p>
          <a:p>
            <a:pPr lvl="0"/>
            <a:r>
              <a:rPr/>
              <a:t>“Proton imaging” is a misnomer; we are specifically looking at hydrogen nuclei.</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Spin Physics &amp; Precession</a:t>
            </a:r>
          </a:p>
        </p:txBody>
      </p:sp>
      <p:sp>
        <p:nvSpPr>
          <p:cNvPr id="3" name="Content Placeholder 2"/>
          <p:cNvSpPr>
            <a:spLocks noGrp="1"/>
          </p:cNvSpPr>
          <p:nvPr>
            <p:ph idx="1"/>
          </p:nvPr>
        </p:nvSpPr>
        <p:spPr/>
        <p:txBody>
          <a:bodyPr/>
          <a:lstStyle/>
          <a:p>
            <a:pPr lvl="0"/>
            <a:r>
              <a:rPr b="1"/>
              <a:t>Spin:</a:t>
            </a:r>
            <a:r>
              <a:rPr/>
              <a:t> Provides intrinsic angular momentum and a magnetic moment (tiny bar magnet behavior).</a:t>
            </a:r>
          </a:p>
          <a:p>
            <a:pPr lvl="0"/>
            <a:r>
              <a:rPr b="1"/>
              <a:t>Torque:</a:t>
            </a:r>
            <a:r>
              <a:rPr/>
              <a:t> The external magnetic field tries to align the proton, but due to spin, it precesses instead.</a:t>
            </a:r>
          </a:p>
          <a:p>
            <a:pPr lvl="0"/>
            <a:r>
              <a:rPr b="1"/>
              <a:t>Analogy:</a:t>
            </a:r>
            <a:r>
              <a:rPr/>
              <a:t> This motion is identical to a spinning top precessing under the force of gravity.</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Lenz’s Law &amp; Signal Detection</a:t>
            </a:r>
          </a:p>
        </p:txBody>
      </p:sp>
      <p:sp>
        <p:nvSpPr>
          <p:cNvPr id="3" name="Content Placeholder 2"/>
          <p:cNvSpPr>
            <a:spLocks noGrp="1"/>
          </p:cNvSpPr>
          <p:nvPr>
            <p:ph idx="1"/>
          </p:nvPr>
        </p:nvSpPr>
        <p:spPr/>
        <p:txBody>
          <a:bodyPr/>
          <a:lstStyle/>
          <a:p>
            <a:pPr lvl="0"/>
            <a:r>
              <a:rPr/>
              <a:t>A precessing proton creates a changing magnetic flux through the nearby RF coil.</a:t>
            </a:r>
          </a:p>
          <a:p>
            <a:pPr lvl="0"/>
            <a:r>
              <a:rPr b="1"/>
              <a:t>Lenz’s Law:</a:t>
            </a:r>
            <a:r>
              <a:rPr/>
              <a:t> Changing magnetic flux induces a voltage in a wire.</a:t>
            </a:r>
          </a:p>
          <a:p>
            <a:pPr lvl="0"/>
            <a:r>
              <a:rPr/>
              <a:t>The detected signal is sinusoidal, oscillating at the precession frequency.</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2: Signal Generation &amp; Larmor Physics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Larmor Equation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r>
                        <m:t>ω</m:t>
                      </m:r>
                      <m:r>
                        <m:rPr>
                          <m:sty m:val="p"/>
                        </m:rPr>
                        <m:t>=</m:t>
                      </m:r>
                      <m:r>
                        <m:t>γ</m:t>
                      </m:r>
                      <m:r>
                        <m:t>B</m:t>
                      </m:r>
                    </m:oMath>
                  </m:oMathPara>
                </a14:m>
              </a:p>
            </p:txBody>
          </p:sp>
        </mc:Choice>
      </mc:AlternateContent>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Larmor Equation: Variables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14:m>
                  <m:oMathPara xmlns:m="http://schemas.openxmlformats.org/officeDocument/2006/math">
                    <m:oMathParaPr>
                      <m:jc m:val="center"/>
                    </m:oMathParaPr>
                    <m:oMath>
                      <m:r>
                        <m:t>ω</m:t>
                      </m:r>
                    </m:oMath>
                  </m:oMathPara>
                </a14:m>
                <a:r>
                  <a:rPr b="1"/>
                  <a:t> (Omega):</a:t>
                </a:r>
                <a:r>
                  <a:rPr/>
                  <a:t> Precession frequency (how fast the protons wobble).</a:t>
                </a:r>
              </a:p>
              <a:p>
                <a:pPr lvl="0"/>
                <a14:m>
                  <m:oMathPara xmlns:m="http://schemas.openxmlformats.org/officeDocument/2006/math">
                    <m:oMathParaPr>
                      <m:jc m:val="center"/>
                    </m:oMathParaPr>
                    <m:oMath>
                      <m:r>
                        <m:t>γ</m:t>
                      </m:r>
                    </m:oMath>
                  </m:oMathPara>
                </a14:m>
                <a:r>
                  <a:rPr b="1"/>
                  <a:t> (Gamma):</a:t>
                </a:r>
                <a:r>
                  <a:rPr/>
                  <a:t> Gyromagnetic ratio (a constant specific to the nucleus, for Hydrogen it’s 42.58 MHz/T).</a:t>
                </a:r>
              </a:p>
              <a:p>
                <a:pPr lvl="0"/>
                <a14:m>
                  <m:oMathPara xmlns:m="http://schemas.openxmlformats.org/officeDocument/2006/math">
                    <m:oMathParaPr>
                      <m:jc m:val="center"/>
                    </m:oMathParaPr>
                    <m:oMath>
                      <m:r>
                        <m:t>B</m:t>
                      </m:r>
                    </m:oMath>
                  </m:oMathPara>
                </a14:m>
                <a:r>
                  <a:rPr b="1"/>
                  <a:t>:</a:t>
                </a:r>
                <a:r>
                  <a:rPr/>
                  <a:t> Magnetic field strength (how strong the magnet is).</a:t>
                </a:r>
              </a:p>
            </p:txBody>
          </p:sp>
        </mc:Choice>
      </mc:AlternateContent>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Larmor Equation: Intuition</a:t>
            </a:r>
          </a:p>
        </p:txBody>
      </p:sp>
      <p:sp>
        <p:nvSpPr>
          <p:cNvPr id="3" name="Content Placeholder 2"/>
          <p:cNvSpPr>
            <a:spLocks noGrp="1"/>
          </p:cNvSpPr>
          <p:nvPr>
            <p:ph idx="1"/>
          </p:nvPr>
        </p:nvSpPr>
        <p:spPr/>
        <p:txBody>
          <a:bodyPr/>
          <a:lstStyle/>
          <a:p>
            <a:pPr lvl="0"/>
            <a:r>
              <a:rPr/>
              <a:t>The equation shows a simple </a:t>
            </a:r>
            <a:r>
              <a:rPr b="1"/>
              <a:t>linear relationship</a:t>
            </a:r>
            <a:r>
              <a:rPr/>
              <a:t>.</a:t>
            </a:r>
          </a:p>
          <a:p>
            <a:pPr lvl="0"/>
            <a:r>
              <a:rPr/>
              <a:t>If you double the magnetic field strength, you double the precession frequency.</a:t>
            </a:r>
          </a:p>
          <a:p>
            <a:pPr lvl="0"/>
            <a:r>
              <a:rPr/>
              <a:t>A stronger magnet also leads to a stronger signal, which improves image quality.</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 Code: The Larmor Relationship</a:t>
            </a:r>
          </a:p>
        </p:txBody>
      </p:sp>
      <p:sp>
        <p:nvSpPr>
          <p:cNvPr id="4" name="Text Placeholder 3"/>
          <p:cNvSpPr>
            <a:spLocks noGrp="1"/>
          </p:cNvSpPr>
          <p:nvPr>
            <p:ph idx="2" sz="half" type="body"/>
          </p:nvPr>
        </p:nvSpPr>
        <p:spPr/>
        <p:txBody>
          <a:bodyPr/>
          <a:lstStyle/>
          <a:p>
            <a:pPr lvl="0" indent="0">
              <a:buNone/>
            </a:pPr>
            <a:r>
              <a:rPr i="1">
                <a:solidFill>
                  <a:srgbClr val="60A0B0"/>
                </a:solidFill>
                <a:latin typeface="Courier"/>
              </a:rPr>
              <a:t># Define the gyromagnetic ratio for Hydrogen (MHz/T)</a:t>
            </a:r>
            <a:br/>
            <a:r>
              <a:rPr>
                <a:latin typeface="Courier"/>
              </a:rPr>
              <a:t>gamma </a:t>
            </a:r>
            <a:r>
              <a:rPr>
                <a:solidFill>
                  <a:srgbClr val="007020"/>
                </a:solidFill>
                <a:latin typeface="Courier"/>
              </a:rPr>
              <a:t>&lt;-</a:t>
            </a:r>
            <a:r>
              <a:rPr>
                <a:latin typeface="Courier"/>
              </a:rPr>
              <a:t> </a:t>
            </a:r>
            <a:r>
              <a:rPr>
                <a:solidFill>
                  <a:srgbClr val="40A070"/>
                </a:solidFill>
                <a:latin typeface="Courier"/>
              </a:rPr>
              <a:t>42.58</a:t>
            </a:r>
            <a:br/>
            <a:br/>
            <a:r>
              <a:rPr i="1">
                <a:solidFill>
                  <a:srgbClr val="60A0B0"/>
                </a:solidFill>
                <a:latin typeface="Courier"/>
              </a:rPr>
              <a:t># Create a data frame of magnetic field strengths (B) from 0 to 3 Tesla</a:t>
            </a:r>
            <a:br/>
            <a:r>
              <a:rPr>
                <a:latin typeface="Courier"/>
              </a:rPr>
              <a:t>b_field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A070"/>
                </a:solidFill>
                <a:latin typeface="Courier"/>
              </a:rPr>
              <a:t>0</a:t>
            </a:r>
            <a:r>
              <a:rPr>
                <a:latin typeface="Courier"/>
              </a:rPr>
              <a:t>, </a:t>
            </a:r>
            <a:r>
              <a:rPr>
                <a:solidFill>
                  <a:srgbClr val="40A070"/>
                </a:solidFill>
                <a:latin typeface="Courier"/>
              </a:rPr>
              <a:t>3</a:t>
            </a:r>
            <a:r>
              <a:rPr>
                <a:latin typeface="Courier"/>
              </a:rPr>
              <a:t>, </a:t>
            </a:r>
            <a:r>
              <a:rPr>
                <a:solidFill>
                  <a:srgbClr val="7D9029"/>
                </a:solidFill>
                <a:latin typeface="Courier"/>
              </a:rPr>
              <a:t>length.out =</a:t>
            </a:r>
            <a:r>
              <a:rPr>
                <a:latin typeface="Courier"/>
              </a:rPr>
              <a:t> </a:t>
            </a:r>
            <a:r>
              <a:rPr>
                <a:solidFill>
                  <a:srgbClr val="40A070"/>
                </a:solidFill>
                <a:latin typeface="Courier"/>
              </a:rPr>
              <a:t>100</a:t>
            </a:r>
            <a:r>
              <a:rPr>
                <a:latin typeface="Courier"/>
              </a:rPr>
              <a:t>)</a:t>
            </a:r>
            <a:br/>
            <a:r>
              <a:rPr>
                <a:latin typeface="Courier"/>
              </a:rPr>
              <a:t>frequency </a:t>
            </a:r>
            <a:r>
              <a:rPr>
                <a:solidFill>
                  <a:srgbClr val="007020"/>
                </a:solidFill>
                <a:latin typeface="Courier"/>
              </a:rPr>
              <a:t>&lt;-</a:t>
            </a:r>
            <a:r>
              <a:rPr>
                <a:latin typeface="Courier"/>
              </a:rPr>
              <a:t> gamma </a:t>
            </a:r>
            <a:r>
              <a:rPr>
                <a:solidFill>
                  <a:srgbClr val="4070A0"/>
                </a:solidFill>
                <a:latin typeface="Courier"/>
              </a:rPr>
              <a:t>*</a:t>
            </a:r>
            <a:r>
              <a:rPr>
                <a:latin typeface="Courier"/>
              </a:rPr>
              <a:t> b_field</a:t>
            </a:r>
            <a:br/>
            <a:r>
              <a:rPr>
                <a:latin typeface="Courier"/>
              </a:rPr>
              <a:t>larmor_data </a:t>
            </a:r>
            <a:r>
              <a:rPr>
                <a:solidFill>
                  <a:srgbClr val="007020"/>
                </a:solidFill>
                <a:latin typeface="Courier"/>
              </a:rPr>
              <a:t>&lt;-</a:t>
            </a:r>
            <a:r>
              <a:rPr>
                <a:latin typeface="Courier"/>
              </a:rPr>
              <a:t> </a:t>
            </a:r>
            <a:r>
              <a:rPr>
                <a:solidFill>
                  <a:srgbClr val="06287E"/>
                </a:solidFill>
                <a:latin typeface="Courier"/>
              </a:rPr>
              <a:t>data.frame</a:t>
            </a:r>
            <a:r>
              <a:rPr>
                <a:latin typeface="Courier"/>
              </a:rPr>
              <a:t>(</a:t>
            </a:r>
            <a:r>
              <a:rPr>
                <a:solidFill>
                  <a:srgbClr val="7D9029"/>
                </a:solidFill>
                <a:latin typeface="Courier"/>
              </a:rPr>
              <a:t>B =</a:t>
            </a:r>
            <a:r>
              <a:rPr>
                <a:latin typeface="Courier"/>
              </a:rPr>
              <a:t> b_field, </a:t>
            </a:r>
            <a:r>
              <a:rPr>
                <a:solidFill>
                  <a:srgbClr val="7D9029"/>
                </a:solidFill>
                <a:latin typeface="Courier"/>
              </a:rPr>
              <a:t>Freq =</a:t>
            </a:r>
            <a:r>
              <a:rPr>
                <a:latin typeface="Courier"/>
              </a:rPr>
              <a:t> frequency)</a:t>
            </a:r>
            <a:br/>
            <a:br/>
            <a:r>
              <a:rPr i="1">
                <a:solidFill>
                  <a:srgbClr val="60A0B0"/>
                </a:solidFill>
                <a:latin typeface="Courier"/>
              </a:rPr>
              <a:t># Create the plot</a:t>
            </a:r>
            <a:br/>
            <a:r>
              <a:rPr>
                <a:solidFill>
                  <a:srgbClr val="06287E"/>
                </a:solidFill>
                <a:latin typeface="Courier"/>
              </a:rPr>
              <a:t>ggplot</a:t>
            </a:r>
            <a:r>
              <a:rPr>
                <a:latin typeface="Courier"/>
              </a:rPr>
              <a:t>(larmor_data, </a:t>
            </a:r>
            <a:r>
              <a:rPr>
                <a:solidFill>
                  <a:srgbClr val="06287E"/>
                </a:solidFill>
                <a:latin typeface="Courier"/>
              </a:rPr>
              <a:t>aes</a:t>
            </a:r>
            <a:r>
              <a:rPr>
                <a:latin typeface="Courier"/>
              </a:rPr>
              <a:t>(</a:t>
            </a:r>
            <a:r>
              <a:rPr>
                <a:solidFill>
                  <a:srgbClr val="7D9029"/>
                </a:solidFill>
                <a:latin typeface="Courier"/>
              </a:rPr>
              <a:t>x =</a:t>
            </a:r>
            <a:r>
              <a:rPr>
                <a:latin typeface="Courier"/>
              </a:rPr>
              <a:t> B, </a:t>
            </a:r>
            <a:r>
              <a:rPr>
                <a:solidFill>
                  <a:srgbClr val="7D9029"/>
                </a:solidFill>
                <a:latin typeface="Courier"/>
              </a:rPr>
              <a:t>y =</a:t>
            </a:r>
            <a:r>
              <a:rPr>
                <a:latin typeface="Courier"/>
              </a:rPr>
              <a:t> Freq)) </a:t>
            </a:r>
            <a:r>
              <a:rPr>
                <a:solidFill>
                  <a:srgbClr val="4070A0"/>
                </a:solidFill>
                <a:latin typeface="Courier"/>
              </a:rPr>
              <a:t>+</a:t>
            </a:r>
            <a:br/>
            <a:r>
              <a:rPr>
                <a:latin typeface="Courier"/>
              </a:rPr>
              <a:t>  </a:t>
            </a:r>
            <a:r>
              <a:rPr>
                <a:solidFill>
                  <a:srgbClr val="06287E"/>
                </a:solidFill>
                <a:latin typeface="Courier"/>
              </a:rPr>
              <a:t>geom_line</a:t>
            </a:r>
            <a:r>
              <a:rPr>
                <a:latin typeface="Courier"/>
              </a:rPr>
              <a:t>(</a:t>
            </a:r>
            <a:r>
              <a:rPr>
                <a:solidFill>
                  <a:srgbClr val="7D9029"/>
                </a:solidFill>
                <a:latin typeface="Courier"/>
              </a:rPr>
              <a:t>color =</a:t>
            </a:r>
            <a:r>
              <a:rPr>
                <a:latin typeface="Courier"/>
              </a:rPr>
              <a:t> </a:t>
            </a:r>
            <a:r>
              <a:rPr>
                <a:solidFill>
                  <a:srgbClr val="4070A0"/>
                </a:solidFill>
                <a:latin typeface="Courier"/>
              </a:rPr>
              <a:t>"dodgerblue"</a:t>
            </a:r>
            <a:r>
              <a:rPr>
                <a:latin typeface="Courier"/>
              </a:rPr>
              <a:t>, </a:t>
            </a:r>
            <a:r>
              <a:rPr>
                <a:solidFill>
                  <a:srgbClr val="7D9029"/>
                </a:solidFill>
                <a:latin typeface="Courier"/>
              </a:rPr>
              <a:t>linewidth =</a:t>
            </a:r>
            <a:r>
              <a:rPr>
                <a:latin typeface="Courier"/>
              </a:rPr>
              <a:t> </a:t>
            </a:r>
            <a:r>
              <a:rPr>
                <a:solidFill>
                  <a:srgbClr val="40A070"/>
                </a:solidFill>
                <a:latin typeface="Courier"/>
              </a:rPr>
              <a:t>1.5</a:t>
            </a:r>
            <a:r>
              <a:rPr>
                <a:latin typeface="Courier"/>
              </a:rPr>
              <a:t>) </a:t>
            </a:r>
            <a:r>
              <a:rPr>
                <a:solidFill>
                  <a:srgbClr val="4070A0"/>
                </a:solidFill>
                <a:latin typeface="Courier"/>
              </a:rPr>
              <a:t>+</a:t>
            </a:r>
            <a:br/>
            <a:r>
              <a:rPr>
                <a:latin typeface="Courier"/>
              </a:rPr>
              <a:t>  </a:t>
            </a:r>
            <a:r>
              <a:rPr>
                <a:solidFill>
                  <a:srgbClr val="06287E"/>
                </a:solidFill>
                <a:latin typeface="Courier"/>
              </a:rPr>
              <a:t>geom_point</a:t>
            </a:r>
            <a:r>
              <a:rPr>
                <a:latin typeface="Courier"/>
              </a:rPr>
              <a:t>(</a:t>
            </a:r>
            <a:r>
              <a:rPr>
                <a:solidFill>
                  <a:srgbClr val="06287E"/>
                </a:solidFill>
                <a:latin typeface="Courier"/>
              </a:rPr>
              <a:t>aes</a:t>
            </a:r>
            <a:r>
              <a:rPr>
                <a:latin typeface="Courier"/>
              </a:rPr>
              <a:t>(</a:t>
            </a:r>
            <a:r>
              <a:rPr>
                <a:solidFill>
                  <a:srgbClr val="7D9029"/>
                </a:solidFill>
                <a:latin typeface="Courier"/>
              </a:rPr>
              <a:t>x =</a:t>
            </a:r>
            <a:r>
              <a:rPr>
                <a:latin typeface="Courier"/>
              </a:rPr>
              <a:t> </a:t>
            </a:r>
            <a:r>
              <a:rPr>
                <a:solidFill>
                  <a:srgbClr val="40A070"/>
                </a:solidFill>
                <a:latin typeface="Courier"/>
              </a:rPr>
              <a:t>1.5</a:t>
            </a:r>
            <a:r>
              <a:rPr>
                <a:latin typeface="Courier"/>
              </a:rPr>
              <a:t>, </a:t>
            </a:r>
            <a:r>
              <a:rPr>
                <a:solidFill>
                  <a:srgbClr val="7D9029"/>
                </a:solidFill>
                <a:latin typeface="Courier"/>
              </a:rPr>
              <a:t>y =</a:t>
            </a:r>
            <a:r>
              <a:rPr>
                <a:latin typeface="Courier"/>
              </a:rPr>
              <a:t> </a:t>
            </a:r>
            <a:r>
              <a:rPr>
                <a:solidFill>
                  <a:srgbClr val="40A070"/>
                </a:solidFill>
                <a:latin typeface="Courier"/>
              </a:rPr>
              <a:t>1.5</a:t>
            </a:r>
            <a:r>
              <a:rPr>
                <a:latin typeface="Courier"/>
              </a:rPr>
              <a:t> </a:t>
            </a:r>
            <a:r>
              <a:rPr>
                <a:solidFill>
                  <a:srgbClr val="4070A0"/>
                </a:solidFill>
                <a:latin typeface="Courier"/>
              </a:rPr>
              <a:t>*</a:t>
            </a:r>
            <a:r>
              <a:rPr>
                <a:latin typeface="Courier"/>
              </a:rPr>
              <a:t> gamma), </a:t>
            </a:r>
            <a:r>
              <a:rPr>
                <a:solidFill>
                  <a:srgbClr val="7D9029"/>
                </a:solidFill>
                <a:latin typeface="Courier"/>
              </a:rPr>
              <a:t>color =</a:t>
            </a:r>
            <a:r>
              <a:rPr>
                <a:latin typeface="Courier"/>
              </a:rPr>
              <a:t> </a:t>
            </a:r>
            <a:r>
              <a:rPr>
                <a:solidFill>
                  <a:srgbClr val="4070A0"/>
                </a:solidFill>
                <a:latin typeface="Courier"/>
              </a:rPr>
              <a:t>"red"</a:t>
            </a:r>
            <a:r>
              <a:rPr>
                <a:latin typeface="Courier"/>
              </a:rPr>
              <a:t>, </a:t>
            </a:r>
            <a:r>
              <a:rPr>
                <a:solidFill>
                  <a:srgbClr val="7D9029"/>
                </a:solidFill>
                <a:latin typeface="Courier"/>
              </a:rPr>
              <a:t>size =</a:t>
            </a:r>
            <a:r>
              <a:rPr>
                <a:latin typeface="Courier"/>
              </a:rPr>
              <a:t> </a:t>
            </a:r>
            <a:r>
              <a:rPr>
                <a:solidFill>
                  <a:srgbClr val="40A070"/>
                </a:solidFill>
                <a:latin typeface="Courier"/>
              </a:rPr>
              <a:t>4</a:t>
            </a:r>
            <a:r>
              <a:rPr>
                <a:latin typeface="Courier"/>
              </a:rPr>
              <a:t>) </a:t>
            </a:r>
            <a:r>
              <a:rPr>
                <a:solidFill>
                  <a:srgbClr val="4070A0"/>
                </a:solidFill>
                <a:latin typeface="Courier"/>
              </a:rPr>
              <a:t>+</a:t>
            </a:r>
            <a:br/>
            <a:r>
              <a:rPr>
                <a:latin typeface="Courier"/>
              </a:rPr>
              <a:t>  </a:t>
            </a:r>
            <a:r>
              <a:rPr>
                <a:solidFill>
                  <a:srgbClr val="06287E"/>
                </a:solidFill>
                <a:latin typeface="Courier"/>
              </a:rPr>
              <a:t>annotate</a:t>
            </a:r>
            <a:r>
              <a:rPr>
                <a:latin typeface="Courier"/>
              </a:rPr>
              <a:t>(</a:t>
            </a:r>
            <a:r>
              <a:rPr>
                <a:solidFill>
                  <a:srgbClr val="4070A0"/>
                </a:solidFill>
                <a:latin typeface="Courier"/>
              </a:rPr>
              <a:t>"text"</a:t>
            </a:r>
            <a:r>
              <a:rPr>
                <a:latin typeface="Courier"/>
              </a:rPr>
              <a:t>, </a:t>
            </a:r>
            <a:r>
              <a:rPr>
                <a:solidFill>
                  <a:srgbClr val="7D9029"/>
                </a:solidFill>
                <a:latin typeface="Courier"/>
              </a:rPr>
              <a:t>x =</a:t>
            </a:r>
            <a:r>
              <a:rPr>
                <a:latin typeface="Courier"/>
              </a:rPr>
              <a:t> </a:t>
            </a:r>
            <a:r>
              <a:rPr>
                <a:solidFill>
                  <a:srgbClr val="40A070"/>
                </a:solidFill>
                <a:latin typeface="Courier"/>
              </a:rPr>
              <a:t>1.7</a:t>
            </a:r>
            <a:r>
              <a:rPr>
                <a:latin typeface="Courier"/>
              </a:rPr>
              <a:t>, </a:t>
            </a:r>
            <a:r>
              <a:rPr>
                <a:solidFill>
                  <a:srgbClr val="7D9029"/>
                </a:solidFill>
                <a:latin typeface="Courier"/>
              </a:rPr>
              <a:t>y =</a:t>
            </a:r>
            <a:r>
              <a:rPr>
                <a:latin typeface="Courier"/>
              </a:rPr>
              <a:t> </a:t>
            </a:r>
            <a:r>
              <a:rPr>
                <a:solidFill>
                  <a:srgbClr val="40A070"/>
                </a:solidFill>
                <a:latin typeface="Courier"/>
              </a:rPr>
              <a:t>1.5</a:t>
            </a:r>
            <a:r>
              <a:rPr>
                <a:latin typeface="Courier"/>
              </a:rPr>
              <a:t> </a:t>
            </a:r>
            <a:r>
              <a:rPr>
                <a:solidFill>
                  <a:srgbClr val="4070A0"/>
                </a:solidFill>
                <a:latin typeface="Courier"/>
              </a:rPr>
              <a:t>*</a:t>
            </a:r>
            <a:r>
              <a:rPr>
                <a:latin typeface="Courier"/>
              </a:rPr>
              <a:t> gamma </a:t>
            </a:r>
            <a:r>
              <a:rPr>
                <a:solidFill>
                  <a:srgbClr val="4070A0"/>
                </a:solidFill>
                <a:latin typeface="Courier"/>
              </a:rPr>
              <a:t>+</a:t>
            </a:r>
            <a:r>
              <a:rPr>
                <a:latin typeface="Courier"/>
              </a:rPr>
              <a:t> </a:t>
            </a:r>
            <a:r>
              <a:rPr>
                <a:solidFill>
                  <a:srgbClr val="40A070"/>
                </a:solidFill>
                <a:latin typeface="Courier"/>
              </a:rPr>
              <a:t>5</a:t>
            </a:r>
            <a:r>
              <a:rPr>
                <a:latin typeface="Courier"/>
              </a:rPr>
              <a:t>, </a:t>
            </a:r>
            <a:r>
              <a:rPr>
                <a:solidFill>
                  <a:srgbClr val="7D9029"/>
                </a:solidFill>
                <a:latin typeface="Courier"/>
              </a:rPr>
              <a:t>label =</a:t>
            </a:r>
            <a:r>
              <a:rPr>
                <a:latin typeface="Courier"/>
              </a:rPr>
              <a:t> </a:t>
            </a:r>
            <a:r>
              <a:rPr>
                <a:solidFill>
                  <a:srgbClr val="4070A0"/>
                </a:solidFill>
                <a:latin typeface="Courier"/>
              </a:rPr>
              <a:t>"1.5T = 63.9 MHz"</a:t>
            </a:r>
            <a:r>
              <a:rPr>
                <a:latin typeface="Courier"/>
              </a:rPr>
              <a:t>, </a:t>
            </a:r>
            <a:r>
              <a:rPr>
                <a:solidFill>
                  <a:srgbClr val="7D9029"/>
                </a:solidFill>
                <a:latin typeface="Courier"/>
              </a:rPr>
              <a:t>color =</a:t>
            </a:r>
            <a:r>
              <a:rPr>
                <a:latin typeface="Courier"/>
              </a:rPr>
              <a:t> </a:t>
            </a:r>
            <a:r>
              <a:rPr>
                <a:solidFill>
                  <a:srgbClr val="4070A0"/>
                </a:solidFill>
                <a:latin typeface="Courier"/>
              </a:rPr>
              <a:t>"red"</a:t>
            </a:r>
            <a:r>
              <a:rPr>
                <a:latin typeface="Courier"/>
              </a:rPr>
              <a:t>) </a:t>
            </a:r>
            <a:r>
              <a:rPr>
                <a:solidFill>
                  <a:srgbClr val="4070A0"/>
                </a:solidFill>
                <a:latin typeface="Courier"/>
              </a:rPr>
              <a:t>+</a:t>
            </a:r>
            <a:br/>
            <a:r>
              <a:rPr>
                <a:latin typeface="Courier"/>
              </a:rPr>
              <a:t>  </a:t>
            </a:r>
            <a:r>
              <a:rPr>
                <a:solidFill>
                  <a:srgbClr val="06287E"/>
                </a:solidFill>
                <a:latin typeface="Courier"/>
              </a:rPr>
              <a:t>labs</a:t>
            </a:r>
            <a:r>
              <a:rPr>
                <a:latin typeface="Courier"/>
              </a:rPr>
              <a:t>(</a:t>
            </a:r>
            <a:br/>
            <a:r>
              <a:rPr>
                <a:latin typeface="Courier"/>
              </a:rPr>
              <a:t>    </a:t>
            </a:r>
            <a:r>
              <a:rPr>
                <a:solidFill>
                  <a:srgbClr val="7D9029"/>
                </a:solidFill>
                <a:latin typeface="Courier"/>
              </a:rPr>
              <a:t>title =</a:t>
            </a:r>
            <a:r>
              <a:rPr>
                <a:latin typeface="Courier"/>
              </a:rPr>
              <a:t> </a:t>
            </a:r>
            <a:r>
              <a:rPr>
                <a:solidFill>
                  <a:srgbClr val="4070A0"/>
                </a:solidFill>
                <a:latin typeface="Courier"/>
              </a:rPr>
              <a:t>"The Larmor Relationship for Hydrogen"</a:t>
            </a:r>
            <a:r>
              <a:rPr>
                <a:latin typeface="Courier"/>
              </a:rPr>
              <a:t>,</a:t>
            </a:r>
            <a:br/>
            <a:r>
              <a:rPr>
                <a:latin typeface="Courier"/>
              </a:rPr>
              <a:t>    </a:t>
            </a:r>
            <a:r>
              <a:rPr>
                <a:solidFill>
                  <a:srgbClr val="7D9029"/>
                </a:solidFill>
                <a:latin typeface="Courier"/>
              </a:rPr>
              <a:t>x =</a:t>
            </a:r>
            <a:r>
              <a:rPr>
                <a:latin typeface="Courier"/>
              </a:rPr>
              <a:t> </a:t>
            </a:r>
            <a:r>
              <a:rPr>
                <a:solidFill>
                  <a:srgbClr val="4070A0"/>
                </a:solidFill>
                <a:latin typeface="Courier"/>
              </a:rPr>
              <a:t>"Magnetic Field Strength (B) in Tesla"</a:t>
            </a:r>
            <a:r>
              <a:rPr>
                <a:latin typeface="Courier"/>
              </a:rPr>
              <a:t>,</a:t>
            </a:r>
            <a:br/>
            <a:r>
              <a:rPr>
                <a:latin typeface="Courier"/>
              </a:rPr>
              <a:t>    </a:t>
            </a:r>
            <a:r>
              <a:rPr>
                <a:solidFill>
                  <a:srgbClr val="7D9029"/>
                </a:solidFill>
                <a:latin typeface="Courier"/>
              </a:rPr>
              <a:t>y =</a:t>
            </a:r>
            <a:r>
              <a:rPr>
                <a:latin typeface="Courier"/>
              </a:rPr>
              <a:t> </a:t>
            </a:r>
            <a:r>
              <a:rPr>
                <a:solidFill>
                  <a:srgbClr val="4070A0"/>
                </a:solidFill>
                <a:latin typeface="Courier"/>
              </a:rPr>
              <a:t>"Precession Frequency (ω) in MHz"</a:t>
            </a:r>
            <a:br/>
            <a:r>
              <a:rPr>
                <a:latin typeface="Courier"/>
              </a:rPr>
              <a:t>  ) </a:t>
            </a:r>
            <a:r>
              <a:rPr>
                <a:solidFill>
                  <a:srgbClr val="4070A0"/>
                </a:solidFill>
                <a:latin typeface="Courier"/>
              </a:rPr>
              <a:t>+</a:t>
            </a:r>
            <a:br/>
            <a:r>
              <a:rPr>
                <a:latin typeface="Courier"/>
              </a:rPr>
              <a:t>  </a:t>
            </a:r>
            <a:r>
              <a:rPr>
                <a:solidFill>
                  <a:srgbClr val="06287E"/>
                </a:solidFill>
                <a:latin typeface="Courier"/>
              </a:rPr>
              <a:t>theme_minimal</a:t>
            </a:r>
            <a:r>
              <a:rPr>
                <a:latin typeface="Courier"/>
              </a:rPr>
              <a:t>(</a:t>
            </a:r>
            <a:r>
              <a:rPr>
                <a:solidFill>
                  <a:srgbClr val="7D9029"/>
                </a:solidFill>
                <a:latin typeface="Courier"/>
              </a:rPr>
              <a:t>base_size =</a:t>
            </a:r>
            <a:r>
              <a:rPr>
                <a:latin typeface="Courier"/>
              </a:rPr>
              <a:t> </a:t>
            </a:r>
            <a:r>
              <a:rPr>
                <a:solidFill>
                  <a:srgbClr val="40A070"/>
                </a:solidFill>
                <a:latin typeface="Courier"/>
              </a:rPr>
              <a:t>15</a:t>
            </a:r>
            <a:r>
              <a:rPr>
                <a:latin typeface="Courier"/>
              </a:rPr>
              <a:t>) </a:t>
            </a:r>
            <a:r>
              <a:rPr>
                <a:solidFill>
                  <a:srgbClr val="4070A0"/>
                </a:solidFill>
                <a:latin typeface="Courier"/>
              </a:rPr>
              <a:t>+</a:t>
            </a:r>
            <a:br/>
            <a:r>
              <a:rPr>
                <a:latin typeface="Courier"/>
              </a:rPr>
              <a:t>  </a:t>
            </a:r>
            <a:r>
              <a:rPr>
                <a:solidFill>
                  <a:srgbClr val="06287E"/>
                </a:solidFill>
                <a:latin typeface="Courier"/>
              </a:rPr>
              <a:t>theme</a:t>
            </a:r>
            <a:r>
              <a:rPr>
                <a:latin typeface="Courier"/>
              </a:rPr>
              <a:t>(</a:t>
            </a:r>
            <a:r>
              <a:rPr>
                <a:solidFill>
                  <a:srgbClr val="7D9029"/>
                </a:solidFill>
                <a:latin typeface="Courier"/>
              </a:rPr>
              <a:t>plot.title =</a:t>
            </a:r>
            <a:r>
              <a:rPr>
                <a:latin typeface="Courier"/>
              </a:rPr>
              <a:t> </a:t>
            </a:r>
            <a:r>
              <a:rPr>
                <a:solidFill>
                  <a:srgbClr val="06287E"/>
                </a:solidFill>
                <a:latin typeface="Courier"/>
              </a:rPr>
              <a:t>element_text</a:t>
            </a:r>
            <a:r>
              <a:rPr>
                <a:latin typeface="Courier"/>
              </a:rPr>
              <a:t>(</a:t>
            </a:r>
            <a:r>
              <a:rPr>
                <a:solidFill>
                  <a:srgbClr val="7D9029"/>
                </a:solidFill>
                <a:latin typeface="Courier"/>
              </a:rPr>
              <a:t>hjust =</a:t>
            </a:r>
            <a:r>
              <a:rPr>
                <a:latin typeface="Courier"/>
              </a:rPr>
              <a:t> </a:t>
            </a:r>
            <a:r>
              <a:rPr>
                <a:solidFill>
                  <a:srgbClr val="40A070"/>
                </a:solidFill>
                <a:latin typeface="Courier"/>
              </a:rPr>
              <a:t>0.5</a:t>
            </a:r>
            <a:r>
              <a:rPr>
                <a:latin typeface="Courier"/>
              </a:rPr>
              <a:t>))</a:t>
            </a:r>
          </a:p>
          <a:p>
            <a:pPr lvl="0" indent="0">
              <a:buNone/>
            </a:pPr>
            <a:r>
              <a:rPr>
                <a:latin typeface="Courier"/>
              </a:rPr>
              <a:t>## Warning in geom_point(aes(x = 1.5, y = 1.5 * gamma), color = "red", size = 4): All aesthetics have length 1, but the data has 100 rows.
## ℹ Please consider using `annotate()` or provide this layer with data containing
##   a single row.</a:t>
            </a:r>
          </a:p>
        </p:txBody>
      </p:sp>
      <p:pic>
        <p:nvPicPr>
          <p:cNvPr descr="MRI_Physics_I_files/figure-pptx/larmor_code-1.pn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Visual: The Larmor Relationship</a:t>
            </a:r>
          </a:p>
        </p:txBody>
      </p:sp>
      <p:sp>
        <p:nvSpPr>
          <p:cNvPr id="4" name="Text Placeholder 3"/>
          <p:cNvSpPr>
            <a:spLocks noGrp="1"/>
          </p:cNvSpPr>
          <p:nvPr>
            <p:ph idx="2" sz="half" type="body"/>
          </p:nvPr>
        </p:nvSpPr>
        <p:spPr/>
        <p:txBody>
          <a:bodyPr/>
          <a:lstStyle/>
          <a:p>
            <a:pPr lvl="0" indent="0">
              <a:buNone/>
            </a:pPr>
            <a:r>
              <a:rPr>
                <a:latin typeface="Courier"/>
              </a:rPr>
              <a:t>## Warning in geom_point(aes(x = 1.5, y = 1.5 * gamma), color = "red", size = 4): All aesthetics have length 1, but the data has 100 rows.
## ℹ Please consider using `annotate()` or provide this layer with data containing
##   a single row.</a:t>
            </a:r>
          </a:p>
        </p:txBody>
      </p:sp>
      <p:pic>
        <p:nvPicPr>
          <p:cNvPr descr="MRI_Physics_I_files/figure-pptx/larmor_plot-1.pn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Factors Influencing Signal Strength</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b="1"/>
                  <a:t>Field Strength (</a:t>
                </a:r>
                <a14:m>
                  <m:oMath xmlns:m="http://schemas.openxmlformats.org/officeDocument/2006/math">
                    <m:r>
                      <m:t>B</m:t>
                    </m:r>
                  </m:oMath>
                </a14:m>
                <a:r>
                  <a:rPr b="1"/>
                  <a:t>):</a:t>
                </a:r>
                <a:r>
                  <a:rPr/>
                  <a:t> Higher fields yield higher frequencies and amplitudes.</a:t>
                </a:r>
              </a:p>
              <a:p>
                <a:pPr lvl="0"/>
                <a:r>
                  <a:rPr b="1"/>
                  <a:t>Flip Angle (</a:t>
                </a:r>
                <a14:m>
                  <m:oMath xmlns:m="http://schemas.openxmlformats.org/officeDocument/2006/math">
                    <m:r>
                      <m:t>θ</m:t>
                    </m:r>
                  </m:oMath>
                </a14:m>
                <a:r>
                  <a:rPr b="1"/>
                  <a:t>):</a:t>
                </a:r>
                <a:r>
                  <a:rPr/>
                  <a:t> Signal is maximized when spins are perpendicular (90°) to the main field.</a:t>
                </a:r>
              </a:p>
              <a:p>
                <a:pPr lvl="0"/>
                <a:r>
                  <a:rPr b="1"/>
                  <a:t>Number of Spins (</a:t>
                </a:r>
                <a14:m>
                  <m:oMath xmlns:m="http://schemas.openxmlformats.org/officeDocument/2006/math">
                    <m:r>
                      <m:t>N</m:t>
                    </m:r>
                  </m:oMath>
                </a14:m>
                <a:r>
                  <a:rPr b="1"/>
                  <a:t>):</a:t>
                </a:r>
                <a:r>
                  <a:rPr/>
                  <a:t> More spins participating results in a stronger collective signal.</a:t>
                </a:r>
              </a:p>
            </p:txBody>
          </p:sp>
        </mc:Choice>
      </mc:AlternateContent>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3: Relaxation &amp; Tissue Contrast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T2 Relaxation (Signal Decay)</a:t>
            </a:r>
          </a:p>
        </p:txBody>
      </p:sp>
      <p:sp>
        <p:nvSpPr>
          <p:cNvPr id="3" name="Content Placeholder 2"/>
          <p:cNvSpPr>
            <a:spLocks noGrp="1"/>
          </p:cNvSpPr>
          <p:nvPr>
            <p:ph idx="1"/>
          </p:nvPr>
        </p:nvSpPr>
        <p:spPr/>
        <p:txBody>
          <a:bodyPr/>
          <a:lstStyle/>
          <a:p>
            <a:pPr lvl="0"/>
            <a:r>
              <a:rPr/>
              <a:t>Spins begin in sync (coherent) but naturally dephase due to magnetic interactions.</a:t>
            </a:r>
          </a:p>
          <a:p>
            <a:pPr lvl="0"/>
            <a:r>
              <a:rPr b="1"/>
              <a:t>T2:</a:t>
            </a:r>
            <a:r>
              <a:rPr/>
              <a:t> The time constant describing how quickly the transverse signal dies away.</a:t>
            </a:r>
          </a:p>
          <a:p>
            <a:pPr lvl="0"/>
            <a:r>
              <a:rPr b="1"/>
              <a:t>Short T2:</a:t>
            </a:r>
            <a:r>
              <a:rPr/>
              <a:t> Solids/semi-solids (bone, lung) decay quickly.</a:t>
            </a:r>
          </a:p>
          <a:p>
            <a:pPr lvl="0"/>
            <a:r>
              <a:rPr b="1"/>
              <a:t>Long T2:</a:t>
            </a:r>
            <a:r>
              <a:rPr/>
              <a:t> Fluids (water, blood) maintain signal longer.</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 Code: T2 Decay Comparison</a:t>
            </a:r>
          </a:p>
        </p:txBody>
      </p:sp>
      <p:sp>
        <p:nvSpPr>
          <p:cNvPr id="4" name="Text Placeholder 3"/>
          <p:cNvSpPr>
            <a:spLocks noGrp="1"/>
          </p:cNvSpPr>
          <p:nvPr>
            <p:ph idx="2" sz="half" type="body"/>
          </p:nvPr>
        </p:nvSpPr>
        <p:spPr/>
        <p:txBody>
          <a:bodyPr/>
          <a:lstStyle/>
          <a:p>
            <a:pPr lvl="0" indent="0">
              <a:buNone/>
            </a:pPr>
            <a:r>
              <a:rPr i="1">
                <a:solidFill>
                  <a:srgbClr val="60A0B0"/>
                </a:solidFill>
                <a:latin typeface="Courier"/>
              </a:rPr>
              <a:t># Time points</a:t>
            </a:r>
            <a:br/>
            <a:r>
              <a:rPr>
                <a:latin typeface="Courier"/>
              </a:rPr>
              <a:t>t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A070"/>
                </a:solidFill>
                <a:latin typeface="Courier"/>
              </a:rPr>
              <a:t>0</a:t>
            </a:r>
            <a:r>
              <a:rPr>
                <a:latin typeface="Courier"/>
              </a:rPr>
              <a:t>, </a:t>
            </a:r>
            <a:r>
              <a:rPr>
                <a:solidFill>
                  <a:srgbClr val="40A070"/>
                </a:solidFill>
                <a:latin typeface="Courier"/>
              </a:rPr>
              <a:t>250</a:t>
            </a:r>
            <a:r>
              <a:rPr>
                <a:latin typeface="Courier"/>
              </a:rPr>
              <a:t>, </a:t>
            </a:r>
            <a:r>
              <a:rPr>
                <a:solidFill>
                  <a:srgbClr val="7D9029"/>
                </a:solidFill>
                <a:latin typeface="Courier"/>
              </a:rPr>
              <a:t>length.out =</a:t>
            </a:r>
            <a:r>
              <a:rPr>
                <a:latin typeface="Courier"/>
              </a:rPr>
              <a:t> </a:t>
            </a:r>
            <a:r>
              <a:rPr>
                <a:solidFill>
                  <a:srgbClr val="40A070"/>
                </a:solidFill>
                <a:latin typeface="Courier"/>
              </a:rPr>
              <a:t>500</a:t>
            </a:r>
            <a:r>
              <a:rPr>
                <a:latin typeface="Courier"/>
              </a:rPr>
              <a:t>)</a:t>
            </a:r>
            <a:br/>
            <a:br/>
            <a:r>
              <a:rPr i="1">
                <a:solidFill>
                  <a:srgbClr val="60A0B0"/>
                </a:solidFill>
                <a:latin typeface="Courier"/>
              </a:rPr>
              <a:t># T2 values for different tissues</a:t>
            </a:r>
            <a:br/>
            <a:r>
              <a:rPr>
                <a:latin typeface="Courier"/>
              </a:rPr>
              <a:t>t2_water </a:t>
            </a:r>
            <a:r>
              <a:rPr>
                <a:solidFill>
                  <a:srgbClr val="007020"/>
                </a:solidFill>
                <a:latin typeface="Courier"/>
              </a:rPr>
              <a:t>&lt;-</a:t>
            </a:r>
            <a:r>
              <a:rPr>
                <a:latin typeface="Courier"/>
              </a:rPr>
              <a:t> </a:t>
            </a:r>
            <a:r>
              <a:rPr>
                <a:solidFill>
                  <a:srgbClr val="40A070"/>
                </a:solidFill>
                <a:latin typeface="Courier"/>
              </a:rPr>
              <a:t>80</a:t>
            </a:r>
            <a:r>
              <a:rPr>
                <a:latin typeface="Courier"/>
              </a:rPr>
              <a:t>  </a:t>
            </a:r>
            <a:r>
              <a:rPr i="1">
                <a:solidFill>
                  <a:srgbClr val="60A0B0"/>
                </a:solidFill>
                <a:latin typeface="Courier"/>
              </a:rPr>
              <a:t># Long T2</a:t>
            </a:r>
            <a:br/>
            <a:r>
              <a:rPr>
                <a:latin typeface="Courier"/>
              </a:rPr>
              <a:t>t2_solid </a:t>
            </a:r>
            <a:r>
              <a:rPr>
                <a:solidFill>
                  <a:srgbClr val="007020"/>
                </a:solidFill>
                <a:latin typeface="Courier"/>
              </a:rPr>
              <a:t>&lt;-</a:t>
            </a:r>
            <a:r>
              <a:rPr>
                <a:latin typeface="Courier"/>
              </a:rPr>
              <a:t> </a:t>
            </a:r>
            <a:r>
              <a:rPr>
                <a:solidFill>
                  <a:srgbClr val="40A070"/>
                </a:solidFill>
                <a:latin typeface="Courier"/>
              </a:rPr>
              <a:t>20</a:t>
            </a:r>
            <a:r>
              <a:rPr>
                <a:latin typeface="Courier"/>
              </a:rPr>
              <a:t>  </a:t>
            </a:r>
            <a:r>
              <a:rPr i="1">
                <a:solidFill>
                  <a:srgbClr val="60A0B0"/>
                </a:solidFill>
                <a:latin typeface="Courier"/>
              </a:rPr>
              <a:t># Short T2</a:t>
            </a:r>
            <a:br/>
            <a:br/>
            <a:r>
              <a:rPr i="1">
                <a:solidFill>
                  <a:srgbClr val="60A0B0"/>
                </a:solidFill>
                <a:latin typeface="Courier"/>
              </a:rPr>
              <a:t># Calculate signal decay</a:t>
            </a:r>
            <a:br/>
            <a:r>
              <a:rPr>
                <a:latin typeface="Courier"/>
              </a:rPr>
              <a:t>signal_water </a:t>
            </a:r>
            <a:r>
              <a:rPr>
                <a:solidFill>
                  <a:srgbClr val="007020"/>
                </a:solidFill>
                <a:latin typeface="Courier"/>
              </a:rPr>
              <a:t>&lt;-</a:t>
            </a:r>
            <a:r>
              <a:rPr>
                <a:latin typeface="Courier"/>
              </a:rPr>
              <a:t> </a:t>
            </a:r>
            <a:r>
              <a:rPr>
                <a:solidFill>
                  <a:srgbClr val="06287E"/>
                </a:solidFill>
                <a:latin typeface="Courier"/>
              </a:rPr>
              <a:t>exp</a:t>
            </a:r>
            <a:r>
              <a:rPr>
                <a:latin typeface="Courier"/>
              </a:rPr>
              <a:t>(</a:t>
            </a:r>
            <a:r>
              <a:rPr>
                <a:solidFill>
                  <a:srgbClr val="4070A0"/>
                </a:solidFill>
                <a:latin typeface="Courier"/>
              </a:rPr>
              <a:t>-</a:t>
            </a:r>
            <a:r>
              <a:rPr>
                <a:latin typeface="Courier"/>
              </a:rPr>
              <a:t>t </a:t>
            </a:r>
            <a:r>
              <a:rPr>
                <a:solidFill>
                  <a:srgbClr val="4070A0"/>
                </a:solidFill>
                <a:latin typeface="Courier"/>
              </a:rPr>
              <a:t>/</a:t>
            </a:r>
            <a:r>
              <a:rPr>
                <a:latin typeface="Courier"/>
              </a:rPr>
              <a:t> t2_water)</a:t>
            </a:r>
            <a:br/>
            <a:r>
              <a:rPr>
                <a:latin typeface="Courier"/>
              </a:rPr>
              <a:t>signal_solid </a:t>
            </a:r>
            <a:r>
              <a:rPr>
                <a:solidFill>
                  <a:srgbClr val="007020"/>
                </a:solidFill>
                <a:latin typeface="Courier"/>
              </a:rPr>
              <a:t>&lt;-</a:t>
            </a:r>
            <a:r>
              <a:rPr>
                <a:latin typeface="Courier"/>
              </a:rPr>
              <a:t> </a:t>
            </a:r>
            <a:r>
              <a:rPr>
                <a:solidFill>
                  <a:srgbClr val="06287E"/>
                </a:solidFill>
                <a:latin typeface="Courier"/>
              </a:rPr>
              <a:t>exp</a:t>
            </a:r>
            <a:r>
              <a:rPr>
                <a:latin typeface="Courier"/>
              </a:rPr>
              <a:t>(</a:t>
            </a:r>
            <a:r>
              <a:rPr>
                <a:solidFill>
                  <a:srgbClr val="4070A0"/>
                </a:solidFill>
                <a:latin typeface="Courier"/>
              </a:rPr>
              <a:t>-</a:t>
            </a:r>
            <a:r>
              <a:rPr>
                <a:latin typeface="Courier"/>
              </a:rPr>
              <a:t>t </a:t>
            </a:r>
            <a:r>
              <a:rPr>
                <a:solidFill>
                  <a:srgbClr val="4070A0"/>
                </a:solidFill>
                <a:latin typeface="Courier"/>
              </a:rPr>
              <a:t>/</a:t>
            </a:r>
            <a:r>
              <a:rPr>
                <a:latin typeface="Courier"/>
              </a:rPr>
              <a:t> t2_solid)</a:t>
            </a:r>
            <a:br/>
            <a:br/>
            <a:r>
              <a:rPr>
                <a:latin typeface="Courier"/>
              </a:rPr>
              <a:t>t2_data </a:t>
            </a:r>
            <a:r>
              <a:rPr>
                <a:solidFill>
                  <a:srgbClr val="007020"/>
                </a:solidFill>
                <a:latin typeface="Courier"/>
              </a:rPr>
              <a:t>&lt;-</a:t>
            </a:r>
            <a:r>
              <a:rPr>
                <a:latin typeface="Courier"/>
              </a:rPr>
              <a:t> </a:t>
            </a:r>
            <a:r>
              <a:rPr>
                <a:solidFill>
                  <a:srgbClr val="06287E"/>
                </a:solidFill>
                <a:latin typeface="Courier"/>
              </a:rPr>
              <a:t>data.frame</a:t>
            </a:r>
            <a:r>
              <a:rPr>
                <a:latin typeface="Courier"/>
              </a:rPr>
              <a:t>(</a:t>
            </a:r>
            <a:r>
              <a:rPr>
                <a:solidFill>
                  <a:srgbClr val="7D9029"/>
                </a:solidFill>
                <a:latin typeface="Courier"/>
              </a:rPr>
              <a:t>Time =</a:t>
            </a:r>
            <a:r>
              <a:rPr>
                <a:latin typeface="Courier"/>
              </a:rPr>
              <a:t> t, </a:t>
            </a:r>
            <a:r>
              <a:rPr>
                <a:solidFill>
                  <a:srgbClr val="7D9029"/>
                </a:solidFill>
                <a:latin typeface="Courier"/>
              </a:rPr>
              <a:t>Water =</a:t>
            </a:r>
            <a:r>
              <a:rPr>
                <a:latin typeface="Courier"/>
              </a:rPr>
              <a:t> signal_water, </a:t>
            </a:r>
            <a:r>
              <a:rPr>
                <a:solidFill>
                  <a:srgbClr val="7D9029"/>
                </a:solidFill>
                <a:latin typeface="Courier"/>
              </a:rPr>
              <a:t>Solid =</a:t>
            </a:r>
            <a:r>
              <a:rPr>
                <a:latin typeface="Courier"/>
              </a:rPr>
              <a:t> signal_solid) </a:t>
            </a:r>
            <a:r>
              <a:rPr>
                <a:solidFill>
                  <a:srgbClr val="4070A0"/>
                </a:solidFill>
                <a:latin typeface="Courier"/>
              </a:rPr>
              <a:t>%&gt;%</a:t>
            </a:r>
            <a:br/>
            <a:r>
              <a:rPr>
                <a:latin typeface="Courier"/>
              </a:rPr>
              <a:t>  </a:t>
            </a:r>
            <a:r>
              <a:rPr>
                <a:solidFill>
                  <a:srgbClr val="06287E"/>
                </a:solidFill>
                <a:latin typeface="Courier"/>
              </a:rPr>
              <a:t>pivot_longer</a:t>
            </a:r>
            <a:r>
              <a:rPr>
                <a:latin typeface="Courier"/>
              </a:rPr>
              <a:t>(</a:t>
            </a:r>
            <a:r>
              <a:rPr>
                <a:solidFill>
                  <a:srgbClr val="7D9029"/>
                </a:solidFill>
                <a:latin typeface="Courier"/>
              </a:rPr>
              <a:t>cols =</a:t>
            </a:r>
            <a:r>
              <a:rPr>
                <a:latin typeface="Courier"/>
              </a:rPr>
              <a:t> </a:t>
            </a:r>
            <a:r>
              <a:rPr>
                <a:solidFill>
                  <a:srgbClr val="06287E"/>
                </a:solidFill>
                <a:latin typeface="Courier"/>
              </a:rPr>
              <a:t>c</a:t>
            </a:r>
            <a:r>
              <a:rPr>
                <a:latin typeface="Courier"/>
              </a:rPr>
              <a:t>(</a:t>
            </a:r>
            <a:r>
              <a:rPr>
                <a:solidFill>
                  <a:srgbClr val="4070A0"/>
                </a:solidFill>
                <a:latin typeface="Courier"/>
              </a:rPr>
              <a:t>"Water"</a:t>
            </a:r>
            <a:r>
              <a:rPr>
                <a:latin typeface="Courier"/>
              </a:rPr>
              <a:t>, </a:t>
            </a:r>
            <a:r>
              <a:rPr>
                <a:solidFill>
                  <a:srgbClr val="4070A0"/>
                </a:solidFill>
                <a:latin typeface="Courier"/>
              </a:rPr>
              <a:t>"Solid"</a:t>
            </a:r>
            <a:r>
              <a:rPr>
                <a:latin typeface="Courier"/>
              </a:rPr>
              <a:t>), </a:t>
            </a:r>
            <a:r>
              <a:rPr>
                <a:solidFill>
                  <a:srgbClr val="7D9029"/>
                </a:solidFill>
                <a:latin typeface="Courier"/>
              </a:rPr>
              <a:t>names_to =</a:t>
            </a:r>
            <a:r>
              <a:rPr>
                <a:latin typeface="Courier"/>
              </a:rPr>
              <a:t> </a:t>
            </a:r>
            <a:r>
              <a:rPr>
                <a:solidFill>
                  <a:srgbClr val="4070A0"/>
                </a:solidFill>
                <a:latin typeface="Courier"/>
              </a:rPr>
              <a:t>"Tissue"</a:t>
            </a:r>
            <a:r>
              <a:rPr>
                <a:latin typeface="Courier"/>
              </a:rPr>
              <a:t>, </a:t>
            </a:r>
            <a:r>
              <a:rPr>
                <a:solidFill>
                  <a:srgbClr val="7D9029"/>
                </a:solidFill>
                <a:latin typeface="Courier"/>
              </a:rPr>
              <a:t>values_to =</a:t>
            </a:r>
            <a:r>
              <a:rPr>
                <a:latin typeface="Courier"/>
              </a:rPr>
              <a:t> </a:t>
            </a:r>
            <a:r>
              <a:rPr>
                <a:solidFill>
                  <a:srgbClr val="4070A0"/>
                </a:solidFill>
                <a:latin typeface="Courier"/>
              </a:rPr>
              <a:t>"Signal"</a:t>
            </a:r>
            <a:r>
              <a:rPr>
                <a:latin typeface="Courier"/>
              </a:rPr>
              <a:t>)</a:t>
            </a:r>
            <a:br/>
            <a:br/>
            <a:r>
              <a:rPr i="1">
                <a:solidFill>
                  <a:srgbClr val="60A0B0"/>
                </a:solidFill>
                <a:latin typeface="Courier"/>
              </a:rPr>
              <a:t># Echo Time (TE)</a:t>
            </a:r>
            <a:br/>
            <a:r>
              <a:rPr>
                <a:latin typeface="Courier"/>
              </a:rPr>
              <a:t>te </a:t>
            </a:r>
            <a:r>
              <a:rPr>
                <a:solidFill>
                  <a:srgbClr val="007020"/>
                </a:solidFill>
                <a:latin typeface="Courier"/>
              </a:rPr>
              <a:t>&lt;-</a:t>
            </a:r>
            <a:r>
              <a:rPr>
                <a:latin typeface="Courier"/>
              </a:rPr>
              <a:t> </a:t>
            </a:r>
            <a:r>
              <a:rPr>
                <a:solidFill>
                  <a:srgbClr val="40A070"/>
                </a:solidFill>
                <a:latin typeface="Courier"/>
              </a:rPr>
              <a:t>75</a:t>
            </a:r>
            <a:br/>
            <a:br/>
            <a:r>
              <a:rPr>
                <a:solidFill>
                  <a:srgbClr val="06287E"/>
                </a:solidFill>
                <a:latin typeface="Courier"/>
              </a:rPr>
              <a:t>ggplot</a:t>
            </a:r>
            <a:r>
              <a:rPr>
                <a:latin typeface="Courier"/>
              </a:rPr>
              <a:t>(t2_data, </a:t>
            </a:r>
            <a:r>
              <a:rPr>
                <a:solidFill>
                  <a:srgbClr val="06287E"/>
                </a:solidFill>
                <a:latin typeface="Courier"/>
              </a:rPr>
              <a:t>aes</a:t>
            </a:r>
            <a:r>
              <a:rPr>
                <a:latin typeface="Courier"/>
              </a:rPr>
              <a:t>(</a:t>
            </a:r>
            <a:r>
              <a:rPr>
                <a:solidFill>
                  <a:srgbClr val="7D9029"/>
                </a:solidFill>
                <a:latin typeface="Courier"/>
              </a:rPr>
              <a:t>x =</a:t>
            </a:r>
            <a:r>
              <a:rPr>
                <a:latin typeface="Courier"/>
              </a:rPr>
              <a:t> Time, </a:t>
            </a:r>
            <a:r>
              <a:rPr>
                <a:solidFill>
                  <a:srgbClr val="7D9029"/>
                </a:solidFill>
                <a:latin typeface="Courier"/>
              </a:rPr>
              <a:t>y =</a:t>
            </a:r>
            <a:r>
              <a:rPr>
                <a:latin typeface="Courier"/>
              </a:rPr>
              <a:t> Signal, </a:t>
            </a:r>
            <a:r>
              <a:rPr>
                <a:solidFill>
                  <a:srgbClr val="7D9029"/>
                </a:solidFill>
                <a:latin typeface="Courier"/>
              </a:rPr>
              <a:t>color =</a:t>
            </a:r>
            <a:r>
              <a:rPr>
                <a:latin typeface="Courier"/>
              </a:rPr>
              <a:t> Tissue)) </a:t>
            </a:r>
            <a:r>
              <a:rPr>
                <a:solidFill>
                  <a:srgbClr val="4070A0"/>
                </a:solidFill>
                <a:latin typeface="Courier"/>
              </a:rPr>
              <a:t>+</a:t>
            </a:r>
            <a:br/>
            <a:r>
              <a:rPr>
                <a:latin typeface="Courier"/>
              </a:rPr>
              <a:t>  </a:t>
            </a:r>
            <a:r>
              <a:rPr>
                <a:solidFill>
                  <a:srgbClr val="06287E"/>
                </a:solidFill>
                <a:latin typeface="Courier"/>
              </a:rPr>
              <a:t>geom_line</a:t>
            </a:r>
            <a:r>
              <a:rPr>
                <a:latin typeface="Courier"/>
              </a:rPr>
              <a:t>(</a:t>
            </a:r>
            <a:r>
              <a:rPr>
                <a:solidFill>
                  <a:srgbClr val="7D9029"/>
                </a:solidFill>
                <a:latin typeface="Courier"/>
              </a:rPr>
              <a:t>linewidth =</a:t>
            </a:r>
            <a:r>
              <a:rPr>
                <a:latin typeface="Courier"/>
              </a:rPr>
              <a:t> </a:t>
            </a:r>
            <a:r>
              <a:rPr>
                <a:solidFill>
                  <a:srgbClr val="40A070"/>
                </a:solidFill>
                <a:latin typeface="Courier"/>
              </a:rPr>
              <a:t>1.5</a:t>
            </a:r>
            <a:r>
              <a:rPr>
                <a:latin typeface="Courier"/>
              </a:rPr>
              <a:t>) </a:t>
            </a:r>
            <a:r>
              <a:rPr>
                <a:solidFill>
                  <a:srgbClr val="4070A0"/>
                </a:solidFill>
                <a:latin typeface="Courier"/>
              </a:rPr>
              <a:t>+</a:t>
            </a:r>
            <a:br/>
            <a:r>
              <a:rPr>
                <a:latin typeface="Courier"/>
              </a:rPr>
              <a:t>  </a:t>
            </a:r>
            <a:r>
              <a:rPr>
                <a:solidFill>
                  <a:srgbClr val="06287E"/>
                </a:solidFill>
                <a:latin typeface="Courier"/>
              </a:rPr>
              <a:t>geom_vline</a:t>
            </a:r>
            <a:r>
              <a:rPr>
                <a:latin typeface="Courier"/>
              </a:rPr>
              <a:t>(</a:t>
            </a:r>
            <a:r>
              <a:rPr>
                <a:solidFill>
                  <a:srgbClr val="7D9029"/>
                </a:solidFill>
                <a:latin typeface="Courier"/>
              </a:rPr>
              <a:t>xintercept =</a:t>
            </a:r>
            <a:r>
              <a:rPr>
                <a:latin typeface="Courier"/>
              </a:rPr>
              <a:t> te, </a:t>
            </a:r>
            <a:r>
              <a:rPr>
                <a:solidFill>
                  <a:srgbClr val="7D9029"/>
                </a:solidFill>
                <a:latin typeface="Courier"/>
              </a:rPr>
              <a:t>linetype =</a:t>
            </a:r>
            <a:r>
              <a:rPr>
                <a:latin typeface="Courier"/>
              </a:rPr>
              <a:t> </a:t>
            </a:r>
            <a:r>
              <a:rPr>
                <a:solidFill>
                  <a:srgbClr val="4070A0"/>
                </a:solidFill>
                <a:latin typeface="Courier"/>
              </a:rPr>
              <a:t>"dashed"</a:t>
            </a:r>
            <a:r>
              <a:rPr>
                <a:latin typeface="Courier"/>
              </a:rPr>
              <a:t>, </a:t>
            </a:r>
            <a:r>
              <a:rPr>
                <a:solidFill>
                  <a:srgbClr val="7D9029"/>
                </a:solidFill>
                <a:latin typeface="Courier"/>
              </a:rPr>
              <a:t>color =</a:t>
            </a:r>
            <a:r>
              <a:rPr>
                <a:latin typeface="Courier"/>
              </a:rPr>
              <a:t> </a:t>
            </a:r>
            <a:r>
              <a:rPr>
                <a:solidFill>
                  <a:srgbClr val="4070A0"/>
                </a:solidFill>
                <a:latin typeface="Courier"/>
              </a:rPr>
              <a:t>"black"</a:t>
            </a:r>
            <a:r>
              <a:rPr>
                <a:latin typeface="Courier"/>
              </a:rPr>
              <a:t>, </a:t>
            </a:r>
            <a:r>
              <a:rPr>
                <a:solidFill>
                  <a:srgbClr val="7D9029"/>
                </a:solidFill>
                <a:latin typeface="Courier"/>
              </a:rPr>
              <a:t>linewidth =</a:t>
            </a:r>
            <a:r>
              <a:rPr>
                <a:latin typeface="Courier"/>
              </a:rPr>
              <a:t> </a:t>
            </a:r>
            <a:r>
              <a:rPr>
                <a:solidFill>
                  <a:srgbClr val="40A070"/>
                </a:solidFill>
                <a:latin typeface="Courier"/>
              </a:rPr>
              <a:t>1</a:t>
            </a:r>
            <a:r>
              <a:rPr>
                <a:latin typeface="Courier"/>
              </a:rPr>
              <a:t>) </a:t>
            </a:r>
            <a:r>
              <a:rPr>
                <a:solidFill>
                  <a:srgbClr val="4070A0"/>
                </a:solidFill>
                <a:latin typeface="Courier"/>
              </a:rPr>
              <a:t>+</a:t>
            </a:r>
            <a:br/>
            <a:r>
              <a:rPr>
                <a:latin typeface="Courier"/>
              </a:rPr>
              <a:t>  </a:t>
            </a:r>
            <a:r>
              <a:rPr>
                <a:solidFill>
                  <a:srgbClr val="06287E"/>
                </a:solidFill>
                <a:latin typeface="Courier"/>
              </a:rPr>
              <a:t>annotate</a:t>
            </a:r>
            <a:r>
              <a:rPr>
                <a:latin typeface="Courier"/>
              </a:rPr>
              <a:t>(</a:t>
            </a:r>
            <a:r>
              <a:rPr>
                <a:solidFill>
                  <a:srgbClr val="4070A0"/>
                </a:solidFill>
                <a:latin typeface="Courier"/>
              </a:rPr>
              <a:t>"text"</a:t>
            </a:r>
            <a:r>
              <a:rPr>
                <a:latin typeface="Courier"/>
              </a:rPr>
              <a:t>, </a:t>
            </a:r>
            <a:r>
              <a:rPr>
                <a:solidFill>
                  <a:srgbClr val="7D9029"/>
                </a:solidFill>
                <a:latin typeface="Courier"/>
              </a:rPr>
              <a:t>x =</a:t>
            </a:r>
            <a:r>
              <a:rPr>
                <a:latin typeface="Courier"/>
              </a:rPr>
              <a:t> te </a:t>
            </a:r>
            <a:r>
              <a:rPr>
                <a:solidFill>
                  <a:srgbClr val="4070A0"/>
                </a:solidFill>
                <a:latin typeface="Courier"/>
              </a:rPr>
              <a:t>+</a:t>
            </a:r>
            <a:r>
              <a:rPr>
                <a:latin typeface="Courier"/>
              </a:rPr>
              <a:t> </a:t>
            </a:r>
            <a:r>
              <a:rPr>
                <a:solidFill>
                  <a:srgbClr val="40A070"/>
                </a:solidFill>
                <a:latin typeface="Courier"/>
              </a:rPr>
              <a:t>30</a:t>
            </a:r>
            <a:r>
              <a:rPr>
                <a:latin typeface="Courier"/>
              </a:rPr>
              <a:t>, </a:t>
            </a:r>
            <a:r>
              <a:rPr>
                <a:solidFill>
                  <a:srgbClr val="7D9029"/>
                </a:solidFill>
                <a:latin typeface="Courier"/>
              </a:rPr>
              <a:t>y =</a:t>
            </a:r>
            <a:r>
              <a:rPr>
                <a:latin typeface="Courier"/>
              </a:rPr>
              <a:t> </a:t>
            </a:r>
            <a:r>
              <a:rPr>
                <a:solidFill>
                  <a:srgbClr val="40A070"/>
                </a:solidFill>
                <a:latin typeface="Courier"/>
              </a:rPr>
              <a:t>0.8</a:t>
            </a:r>
            <a:r>
              <a:rPr>
                <a:latin typeface="Courier"/>
              </a:rPr>
              <a:t>, </a:t>
            </a:r>
            <a:r>
              <a:rPr>
                <a:solidFill>
                  <a:srgbClr val="7D9029"/>
                </a:solidFill>
                <a:latin typeface="Courier"/>
              </a:rPr>
              <a:t>label =</a:t>
            </a:r>
            <a:r>
              <a:rPr>
                <a:latin typeface="Courier"/>
              </a:rPr>
              <a:t> </a:t>
            </a:r>
            <a:r>
              <a:rPr>
                <a:solidFill>
                  <a:srgbClr val="06287E"/>
                </a:solidFill>
                <a:latin typeface="Courier"/>
              </a:rPr>
              <a:t>paste</a:t>
            </a:r>
            <a:r>
              <a:rPr>
                <a:latin typeface="Courier"/>
              </a:rPr>
              <a:t>(</a:t>
            </a:r>
            <a:r>
              <a:rPr>
                <a:solidFill>
                  <a:srgbClr val="4070A0"/>
                </a:solidFill>
                <a:latin typeface="Courier"/>
              </a:rPr>
              <a:t>"TE ="</a:t>
            </a:r>
            <a:r>
              <a:rPr>
                <a:latin typeface="Courier"/>
              </a:rPr>
              <a:t>, te, </a:t>
            </a:r>
            <a:r>
              <a:rPr>
                <a:solidFill>
                  <a:srgbClr val="4070A0"/>
                </a:solidFill>
                <a:latin typeface="Courier"/>
              </a:rPr>
              <a:t>"ms"</a:t>
            </a:r>
            <a:r>
              <a:rPr>
                <a:latin typeface="Courier"/>
              </a:rPr>
              <a:t>), </a:t>
            </a:r>
            <a:r>
              <a:rPr>
                <a:solidFill>
                  <a:srgbClr val="7D9029"/>
                </a:solidFill>
                <a:latin typeface="Courier"/>
              </a:rPr>
              <a:t>color =</a:t>
            </a:r>
            <a:r>
              <a:rPr>
                <a:latin typeface="Courier"/>
              </a:rPr>
              <a:t> </a:t>
            </a:r>
            <a:r>
              <a:rPr>
                <a:solidFill>
                  <a:srgbClr val="4070A0"/>
                </a:solidFill>
                <a:latin typeface="Courier"/>
              </a:rPr>
              <a:t>"black"</a:t>
            </a:r>
            <a:r>
              <a:rPr>
                <a:latin typeface="Courier"/>
              </a:rPr>
              <a:t>, </a:t>
            </a:r>
            <a:r>
              <a:rPr>
                <a:solidFill>
                  <a:srgbClr val="7D9029"/>
                </a:solidFill>
                <a:latin typeface="Courier"/>
              </a:rPr>
              <a:t>size =</a:t>
            </a:r>
            <a:r>
              <a:rPr>
                <a:latin typeface="Courier"/>
              </a:rPr>
              <a:t> </a:t>
            </a:r>
            <a:r>
              <a:rPr>
                <a:solidFill>
                  <a:srgbClr val="40A070"/>
                </a:solidFill>
                <a:latin typeface="Courier"/>
              </a:rPr>
              <a:t>5</a:t>
            </a:r>
            <a:r>
              <a:rPr>
                <a:latin typeface="Courier"/>
              </a:rPr>
              <a:t>) </a:t>
            </a:r>
            <a:r>
              <a:rPr>
                <a:solidFill>
                  <a:srgbClr val="4070A0"/>
                </a:solidFill>
                <a:latin typeface="Courier"/>
              </a:rPr>
              <a:t>+</a:t>
            </a:r>
            <a:br/>
            <a:r>
              <a:rPr>
                <a:latin typeface="Courier"/>
              </a:rPr>
              <a:t>  </a:t>
            </a:r>
            <a:r>
              <a:rPr>
                <a:solidFill>
                  <a:srgbClr val="06287E"/>
                </a:solidFill>
                <a:latin typeface="Courier"/>
              </a:rPr>
              <a:t>labs</a:t>
            </a:r>
            <a:r>
              <a:rPr>
                <a:latin typeface="Courier"/>
              </a:rPr>
              <a:t>(</a:t>
            </a:r>
            <a:br/>
            <a:r>
              <a:rPr>
                <a:latin typeface="Courier"/>
              </a:rPr>
              <a:t>    </a:t>
            </a:r>
            <a:r>
              <a:rPr>
                <a:solidFill>
                  <a:srgbClr val="7D9029"/>
                </a:solidFill>
                <a:latin typeface="Courier"/>
              </a:rPr>
              <a:t>title =</a:t>
            </a:r>
            <a:r>
              <a:rPr>
                <a:latin typeface="Courier"/>
              </a:rPr>
              <a:t> </a:t>
            </a:r>
            <a:r>
              <a:rPr>
                <a:solidFill>
                  <a:srgbClr val="4070A0"/>
                </a:solidFill>
                <a:latin typeface="Courier"/>
              </a:rPr>
              <a:t>"T2 Decay: Tissue Contrast"</a:t>
            </a:r>
            <a:r>
              <a:rPr>
                <a:latin typeface="Courier"/>
              </a:rPr>
              <a:t>,</a:t>
            </a:r>
            <a:br/>
            <a:r>
              <a:rPr>
                <a:latin typeface="Courier"/>
              </a:rPr>
              <a:t>    </a:t>
            </a:r>
            <a:r>
              <a:rPr>
                <a:solidFill>
                  <a:srgbClr val="7D9029"/>
                </a:solidFill>
                <a:latin typeface="Courier"/>
              </a:rPr>
              <a:t>x =</a:t>
            </a:r>
            <a:r>
              <a:rPr>
                <a:latin typeface="Courier"/>
              </a:rPr>
              <a:t> </a:t>
            </a:r>
            <a:r>
              <a:rPr>
                <a:solidFill>
                  <a:srgbClr val="4070A0"/>
                </a:solidFill>
                <a:latin typeface="Courier"/>
              </a:rPr>
              <a:t>"Time (ms)"</a:t>
            </a:r>
            <a:r>
              <a:rPr>
                <a:latin typeface="Courier"/>
              </a:rPr>
              <a:t>,</a:t>
            </a:r>
            <a:br/>
            <a:r>
              <a:rPr>
                <a:latin typeface="Courier"/>
              </a:rPr>
              <a:t>    </a:t>
            </a:r>
            <a:r>
              <a:rPr>
                <a:solidFill>
                  <a:srgbClr val="7D9029"/>
                </a:solidFill>
                <a:latin typeface="Courier"/>
              </a:rPr>
              <a:t>y =</a:t>
            </a:r>
            <a:r>
              <a:rPr>
                <a:latin typeface="Courier"/>
              </a:rPr>
              <a:t> </a:t>
            </a:r>
            <a:r>
              <a:rPr>
                <a:solidFill>
                  <a:srgbClr val="4070A0"/>
                </a:solidFill>
                <a:latin typeface="Courier"/>
              </a:rPr>
              <a:t>"Transverse Signal Amplitude"</a:t>
            </a:r>
            <a:br/>
            <a:r>
              <a:rPr>
                <a:latin typeface="Courier"/>
              </a:rPr>
              <a:t>  ) </a:t>
            </a:r>
            <a:r>
              <a:rPr>
                <a:solidFill>
                  <a:srgbClr val="4070A0"/>
                </a:solidFill>
                <a:latin typeface="Courier"/>
              </a:rPr>
              <a:t>+</a:t>
            </a:r>
            <a:br/>
            <a:r>
              <a:rPr>
                <a:latin typeface="Courier"/>
              </a:rPr>
              <a:t>  </a:t>
            </a:r>
            <a:r>
              <a:rPr>
                <a:solidFill>
                  <a:srgbClr val="06287E"/>
                </a:solidFill>
                <a:latin typeface="Courier"/>
              </a:rPr>
              <a:t>scale_color_manual</a:t>
            </a:r>
            <a:r>
              <a:rPr>
                <a:latin typeface="Courier"/>
              </a:rPr>
              <a:t>(</a:t>
            </a:r>
            <a:r>
              <a:rPr>
                <a:solidFill>
                  <a:srgbClr val="7D9029"/>
                </a:solidFill>
                <a:latin typeface="Courier"/>
              </a:rPr>
              <a:t>values =</a:t>
            </a:r>
            <a:r>
              <a:rPr>
                <a:latin typeface="Courier"/>
              </a:rPr>
              <a:t> </a:t>
            </a:r>
            <a:r>
              <a:rPr>
                <a:solidFill>
                  <a:srgbClr val="06287E"/>
                </a:solidFill>
                <a:latin typeface="Courier"/>
              </a:rPr>
              <a:t>c</a:t>
            </a:r>
            <a:r>
              <a:rPr>
                <a:latin typeface="Courier"/>
              </a:rPr>
              <a:t>(</a:t>
            </a:r>
            <a:r>
              <a:rPr>
                <a:solidFill>
                  <a:srgbClr val="4070A0"/>
                </a:solidFill>
                <a:latin typeface="Courier"/>
              </a:rPr>
              <a:t>"Solid"</a:t>
            </a:r>
            <a:r>
              <a:rPr>
                <a:latin typeface="Courier"/>
              </a:rPr>
              <a:t> </a:t>
            </a:r>
            <a:r>
              <a:rPr>
                <a:solidFill>
                  <a:srgbClr val="007020"/>
                </a:solidFill>
                <a:latin typeface="Courier"/>
              </a:rPr>
              <a:t>=</a:t>
            </a:r>
            <a:r>
              <a:rPr>
                <a:latin typeface="Courier"/>
              </a:rPr>
              <a:t> </a:t>
            </a:r>
            <a:r>
              <a:rPr>
                <a:solidFill>
                  <a:srgbClr val="4070A0"/>
                </a:solidFill>
                <a:latin typeface="Courier"/>
              </a:rPr>
              <a:t>"orangered"</a:t>
            </a:r>
            <a:r>
              <a:rPr>
                <a:latin typeface="Courier"/>
              </a:rPr>
              <a:t>, </a:t>
            </a:r>
            <a:r>
              <a:rPr>
                <a:solidFill>
                  <a:srgbClr val="4070A0"/>
                </a:solidFill>
                <a:latin typeface="Courier"/>
              </a:rPr>
              <a:t>"Water"</a:t>
            </a:r>
            <a:r>
              <a:rPr>
                <a:latin typeface="Courier"/>
              </a:rPr>
              <a:t> </a:t>
            </a:r>
            <a:r>
              <a:rPr>
                <a:solidFill>
                  <a:srgbClr val="007020"/>
                </a:solidFill>
                <a:latin typeface="Courier"/>
              </a:rPr>
              <a:t>=</a:t>
            </a:r>
            <a:r>
              <a:rPr>
                <a:latin typeface="Courier"/>
              </a:rPr>
              <a:t> </a:t>
            </a:r>
            <a:r>
              <a:rPr>
                <a:solidFill>
                  <a:srgbClr val="4070A0"/>
                </a:solidFill>
                <a:latin typeface="Courier"/>
              </a:rPr>
              <a:t>"royalblue"</a:t>
            </a:r>
            <a:r>
              <a:rPr>
                <a:latin typeface="Courier"/>
              </a:rPr>
              <a:t>)) </a:t>
            </a:r>
            <a:r>
              <a:rPr>
                <a:solidFill>
                  <a:srgbClr val="4070A0"/>
                </a:solidFill>
                <a:latin typeface="Courier"/>
              </a:rPr>
              <a:t>+</a:t>
            </a:r>
            <a:br/>
            <a:r>
              <a:rPr>
                <a:latin typeface="Courier"/>
              </a:rPr>
              <a:t>  </a:t>
            </a:r>
            <a:r>
              <a:rPr>
                <a:solidFill>
                  <a:srgbClr val="06287E"/>
                </a:solidFill>
                <a:latin typeface="Courier"/>
              </a:rPr>
              <a:t>theme_minimal</a:t>
            </a:r>
            <a:r>
              <a:rPr>
                <a:latin typeface="Courier"/>
              </a:rPr>
              <a:t>(</a:t>
            </a:r>
            <a:r>
              <a:rPr>
                <a:solidFill>
                  <a:srgbClr val="7D9029"/>
                </a:solidFill>
                <a:latin typeface="Courier"/>
              </a:rPr>
              <a:t>base_size =</a:t>
            </a:r>
            <a:r>
              <a:rPr>
                <a:latin typeface="Courier"/>
              </a:rPr>
              <a:t> </a:t>
            </a:r>
            <a:r>
              <a:rPr>
                <a:solidFill>
                  <a:srgbClr val="40A070"/>
                </a:solidFill>
                <a:latin typeface="Courier"/>
              </a:rPr>
              <a:t>15</a:t>
            </a:r>
            <a:r>
              <a:rPr>
                <a:latin typeface="Courier"/>
              </a:rPr>
              <a:t>) </a:t>
            </a:r>
            <a:r>
              <a:rPr>
                <a:solidFill>
                  <a:srgbClr val="4070A0"/>
                </a:solidFill>
                <a:latin typeface="Courier"/>
              </a:rPr>
              <a:t>+</a:t>
            </a:r>
            <a:br/>
            <a:r>
              <a:rPr>
                <a:latin typeface="Courier"/>
              </a:rPr>
              <a:t>  </a:t>
            </a:r>
            <a:r>
              <a:rPr>
                <a:solidFill>
                  <a:srgbClr val="06287E"/>
                </a:solidFill>
                <a:latin typeface="Courier"/>
              </a:rPr>
              <a:t>theme</a:t>
            </a:r>
            <a:r>
              <a:rPr>
                <a:latin typeface="Courier"/>
              </a:rPr>
              <a:t>(</a:t>
            </a:r>
            <a:r>
              <a:rPr>
                <a:solidFill>
                  <a:srgbClr val="7D9029"/>
                </a:solidFill>
                <a:latin typeface="Courier"/>
              </a:rPr>
              <a:t>plot.title =</a:t>
            </a:r>
            <a:r>
              <a:rPr>
                <a:latin typeface="Courier"/>
              </a:rPr>
              <a:t> </a:t>
            </a:r>
            <a:r>
              <a:rPr>
                <a:solidFill>
                  <a:srgbClr val="06287E"/>
                </a:solidFill>
                <a:latin typeface="Courier"/>
              </a:rPr>
              <a:t>element_text</a:t>
            </a:r>
            <a:r>
              <a:rPr>
                <a:latin typeface="Courier"/>
              </a:rPr>
              <a:t>(</a:t>
            </a:r>
            <a:r>
              <a:rPr>
                <a:solidFill>
                  <a:srgbClr val="7D9029"/>
                </a:solidFill>
                <a:latin typeface="Courier"/>
              </a:rPr>
              <a:t>hjust =</a:t>
            </a:r>
            <a:r>
              <a:rPr>
                <a:latin typeface="Courier"/>
              </a:rPr>
              <a:t> </a:t>
            </a:r>
            <a:r>
              <a:rPr>
                <a:solidFill>
                  <a:srgbClr val="40A070"/>
                </a:solidFill>
                <a:latin typeface="Courier"/>
              </a:rPr>
              <a:t>0.5</a:t>
            </a:r>
            <a:r>
              <a:rPr>
                <a:latin typeface="Courier"/>
              </a:rPr>
              <a:t>), </a:t>
            </a:r>
            <a:r>
              <a:rPr>
                <a:solidFill>
                  <a:srgbClr val="7D9029"/>
                </a:solidFill>
                <a:latin typeface="Courier"/>
              </a:rPr>
              <a:t>legend.position =</a:t>
            </a:r>
            <a:r>
              <a:rPr>
                <a:latin typeface="Courier"/>
              </a:rPr>
              <a:t> </a:t>
            </a:r>
            <a:r>
              <a:rPr>
                <a:solidFill>
                  <a:srgbClr val="4070A0"/>
                </a:solidFill>
                <a:latin typeface="Courier"/>
              </a:rPr>
              <a:t>"top"</a:t>
            </a:r>
            <a:r>
              <a:rPr>
                <a:latin typeface="Courier"/>
              </a:rPr>
              <a:t>)</a:t>
            </a:r>
          </a:p>
        </p:txBody>
      </p:sp>
      <p:pic>
        <p:nvPicPr>
          <p:cNvPr descr="MRI_Physics_I_files/figure-pptx/t2_decay_code-1.pn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Visual: T2 Decay Comparison</a:t>
            </a:r>
          </a:p>
        </p:txBody>
      </p:sp>
      <p:pic>
        <p:nvPicPr>
          <p:cNvPr descr="MRI_Physics_I_files/figure-pptx/t2_decay_plot-1.png" id="0" name="Picture 1"/>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T2 Weighting &amp; TE (Echo Time)</a:t>
            </a:r>
          </a:p>
        </p:txBody>
      </p:sp>
      <p:sp>
        <p:nvSpPr>
          <p:cNvPr id="3" name="Content Placeholder 2"/>
          <p:cNvSpPr>
            <a:spLocks noGrp="1"/>
          </p:cNvSpPr>
          <p:nvPr>
            <p:ph idx="1"/>
          </p:nvPr>
        </p:nvSpPr>
        <p:spPr/>
        <p:txBody>
          <a:bodyPr/>
          <a:lstStyle/>
          <a:p>
            <a:pPr lvl="0"/>
            <a:r>
              <a:rPr b="1"/>
              <a:t>Rotating Frame:</a:t>
            </a:r>
            <a:r>
              <a:rPr/>
              <a:t> We simplify the math by ignoring the precession rotation (makes the signal look like a simple decay curve).</a:t>
            </a:r>
          </a:p>
          <a:p>
            <a:pPr lvl="0"/>
            <a:r>
              <a:rPr b="1"/>
              <a:t>Echo Time (TE):</a:t>
            </a:r>
            <a:r>
              <a:rPr/>
              <a:t> The time the scanner waits after excitation to measure the signal.</a:t>
            </a:r>
          </a:p>
          <a:p>
            <a:pPr lvl="0"/>
            <a:r>
              <a:rPr b="1"/>
              <a:t>T2 Weighting:</a:t>
            </a:r>
            <a:r>
              <a:rPr/>
              <a:t> Waiting for a long TE makes tissues with short T2s (bone) appear dark and long T2s (fluid) appear bright.</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Spin Density Weighting</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At Time = 0, decay hasn’t happened yet.</a:t>
                </a:r>
              </a:p>
              <a:p>
                <a:pPr lvl="0"/>
                <a:r>
                  <a:rPr/>
                  <a:t>Contrast depends only on </a:t>
                </a:r>
                <a14:m>
                  <m:oMath xmlns:m="http://schemas.openxmlformats.org/officeDocument/2006/math">
                    <m:r>
                      <m:t>N</m:t>
                    </m:r>
                  </m:oMath>
                </a14:m>
                <a:r>
                  <a:rPr/>
                  <a:t> (number of protons).</a:t>
                </a:r>
              </a:p>
              <a:p>
                <a:pPr lvl="0"/>
                <a:r>
                  <a:rPr b="1"/>
                  <a:t>Spin Density Image:</a:t>
                </a:r>
                <a:r>
                  <a:rPr/>
                  <a:t> Produced by using a very short TE and very long TR.</a:t>
                </a:r>
              </a:p>
              <a:p>
                <a:pPr lvl="0"/>
                <a:r>
                  <a:rPr/>
                  <a:t>Generally offers lower contrast in the brain compared to T1 or T2 weighting.</a:t>
                </a:r>
              </a:p>
            </p:txBody>
          </p:sp>
        </mc:Choice>
      </mc:AlternateContent>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T1 Relaxation (Signal Recovery)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b="1"/>
                  <a:t>Longitudinal Magnetization:</a:t>
                </a:r>
                <a:r>
                  <a:rPr/>
                  <a:t> Grows back along the Z-axis (upward).</a:t>
                </a:r>
              </a:p>
              <a:p>
                <a:pPr lvl="0"/>
                <a:r>
                  <a:rPr b="1"/>
                  <a:t>T1:</a:t>
                </a:r>
                <a:r>
                  <a:rPr/>
                  <a:t> The time constant for how fast magnetization recovers to equilibrium (</a:t>
                </a:r>
                <a14:m>
                  <m:oMath xmlns:m="http://schemas.openxmlformats.org/officeDocument/2006/math">
                    <m:sSub>
                      <m:e>
                        <m:r>
                          <m:t>M</m:t>
                        </m:r>
                      </m:e>
                      <m:sub>
                        <m:r>
                          <m:t>0</m:t>
                        </m:r>
                      </m:sub>
                    </m:sSub>
                  </m:oMath>
                </a14:m>
                <a:r>
                  <a:rPr/>
                  <a:t>).</a:t>
                </a:r>
              </a:p>
              <a:p>
                <a:pPr lvl="0"/>
                <a:r>
                  <a:rPr/>
                  <a:t>Follows the math of a “charging capacitor”:</a:t>
                </a:r>
              </a:p>
              <a:p>
                <a:pPr lvl="0"/>
                <a14:m>
                  <m:oMathPara xmlns:m="http://schemas.openxmlformats.org/officeDocument/2006/math">
                    <m:oMathParaPr>
                      <m:jc m:val="center"/>
                    </m:oMathParaPr>
                    <m:oMath>
                      <m:sSub>
                        <m:e>
                          <m:r>
                            <m:t>M</m:t>
                          </m:r>
                        </m:e>
                        <m:sub>
                          <m:r>
                            <m:t>z</m:t>
                          </m:r>
                        </m:sub>
                      </m:sSub>
                      <m:d>
                        <m:dPr>
                          <m:begChr m:val="("/>
                          <m:endChr m:val=")"/>
                          <m:sepChr m:val=""/>
                          <m:grow/>
                        </m:dPr>
                        <m:e>
                          <m:r>
                            <m:t>t</m:t>
                          </m:r>
                        </m:e>
                      </m:d>
                      <m:r>
                        <m:rPr>
                          <m:sty m:val="p"/>
                        </m:rPr>
                        <m:t>=</m:t>
                      </m:r>
                      <m:sSub>
                        <m:e>
                          <m:r>
                            <m:t>M</m:t>
                          </m:r>
                        </m:e>
                        <m:sub>
                          <m:r>
                            <m:t>0</m:t>
                          </m:r>
                        </m:sub>
                      </m:sSub>
                      <m:d>
                        <m:dPr>
                          <m:begChr m:val="("/>
                          <m:endChr m:val=")"/>
                          <m:sepChr m:val=""/>
                          <m:grow/>
                        </m:dPr>
                        <m:e>
                          <m:r>
                            <m:t>1</m:t>
                          </m:r>
                          <m:r>
                            <m:rPr>
                              <m:sty m:val="p"/>
                            </m:rPr>
                            <m:t>−</m:t>
                          </m:r>
                          <m:sSup>
                            <m:e>
                              <m:r>
                                <m:t>e</m:t>
                              </m:r>
                            </m:e>
                            <m:sup>
                              <m:r>
                                <m:rPr>
                                  <m:sty m:val="p"/>
                                </m:rPr>
                                <m:t>−</m:t>
                              </m:r>
                              <m:r>
                                <m:t>t</m:t>
                              </m:r>
                              <m:r>
                                <m:rPr>
                                  <m:sty m:val="p"/>
                                </m:rPr>
                                <m:t>/</m:t>
                              </m:r>
                              <m:r>
                                <m:t>T</m:t>
                              </m:r>
                              <m:r>
                                <m:t>1</m:t>
                              </m:r>
                            </m:sup>
                          </m:sSup>
                        </m:e>
                      </m:d>
                    </m:oMath>
                  </m:oMathPara>
                </a14:m>
              </a:p>
              <a:p>
                <a:pPr lvl="0"/>
                <a:r>
                  <a:rPr b="1"/>
                  <a:t>TR (Repetition Time):</a:t>
                </a:r>
                <a:r>
                  <a:rPr/>
                  <a:t> The time the scanner waits between excitations.</a:t>
                </a:r>
              </a:p>
            </p:txBody>
          </p:sp>
        </mc:Choice>
      </mc:AlternateContent>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 Code: T1 Recovery Comparison</a:t>
            </a:r>
          </a:p>
        </p:txBody>
      </p:sp>
      <p:sp>
        <p:nvSpPr>
          <p:cNvPr id="4" name="Text Placeholder 3"/>
          <p:cNvSpPr>
            <a:spLocks noGrp="1"/>
          </p:cNvSpPr>
          <p:nvPr>
            <p:ph idx="2" sz="half" type="body"/>
          </p:nvPr>
        </p:nvSpPr>
        <p:spPr/>
        <p:txBody>
          <a:bodyPr/>
          <a:lstStyle/>
          <a:p>
            <a:pPr lvl="0" indent="0">
              <a:buNone/>
            </a:pPr>
            <a:r>
              <a:rPr i="1">
                <a:solidFill>
                  <a:srgbClr val="60A0B0"/>
                </a:solidFill>
                <a:latin typeface="Courier"/>
              </a:rPr>
              <a:t># Time points</a:t>
            </a:r>
            <a:br/>
            <a:r>
              <a:rPr>
                <a:latin typeface="Courier"/>
              </a:rPr>
              <a:t>t </a:t>
            </a:r>
            <a:r>
              <a:rPr>
                <a:solidFill>
                  <a:srgbClr val="007020"/>
                </a:solidFill>
                <a:latin typeface="Courier"/>
              </a:rPr>
              <a:t>&lt;-</a:t>
            </a:r>
            <a:r>
              <a:rPr>
                <a:latin typeface="Courier"/>
              </a:rPr>
              <a:t> </a:t>
            </a:r>
            <a:r>
              <a:rPr>
                <a:solidFill>
                  <a:srgbClr val="06287E"/>
                </a:solidFill>
                <a:latin typeface="Courier"/>
              </a:rPr>
              <a:t>seq</a:t>
            </a:r>
            <a:r>
              <a:rPr>
                <a:latin typeface="Courier"/>
              </a:rPr>
              <a:t>(</a:t>
            </a:r>
            <a:r>
              <a:rPr>
                <a:solidFill>
                  <a:srgbClr val="40A070"/>
                </a:solidFill>
                <a:latin typeface="Courier"/>
              </a:rPr>
              <a:t>0</a:t>
            </a:r>
            <a:r>
              <a:rPr>
                <a:latin typeface="Courier"/>
              </a:rPr>
              <a:t>, </a:t>
            </a:r>
            <a:r>
              <a:rPr>
                <a:solidFill>
                  <a:srgbClr val="40A070"/>
                </a:solidFill>
                <a:latin typeface="Courier"/>
              </a:rPr>
              <a:t>2000</a:t>
            </a:r>
            <a:r>
              <a:rPr>
                <a:latin typeface="Courier"/>
              </a:rPr>
              <a:t>, </a:t>
            </a:r>
            <a:r>
              <a:rPr>
                <a:solidFill>
                  <a:srgbClr val="7D9029"/>
                </a:solidFill>
                <a:latin typeface="Courier"/>
              </a:rPr>
              <a:t>length.out =</a:t>
            </a:r>
            <a:r>
              <a:rPr>
                <a:latin typeface="Courier"/>
              </a:rPr>
              <a:t> </a:t>
            </a:r>
            <a:r>
              <a:rPr>
                <a:solidFill>
                  <a:srgbClr val="40A070"/>
                </a:solidFill>
                <a:latin typeface="Courier"/>
              </a:rPr>
              <a:t>500</a:t>
            </a:r>
            <a:r>
              <a:rPr>
                <a:latin typeface="Courier"/>
              </a:rPr>
              <a:t>)</a:t>
            </a:r>
            <a:br/>
            <a:br/>
            <a:r>
              <a:rPr i="1">
                <a:solidFill>
                  <a:srgbClr val="60A0B0"/>
                </a:solidFill>
                <a:latin typeface="Courier"/>
              </a:rPr>
              <a:t># T1 values</a:t>
            </a:r>
            <a:br/>
            <a:r>
              <a:rPr>
                <a:latin typeface="Courier"/>
              </a:rPr>
              <a:t>t1_fat </a:t>
            </a:r>
            <a:r>
              <a:rPr>
                <a:solidFill>
                  <a:srgbClr val="007020"/>
                </a:solidFill>
                <a:latin typeface="Courier"/>
              </a:rPr>
              <a:t>&lt;-</a:t>
            </a:r>
            <a:r>
              <a:rPr>
                <a:latin typeface="Courier"/>
              </a:rPr>
              <a:t> </a:t>
            </a:r>
            <a:r>
              <a:rPr>
                <a:solidFill>
                  <a:srgbClr val="40A070"/>
                </a:solidFill>
                <a:latin typeface="Courier"/>
              </a:rPr>
              <a:t>250</a:t>
            </a:r>
            <a:r>
              <a:rPr>
                <a:latin typeface="Courier"/>
              </a:rPr>
              <a:t>  </a:t>
            </a:r>
            <a:r>
              <a:rPr i="1">
                <a:solidFill>
                  <a:srgbClr val="60A0B0"/>
                </a:solidFill>
                <a:latin typeface="Courier"/>
              </a:rPr>
              <a:t># Short T1</a:t>
            </a:r>
            <a:br/>
            <a:r>
              <a:rPr>
                <a:latin typeface="Courier"/>
              </a:rPr>
              <a:t>t1_csf </a:t>
            </a:r>
            <a:r>
              <a:rPr>
                <a:solidFill>
                  <a:srgbClr val="007020"/>
                </a:solidFill>
                <a:latin typeface="Courier"/>
              </a:rPr>
              <a:t>&lt;-</a:t>
            </a:r>
            <a:r>
              <a:rPr>
                <a:latin typeface="Courier"/>
              </a:rPr>
              <a:t> </a:t>
            </a:r>
            <a:r>
              <a:rPr>
                <a:solidFill>
                  <a:srgbClr val="40A070"/>
                </a:solidFill>
                <a:latin typeface="Courier"/>
              </a:rPr>
              <a:t>1000</a:t>
            </a:r>
            <a:r>
              <a:rPr>
                <a:latin typeface="Courier"/>
              </a:rPr>
              <a:t> </a:t>
            </a:r>
            <a:r>
              <a:rPr i="1">
                <a:solidFill>
                  <a:srgbClr val="60A0B0"/>
                </a:solidFill>
                <a:latin typeface="Courier"/>
              </a:rPr>
              <a:t># Long T1</a:t>
            </a:r>
            <a:br/>
            <a:br/>
            <a:r>
              <a:rPr i="1">
                <a:solidFill>
                  <a:srgbClr val="60A0B0"/>
                </a:solidFill>
                <a:latin typeface="Courier"/>
              </a:rPr>
              <a:t># Calculate signal recovery</a:t>
            </a:r>
            <a:br/>
            <a:r>
              <a:rPr>
                <a:latin typeface="Courier"/>
              </a:rPr>
              <a:t>signal_fat </a:t>
            </a:r>
            <a:r>
              <a:rPr>
                <a:solidFill>
                  <a:srgbClr val="007020"/>
                </a:solidFill>
                <a:latin typeface="Courier"/>
              </a:rPr>
              <a:t>&lt;-</a:t>
            </a:r>
            <a:r>
              <a:rPr>
                <a:latin typeface="Courier"/>
              </a:rPr>
              <a:t> </a:t>
            </a:r>
            <a:r>
              <a:rPr>
                <a:solidFill>
                  <a:srgbClr val="40A070"/>
                </a:solidFill>
                <a:latin typeface="Courier"/>
              </a:rPr>
              <a:t>1</a:t>
            </a:r>
            <a:r>
              <a:rPr>
                <a:latin typeface="Courier"/>
              </a:rPr>
              <a:t> </a:t>
            </a:r>
            <a:r>
              <a:rPr>
                <a:solidFill>
                  <a:srgbClr val="4070A0"/>
                </a:solidFill>
                <a:latin typeface="Courier"/>
              </a:rPr>
              <a:t>-</a:t>
            </a:r>
            <a:r>
              <a:rPr>
                <a:latin typeface="Courier"/>
              </a:rPr>
              <a:t> </a:t>
            </a:r>
            <a:r>
              <a:rPr>
                <a:solidFill>
                  <a:srgbClr val="06287E"/>
                </a:solidFill>
                <a:latin typeface="Courier"/>
              </a:rPr>
              <a:t>exp</a:t>
            </a:r>
            <a:r>
              <a:rPr>
                <a:latin typeface="Courier"/>
              </a:rPr>
              <a:t>(</a:t>
            </a:r>
            <a:r>
              <a:rPr>
                <a:solidFill>
                  <a:srgbClr val="4070A0"/>
                </a:solidFill>
                <a:latin typeface="Courier"/>
              </a:rPr>
              <a:t>-</a:t>
            </a:r>
            <a:r>
              <a:rPr>
                <a:latin typeface="Courier"/>
              </a:rPr>
              <a:t>t </a:t>
            </a:r>
            <a:r>
              <a:rPr>
                <a:solidFill>
                  <a:srgbClr val="4070A0"/>
                </a:solidFill>
                <a:latin typeface="Courier"/>
              </a:rPr>
              <a:t>/</a:t>
            </a:r>
            <a:r>
              <a:rPr>
                <a:latin typeface="Courier"/>
              </a:rPr>
              <a:t> t1_fat)</a:t>
            </a:r>
            <a:br/>
            <a:r>
              <a:rPr>
                <a:latin typeface="Courier"/>
              </a:rPr>
              <a:t>signal_csf </a:t>
            </a:r>
            <a:r>
              <a:rPr>
                <a:solidFill>
                  <a:srgbClr val="007020"/>
                </a:solidFill>
                <a:latin typeface="Courier"/>
              </a:rPr>
              <a:t>&lt;-</a:t>
            </a:r>
            <a:r>
              <a:rPr>
                <a:latin typeface="Courier"/>
              </a:rPr>
              <a:t> </a:t>
            </a:r>
            <a:r>
              <a:rPr>
                <a:solidFill>
                  <a:srgbClr val="40A070"/>
                </a:solidFill>
                <a:latin typeface="Courier"/>
              </a:rPr>
              <a:t>1</a:t>
            </a:r>
            <a:r>
              <a:rPr>
                <a:latin typeface="Courier"/>
              </a:rPr>
              <a:t> </a:t>
            </a:r>
            <a:r>
              <a:rPr>
                <a:solidFill>
                  <a:srgbClr val="4070A0"/>
                </a:solidFill>
                <a:latin typeface="Courier"/>
              </a:rPr>
              <a:t>-</a:t>
            </a:r>
            <a:r>
              <a:rPr>
                <a:latin typeface="Courier"/>
              </a:rPr>
              <a:t> </a:t>
            </a:r>
            <a:r>
              <a:rPr>
                <a:solidFill>
                  <a:srgbClr val="06287E"/>
                </a:solidFill>
                <a:latin typeface="Courier"/>
              </a:rPr>
              <a:t>exp</a:t>
            </a:r>
            <a:r>
              <a:rPr>
                <a:latin typeface="Courier"/>
              </a:rPr>
              <a:t>(</a:t>
            </a:r>
            <a:r>
              <a:rPr>
                <a:solidFill>
                  <a:srgbClr val="4070A0"/>
                </a:solidFill>
                <a:latin typeface="Courier"/>
              </a:rPr>
              <a:t>-</a:t>
            </a:r>
            <a:r>
              <a:rPr>
                <a:latin typeface="Courier"/>
              </a:rPr>
              <a:t>t </a:t>
            </a:r>
            <a:r>
              <a:rPr>
                <a:solidFill>
                  <a:srgbClr val="4070A0"/>
                </a:solidFill>
                <a:latin typeface="Courier"/>
              </a:rPr>
              <a:t>/</a:t>
            </a:r>
            <a:r>
              <a:rPr>
                <a:latin typeface="Courier"/>
              </a:rPr>
              <a:t> t1_csf)</a:t>
            </a:r>
            <a:br/>
            <a:br/>
            <a:r>
              <a:rPr>
                <a:latin typeface="Courier"/>
              </a:rPr>
              <a:t>t1_data </a:t>
            </a:r>
            <a:r>
              <a:rPr>
                <a:solidFill>
                  <a:srgbClr val="007020"/>
                </a:solidFill>
                <a:latin typeface="Courier"/>
              </a:rPr>
              <a:t>&lt;-</a:t>
            </a:r>
            <a:r>
              <a:rPr>
                <a:latin typeface="Courier"/>
              </a:rPr>
              <a:t> </a:t>
            </a:r>
            <a:r>
              <a:rPr>
                <a:solidFill>
                  <a:srgbClr val="06287E"/>
                </a:solidFill>
                <a:latin typeface="Courier"/>
              </a:rPr>
              <a:t>data.frame</a:t>
            </a:r>
            <a:r>
              <a:rPr>
                <a:latin typeface="Courier"/>
              </a:rPr>
              <a:t>(</a:t>
            </a:r>
            <a:r>
              <a:rPr>
                <a:solidFill>
                  <a:srgbClr val="7D9029"/>
                </a:solidFill>
                <a:latin typeface="Courier"/>
              </a:rPr>
              <a:t>Time =</a:t>
            </a:r>
            <a:r>
              <a:rPr>
                <a:latin typeface="Courier"/>
              </a:rPr>
              <a:t> t, </a:t>
            </a:r>
            <a:r>
              <a:rPr>
                <a:solidFill>
                  <a:srgbClr val="7D9029"/>
                </a:solidFill>
                <a:latin typeface="Courier"/>
              </a:rPr>
              <a:t>Fat =</a:t>
            </a:r>
            <a:r>
              <a:rPr>
                <a:latin typeface="Courier"/>
              </a:rPr>
              <a:t> signal_fat, </a:t>
            </a:r>
            <a:r>
              <a:rPr>
                <a:solidFill>
                  <a:srgbClr val="7D9029"/>
                </a:solidFill>
                <a:latin typeface="Courier"/>
              </a:rPr>
              <a:t>CSF =</a:t>
            </a:r>
            <a:r>
              <a:rPr>
                <a:latin typeface="Courier"/>
              </a:rPr>
              <a:t> signal_csf) </a:t>
            </a:r>
            <a:r>
              <a:rPr>
                <a:solidFill>
                  <a:srgbClr val="4070A0"/>
                </a:solidFill>
                <a:latin typeface="Courier"/>
              </a:rPr>
              <a:t>%&gt;%</a:t>
            </a:r>
            <a:br/>
            <a:r>
              <a:rPr>
                <a:latin typeface="Courier"/>
              </a:rPr>
              <a:t>  </a:t>
            </a:r>
            <a:r>
              <a:rPr>
                <a:solidFill>
                  <a:srgbClr val="06287E"/>
                </a:solidFill>
                <a:latin typeface="Courier"/>
              </a:rPr>
              <a:t>pivot_longer</a:t>
            </a:r>
            <a:r>
              <a:rPr>
                <a:latin typeface="Courier"/>
              </a:rPr>
              <a:t>(</a:t>
            </a:r>
            <a:r>
              <a:rPr>
                <a:solidFill>
                  <a:srgbClr val="7D9029"/>
                </a:solidFill>
                <a:latin typeface="Courier"/>
              </a:rPr>
              <a:t>cols =</a:t>
            </a:r>
            <a:r>
              <a:rPr>
                <a:latin typeface="Courier"/>
              </a:rPr>
              <a:t> </a:t>
            </a:r>
            <a:r>
              <a:rPr>
                <a:solidFill>
                  <a:srgbClr val="06287E"/>
                </a:solidFill>
                <a:latin typeface="Courier"/>
              </a:rPr>
              <a:t>c</a:t>
            </a:r>
            <a:r>
              <a:rPr>
                <a:latin typeface="Courier"/>
              </a:rPr>
              <a:t>(</a:t>
            </a:r>
            <a:r>
              <a:rPr>
                <a:solidFill>
                  <a:srgbClr val="4070A0"/>
                </a:solidFill>
                <a:latin typeface="Courier"/>
              </a:rPr>
              <a:t>"Fat"</a:t>
            </a:r>
            <a:r>
              <a:rPr>
                <a:latin typeface="Courier"/>
              </a:rPr>
              <a:t>, </a:t>
            </a:r>
            <a:r>
              <a:rPr>
                <a:solidFill>
                  <a:srgbClr val="4070A0"/>
                </a:solidFill>
                <a:latin typeface="Courier"/>
              </a:rPr>
              <a:t>"CSF"</a:t>
            </a:r>
            <a:r>
              <a:rPr>
                <a:latin typeface="Courier"/>
              </a:rPr>
              <a:t>), </a:t>
            </a:r>
            <a:r>
              <a:rPr>
                <a:solidFill>
                  <a:srgbClr val="7D9029"/>
                </a:solidFill>
                <a:latin typeface="Courier"/>
              </a:rPr>
              <a:t>names_to =</a:t>
            </a:r>
            <a:r>
              <a:rPr>
                <a:latin typeface="Courier"/>
              </a:rPr>
              <a:t> </a:t>
            </a:r>
            <a:r>
              <a:rPr>
                <a:solidFill>
                  <a:srgbClr val="4070A0"/>
                </a:solidFill>
                <a:latin typeface="Courier"/>
              </a:rPr>
              <a:t>"Tissue"</a:t>
            </a:r>
            <a:r>
              <a:rPr>
                <a:latin typeface="Courier"/>
              </a:rPr>
              <a:t>, </a:t>
            </a:r>
            <a:r>
              <a:rPr>
                <a:solidFill>
                  <a:srgbClr val="7D9029"/>
                </a:solidFill>
                <a:latin typeface="Courier"/>
              </a:rPr>
              <a:t>values_to =</a:t>
            </a:r>
            <a:r>
              <a:rPr>
                <a:latin typeface="Courier"/>
              </a:rPr>
              <a:t> </a:t>
            </a:r>
            <a:r>
              <a:rPr>
                <a:solidFill>
                  <a:srgbClr val="4070A0"/>
                </a:solidFill>
                <a:latin typeface="Courier"/>
              </a:rPr>
              <a:t>"Signal"</a:t>
            </a:r>
            <a:r>
              <a:rPr>
                <a:latin typeface="Courier"/>
              </a:rPr>
              <a:t>)</a:t>
            </a:r>
            <a:br/>
            <a:br/>
            <a:r>
              <a:rPr i="1">
                <a:solidFill>
                  <a:srgbClr val="60A0B0"/>
                </a:solidFill>
                <a:latin typeface="Courier"/>
              </a:rPr>
              <a:t># Repetition Time (TR)</a:t>
            </a:r>
            <a:br/>
            <a:r>
              <a:rPr>
                <a:latin typeface="Courier"/>
              </a:rPr>
              <a:t>tr </a:t>
            </a:r>
            <a:r>
              <a:rPr>
                <a:solidFill>
                  <a:srgbClr val="007020"/>
                </a:solidFill>
                <a:latin typeface="Courier"/>
              </a:rPr>
              <a:t>&lt;-</a:t>
            </a:r>
            <a:r>
              <a:rPr>
                <a:latin typeface="Courier"/>
              </a:rPr>
              <a:t> </a:t>
            </a:r>
            <a:r>
              <a:rPr>
                <a:solidFill>
                  <a:srgbClr val="40A070"/>
                </a:solidFill>
                <a:latin typeface="Courier"/>
              </a:rPr>
              <a:t>500</a:t>
            </a:r>
            <a:br/>
            <a:br/>
            <a:r>
              <a:rPr>
                <a:solidFill>
                  <a:srgbClr val="06287E"/>
                </a:solidFill>
                <a:latin typeface="Courier"/>
              </a:rPr>
              <a:t>ggplot</a:t>
            </a:r>
            <a:r>
              <a:rPr>
                <a:latin typeface="Courier"/>
              </a:rPr>
              <a:t>(t1_data, </a:t>
            </a:r>
            <a:r>
              <a:rPr>
                <a:solidFill>
                  <a:srgbClr val="06287E"/>
                </a:solidFill>
                <a:latin typeface="Courier"/>
              </a:rPr>
              <a:t>aes</a:t>
            </a:r>
            <a:r>
              <a:rPr>
                <a:latin typeface="Courier"/>
              </a:rPr>
              <a:t>(</a:t>
            </a:r>
            <a:r>
              <a:rPr>
                <a:solidFill>
                  <a:srgbClr val="7D9029"/>
                </a:solidFill>
                <a:latin typeface="Courier"/>
              </a:rPr>
              <a:t>x =</a:t>
            </a:r>
            <a:r>
              <a:rPr>
                <a:latin typeface="Courier"/>
              </a:rPr>
              <a:t> Time, </a:t>
            </a:r>
            <a:r>
              <a:rPr>
                <a:solidFill>
                  <a:srgbClr val="7D9029"/>
                </a:solidFill>
                <a:latin typeface="Courier"/>
              </a:rPr>
              <a:t>y =</a:t>
            </a:r>
            <a:r>
              <a:rPr>
                <a:latin typeface="Courier"/>
              </a:rPr>
              <a:t> Signal, </a:t>
            </a:r>
            <a:r>
              <a:rPr>
                <a:solidFill>
                  <a:srgbClr val="7D9029"/>
                </a:solidFill>
                <a:latin typeface="Courier"/>
              </a:rPr>
              <a:t>color =</a:t>
            </a:r>
            <a:r>
              <a:rPr>
                <a:latin typeface="Courier"/>
              </a:rPr>
              <a:t> Tissue)) </a:t>
            </a:r>
            <a:r>
              <a:rPr>
                <a:solidFill>
                  <a:srgbClr val="4070A0"/>
                </a:solidFill>
                <a:latin typeface="Courier"/>
              </a:rPr>
              <a:t>+</a:t>
            </a:r>
            <a:br/>
            <a:r>
              <a:rPr>
                <a:latin typeface="Courier"/>
              </a:rPr>
              <a:t>  </a:t>
            </a:r>
            <a:r>
              <a:rPr>
                <a:solidFill>
                  <a:srgbClr val="06287E"/>
                </a:solidFill>
                <a:latin typeface="Courier"/>
              </a:rPr>
              <a:t>geom_line</a:t>
            </a:r>
            <a:r>
              <a:rPr>
                <a:latin typeface="Courier"/>
              </a:rPr>
              <a:t>(</a:t>
            </a:r>
            <a:r>
              <a:rPr>
                <a:solidFill>
                  <a:srgbClr val="7D9029"/>
                </a:solidFill>
                <a:latin typeface="Courier"/>
              </a:rPr>
              <a:t>linewidth =</a:t>
            </a:r>
            <a:r>
              <a:rPr>
                <a:latin typeface="Courier"/>
              </a:rPr>
              <a:t> </a:t>
            </a:r>
            <a:r>
              <a:rPr>
                <a:solidFill>
                  <a:srgbClr val="40A070"/>
                </a:solidFill>
                <a:latin typeface="Courier"/>
              </a:rPr>
              <a:t>1.5</a:t>
            </a:r>
            <a:r>
              <a:rPr>
                <a:latin typeface="Courier"/>
              </a:rPr>
              <a:t>) </a:t>
            </a:r>
            <a:r>
              <a:rPr>
                <a:solidFill>
                  <a:srgbClr val="4070A0"/>
                </a:solidFill>
                <a:latin typeface="Courier"/>
              </a:rPr>
              <a:t>+</a:t>
            </a:r>
            <a:br/>
            <a:r>
              <a:rPr>
                <a:latin typeface="Courier"/>
              </a:rPr>
              <a:t>  </a:t>
            </a:r>
            <a:r>
              <a:rPr>
                <a:solidFill>
                  <a:srgbClr val="06287E"/>
                </a:solidFill>
                <a:latin typeface="Courier"/>
              </a:rPr>
              <a:t>geom_vline</a:t>
            </a:r>
            <a:r>
              <a:rPr>
                <a:latin typeface="Courier"/>
              </a:rPr>
              <a:t>(</a:t>
            </a:r>
            <a:r>
              <a:rPr>
                <a:solidFill>
                  <a:srgbClr val="7D9029"/>
                </a:solidFill>
                <a:latin typeface="Courier"/>
              </a:rPr>
              <a:t>xintercept =</a:t>
            </a:r>
            <a:r>
              <a:rPr>
                <a:latin typeface="Courier"/>
              </a:rPr>
              <a:t> tr, </a:t>
            </a:r>
            <a:r>
              <a:rPr>
                <a:solidFill>
                  <a:srgbClr val="7D9029"/>
                </a:solidFill>
                <a:latin typeface="Courier"/>
              </a:rPr>
              <a:t>linetype =</a:t>
            </a:r>
            <a:r>
              <a:rPr>
                <a:latin typeface="Courier"/>
              </a:rPr>
              <a:t> </a:t>
            </a:r>
            <a:r>
              <a:rPr>
                <a:solidFill>
                  <a:srgbClr val="4070A0"/>
                </a:solidFill>
                <a:latin typeface="Courier"/>
              </a:rPr>
              <a:t>"dashed"</a:t>
            </a:r>
            <a:r>
              <a:rPr>
                <a:latin typeface="Courier"/>
              </a:rPr>
              <a:t>, </a:t>
            </a:r>
            <a:r>
              <a:rPr>
                <a:solidFill>
                  <a:srgbClr val="7D9029"/>
                </a:solidFill>
                <a:latin typeface="Courier"/>
              </a:rPr>
              <a:t>color =</a:t>
            </a:r>
            <a:r>
              <a:rPr>
                <a:latin typeface="Courier"/>
              </a:rPr>
              <a:t> </a:t>
            </a:r>
            <a:r>
              <a:rPr>
                <a:solidFill>
                  <a:srgbClr val="4070A0"/>
                </a:solidFill>
                <a:latin typeface="Courier"/>
              </a:rPr>
              <a:t>"black"</a:t>
            </a:r>
            <a:r>
              <a:rPr>
                <a:latin typeface="Courier"/>
              </a:rPr>
              <a:t>, </a:t>
            </a:r>
            <a:r>
              <a:rPr>
                <a:solidFill>
                  <a:srgbClr val="7D9029"/>
                </a:solidFill>
                <a:latin typeface="Courier"/>
              </a:rPr>
              <a:t>linewidth =</a:t>
            </a:r>
            <a:r>
              <a:rPr>
                <a:latin typeface="Courier"/>
              </a:rPr>
              <a:t> </a:t>
            </a:r>
            <a:r>
              <a:rPr>
                <a:solidFill>
                  <a:srgbClr val="40A070"/>
                </a:solidFill>
                <a:latin typeface="Courier"/>
              </a:rPr>
              <a:t>1</a:t>
            </a:r>
            <a:r>
              <a:rPr>
                <a:latin typeface="Courier"/>
              </a:rPr>
              <a:t>) </a:t>
            </a:r>
            <a:r>
              <a:rPr>
                <a:solidFill>
                  <a:srgbClr val="4070A0"/>
                </a:solidFill>
                <a:latin typeface="Courier"/>
              </a:rPr>
              <a:t>+</a:t>
            </a:r>
            <a:br/>
            <a:r>
              <a:rPr>
                <a:latin typeface="Courier"/>
              </a:rPr>
              <a:t>  </a:t>
            </a:r>
            <a:r>
              <a:rPr>
                <a:solidFill>
                  <a:srgbClr val="06287E"/>
                </a:solidFill>
                <a:latin typeface="Courier"/>
              </a:rPr>
              <a:t>annotate</a:t>
            </a:r>
            <a:r>
              <a:rPr>
                <a:latin typeface="Courier"/>
              </a:rPr>
              <a:t>(</a:t>
            </a:r>
            <a:r>
              <a:rPr>
                <a:solidFill>
                  <a:srgbClr val="4070A0"/>
                </a:solidFill>
                <a:latin typeface="Courier"/>
              </a:rPr>
              <a:t>"text"</a:t>
            </a:r>
            <a:r>
              <a:rPr>
                <a:latin typeface="Courier"/>
              </a:rPr>
              <a:t>, </a:t>
            </a:r>
            <a:r>
              <a:rPr>
                <a:solidFill>
                  <a:srgbClr val="7D9029"/>
                </a:solidFill>
                <a:latin typeface="Courier"/>
              </a:rPr>
              <a:t>x =</a:t>
            </a:r>
            <a:r>
              <a:rPr>
                <a:latin typeface="Courier"/>
              </a:rPr>
              <a:t> tr </a:t>
            </a:r>
            <a:r>
              <a:rPr>
                <a:solidFill>
                  <a:srgbClr val="4070A0"/>
                </a:solidFill>
                <a:latin typeface="Courier"/>
              </a:rPr>
              <a:t>+</a:t>
            </a:r>
            <a:r>
              <a:rPr>
                <a:latin typeface="Courier"/>
              </a:rPr>
              <a:t> </a:t>
            </a:r>
            <a:r>
              <a:rPr>
                <a:solidFill>
                  <a:srgbClr val="40A070"/>
                </a:solidFill>
                <a:latin typeface="Courier"/>
              </a:rPr>
              <a:t>300</a:t>
            </a:r>
            <a:r>
              <a:rPr>
                <a:latin typeface="Courier"/>
              </a:rPr>
              <a:t>, </a:t>
            </a:r>
            <a:r>
              <a:rPr>
                <a:solidFill>
                  <a:srgbClr val="7D9029"/>
                </a:solidFill>
                <a:latin typeface="Courier"/>
              </a:rPr>
              <a:t>y =</a:t>
            </a:r>
            <a:r>
              <a:rPr>
                <a:latin typeface="Courier"/>
              </a:rPr>
              <a:t> </a:t>
            </a:r>
            <a:r>
              <a:rPr>
                <a:solidFill>
                  <a:srgbClr val="40A070"/>
                </a:solidFill>
                <a:latin typeface="Courier"/>
              </a:rPr>
              <a:t>0.2</a:t>
            </a:r>
            <a:r>
              <a:rPr>
                <a:latin typeface="Courier"/>
              </a:rPr>
              <a:t>, </a:t>
            </a:r>
            <a:r>
              <a:rPr>
                <a:solidFill>
                  <a:srgbClr val="7D9029"/>
                </a:solidFill>
                <a:latin typeface="Courier"/>
              </a:rPr>
              <a:t>label =</a:t>
            </a:r>
            <a:r>
              <a:rPr>
                <a:latin typeface="Courier"/>
              </a:rPr>
              <a:t> </a:t>
            </a:r>
            <a:r>
              <a:rPr>
                <a:solidFill>
                  <a:srgbClr val="06287E"/>
                </a:solidFill>
                <a:latin typeface="Courier"/>
              </a:rPr>
              <a:t>paste</a:t>
            </a:r>
            <a:r>
              <a:rPr>
                <a:latin typeface="Courier"/>
              </a:rPr>
              <a:t>(</a:t>
            </a:r>
            <a:r>
              <a:rPr>
                <a:solidFill>
                  <a:srgbClr val="4070A0"/>
                </a:solidFill>
                <a:latin typeface="Courier"/>
              </a:rPr>
              <a:t>"TR ="</a:t>
            </a:r>
            <a:r>
              <a:rPr>
                <a:latin typeface="Courier"/>
              </a:rPr>
              <a:t>, tr, </a:t>
            </a:r>
            <a:r>
              <a:rPr>
                <a:solidFill>
                  <a:srgbClr val="4070A0"/>
                </a:solidFill>
                <a:latin typeface="Courier"/>
              </a:rPr>
              <a:t>"ms"</a:t>
            </a:r>
            <a:r>
              <a:rPr>
                <a:latin typeface="Courier"/>
              </a:rPr>
              <a:t>), </a:t>
            </a:r>
            <a:r>
              <a:rPr>
                <a:solidFill>
                  <a:srgbClr val="7D9029"/>
                </a:solidFill>
                <a:latin typeface="Courier"/>
              </a:rPr>
              <a:t>color =</a:t>
            </a:r>
            <a:r>
              <a:rPr>
                <a:latin typeface="Courier"/>
              </a:rPr>
              <a:t> </a:t>
            </a:r>
            <a:r>
              <a:rPr>
                <a:solidFill>
                  <a:srgbClr val="4070A0"/>
                </a:solidFill>
                <a:latin typeface="Courier"/>
              </a:rPr>
              <a:t>"black"</a:t>
            </a:r>
            <a:r>
              <a:rPr>
                <a:latin typeface="Courier"/>
              </a:rPr>
              <a:t>, </a:t>
            </a:r>
            <a:r>
              <a:rPr>
                <a:solidFill>
                  <a:srgbClr val="7D9029"/>
                </a:solidFill>
                <a:latin typeface="Courier"/>
              </a:rPr>
              <a:t>size =</a:t>
            </a:r>
            <a:r>
              <a:rPr>
                <a:latin typeface="Courier"/>
              </a:rPr>
              <a:t> </a:t>
            </a:r>
            <a:r>
              <a:rPr>
                <a:solidFill>
                  <a:srgbClr val="40A070"/>
                </a:solidFill>
                <a:latin typeface="Courier"/>
              </a:rPr>
              <a:t>5</a:t>
            </a:r>
            <a:r>
              <a:rPr>
                <a:latin typeface="Courier"/>
              </a:rPr>
              <a:t>) </a:t>
            </a:r>
            <a:r>
              <a:rPr>
                <a:solidFill>
                  <a:srgbClr val="4070A0"/>
                </a:solidFill>
                <a:latin typeface="Courier"/>
              </a:rPr>
              <a:t>+</a:t>
            </a:r>
            <a:br/>
            <a:r>
              <a:rPr>
                <a:latin typeface="Courier"/>
              </a:rPr>
              <a:t>  </a:t>
            </a:r>
            <a:r>
              <a:rPr>
                <a:solidFill>
                  <a:srgbClr val="06287E"/>
                </a:solidFill>
                <a:latin typeface="Courier"/>
              </a:rPr>
              <a:t>labs</a:t>
            </a:r>
            <a:r>
              <a:rPr>
                <a:latin typeface="Courier"/>
              </a:rPr>
              <a:t>(</a:t>
            </a:r>
            <a:br/>
            <a:r>
              <a:rPr>
                <a:latin typeface="Courier"/>
              </a:rPr>
              <a:t>    </a:t>
            </a:r>
            <a:r>
              <a:rPr>
                <a:solidFill>
                  <a:srgbClr val="7D9029"/>
                </a:solidFill>
                <a:latin typeface="Courier"/>
              </a:rPr>
              <a:t>title =</a:t>
            </a:r>
            <a:r>
              <a:rPr>
                <a:latin typeface="Courier"/>
              </a:rPr>
              <a:t> </a:t>
            </a:r>
            <a:r>
              <a:rPr>
                <a:solidFill>
                  <a:srgbClr val="4070A0"/>
                </a:solidFill>
                <a:latin typeface="Courier"/>
              </a:rPr>
              <a:t>"T1 Recovery: Tissue Contrast"</a:t>
            </a:r>
            <a:r>
              <a:rPr>
                <a:latin typeface="Courier"/>
              </a:rPr>
              <a:t>,</a:t>
            </a:r>
            <a:br/>
            <a:r>
              <a:rPr>
                <a:latin typeface="Courier"/>
              </a:rPr>
              <a:t>    </a:t>
            </a:r>
            <a:r>
              <a:rPr>
                <a:solidFill>
                  <a:srgbClr val="7D9029"/>
                </a:solidFill>
                <a:latin typeface="Courier"/>
              </a:rPr>
              <a:t>x =</a:t>
            </a:r>
            <a:r>
              <a:rPr>
                <a:latin typeface="Courier"/>
              </a:rPr>
              <a:t> </a:t>
            </a:r>
            <a:r>
              <a:rPr>
                <a:solidFill>
                  <a:srgbClr val="4070A0"/>
                </a:solidFill>
                <a:latin typeface="Courier"/>
              </a:rPr>
              <a:t>"Time (ms)"</a:t>
            </a:r>
            <a:r>
              <a:rPr>
                <a:latin typeface="Courier"/>
              </a:rPr>
              <a:t>,</a:t>
            </a:r>
            <a:br/>
            <a:r>
              <a:rPr>
                <a:latin typeface="Courier"/>
              </a:rPr>
              <a:t>    </a:t>
            </a:r>
            <a:r>
              <a:rPr>
                <a:solidFill>
                  <a:srgbClr val="7D9029"/>
                </a:solidFill>
                <a:latin typeface="Courier"/>
              </a:rPr>
              <a:t>y =</a:t>
            </a:r>
            <a:r>
              <a:rPr>
                <a:latin typeface="Courier"/>
              </a:rPr>
              <a:t> </a:t>
            </a:r>
            <a:r>
              <a:rPr>
                <a:solidFill>
                  <a:srgbClr val="4070A0"/>
                </a:solidFill>
                <a:latin typeface="Courier"/>
              </a:rPr>
              <a:t>"Longitudinal Signal Recovery"</a:t>
            </a:r>
            <a:br/>
            <a:r>
              <a:rPr>
                <a:latin typeface="Courier"/>
              </a:rPr>
              <a:t>  ) </a:t>
            </a:r>
            <a:r>
              <a:rPr>
                <a:solidFill>
                  <a:srgbClr val="4070A0"/>
                </a:solidFill>
                <a:latin typeface="Courier"/>
              </a:rPr>
              <a:t>+</a:t>
            </a:r>
            <a:br/>
            <a:r>
              <a:rPr>
                <a:latin typeface="Courier"/>
              </a:rPr>
              <a:t>  </a:t>
            </a:r>
            <a:r>
              <a:rPr>
                <a:solidFill>
                  <a:srgbClr val="06287E"/>
                </a:solidFill>
                <a:latin typeface="Courier"/>
              </a:rPr>
              <a:t>scale_color_manual</a:t>
            </a:r>
            <a:r>
              <a:rPr>
                <a:latin typeface="Courier"/>
              </a:rPr>
              <a:t>(</a:t>
            </a:r>
            <a:r>
              <a:rPr>
                <a:solidFill>
                  <a:srgbClr val="7D9029"/>
                </a:solidFill>
                <a:latin typeface="Courier"/>
              </a:rPr>
              <a:t>values =</a:t>
            </a:r>
            <a:r>
              <a:rPr>
                <a:latin typeface="Courier"/>
              </a:rPr>
              <a:t> </a:t>
            </a:r>
            <a:r>
              <a:rPr>
                <a:solidFill>
                  <a:srgbClr val="06287E"/>
                </a:solidFill>
                <a:latin typeface="Courier"/>
              </a:rPr>
              <a:t>c</a:t>
            </a:r>
            <a:r>
              <a:rPr>
                <a:latin typeface="Courier"/>
              </a:rPr>
              <a:t>(</a:t>
            </a:r>
            <a:r>
              <a:rPr>
                <a:solidFill>
                  <a:srgbClr val="4070A0"/>
                </a:solidFill>
                <a:latin typeface="Courier"/>
              </a:rPr>
              <a:t>"Fat"</a:t>
            </a:r>
            <a:r>
              <a:rPr>
                <a:latin typeface="Courier"/>
              </a:rPr>
              <a:t> </a:t>
            </a:r>
            <a:r>
              <a:rPr>
                <a:solidFill>
                  <a:srgbClr val="007020"/>
                </a:solidFill>
                <a:latin typeface="Courier"/>
              </a:rPr>
              <a:t>=</a:t>
            </a:r>
            <a:r>
              <a:rPr>
                <a:latin typeface="Courier"/>
              </a:rPr>
              <a:t> </a:t>
            </a:r>
            <a:r>
              <a:rPr>
                <a:solidFill>
                  <a:srgbClr val="4070A0"/>
                </a:solidFill>
                <a:latin typeface="Courier"/>
              </a:rPr>
              <a:t>"gold"</a:t>
            </a:r>
            <a:r>
              <a:rPr>
                <a:latin typeface="Courier"/>
              </a:rPr>
              <a:t>, </a:t>
            </a:r>
            <a:r>
              <a:rPr>
                <a:solidFill>
                  <a:srgbClr val="4070A0"/>
                </a:solidFill>
                <a:latin typeface="Courier"/>
              </a:rPr>
              <a:t>"CSF"</a:t>
            </a:r>
            <a:r>
              <a:rPr>
                <a:latin typeface="Courier"/>
              </a:rPr>
              <a:t> </a:t>
            </a:r>
            <a:r>
              <a:rPr>
                <a:solidFill>
                  <a:srgbClr val="007020"/>
                </a:solidFill>
                <a:latin typeface="Courier"/>
              </a:rPr>
              <a:t>=</a:t>
            </a:r>
            <a:r>
              <a:rPr>
                <a:latin typeface="Courier"/>
              </a:rPr>
              <a:t> </a:t>
            </a:r>
            <a:r>
              <a:rPr>
                <a:solidFill>
                  <a:srgbClr val="4070A0"/>
                </a:solidFill>
                <a:latin typeface="Courier"/>
              </a:rPr>
              <a:t>"deepskyblue"</a:t>
            </a:r>
            <a:r>
              <a:rPr>
                <a:latin typeface="Courier"/>
              </a:rPr>
              <a:t>)) </a:t>
            </a:r>
            <a:r>
              <a:rPr>
                <a:solidFill>
                  <a:srgbClr val="4070A0"/>
                </a:solidFill>
                <a:latin typeface="Courier"/>
              </a:rPr>
              <a:t>+</a:t>
            </a:r>
            <a:br/>
            <a:r>
              <a:rPr>
                <a:latin typeface="Courier"/>
              </a:rPr>
              <a:t>  </a:t>
            </a:r>
            <a:r>
              <a:rPr>
                <a:solidFill>
                  <a:srgbClr val="06287E"/>
                </a:solidFill>
                <a:latin typeface="Courier"/>
              </a:rPr>
              <a:t>theme_minimal</a:t>
            </a:r>
            <a:r>
              <a:rPr>
                <a:latin typeface="Courier"/>
              </a:rPr>
              <a:t>(</a:t>
            </a:r>
            <a:r>
              <a:rPr>
                <a:solidFill>
                  <a:srgbClr val="7D9029"/>
                </a:solidFill>
                <a:latin typeface="Courier"/>
              </a:rPr>
              <a:t>base_size =</a:t>
            </a:r>
            <a:r>
              <a:rPr>
                <a:latin typeface="Courier"/>
              </a:rPr>
              <a:t> </a:t>
            </a:r>
            <a:r>
              <a:rPr>
                <a:solidFill>
                  <a:srgbClr val="40A070"/>
                </a:solidFill>
                <a:latin typeface="Courier"/>
              </a:rPr>
              <a:t>15</a:t>
            </a:r>
            <a:r>
              <a:rPr>
                <a:latin typeface="Courier"/>
              </a:rPr>
              <a:t>) </a:t>
            </a:r>
            <a:r>
              <a:rPr>
                <a:solidFill>
                  <a:srgbClr val="4070A0"/>
                </a:solidFill>
                <a:latin typeface="Courier"/>
              </a:rPr>
              <a:t>+</a:t>
            </a:r>
            <a:br/>
            <a:r>
              <a:rPr>
                <a:latin typeface="Courier"/>
              </a:rPr>
              <a:t>  </a:t>
            </a:r>
            <a:r>
              <a:rPr>
                <a:solidFill>
                  <a:srgbClr val="06287E"/>
                </a:solidFill>
                <a:latin typeface="Courier"/>
              </a:rPr>
              <a:t>theme</a:t>
            </a:r>
            <a:r>
              <a:rPr>
                <a:latin typeface="Courier"/>
              </a:rPr>
              <a:t>(</a:t>
            </a:r>
            <a:r>
              <a:rPr>
                <a:solidFill>
                  <a:srgbClr val="7D9029"/>
                </a:solidFill>
                <a:latin typeface="Courier"/>
              </a:rPr>
              <a:t>plot.title =</a:t>
            </a:r>
            <a:r>
              <a:rPr>
                <a:latin typeface="Courier"/>
              </a:rPr>
              <a:t> </a:t>
            </a:r>
            <a:r>
              <a:rPr>
                <a:solidFill>
                  <a:srgbClr val="06287E"/>
                </a:solidFill>
                <a:latin typeface="Courier"/>
              </a:rPr>
              <a:t>element_text</a:t>
            </a:r>
            <a:r>
              <a:rPr>
                <a:latin typeface="Courier"/>
              </a:rPr>
              <a:t>(</a:t>
            </a:r>
            <a:r>
              <a:rPr>
                <a:solidFill>
                  <a:srgbClr val="7D9029"/>
                </a:solidFill>
                <a:latin typeface="Courier"/>
              </a:rPr>
              <a:t>hjust =</a:t>
            </a:r>
            <a:r>
              <a:rPr>
                <a:latin typeface="Courier"/>
              </a:rPr>
              <a:t> </a:t>
            </a:r>
            <a:r>
              <a:rPr>
                <a:solidFill>
                  <a:srgbClr val="40A070"/>
                </a:solidFill>
                <a:latin typeface="Courier"/>
              </a:rPr>
              <a:t>0.5</a:t>
            </a:r>
            <a:r>
              <a:rPr>
                <a:latin typeface="Courier"/>
              </a:rPr>
              <a:t>), </a:t>
            </a:r>
            <a:r>
              <a:rPr>
                <a:solidFill>
                  <a:srgbClr val="7D9029"/>
                </a:solidFill>
                <a:latin typeface="Courier"/>
              </a:rPr>
              <a:t>legend.position =</a:t>
            </a:r>
            <a:r>
              <a:rPr>
                <a:latin typeface="Courier"/>
              </a:rPr>
              <a:t> </a:t>
            </a:r>
            <a:r>
              <a:rPr>
                <a:solidFill>
                  <a:srgbClr val="4070A0"/>
                </a:solidFill>
                <a:latin typeface="Courier"/>
              </a:rPr>
              <a:t>"top"</a:t>
            </a:r>
            <a:r>
              <a:rPr>
                <a:latin typeface="Courier"/>
              </a:rPr>
              <a:t>)</a:t>
            </a:r>
          </a:p>
        </p:txBody>
      </p:sp>
      <p:pic>
        <p:nvPicPr>
          <p:cNvPr descr="MRI_Physics_I_files/figure-pptx/t1_recovery_code-1.pn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Visual: T1 Recovery Comparison</a:t>
            </a:r>
          </a:p>
        </p:txBody>
      </p:sp>
      <p:pic>
        <p:nvPicPr>
          <p:cNvPr descr="MRI_Physics_I_files/figure-pptx/t1_recovery_plot-1.png" id="0" name="Picture 1"/>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T1 Weighting &amp; TR</a:t>
            </a:r>
          </a:p>
        </p:txBody>
      </p:sp>
      <p:sp>
        <p:nvSpPr>
          <p:cNvPr id="3" name="Content Placeholder 2"/>
          <p:cNvSpPr>
            <a:spLocks noGrp="1"/>
          </p:cNvSpPr>
          <p:nvPr>
            <p:ph idx="1"/>
          </p:nvPr>
        </p:nvSpPr>
        <p:spPr/>
        <p:txBody>
          <a:bodyPr/>
          <a:lstStyle/>
          <a:p>
            <a:pPr lvl="0"/>
            <a:r>
              <a:rPr b="1"/>
              <a:t>Short TR:</a:t>
            </a:r>
            <a:r>
              <a:rPr/>
              <a:t> Tissues with long T1s haven’t recovered much signal (appear dark).</a:t>
            </a:r>
          </a:p>
          <a:p>
            <a:pPr lvl="0"/>
            <a:r>
              <a:rPr b="1"/>
              <a:t>Fast Recovery (Short T1):</a:t>
            </a:r>
            <a:r>
              <a:rPr/>
              <a:t> Tissues recover quickly and have high signal (appear bright).</a:t>
            </a:r>
          </a:p>
          <a:p>
            <a:pPr lvl="0"/>
            <a:r>
              <a:rPr/>
              <a:t>T1 and T2 are intrinsic tissue properties; TR and TE are scanner settings.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Excitation Pulse (B1 Field)</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b="1"/>
                  <a:t>B1 Field:</a:t>
                </a:r>
                <a:r>
                  <a:rPr/>
                  <a:t> Applied perpendicular to the main field (</a:t>
                </a:r>
                <a14:m>
                  <m:oMath xmlns:m="http://schemas.openxmlformats.org/officeDocument/2006/math">
                    <m:sSub>
                      <m:e>
                        <m:r>
                          <m:t>B</m:t>
                        </m:r>
                      </m:e>
                      <m:sub>
                        <m:r>
                          <m:t>0</m:t>
                        </m:r>
                      </m:sub>
                    </m:sSub>
                  </m:oMath>
                </a14:m>
                <a:r>
                  <a:rPr/>
                  <a:t>).</a:t>
                </a:r>
              </a:p>
              <a:p>
                <a:pPr lvl="0"/>
                <a:r>
                  <a:rPr/>
                  <a:t>Must match the resonant frequency (</a:t>
                </a:r>
                <a14:m>
                  <m:oMath xmlns:m="http://schemas.openxmlformats.org/officeDocument/2006/math">
                    <m:r>
                      <m:t>ω</m:t>
                    </m:r>
                  </m:oMath>
                </a14:m>
                <a:r>
                  <a:rPr/>
                  <a:t>) of the nuclei to work.</a:t>
                </a:r>
              </a:p>
              <a:p>
                <a:pPr lvl="0"/>
                <a:r>
                  <a:rPr/>
                  <a:t>In the rotating frame, B1 appears stationary, torquing the spin down to the transverse plane.</a:t>
                </a:r>
              </a:p>
            </p:txBody>
          </p:sp>
        </mc:Choice>
      </mc:AlternateContent>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Contrast Summary Matrix</a:t>
            </a:r>
          </a:p>
        </p:txBody>
      </p:sp>
      <p:sp>
        <p:nvSpPr>
          <p:cNvPr id="3" name="Content Placeholder 2"/>
          <p:cNvSpPr>
            <a:spLocks noGrp="1"/>
          </p:cNvSpPr>
          <p:nvPr>
            <p:ph idx="1"/>
          </p:nvPr>
        </p:nvSpPr>
        <p:spPr/>
        <p:txBody>
          <a:bodyPr/>
          <a:lstStyle/>
          <a:p>
            <a:pPr lvl="0"/>
            <a:r>
              <a:rPr b="1"/>
              <a:t>T1-Weighted:</a:t>
            </a:r>
            <a:r>
              <a:rPr/>
              <a:t> Short TE, Short TR (maximizes T1 differences).</a:t>
            </a:r>
          </a:p>
          <a:p>
            <a:pPr lvl="0"/>
            <a:r>
              <a:rPr b="1"/>
              <a:t>T2-Weighted:</a:t>
            </a:r>
            <a:r>
              <a:rPr/>
              <a:t> Long TE, Long TR (maximizes decay differences).</a:t>
            </a:r>
          </a:p>
          <a:p>
            <a:pPr lvl="0"/>
            <a:r>
              <a:rPr b="1"/>
              <a:t>Proton Density:</a:t>
            </a:r>
            <a:r>
              <a:rPr/>
              <a:t> Short TE, Long TR (minimizes both T1 and T2 effects).</a:t>
            </a:r>
          </a:p>
          <a:p>
            <a:pPr lvl="0"/>
            <a:r>
              <a:rPr/>
              <a:t>Short TR / Long TE is rarely used (poor signal/contrast).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 Code: The Contrast Matrix</a:t>
            </a:r>
          </a:p>
        </p:txBody>
      </p:sp>
      <p:sp>
        <p:nvSpPr>
          <p:cNvPr id="4" name="Text Placeholder 3"/>
          <p:cNvSpPr>
            <a:spLocks noGrp="1"/>
          </p:cNvSpPr>
          <p:nvPr>
            <p:ph idx="2" sz="half" type="body"/>
          </p:nvPr>
        </p:nvSpPr>
        <p:spPr/>
        <p:txBody>
          <a:bodyPr/>
          <a:lstStyle/>
          <a:p>
            <a:pPr lvl="0" indent="0">
              <a:buNone/>
            </a:pPr>
            <a:r>
              <a:rPr i="1">
                <a:solidFill>
                  <a:srgbClr val="60A0B0"/>
                </a:solidFill>
                <a:latin typeface="Courier"/>
              </a:rPr>
              <a:t># Create data for the heatmap</a:t>
            </a:r>
            <a:br/>
            <a:r>
              <a:rPr>
                <a:latin typeface="Courier"/>
              </a:rPr>
              <a:t>contrast_data </a:t>
            </a:r>
            <a:r>
              <a:rPr>
                <a:solidFill>
                  <a:srgbClr val="007020"/>
                </a:solidFill>
                <a:latin typeface="Courier"/>
              </a:rPr>
              <a:t>&lt;-</a:t>
            </a:r>
            <a:r>
              <a:rPr>
                <a:latin typeface="Courier"/>
              </a:rPr>
              <a:t> </a:t>
            </a:r>
            <a:r>
              <a:rPr>
                <a:solidFill>
                  <a:srgbClr val="06287E"/>
                </a:solidFill>
                <a:latin typeface="Courier"/>
              </a:rPr>
              <a:t>expand.grid</a:t>
            </a:r>
            <a:r>
              <a:rPr>
                <a:latin typeface="Courier"/>
              </a:rPr>
              <a:t>(</a:t>
            </a:r>
            <a:br/>
            <a:r>
              <a:rPr>
                <a:latin typeface="Courier"/>
              </a:rPr>
              <a:t>  </a:t>
            </a:r>
            <a:r>
              <a:rPr>
                <a:solidFill>
                  <a:srgbClr val="7D9029"/>
                </a:solidFill>
                <a:latin typeface="Courier"/>
              </a:rPr>
              <a:t>TE =</a:t>
            </a:r>
            <a:r>
              <a:rPr>
                <a:latin typeface="Courier"/>
              </a:rPr>
              <a:t> </a:t>
            </a:r>
            <a:r>
              <a:rPr>
                <a:solidFill>
                  <a:srgbClr val="06287E"/>
                </a:solidFill>
                <a:latin typeface="Courier"/>
              </a:rPr>
              <a:t>factor</a:t>
            </a:r>
            <a:r>
              <a:rPr>
                <a:latin typeface="Courier"/>
              </a:rPr>
              <a:t>(</a:t>
            </a:r>
            <a:r>
              <a:rPr>
                <a:solidFill>
                  <a:srgbClr val="06287E"/>
                </a:solidFill>
                <a:latin typeface="Courier"/>
              </a:rPr>
              <a:t>c</a:t>
            </a:r>
            <a:r>
              <a:rPr>
                <a:latin typeface="Courier"/>
              </a:rPr>
              <a:t>(</a:t>
            </a:r>
            <a:r>
              <a:rPr>
                <a:solidFill>
                  <a:srgbClr val="4070A0"/>
                </a:solidFill>
                <a:latin typeface="Courier"/>
              </a:rPr>
              <a:t>"Short TE"</a:t>
            </a:r>
            <a:r>
              <a:rPr>
                <a:latin typeface="Courier"/>
              </a:rPr>
              <a:t>, </a:t>
            </a:r>
            <a:r>
              <a:rPr>
                <a:solidFill>
                  <a:srgbClr val="4070A0"/>
                </a:solidFill>
                <a:latin typeface="Courier"/>
              </a:rPr>
              <a:t>"Long TE"</a:t>
            </a:r>
            <a:r>
              <a:rPr>
                <a:latin typeface="Courier"/>
              </a:rPr>
              <a:t>)),</a:t>
            </a:r>
            <a:br/>
            <a:r>
              <a:rPr>
                <a:latin typeface="Courier"/>
              </a:rPr>
              <a:t>  </a:t>
            </a:r>
            <a:r>
              <a:rPr>
                <a:solidFill>
                  <a:srgbClr val="7D9029"/>
                </a:solidFill>
                <a:latin typeface="Courier"/>
              </a:rPr>
              <a:t>TR =</a:t>
            </a:r>
            <a:r>
              <a:rPr>
                <a:latin typeface="Courier"/>
              </a:rPr>
              <a:t> </a:t>
            </a:r>
            <a:r>
              <a:rPr>
                <a:solidFill>
                  <a:srgbClr val="06287E"/>
                </a:solidFill>
                <a:latin typeface="Courier"/>
              </a:rPr>
              <a:t>factor</a:t>
            </a:r>
            <a:r>
              <a:rPr>
                <a:latin typeface="Courier"/>
              </a:rPr>
              <a:t>(</a:t>
            </a:r>
            <a:r>
              <a:rPr>
                <a:solidFill>
                  <a:srgbClr val="06287E"/>
                </a:solidFill>
                <a:latin typeface="Courier"/>
              </a:rPr>
              <a:t>c</a:t>
            </a:r>
            <a:r>
              <a:rPr>
                <a:latin typeface="Courier"/>
              </a:rPr>
              <a:t>(</a:t>
            </a:r>
            <a:r>
              <a:rPr>
                <a:solidFill>
                  <a:srgbClr val="4070A0"/>
                </a:solidFill>
                <a:latin typeface="Courier"/>
              </a:rPr>
              <a:t>"Short TR"</a:t>
            </a:r>
            <a:r>
              <a:rPr>
                <a:latin typeface="Courier"/>
              </a:rPr>
              <a:t>, </a:t>
            </a:r>
            <a:r>
              <a:rPr>
                <a:solidFill>
                  <a:srgbClr val="4070A0"/>
                </a:solidFill>
                <a:latin typeface="Courier"/>
              </a:rPr>
              <a:t>"Long TR"</a:t>
            </a:r>
            <a:r>
              <a:rPr>
                <a:latin typeface="Courier"/>
              </a:rPr>
              <a:t>))</a:t>
            </a:r>
            <a:br/>
            <a:r>
              <a:rPr>
                <a:latin typeface="Courier"/>
              </a:rPr>
              <a:t>)</a:t>
            </a:r>
            <a:br/>
            <a:r>
              <a:rPr>
                <a:latin typeface="Courier"/>
              </a:rPr>
              <a:t>contrast_data</a:t>
            </a:r>
            <a:r>
              <a:rPr>
                <a:solidFill>
                  <a:srgbClr val="4070A0"/>
                </a:solidFill>
                <a:latin typeface="Courier"/>
              </a:rPr>
              <a:t>$</a:t>
            </a:r>
            <a:r>
              <a:rPr>
                <a:latin typeface="Courier"/>
              </a:rPr>
              <a:t>Contrast </a:t>
            </a:r>
            <a:r>
              <a:rPr>
                <a:solidFill>
                  <a:srgbClr val="007020"/>
                </a:solidFill>
                <a:latin typeface="Courier"/>
              </a:rPr>
              <a:t>&lt;-</a:t>
            </a:r>
            <a:r>
              <a:rPr>
                <a:latin typeface="Courier"/>
              </a:rPr>
              <a:t> </a:t>
            </a:r>
            <a:r>
              <a:rPr>
                <a:solidFill>
                  <a:srgbClr val="06287E"/>
                </a:solidFill>
                <a:latin typeface="Courier"/>
              </a:rPr>
              <a:t>c</a:t>
            </a:r>
            <a:r>
              <a:rPr>
                <a:latin typeface="Courier"/>
              </a:rPr>
              <a:t>(</a:t>
            </a:r>
            <a:br/>
            <a:r>
              <a:rPr>
                <a:latin typeface="Courier"/>
              </a:rPr>
              <a:t>  </a:t>
            </a:r>
            <a:r>
              <a:rPr>
                <a:solidFill>
                  <a:srgbClr val="4070A0"/>
                </a:solidFill>
                <a:latin typeface="Courier"/>
              </a:rPr>
              <a:t>"T1 Weighted"</a:t>
            </a:r>
            <a:r>
              <a:rPr>
                <a:latin typeface="Courier"/>
              </a:rPr>
              <a:t>, </a:t>
            </a:r>
            <a:r>
              <a:rPr>
                <a:solidFill>
                  <a:srgbClr val="4070A0"/>
                </a:solidFill>
                <a:latin typeface="Courier"/>
              </a:rPr>
              <a:t>"Proton Density"</a:t>
            </a:r>
            <a:r>
              <a:rPr>
                <a:latin typeface="Courier"/>
              </a:rPr>
              <a:t>,</a:t>
            </a:r>
            <a:br/>
            <a:r>
              <a:rPr>
                <a:latin typeface="Courier"/>
              </a:rPr>
              <a:t>  </a:t>
            </a:r>
            <a:r>
              <a:rPr>
                <a:solidFill>
                  <a:srgbClr val="4070A0"/>
                </a:solidFill>
                <a:latin typeface="Courier"/>
              </a:rPr>
              <a:t>"Low Signal"</a:t>
            </a:r>
            <a:r>
              <a:rPr>
                <a:latin typeface="Courier"/>
              </a:rPr>
              <a:t>, </a:t>
            </a:r>
            <a:r>
              <a:rPr>
                <a:solidFill>
                  <a:srgbClr val="4070A0"/>
                </a:solidFill>
                <a:latin typeface="Courier"/>
              </a:rPr>
              <a:t>"T2 Weighted"</a:t>
            </a:r>
            <a:br/>
            <a:r>
              <a:rPr>
                <a:latin typeface="Courier"/>
              </a:rPr>
              <a:t>)</a:t>
            </a:r>
            <a:br/>
            <a:r>
              <a:rPr>
                <a:latin typeface="Courier"/>
              </a:rPr>
              <a:t>contrast_data</a:t>
            </a:r>
            <a:r>
              <a:rPr>
                <a:solidFill>
                  <a:srgbClr val="4070A0"/>
                </a:solidFill>
                <a:latin typeface="Courier"/>
              </a:rPr>
              <a:t>$</a:t>
            </a:r>
            <a:r>
              <a:rPr>
                <a:latin typeface="Courier"/>
              </a:rPr>
              <a:t>TR </a:t>
            </a:r>
            <a:r>
              <a:rPr>
                <a:solidFill>
                  <a:srgbClr val="007020"/>
                </a:solidFill>
                <a:latin typeface="Courier"/>
              </a:rPr>
              <a:t>&lt;-</a:t>
            </a:r>
            <a:r>
              <a:rPr>
                <a:latin typeface="Courier"/>
              </a:rPr>
              <a:t> </a:t>
            </a:r>
            <a:r>
              <a:rPr>
                <a:solidFill>
                  <a:srgbClr val="06287E"/>
                </a:solidFill>
                <a:latin typeface="Courier"/>
              </a:rPr>
              <a:t>factor</a:t>
            </a:r>
            <a:r>
              <a:rPr>
                <a:latin typeface="Courier"/>
              </a:rPr>
              <a:t>(contrast_data</a:t>
            </a:r>
            <a:r>
              <a:rPr>
                <a:solidFill>
                  <a:srgbClr val="4070A0"/>
                </a:solidFill>
                <a:latin typeface="Courier"/>
              </a:rPr>
              <a:t>$</a:t>
            </a:r>
            <a:r>
              <a:rPr>
                <a:latin typeface="Courier"/>
              </a:rPr>
              <a:t>TR, </a:t>
            </a:r>
            <a:r>
              <a:rPr>
                <a:solidFill>
                  <a:srgbClr val="7D9029"/>
                </a:solidFill>
                <a:latin typeface="Courier"/>
              </a:rPr>
              <a:t>levels =</a:t>
            </a:r>
            <a:r>
              <a:rPr>
                <a:latin typeface="Courier"/>
              </a:rPr>
              <a:t> </a:t>
            </a:r>
            <a:r>
              <a:rPr>
                <a:solidFill>
                  <a:srgbClr val="06287E"/>
                </a:solidFill>
                <a:latin typeface="Courier"/>
              </a:rPr>
              <a:t>c</a:t>
            </a:r>
            <a:r>
              <a:rPr>
                <a:latin typeface="Courier"/>
              </a:rPr>
              <a:t>(</a:t>
            </a:r>
            <a:r>
              <a:rPr>
                <a:solidFill>
                  <a:srgbClr val="4070A0"/>
                </a:solidFill>
                <a:latin typeface="Courier"/>
              </a:rPr>
              <a:t>"Long TR"</a:t>
            </a:r>
            <a:r>
              <a:rPr>
                <a:latin typeface="Courier"/>
              </a:rPr>
              <a:t>, </a:t>
            </a:r>
            <a:r>
              <a:rPr>
                <a:solidFill>
                  <a:srgbClr val="4070A0"/>
                </a:solidFill>
                <a:latin typeface="Courier"/>
              </a:rPr>
              <a:t>"Short TR"</a:t>
            </a:r>
            <a:r>
              <a:rPr>
                <a:latin typeface="Courier"/>
              </a:rPr>
              <a:t>))</a:t>
            </a:r>
            <a:br/>
            <a:br/>
            <a:br/>
            <a:r>
              <a:rPr>
                <a:solidFill>
                  <a:srgbClr val="06287E"/>
                </a:solidFill>
                <a:latin typeface="Courier"/>
              </a:rPr>
              <a:t>ggplot</a:t>
            </a:r>
            <a:r>
              <a:rPr>
                <a:latin typeface="Courier"/>
              </a:rPr>
              <a:t>(contrast_data, </a:t>
            </a:r>
            <a:r>
              <a:rPr>
                <a:solidFill>
                  <a:srgbClr val="06287E"/>
                </a:solidFill>
                <a:latin typeface="Courier"/>
              </a:rPr>
              <a:t>aes</a:t>
            </a:r>
            <a:r>
              <a:rPr>
                <a:latin typeface="Courier"/>
              </a:rPr>
              <a:t>(</a:t>
            </a:r>
            <a:r>
              <a:rPr>
                <a:solidFill>
                  <a:srgbClr val="7D9029"/>
                </a:solidFill>
                <a:latin typeface="Courier"/>
              </a:rPr>
              <a:t>x =</a:t>
            </a:r>
            <a:r>
              <a:rPr>
                <a:latin typeface="Courier"/>
              </a:rPr>
              <a:t> TE, </a:t>
            </a:r>
            <a:r>
              <a:rPr>
                <a:solidFill>
                  <a:srgbClr val="7D9029"/>
                </a:solidFill>
                <a:latin typeface="Courier"/>
              </a:rPr>
              <a:t>y =</a:t>
            </a:r>
            <a:r>
              <a:rPr>
                <a:latin typeface="Courier"/>
              </a:rPr>
              <a:t> TR, </a:t>
            </a:r>
            <a:r>
              <a:rPr>
                <a:solidFill>
                  <a:srgbClr val="7D9029"/>
                </a:solidFill>
                <a:latin typeface="Courier"/>
              </a:rPr>
              <a:t>fill =</a:t>
            </a:r>
            <a:r>
              <a:rPr>
                <a:latin typeface="Courier"/>
              </a:rPr>
              <a:t> Contrast)) </a:t>
            </a:r>
            <a:r>
              <a:rPr>
                <a:solidFill>
                  <a:srgbClr val="4070A0"/>
                </a:solidFill>
                <a:latin typeface="Courier"/>
              </a:rPr>
              <a:t>+</a:t>
            </a:r>
            <a:br/>
            <a:r>
              <a:rPr>
                <a:latin typeface="Courier"/>
              </a:rPr>
              <a:t>  </a:t>
            </a:r>
            <a:r>
              <a:rPr>
                <a:solidFill>
                  <a:srgbClr val="06287E"/>
                </a:solidFill>
                <a:latin typeface="Courier"/>
              </a:rPr>
              <a:t>geom_tile</a:t>
            </a:r>
            <a:r>
              <a:rPr>
                <a:latin typeface="Courier"/>
              </a:rPr>
              <a:t>(</a:t>
            </a:r>
            <a:r>
              <a:rPr>
                <a:solidFill>
                  <a:srgbClr val="7D9029"/>
                </a:solidFill>
                <a:latin typeface="Courier"/>
              </a:rPr>
              <a:t>color =</a:t>
            </a:r>
            <a:r>
              <a:rPr>
                <a:latin typeface="Courier"/>
              </a:rPr>
              <a:t> </a:t>
            </a:r>
            <a:r>
              <a:rPr>
                <a:solidFill>
                  <a:srgbClr val="4070A0"/>
                </a:solidFill>
                <a:latin typeface="Courier"/>
              </a:rPr>
              <a:t>"white"</a:t>
            </a:r>
            <a:r>
              <a:rPr>
                <a:latin typeface="Courier"/>
              </a:rPr>
              <a:t>, </a:t>
            </a:r>
            <a:r>
              <a:rPr>
                <a:solidFill>
                  <a:srgbClr val="7D9029"/>
                </a:solidFill>
                <a:latin typeface="Courier"/>
              </a:rPr>
              <a:t>linewidth =</a:t>
            </a:r>
            <a:r>
              <a:rPr>
                <a:latin typeface="Courier"/>
              </a:rPr>
              <a:t> </a:t>
            </a:r>
            <a:r>
              <a:rPr>
                <a:solidFill>
                  <a:srgbClr val="40A070"/>
                </a:solidFill>
                <a:latin typeface="Courier"/>
              </a:rPr>
              <a:t>2</a:t>
            </a:r>
            <a:r>
              <a:rPr>
                <a:latin typeface="Courier"/>
              </a:rPr>
              <a:t>) </a:t>
            </a:r>
            <a:r>
              <a:rPr>
                <a:solidFill>
                  <a:srgbClr val="4070A0"/>
                </a:solidFill>
                <a:latin typeface="Courier"/>
              </a:rPr>
              <a:t>+</a:t>
            </a:r>
            <a:br/>
            <a:r>
              <a:rPr>
                <a:latin typeface="Courier"/>
              </a:rPr>
              <a:t>  </a:t>
            </a:r>
            <a:r>
              <a:rPr>
                <a:solidFill>
                  <a:srgbClr val="06287E"/>
                </a:solidFill>
                <a:latin typeface="Courier"/>
              </a:rPr>
              <a:t>geom_text</a:t>
            </a:r>
            <a:r>
              <a:rPr>
                <a:latin typeface="Courier"/>
              </a:rPr>
              <a:t>(</a:t>
            </a:r>
            <a:r>
              <a:rPr>
                <a:solidFill>
                  <a:srgbClr val="06287E"/>
                </a:solidFill>
                <a:latin typeface="Courier"/>
              </a:rPr>
              <a:t>aes</a:t>
            </a:r>
            <a:r>
              <a:rPr>
                <a:latin typeface="Courier"/>
              </a:rPr>
              <a:t>(</a:t>
            </a:r>
            <a:r>
              <a:rPr>
                <a:solidFill>
                  <a:srgbClr val="7D9029"/>
                </a:solidFill>
                <a:latin typeface="Courier"/>
              </a:rPr>
              <a:t>label =</a:t>
            </a:r>
            <a:r>
              <a:rPr>
                <a:latin typeface="Courier"/>
              </a:rPr>
              <a:t> Contrast), </a:t>
            </a:r>
            <a:r>
              <a:rPr>
                <a:solidFill>
                  <a:srgbClr val="7D9029"/>
                </a:solidFill>
                <a:latin typeface="Courier"/>
              </a:rPr>
              <a:t>color =</a:t>
            </a:r>
            <a:r>
              <a:rPr>
                <a:latin typeface="Courier"/>
              </a:rPr>
              <a:t> </a:t>
            </a:r>
            <a:r>
              <a:rPr>
                <a:solidFill>
                  <a:srgbClr val="4070A0"/>
                </a:solidFill>
                <a:latin typeface="Courier"/>
              </a:rPr>
              <a:t>"white"</a:t>
            </a:r>
            <a:r>
              <a:rPr>
                <a:latin typeface="Courier"/>
              </a:rPr>
              <a:t>, </a:t>
            </a:r>
            <a:r>
              <a:rPr>
                <a:solidFill>
                  <a:srgbClr val="7D9029"/>
                </a:solidFill>
                <a:latin typeface="Courier"/>
              </a:rPr>
              <a:t>size =</a:t>
            </a:r>
            <a:r>
              <a:rPr>
                <a:latin typeface="Courier"/>
              </a:rPr>
              <a:t> </a:t>
            </a:r>
            <a:r>
              <a:rPr>
                <a:solidFill>
                  <a:srgbClr val="40A070"/>
                </a:solidFill>
                <a:latin typeface="Courier"/>
              </a:rPr>
              <a:t>6</a:t>
            </a:r>
            <a:r>
              <a:rPr>
                <a:latin typeface="Courier"/>
              </a:rPr>
              <a:t>) </a:t>
            </a:r>
            <a:r>
              <a:rPr>
                <a:solidFill>
                  <a:srgbClr val="4070A0"/>
                </a:solidFill>
                <a:latin typeface="Courier"/>
              </a:rPr>
              <a:t>+</a:t>
            </a:r>
            <a:br/>
            <a:r>
              <a:rPr>
                <a:latin typeface="Courier"/>
              </a:rPr>
              <a:t>  </a:t>
            </a:r>
            <a:r>
              <a:rPr>
                <a:solidFill>
                  <a:srgbClr val="06287E"/>
                </a:solidFill>
                <a:latin typeface="Courier"/>
              </a:rPr>
              <a:t>scale_fill_manual</a:t>
            </a:r>
            <a:r>
              <a:rPr>
                <a:latin typeface="Courier"/>
              </a:rPr>
              <a:t>(</a:t>
            </a:r>
            <a:r>
              <a:rPr>
                <a:solidFill>
                  <a:srgbClr val="7D9029"/>
                </a:solidFill>
                <a:latin typeface="Courier"/>
              </a:rPr>
              <a:t>values =</a:t>
            </a:r>
            <a:r>
              <a:rPr>
                <a:latin typeface="Courier"/>
              </a:rPr>
              <a:t> </a:t>
            </a:r>
            <a:r>
              <a:rPr>
                <a:solidFill>
                  <a:srgbClr val="06287E"/>
                </a:solidFill>
                <a:latin typeface="Courier"/>
              </a:rPr>
              <a:t>c</a:t>
            </a:r>
            <a:r>
              <a:rPr>
                <a:latin typeface="Courier"/>
              </a:rPr>
              <a:t>(</a:t>
            </a:r>
            <a:br/>
            <a:r>
              <a:rPr>
                <a:latin typeface="Courier"/>
              </a:rPr>
              <a:t>    </a:t>
            </a:r>
            <a:r>
              <a:rPr>
                <a:solidFill>
                  <a:srgbClr val="4070A0"/>
                </a:solidFill>
                <a:latin typeface="Courier"/>
              </a:rPr>
              <a:t>"T1 Weighted"</a:t>
            </a:r>
            <a:r>
              <a:rPr>
                <a:latin typeface="Courier"/>
              </a:rPr>
              <a:t> </a:t>
            </a:r>
            <a:r>
              <a:rPr>
                <a:solidFill>
                  <a:srgbClr val="007020"/>
                </a:solidFill>
                <a:latin typeface="Courier"/>
              </a:rPr>
              <a:t>=</a:t>
            </a:r>
            <a:r>
              <a:rPr>
                <a:latin typeface="Courier"/>
              </a:rPr>
              <a:t> </a:t>
            </a:r>
            <a:r>
              <a:rPr>
                <a:solidFill>
                  <a:srgbClr val="4070A0"/>
                </a:solidFill>
                <a:latin typeface="Courier"/>
              </a:rPr>
              <a:t>"#0072B2"</a:t>
            </a:r>
            <a:r>
              <a:rPr>
                <a:latin typeface="Courier"/>
              </a:rPr>
              <a:t>, </a:t>
            </a:r>
            <a:r>
              <a:rPr>
                <a:solidFill>
                  <a:srgbClr val="4070A0"/>
                </a:solidFill>
                <a:latin typeface="Courier"/>
              </a:rPr>
              <a:t>"T2 Weighted"</a:t>
            </a:r>
            <a:r>
              <a:rPr>
                <a:latin typeface="Courier"/>
              </a:rPr>
              <a:t> </a:t>
            </a:r>
            <a:r>
              <a:rPr>
                <a:solidFill>
                  <a:srgbClr val="007020"/>
                </a:solidFill>
                <a:latin typeface="Courier"/>
              </a:rPr>
              <a:t>=</a:t>
            </a:r>
            <a:r>
              <a:rPr>
                <a:latin typeface="Courier"/>
              </a:rPr>
              <a:t> </a:t>
            </a:r>
            <a:r>
              <a:rPr>
                <a:solidFill>
                  <a:srgbClr val="4070A0"/>
                </a:solidFill>
                <a:latin typeface="Courier"/>
              </a:rPr>
              <a:t>"#D55E00"</a:t>
            </a:r>
            <a:r>
              <a:rPr>
                <a:latin typeface="Courier"/>
              </a:rPr>
              <a:t>,</a:t>
            </a:r>
            <a:br/>
            <a:r>
              <a:rPr>
                <a:latin typeface="Courier"/>
              </a:rPr>
              <a:t>    </a:t>
            </a:r>
            <a:r>
              <a:rPr>
                <a:solidFill>
                  <a:srgbClr val="4070A0"/>
                </a:solidFill>
                <a:latin typeface="Courier"/>
              </a:rPr>
              <a:t>"Proton Density"</a:t>
            </a:r>
            <a:r>
              <a:rPr>
                <a:latin typeface="Courier"/>
              </a:rPr>
              <a:t> </a:t>
            </a:r>
            <a:r>
              <a:rPr>
                <a:solidFill>
                  <a:srgbClr val="007020"/>
                </a:solidFill>
                <a:latin typeface="Courier"/>
              </a:rPr>
              <a:t>=</a:t>
            </a:r>
            <a:r>
              <a:rPr>
                <a:latin typeface="Courier"/>
              </a:rPr>
              <a:t> </a:t>
            </a:r>
            <a:r>
              <a:rPr>
                <a:solidFill>
                  <a:srgbClr val="4070A0"/>
                </a:solidFill>
                <a:latin typeface="Courier"/>
              </a:rPr>
              <a:t>"#009E73"</a:t>
            </a:r>
            <a:r>
              <a:rPr>
                <a:latin typeface="Courier"/>
              </a:rPr>
              <a:t>, </a:t>
            </a:r>
            <a:r>
              <a:rPr>
                <a:solidFill>
                  <a:srgbClr val="4070A0"/>
                </a:solidFill>
                <a:latin typeface="Courier"/>
              </a:rPr>
              <a:t>"Low Signal"</a:t>
            </a:r>
            <a:r>
              <a:rPr>
                <a:latin typeface="Courier"/>
              </a:rPr>
              <a:t> </a:t>
            </a:r>
            <a:r>
              <a:rPr>
                <a:solidFill>
                  <a:srgbClr val="007020"/>
                </a:solidFill>
                <a:latin typeface="Courier"/>
              </a:rPr>
              <a:t>=</a:t>
            </a:r>
            <a:r>
              <a:rPr>
                <a:latin typeface="Courier"/>
              </a:rPr>
              <a:t> </a:t>
            </a:r>
            <a:r>
              <a:rPr>
                <a:solidFill>
                  <a:srgbClr val="4070A0"/>
                </a:solidFill>
                <a:latin typeface="Courier"/>
              </a:rPr>
              <a:t>"grey30"</a:t>
            </a:r>
            <a:br/>
            <a:r>
              <a:rPr>
                <a:latin typeface="Courier"/>
              </a:rPr>
              <a:t>  )) </a:t>
            </a:r>
            <a:r>
              <a:rPr>
                <a:solidFill>
                  <a:srgbClr val="4070A0"/>
                </a:solidFill>
                <a:latin typeface="Courier"/>
              </a:rPr>
              <a:t>+</a:t>
            </a:r>
            <a:br/>
            <a:r>
              <a:rPr>
                <a:latin typeface="Courier"/>
              </a:rPr>
              <a:t>  </a:t>
            </a:r>
            <a:r>
              <a:rPr>
                <a:solidFill>
                  <a:srgbClr val="06287E"/>
                </a:solidFill>
                <a:latin typeface="Courier"/>
              </a:rPr>
              <a:t>labs</a:t>
            </a:r>
            <a:r>
              <a:rPr>
                <a:latin typeface="Courier"/>
              </a:rPr>
              <a:t>(</a:t>
            </a:r>
            <a:br/>
            <a:r>
              <a:rPr>
                <a:latin typeface="Courier"/>
              </a:rPr>
              <a:t>    </a:t>
            </a:r>
            <a:r>
              <a:rPr>
                <a:solidFill>
                  <a:srgbClr val="7D9029"/>
                </a:solidFill>
                <a:latin typeface="Courier"/>
              </a:rPr>
              <a:t>title =</a:t>
            </a:r>
            <a:r>
              <a:rPr>
                <a:latin typeface="Courier"/>
              </a:rPr>
              <a:t> </a:t>
            </a:r>
            <a:r>
              <a:rPr>
                <a:solidFill>
                  <a:srgbClr val="4070A0"/>
                </a:solidFill>
                <a:latin typeface="Courier"/>
              </a:rPr>
              <a:t>"MRI Contrast Recipe"</a:t>
            </a:r>
            <a:r>
              <a:rPr>
                <a:latin typeface="Courier"/>
              </a:rPr>
              <a:t>,</a:t>
            </a:r>
            <a:br/>
            <a:r>
              <a:rPr>
                <a:latin typeface="Courier"/>
              </a:rPr>
              <a:t>    </a:t>
            </a:r>
            <a:r>
              <a:rPr>
                <a:solidFill>
                  <a:srgbClr val="7D9029"/>
                </a:solidFill>
                <a:latin typeface="Courier"/>
              </a:rPr>
              <a:t>x =</a:t>
            </a:r>
            <a:r>
              <a:rPr>
                <a:latin typeface="Courier"/>
              </a:rPr>
              <a:t> </a:t>
            </a:r>
            <a:r>
              <a:rPr>
                <a:solidFill>
                  <a:srgbClr val="4070A0"/>
                </a:solidFill>
                <a:latin typeface="Courier"/>
              </a:rPr>
              <a:t>"Echo Time (TE)"</a:t>
            </a:r>
            <a:r>
              <a:rPr>
                <a:latin typeface="Courier"/>
              </a:rPr>
              <a:t>,</a:t>
            </a:r>
            <a:br/>
            <a:r>
              <a:rPr>
                <a:latin typeface="Courier"/>
              </a:rPr>
              <a:t>    </a:t>
            </a:r>
            <a:r>
              <a:rPr>
                <a:solidFill>
                  <a:srgbClr val="7D9029"/>
                </a:solidFill>
                <a:latin typeface="Courier"/>
              </a:rPr>
              <a:t>y =</a:t>
            </a:r>
            <a:r>
              <a:rPr>
                <a:latin typeface="Courier"/>
              </a:rPr>
              <a:t> </a:t>
            </a:r>
            <a:r>
              <a:rPr>
                <a:solidFill>
                  <a:srgbClr val="4070A0"/>
                </a:solidFill>
                <a:latin typeface="Courier"/>
              </a:rPr>
              <a:t>"Repetition Time (TR)"</a:t>
            </a:r>
            <a:br/>
            <a:r>
              <a:rPr>
                <a:latin typeface="Courier"/>
              </a:rPr>
              <a:t>  ) </a:t>
            </a:r>
            <a:r>
              <a:rPr>
                <a:solidFill>
                  <a:srgbClr val="4070A0"/>
                </a:solidFill>
                <a:latin typeface="Courier"/>
              </a:rPr>
              <a:t>+</a:t>
            </a:r>
            <a:br/>
            <a:r>
              <a:rPr>
                <a:latin typeface="Courier"/>
              </a:rPr>
              <a:t>  </a:t>
            </a:r>
            <a:r>
              <a:rPr>
                <a:solidFill>
                  <a:srgbClr val="06287E"/>
                </a:solidFill>
                <a:latin typeface="Courier"/>
              </a:rPr>
              <a:t>theme_minimal</a:t>
            </a:r>
            <a:r>
              <a:rPr>
                <a:latin typeface="Courier"/>
              </a:rPr>
              <a:t>(</a:t>
            </a:r>
            <a:r>
              <a:rPr>
                <a:solidFill>
                  <a:srgbClr val="7D9029"/>
                </a:solidFill>
                <a:latin typeface="Courier"/>
              </a:rPr>
              <a:t>base_size =</a:t>
            </a:r>
            <a:r>
              <a:rPr>
                <a:latin typeface="Courier"/>
              </a:rPr>
              <a:t> </a:t>
            </a:r>
            <a:r>
              <a:rPr>
                <a:solidFill>
                  <a:srgbClr val="40A070"/>
                </a:solidFill>
                <a:latin typeface="Courier"/>
              </a:rPr>
              <a:t>16</a:t>
            </a:r>
            <a:r>
              <a:rPr>
                <a:latin typeface="Courier"/>
              </a:rPr>
              <a:t>) </a:t>
            </a:r>
            <a:r>
              <a:rPr>
                <a:solidFill>
                  <a:srgbClr val="4070A0"/>
                </a:solidFill>
                <a:latin typeface="Courier"/>
              </a:rPr>
              <a:t>+</a:t>
            </a:r>
            <a:br/>
            <a:r>
              <a:rPr>
                <a:latin typeface="Courier"/>
              </a:rPr>
              <a:t>  </a:t>
            </a:r>
            <a:r>
              <a:rPr>
                <a:solidFill>
                  <a:srgbClr val="06287E"/>
                </a:solidFill>
                <a:latin typeface="Courier"/>
              </a:rPr>
              <a:t>theme</a:t>
            </a:r>
            <a:r>
              <a:rPr>
                <a:latin typeface="Courier"/>
              </a:rPr>
              <a:t>(</a:t>
            </a:r>
            <a:br/>
            <a:r>
              <a:rPr>
                <a:latin typeface="Courier"/>
              </a:rPr>
              <a:t>    </a:t>
            </a:r>
            <a:r>
              <a:rPr>
                <a:solidFill>
                  <a:srgbClr val="7D9029"/>
                </a:solidFill>
                <a:latin typeface="Courier"/>
              </a:rPr>
              <a:t>plot.title =</a:t>
            </a:r>
            <a:r>
              <a:rPr>
                <a:latin typeface="Courier"/>
              </a:rPr>
              <a:t> </a:t>
            </a:r>
            <a:r>
              <a:rPr>
                <a:solidFill>
                  <a:srgbClr val="06287E"/>
                </a:solidFill>
                <a:latin typeface="Courier"/>
              </a:rPr>
              <a:t>element_text</a:t>
            </a:r>
            <a:r>
              <a:rPr>
                <a:latin typeface="Courier"/>
              </a:rPr>
              <a:t>(</a:t>
            </a:r>
            <a:r>
              <a:rPr>
                <a:solidFill>
                  <a:srgbClr val="7D9029"/>
                </a:solidFill>
                <a:latin typeface="Courier"/>
              </a:rPr>
              <a:t>hjust =</a:t>
            </a:r>
            <a:r>
              <a:rPr>
                <a:latin typeface="Courier"/>
              </a:rPr>
              <a:t> </a:t>
            </a:r>
            <a:r>
              <a:rPr>
                <a:solidFill>
                  <a:srgbClr val="40A070"/>
                </a:solidFill>
                <a:latin typeface="Courier"/>
              </a:rPr>
              <a:t>0.5</a:t>
            </a:r>
            <a:r>
              <a:rPr>
                <a:latin typeface="Courier"/>
              </a:rPr>
              <a:t>),</a:t>
            </a:r>
            <a:br/>
            <a:r>
              <a:rPr>
                <a:latin typeface="Courier"/>
              </a:rPr>
              <a:t>    </a:t>
            </a:r>
            <a:r>
              <a:rPr>
                <a:solidFill>
                  <a:srgbClr val="7D9029"/>
                </a:solidFill>
                <a:latin typeface="Courier"/>
              </a:rPr>
              <a:t>legend.position =</a:t>
            </a:r>
            <a:r>
              <a:rPr>
                <a:latin typeface="Courier"/>
              </a:rPr>
              <a:t> </a:t>
            </a:r>
            <a:r>
              <a:rPr>
                <a:solidFill>
                  <a:srgbClr val="4070A0"/>
                </a:solidFill>
                <a:latin typeface="Courier"/>
              </a:rPr>
              <a:t>"none"</a:t>
            </a:r>
            <a:br/>
            <a:r>
              <a:rPr>
                <a:latin typeface="Courier"/>
              </a:rPr>
              <a:t>  )</a:t>
            </a:r>
          </a:p>
        </p:txBody>
      </p:sp>
      <p:pic>
        <p:nvPicPr>
          <p:cNvPr descr="MRI_Physics_I_files/figure-pptx/contrast_matrix_code-1.pn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Visual: The Contrast Matrix</a:t>
            </a:r>
          </a:p>
        </p:txBody>
      </p:sp>
      <p:pic>
        <p:nvPicPr>
          <p:cNvPr descr="MRI_Physics_I_files/figure-pptx/contrast_matrix_plot-1.png" id="0" name="Picture 1"/>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4: Advanced Physics &amp; Thermodynamics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Boltzmann Magnetization</a:t>
            </a:r>
          </a:p>
        </p:txBody>
      </p:sp>
      <p:sp>
        <p:nvSpPr>
          <p:cNvPr id="3" name="Content Placeholder 2"/>
          <p:cNvSpPr>
            <a:spLocks noGrp="1"/>
          </p:cNvSpPr>
          <p:nvPr>
            <p:ph idx="1"/>
          </p:nvPr>
        </p:nvSpPr>
        <p:spPr/>
        <p:txBody>
          <a:bodyPr/>
          <a:lstStyle/>
          <a:p>
            <a:pPr lvl="0"/>
            <a:r>
              <a:rPr/>
              <a:t>Quantum mechanics dictates two energy states: Spin Up (lower energy) and Spin Down (higher energy).</a:t>
            </a:r>
          </a:p>
          <a:p>
            <a:pPr lvl="0"/>
            <a:r>
              <a:rPr b="1"/>
              <a:t>Polarization:</a:t>
            </a:r>
            <a:r>
              <a:rPr/>
              <a:t> The difference in population between the two states.</a:t>
            </a:r>
          </a:p>
          <a:p>
            <a:pPr lvl="0"/>
            <a:r>
              <a:rPr/>
              <a:t>The difference is miniscule: only ~3 per million protons contribute to the signal at clinical field strengths.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Boltzmann Equation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r>
                        <m:t>P</m:t>
                      </m:r>
                      <m:r>
                        <m:rPr>
                          <m:sty m:val="p"/>
                        </m:rPr>
                        <m:t>≈</m:t>
                      </m:r>
                      <m:f>
                        <m:fPr>
                          <m:type m:val="bar"/>
                        </m:fPr>
                        <m:num>
                          <m:r>
                            <m:t>γ</m:t>
                          </m:r>
                          <m:r>
                            <m:rPr>
                              <m:sty m:val="p"/>
                            </m:rPr>
                            <m:t>ℏ</m:t>
                          </m:r>
                          <m:r>
                            <m:t>B</m:t>
                          </m:r>
                        </m:num>
                        <m:den>
                          <m:r>
                            <m:t>2</m:t>
                          </m:r>
                          <m:r>
                            <m:t>k</m:t>
                          </m:r>
                          <m:r>
                            <m:t>T</m:t>
                          </m:r>
                        </m:den>
                      </m:f>
                    </m:oMath>
                  </m:oMathPara>
                </a14:m>
              </a:p>
              <a:p>
                <a:pPr lvl="0"/>
                <a:r>
                  <a:rPr b="1"/>
                  <a:t>P:</a:t>
                </a:r>
                <a:r>
                  <a:rPr/>
                  <a:t> Polarization (the excess fraction of spins).</a:t>
                </a:r>
              </a:p>
              <a:p>
                <a:pPr lvl="0"/>
                <a14:m>
                  <m:oMathPara xmlns:m="http://schemas.openxmlformats.org/officeDocument/2006/math">
                    <m:oMathParaPr>
                      <m:jc m:val="center"/>
                    </m:oMathParaPr>
                    <m:oMath>
                      <m:r>
                        <m:t>γ</m:t>
                      </m:r>
                      <m:r>
                        <m:rPr>
                          <m:sty m:val="p"/>
                        </m:rPr>
                        <m:t>ℏ</m:t>
                      </m:r>
                    </m:oMath>
                  </m:oMathPara>
                </a14:m>
                <a:r>
                  <a:rPr b="1"/>
                  <a:t>:</a:t>
                </a:r>
                <a:r>
                  <a:rPr/>
                  <a:t> Magnetic moment of the proton.</a:t>
                </a:r>
              </a:p>
              <a:p>
                <a:pPr lvl="0"/>
                <a:r>
                  <a:rPr b="1"/>
                  <a:t>B:</a:t>
                </a:r>
                <a:r>
                  <a:rPr/>
                  <a:t> Magnetic field strength.</a:t>
                </a:r>
              </a:p>
              <a:p>
                <a:pPr lvl="0"/>
                <a:r>
                  <a:rPr b="1"/>
                  <a:t>k:</a:t>
                </a:r>
                <a:r>
                  <a:rPr/>
                  <a:t> Boltzmann’s constant.</a:t>
                </a:r>
              </a:p>
              <a:p>
                <a:pPr lvl="0"/>
                <a:r>
                  <a:rPr b="1"/>
                  <a:t>T:</a:t>
                </a:r>
                <a:r>
                  <a:rPr/>
                  <a:t> Temperature in Kelvin.</a:t>
                </a:r>
              </a:p>
            </p:txBody>
          </p:sp>
        </mc:Choice>
      </mc:AlternateContent>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 Code: Boltzmann Polarization</a:t>
            </a:r>
          </a:p>
        </p:txBody>
      </p:sp>
      <p:sp>
        <p:nvSpPr>
          <p:cNvPr id="4" name="Text Placeholder 3"/>
          <p:cNvSpPr>
            <a:spLocks noGrp="1"/>
          </p:cNvSpPr>
          <p:nvPr>
            <p:ph idx="2" sz="half" type="body"/>
          </p:nvPr>
        </p:nvSpPr>
        <p:spPr/>
        <p:txBody>
          <a:bodyPr/>
          <a:lstStyle/>
          <a:p>
            <a:pPr lvl="0" indent="0">
              <a:buNone/>
            </a:pPr>
            <a:r>
              <a:rPr i="1">
                <a:solidFill>
                  <a:srgbClr val="60A0B0"/>
                </a:solidFill>
                <a:latin typeface="Courier"/>
              </a:rPr>
              <a:t># Define populations</a:t>
            </a:r>
            <a:br/>
            <a:r>
              <a:rPr>
                <a:latin typeface="Courier"/>
              </a:rPr>
              <a:t>total_spins </a:t>
            </a:r>
            <a:r>
              <a:rPr>
                <a:solidFill>
                  <a:srgbClr val="007020"/>
                </a:solidFill>
                <a:latin typeface="Courier"/>
              </a:rPr>
              <a:t>&lt;-</a:t>
            </a:r>
            <a:r>
              <a:rPr>
                <a:latin typeface="Courier"/>
              </a:rPr>
              <a:t> </a:t>
            </a:r>
            <a:r>
              <a:rPr>
                <a:solidFill>
                  <a:srgbClr val="40A070"/>
                </a:solidFill>
                <a:latin typeface="Courier"/>
              </a:rPr>
              <a:t>1000000</a:t>
            </a:r>
            <a:br/>
            <a:r>
              <a:rPr>
                <a:latin typeface="Courier"/>
              </a:rPr>
              <a:t>excess </a:t>
            </a:r>
            <a:r>
              <a:rPr>
                <a:solidFill>
                  <a:srgbClr val="007020"/>
                </a:solidFill>
                <a:latin typeface="Courier"/>
              </a:rPr>
              <a:t>&lt;-</a:t>
            </a:r>
            <a:r>
              <a:rPr>
                <a:latin typeface="Courier"/>
              </a:rPr>
              <a:t> </a:t>
            </a:r>
            <a:r>
              <a:rPr>
                <a:solidFill>
                  <a:srgbClr val="40A070"/>
                </a:solidFill>
                <a:latin typeface="Courier"/>
              </a:rPr>
              <a:t>3</a:t>
            </a:r>
            <a:br/>
            <a:r>
              <a:rPr>
                <a:latin typeface="Courier"/>
              </a:rPr>
              <a:t>spin_down </a:t>
            </a:r>
            <a:r>
              <a:rPr>
                <a:solidFill>
                  <a:srgbClr val="007020"/>
                </a:solidFill>
                <a:latin typeface="Courier"/>
              </a:rPr>
              <a:t>&lt;-</a:t>
            </a:r>
            <a:r>
              <a:rPr>
                <a:latin typeface="Courier"/>
              </a:rPr>
              <a:t> (total_spins </a:t>
            </a:r>
            <a:r>
              <a:rPr>
                <a:solidFill>
                  <a:srgbClr val="4070A0"/>
                </a:solidFill>
                <a:latin typeface="Courier"/>
              </a:rPr>
              <a:t>-</a:t>
            </a:r>
            <a:r>
              <a:rPr>
                <a:latin typeface="Courier"/>
              </a:rPr>
              <a:t> excess) </a:t>
            </a:r>
            <a:r>
              <a:rPr>
                <a:solidFill>
                  <a:srgbClr val="4070A0"/>
                </a:solidFill>
                <a:latin typeface="Courier"/>
              </a:rPr>
              <a:t>/</a:t>
            </a:r>
            <a:r>
              <a:rPr>
                <a:latin typeface="Courier"/>
              </a:rPr>
              <a:t> </a:t>
            </a:r>
            <a:r>
              <a:rPr>
                <a:solidFill>
                  <a:srgbClr val="40A070"/>
                </a:solidFill>
                <a:latin typeface="Courier"/>
              </a:rPr>
              <a:t>2</a:t>
            </a:r>
            <a:br/>
            <a:r>
              <a:rPr>
                <a:latin typeface="Courier"/>
              </a:rPr>
              <a:t>spin_up </a:t>
            </a:r>
            <a:r>
              <a:rPr>
                <a:solidFill>
                  <a:srgbClr val="007020"/>
                </a:solidFill>
                <a:latin typeface="Courier"/>
              </a:rPr>
              <a:t>&lt;-</a:t>
            </a:r>
            <a:r>
              <a:rPr>
                <a:latin typeface="Courier"/>
              </a:rPr>
              <a:t> (total_spins </a:t>
            </a:r>
            <a:r>
              <a:rPr>
                <a:solidFill>
                  <a:srgbClr val="4070A0"/>
                </a:solidFill>
                <a:latin typeface="Courier"/>
              </a:rPr>
              <a:t>+</a:t>
            </a:r>
            <a:r>
              <a:rPr>
                <a:latin typeface="Courier"/>
              </a:rPr>
              <a:t> excess) </a:t>
            </a:r>
            <a:r>
              <a:rPr>
                <a:solidFill>
                  <a:srgbClr val="4070A0"/>
                </a:solidFill>
                <a:latin typeface="Courier"/>
              </a:rPr>
              <a:t>/</a:t>
            </a:r>
            <a:r>
              <a:rPr>
                <a:latin typeface="Courier"/>
              </a:rPr>
              <a:t> </a:t>
            </a:r>
            <a:r>
              <a:rPr>
                <a:solidFill>
                  <a:srgbClr val="40A070"/>
                </a:solidFill>
                <a:latin typeface="Courier"/>
              </a:rPr>
              <a:t>2</a:t>
            </a:r>
            <a:br/>
            <a:br/>
            <a:r>
              <a:rPr>
                <a:latin typeface="Courier"/>
              </a:rPr>
              <a:t>boltzmann_data </a:t>
            </a:r>
            <a:r>
              <a:rPr>
                <a:solidFill>
                  <a:srgbClr val="007020"/>
                </a:solidFill>
                <a:latin typeface="Courier"/>
              </a:rPr>
              <a:t>&lt;-</a:t>
            </a:r>
            <a:r>
              <a:rPr>
                <a:latin typeface="Courier"/>
              </a:rPr>
              <a:t> </a:t>
            </a:r>
            <a:r>
              <a:rPr>
                <a:solidFill>
                  <a:srgbClr val="06287E"/>
                </a:solidFill>
                <a:latin typeface="Courier"/>
              </a:rPr>
              <a:t>data.frame</a:t>
            </a:r>
            <a:r>
              <a:rPr>
                <a:latin typeface="Courier"/>
              </a:rPr>
              <a:t>(</a:t>
            </a:r>
            <a:br/>
            <a:r>
              <a:rPr>
                <a:latin typeface="Courier"/>
              </a:rPr>
              <a:t>  </a:t>
            </a:r>
            <a:r>
              <a:rPr>
                <a:solidFill>
                  <a:srgbClr val="7D9029"/>
                </a:solidFill>
                <a:latin typeface="Courier"/>
              </a:rPr>
              <a:t>State =</a:t>
            </a:r>
            <a:r>
              <a:rPr>
                <a:latin typeface="Courier"/>
              </a:rPr>
              <a:t> </a:t>
            </a:r>
            <a:r>
              <a:rPr>
                <a:solidFill>
                  <a:srgbClr val="06287E"/>
                </a:solidFill>
                <a:latin typeface="Courier"/>
              </a:rPr>
              <a:t>c</a:t>
            </a:r>
            <a:r>
              <a:rPr>
                <a:latin typeface="Courier"/>
              </a:rPr>
              <a:t>(</a:t>
            </a:r>
            <a:r>
              <a:rPr>
                <a:solidFill>
                  <a:srgbClr val="4070A0"/>
                </a:solidFill>
                <a:latin typeface="Courier"/>
              </a:rPr>
              <a:t>"Spin Down"</a:t>
            </a:r>
            <a:r>
              <a:rPr>
                <a:latin typeface="Courier"/>
              </a:rPr>
              <a:t>, </a:t>
            </a:r>
            <a:r>
              <a:rPr>
                <a:solidFill>
                  <a:srgbClr val="4070A0"/>
                </a:solidFill>
                <a:latin typeface="Courier"/>
              </a:rPr>
              <a:t>"Spin Up"</a:t>
            </a:r>
            <a:r>
              <a:rPr>
                <a:latin typeface="Courier"/>
              </a:rPr>
              <a:t>),</a:t>
            </a:r>
            <a:br/>
            <a:r>
              <a:rPr>
                <a:latin typeface="Courier"/>
              </a:rPr>
              <a:t>  </a:t>
            </a:r>
            <a:r>
              <a:rPr>
                <a:solidFill>
                  <a:srgbClr val="7D9029"/>
                </a:solidFill>
                <a:latin typeface="Courier"/>
              </a:rPr>
              <a:t>Population =</a:t>
            </a:r>
            <a:r>
              <a:rPr>
                <a:latin typeface="Courier"/>
              </a:rPr>
              <a:t> </a:t>
            </a:r>
            <a:r>
              <a:rPr>
                <a:solidFill>
                  <a:srgbClr val="06287E"/>
                </a:solidFill>
                <a:latin typeface="Courier"/>
              </a:rPr>
              <a:t>c</a:t>
            </a:r>
            <a:r>
              <a:rPr>
                <a:latin typeface="Courier"/>
              </a:rPr>
              <a:t>(spin_down, spin_up)</a:t>
            </a:r>
            <a:br/>
            <a:r>
              <a:rPr>
                <a:latin typeface="Courier"/>
              </a:rPr>
              <a:t>)</a:t>
            </a:r>
            <a:br/>
            <a:br/>
            <a:r>
              <a:rPr>
                <a:solidFill>
                  <a:srgbClr val="06287E"/>
                </a:solidFill>
                <a:latin typeface="Courier"/>
              </a:rPr>
              <a:t>ggplot</a:t>
            </a:r>
            <a:r>
              <a:rPr>
                <a:latin typeface="Courier"/>
              </a:rPr>
              <a:t>(boltzmann_data, </a:t>
            </a:r>
            <a:r>
              <a:rPr>
                <a:solidFill>
                  <a:srgbClr val="06287E"/>
                </a:solidFill>
                <a:latin typeface="Courier"/>
              </a:rPr>
              <a:t>aes</a:t>
            </a:r>
            <a:r>
              <a:rPr>
                <a:latin typeface="Courier"/>
              </a:rPr>
              <a:t>(</a:t>
            </a:r>
            <a:r>
              <a:rPr>
                <a:solidFill>
                  <a:srgbClr val="7D9029"/>
                </a:solidFill>
                <a:latin typeface="Courier"/>
              </a:rPr>
              <a:t>x =</a:t>
            </a:r>
            <a:r>
              <a:rPr>
                <a:latin typeface="Courier"/>
              </a:rPr>
              <a:t> State, </a:t>
            </a:r>
            <a:r>
              <a:rPr>
                <a:solidFill>
                  <a:srgbClr val="7D9029"/>
                </a:solidFill>
                <a:latin typeface="Courier"/>
              </a:rPr>
              <a:t>y =</a:t>
            </a:r>
            <a:r>
              <a:rPr>
                <a:latin typeface="Courier"/>
              </a:rPr>
              <a:t> Population, </a:t>
            </a:r>
            <a:r>
              <a:rPr>
                <a:solidFill>
                  <a:srgbClr val="7D9029"/>
                </a:solidFill>
                <a:latin typeface="Courier"/>
              </a:rPr>
              <a:t>fill =</a:t>
            </a:r>
            <a:r>
              <a:rPr>
                <a:latin typeface="Courier"/>
              </a:rPr>
              <a:t> State)) </a:t>
            </a:r>
            <a:r>
              <a:rPr>
                <a:solidFill>
                  <a:srgbClr val="4070A0"/>
                </a:solidFill>
                <a:latin typeface="Courier"/>
              </a:rPr>
              <a:t>+</a:t>
            </a:r>
            <a:br/>
            <a:r>
              <a:rPr>
                <a:latin typeface="Courier"/>
              </a:rPr>
              <a:t>  </a:t>
            </a:r>
            <a:r>
              <a:rPr>
                <a:solidFill>
                  <a:srgbClr val="06287E"/>
                </a:solidFill>
                <a:latin typeface="Courier"/>
              </a:rPr>
              <a:t>geom_bar</a:t>
            </a:r>
            <a:r>
              <a:rPr>
                <a:latin typeface="Courier"/>
              </a:rPr>
              <a:t>(</a:t>
            </a:r>
            <a:r>
              <a:rPr>
                <a:solidFill>
                  <a:srgbClr val="7D9029"/>
                </a:solidFill>
                <a:latin typeface="Courier"/>
              </a:rPr>
              <a:t>stat =</a:t>
            </a:r>
            <a:r>
              <a:rPr>
                <a:latin typeface="Courier"/>
              </a:rPr>
              <a:t> </a:t>
            </a:r>
            <a:r>
              <a:rPr>
                <a:solidFill>
                  <a:srgbClr val="4070A0"/>
                </a:solidFill>
                <a:latin typeface="Courier"/>
              </a:rPr>
              <a:t>"identity"</a:t>
            </a:r>
            <a:r>
              <a:rPr>
                <a:latin typeface="Courier"/>
              </a:rPr>
              <a:t>, </a:t>
            </a:r>
            <a:r>
              <a:rPr>
                <a:solidFill>
                  <a:srgbClr val="7D9029"/>
                </a:solidFill>
                <a:latin typeface="Courier"/>
              </a:rPr>
              <a:t>width =</a:t>
            </a:r>
            <a:r>
              <a:rPr>
                <a:latin typeface="Courier"/>
              </a:rPr>
              <a:t> </a:t>
            </a:r>
            <a:r>
              <a:rPr>
                <a:solidFill>
                  <a:srgbClr val="40A070"/>
                </a:solidFill>
                <a:latin typeface="Courier"/>
              </a:rPr>
              <a:t>0.5</a:t>
            </a:r>
            <a:r>
              <a:rPr>
                <a:latin typeface="Courier"/>
              </a:rPr>
              <a:t>) </a:t>
            </a:r>
            <a:r>
              <a:rPr>
                <a:solidFill>
                  <a:srgbClr val="4070A0"/>
                </a:solidFill>
                <a:latin typeface="Courier"/>
              </a:rPr>
              <a:t>+</a:t>
            </a:r>
            <a:br/>
            <a:r>
              <a:rPr>
                <a:latin typeface="Courier"/>
              </a:rPr>
              <a:t>  </a:t>
            </a:r>
            <a:r>
              <a:rPr>
                <a:solidFill>
                  <a:srgbClr val="06287E"/>
                </a:solidFill>
                <a:latin typeface="Courier"/>
              </a:rPr>
              <a:t>geom_text</a:t>
            </a:r>
            <a:r>
              <a:rPr>
                <a:latin typeface="Courier"/>
              </a:rPr>
              <a:t>(</a:t>
            </a:r>
            <a:r>
              <a:rPr>
                <a:solidFill>
                  <a:srgbClr val="06287E"/>
                </a:solidFill>
                <a:latin typeface="Courier"/>
              </a:rPr>
              <a:t>aes</a:t>
            </a:r>
            <a:r>
              <a:rPr>
                <a:latin typeface="Courier"/>
              </a:rPr>
              <a:t>(</a:t>
            </a:r>
            <a:r>
              <a:rPr>
                <a:solidFill>
                  <a:srgbClr val="7D9029"/>
                </a:solidFill>
                <a:latin typeface="Courier"/>
              </a:rPr>
              <a:t>label =</a:t>
            </a:r>
            <a:r>
              <a:rPr>
                <a:latin typeface="Courier"/>
              </a:rPr>
              <a:t> scales</a:t>
            </a:r>
            <a:r>
              <a:rPr>
                <a:solidFill>
                  <a:srgbClr val="4070A0"/>
                </a:solidFill>
                <a:latin typeface="Courier"/>
              </a:rPr>
              <a:t>::</a:t>
            </a:r>
            <a:r>
              <a:rPr>
                <a:solidFill>
                  <a:srgbClr val="06287E"/>
                </a:solidFill>
                <a:latin typeface="Courier"/>
              </a:rPr>
              <a:t>comma</a:t>
            </a:r>
            <a:r>
              <a:rPr>
                <a:latin typeface="Courier"/>
              </a:rPr>
              <a:t>(Population)), </a:t>
            </a:r>
            <a:r>
              <a:rPr>
                <a:solidFill>
                  <a:srgbClr val="7D9029"/>
                </a:solidFill>
                <a:latin typeface="Courier"/>
              </a:rPr>
              <a:t>vjust =</a:t>
            </a:r>
            <a:r>
              <a:rPr>
                <a:latin typeface="Courier"/>
              </a:rPr>
              <a:t> </a:t>
            </a:r>
            <a:r>
              <a:rPr>
                <a:solidFill>
                  <a:srgbClr val="4070A0"/>
                </a:solidFill>
                <a:latin typeface="Courier"/>
              </a:rPr>
              <a:t>-</a:t>
            </a:r>
            <a:r>
              <a:rPr>
                <a:solidFill>
                  <a:srgbClr val="40A070"/>
                </a:solidFill>
                <a:latin typeface="Courier"/>
              </a:rPr>
              <a:t>0.5</a:t>
            </a:r>
            <a:r>
              <a:rPr>
                <a:latin typeface="Courier"/>
              </a:rPr>
              <a:t>, </a:t>
            </a:r>
            <a:r>
              <a:rPr>
                <a:solidFill>
                  <a:srgbClr val="7D9029"/>
                </a:solidFill>
                <a:latin typeface="Courier"/>
              </a:rPr>
              <a:t>size =</a:t>
            </a:r>
            <a:r>
              <a:rPr>
                <a:latin typeface="Courier"/>
              </a:rPr>
              <a:t> </a:t>
            </a:r>
            <a:r>
              <a:rPr>
                <a:solidFill>
                  <a:srgbClr val="40A070"/>
                </a:solidFill>
                <a:latin typeface="Courier"/>
              </a:rPr>
              <a:t>5</a:t>
            </a:r>
            <a:r>
              <a:rPr>
                <a:latin typeface="Courier"/>
              </a:rPr>
              <a:t>) </a:t>
            </a:r>
            <a:r>
              <a:rPr>
                <a:solidFill>
                  <a:srgbClr val="4070A0"/>
                </a:solidFill>
                <a:latin typeface="Courier"/>
              </a:rPr>
              <a:t>+</a:t>
            </a:r>
            <a:br/>
            <a:r>
              <a:rPr>
                <a:latin typeface="Courier"/>
              </a:rPr>
              <a:t>  </a:t>
            </a:r>
            <a:r>
              <a:rPr>
                <a:solidFill>
                  <a:srgbClr val="06287E"/>
                </a:solidFill>
                <a:latin typeface="Courier"/>
              </a:rPr>
              <a:t>scale_y_continuous</a:t>
            </a:r>
            <a:r>
              <a:rPr>
                <a:latin typeface="Courier"/>
              </a:rPr>
              <a:t>(</a:t>
            </a:r>
            <a:r>
              <a:rPr>
                <a:solidFill>
                  <a:srgbClr val="7D9029"/>
                </a:solidFill>
                <a:latin typeface="Courier"/>
              </a:rPr>
              <a:t>labels =</a:t>
            </a:r>
            <a:r>
              <a:rPr>
                <a:latin typeface="Courier"/>
              </a:rPr>
              <a:t> scales</a:t>
            </a:r>
            <a:r>
              <a:rPr>
                <a:solidFill>
                  <a:srgbClr val="4070A0"/>
                </a:solidFill>
                <a:latin typeface="Courier"/>
              </a:rPr>
              <a:t>::</a:t>
            </a:r>
            <a:r>
              <a:rPr>
                <a:latin typeface="Courier"/>
              </a:rPr>
              <a:t>comma, </a:t>
            </a:r>
            <a:r>
              <a:rPr>
                <a:solidFill>
                  <a:srgbClr val="7D9029"/>
                </a:solidFill>
                <a:latin typeface="Courier"/>
              </a:rPr>
              <a:t>limits =</a:t>
            </a:r>
            <a:r>
              <a:rPr>
                <a:latin typeface="Courier"/>
              </a:rPr>
              <a:t> </a:t>
            </a:r>
            <a:r>
              <a:rPr>
                <a:solidFill>
                  <a:srgbClr val="06287E"/>
                </a:solidFill>
                <a:latin typeface="Courier"/>
              </a:rPr>
              <a:t>c</a:t>
            </a:r>
            <a:r>
              <a:rPr>
                <a:latin typeface="Courier"/>
              </a:rPr>
              <a:t>(</a:t>
            </a:r>
            <a:r>
              <a:rPr>
                <a:solidFill>
                  <a:srgbClr val="40A070"/>
                </a:solidFill>
                <a:latin typeface="Courier"/>
              </a:rPr>
              <a:t>0</a:t>
            </a:r>
            <a:r>
              <a:rPr>
                <a:latin typeface="Courier"/>
              </a:rPr>
              <a:t>, spin_up </a:t>
            </a:r>
            <a:r>
              <a:rPr>
                <a:solidFill>
                  <a:srgbClr val="4070A0"/>
                </a:solidFill>
                <a:latin typeface="Courier"/>
              </a:rPr>
              <a:t>*</a:t>
            </a:r>
            <a:r>
              <a:rPr>
                <a:latin typeface="Courier"/>
              </a:rPr>
              <a:t> </a:t>
            </a:r>
            <a:r>
              <a:rPr>
                <a:solidFill>
                  <a:srgbClr val="40A070"/>
                </a:solidFill>
                <a:latin typeface="Courier"/>
              </a:rPr>
              <a:t>1.01</a:t>
            </a:r>
            <a:r>
              <a:rPr>
                <a:latin typeface="Courier"/>
              </a:rPr>
              <a:t>)) </a:t>
            </a:r>
            <a:r>
              <a:rPr>
                <a:solidFill>
                  <a:srgbClr val="4070A0"/>
                </a:solidFill>
                <a:latin typeface="Courier"/>
              </a:rPr>
              <a:t>+</a:t>
            </a:r>
            <a:br/>
            <a:r>
              <a:rPr>
                <a:latin typeface="Courier"/>
              </a:rPr>
              <a:t>  </a:t>
            </a:r>
            <a:r>
              <a:rPr>
                <a:solidFill>
                  <a:srgbClr val="06287E"/>
                </a:solidFill>
                <a:latin typeface="Courier"/>
              </a:rPr>
              <a:t>scale_fill_manual</a:t>
            </a:r>
            <a:r>
              <a:rPr>
                <a:latin typeface="Courier"/>
              </a:rPr>
              <a:t>(</a:t>
            </a:r>
            <a:r>
              <a:rPr>
                <a:solidFill>
                  <a:srgbClr val="7D9029"/>
                </a:solidFill>
                <a:latin typeface="Courier"/>
              </a:rPr>
              <a:t>values =</a:t>
            </a:r>
            <a:r>
              <a:rPr>
                <a:latin typeface="Courier"/>
              </a:rPr>
              <a:t> </a:t>
            </a:r>
            <a:r>
              <a:rPr>
                <a:solidFill>
                  <a:srgbClr val="06287E"/>
                </a:solidFill>
                <a:latin typeface="Courier"/>
              </a:rPr>
              <a:t>c</a:t>
            </a:r>
            <a:r>
              <a:rPr>
                <a:latin typeface="Courier"/>
              </a:rPr>
              <a:t>(</a:t>
            </a:r>
            <a:r>
              <a:rPr>
                <a:solidFill>
                  <a:srgbClr val="4070A0"/>
                </a:solidFill>
                <a:latin typeface="Courier"/>
              </a:rPr>
              <a:t>"Spin Down"</a:t>
            </a:r>
            <a:r>
              <a:rPr>
                <a:latin typeface="Courier"/>
              </a:rPr>
              <a:t> </a:t>
            </a:r>
            <a:r>
              <a:rPr>
                <a:solidFill>
                  <a:srgbClr val="007020"/>
                </a:solidFill>
                <a:latin typeface="Courier"/>
              </a:rPr>
              <a:t>=</a:t>
            </a:r>
            <a:r>
              <a:rPr>
                <a:latin typeface="Courier"/>
              </a:rPr>
              <a:t> </a:t>
            </a:r>
            <a:r>
              <a:rPr>
                <a:solidFill>
                  <a:srgbClr val="4070A0"/>
                </a:solidFill>
                <a:latin typeface="Courier"/>
              </a:rPr>
              <a:t>"firebrick"</a:t>
            </a:r>
            <a:r>
              <a:rPr>
                <a:latin typeface="Courier"/>
              </a:rPr>
              <a:t>, </a:t>
            </a:r>
            <a:r>
              <a:rPr>
                <a:solidFill>
                  <a:srgbClr val="4070A0"/>
                </a:solidFill>
                <a:latin typeface="Courier"/>
              </a:rPr>
              <a:t>"Spin Up"</a:t>
            </a:r>
            <a:r>
              <a:rPr>
                <a:latin typeface="Courier"/>
              </a:rPr>
              <a:t> </a:t>
            </a:r>
            <a:r>
              <a:rPr>
                <a:solidFill>
                  <a:srgbClr val="007020"/>
                </a:solidFill>
                <a:latin typeface="Courier"/>
              </a:rPr>
              <a:t>=</a:t>
            </a:r>
            <a:r>
              <a:rPr>
                <a:latin typeface="Courier"/>
              </a:rPr>
              <a:t> </a:t>
            </a:r>
            <a:r>
              <a:rPr>
                <a:solidFill>
                  <a:srgbClr val="4070A0"/>
                </a:solidFill>
                <a:latin typeface="Courier"/>
              </a:rPr>
              <a:t>"navy"</a:t>
            </a:r>
            <a:r>
              <a:rPr>
                <a:latin typeface="Courier"/>
              </a:rPr>
              <a:t>)) </a:t>
            </a:r>
            <a:r>
              <a:rPr>
                <a:solidFill>
                  <a:srgbClr val="4070A0"/>
                </a:solidFill>
                <a:latin typeface="Courier"/>
              </a:rPr>
              <a:t>+</a:t>
            </a:r>
            <a:br/>
            <a:r>
              <a:rPr>
                <a:latin typeface="Courier"/>
              </a:rPr>
              <a:t>  </a:t>
            </a:r>
            <a:r>
              <a:rPr>
                <a:solidFill>
                  <a:srgbClr val="06287E"/>
                </a:solidFill>
                <a:latin typeface="Courier"/>
              </a:rPr>
              <a:t>labs</a:t>
            </a:r>
            <a:r>
              <a:rPr>
                <a:latin typeface="Courier"/>
              </a:rPr>
              <a:t>(</a:t>
            </a:r>
            <a:br/>
            <a:r>
              <a:rPr>
                <a:latin typeface="Courier"/>
              </a:rPr>
              <a:t>    </a:t>
            </a:r>
            <a:r>
              <a:rPr>
                <a:solidFill>
                  <a:srgbClr val="7D9029"/>
                </a:solidFill>
                <a:latin typeface="Courier"/>
              </a:rPr>
              <a:t>title =</a:t>
            </a:r>
            <a:r>
              <a:rPr>
                <a:latin typeface="Courier"/>
              </a:rPr>
              <a:t> </a:t>
            </a:r>
            <a:r>
              <a:rPr>
                <a:solidFill>
                  <a:srgbClr val="4070A0"/>
                </a:solidFill>
                <a:latin typeface="Courier"/>
              </a:rPr>
              <a:t>"Boltzmann Distribution: The Tiny Excess"</a:t>
            </a:r>
            <a:r>
              <a:rPr>
                <a:latin typeface="Courier"/>
              </a:rPr>
              <a:t>,</a:t>
            </a:r>
            <a:br/>
            <a:r>
              <a:rPr>
                <a:latin typeface="Courier"/>
              </a:rPr>
              <a:t>    </a:t>
            </a:r>
            <a:r>
              <a:rPr>
                <a:solidFill>
                  <a:srgbClr val="7D9029"/>
                </a:solidFill>
                <a:latin typeface="Courier"/>
              </a:rPr>
              <a:t>subtitle =</a:t>
            </a:r>
            <a:r>
              <a:rPr>
                <a:latin typeface="Courier"/>
              </a:rPr>
              <a:t> </a:t>
            </a:r>
            <a:r>
              <a:rPr>
                <a:solidFill>
                  <a:srgbClr val="4070A0"/>
                </a:solidFill>
                <a:latin typeface="Courier"/>
              </a:rPr>
              <a:t>"At 1.5T, for every 1,000,000 protons, ~3 extra align with the field"</a:t>
            </a:r>
            <a:r>
              <a:rPr>
                <a:latin typeface="Courier"/>
              </a:rPr>
              <a:t>,</a:t>
            </a:r>
            <a:br/>
            <a:r>
              <a:rPr>
                <a:latin typeface="Courier"/>
              </a:rPr>
              <a:t>    </a:t>
            </a:r>
            <a:r>
              <a:rPr>
                <a:solidFill>
                  <a:srgbClr val="7D9029"/>
                </a:solidFill>
                <a:latin typeface="Courier"/>
              </a:rPr>
              <a:t>x =</a:t>
            </a:r>
            <a:r>
              <a:rPr>
                <a:latin typeface="Courier"/>
              </a:rPr>
              <a:t> </a:t>
            </a:r>
            <a:r>
              <a:rPr>
                <a:solidFill>
                  <a:srgbClr val="4070A0"/>
                </a:solidFill>
                <a:latin typeface="Courier"/>
              </a:rPr>
              <a:t>"Energy State"</a:t>
            </a:r>
            <a:r>
              <a:rPr>
                <a:latin typeface="Courier"/>
              </a:rPr>
              <a:t>,</a:t>
            </a:r>
            <a:br/>
            <a:r>
              <a:rPr>
                <a:latin typeface="Courier"/>
              </a:rPr>
              <a:t>    </a:t>
            </a:r>
            <a:r>
              <a:rPr>
                <a:solidFill>
                  <a:srgbClr val="7D9029"/>
                </a:solidFill>
                <a:latin typeface="Courier"/>
              </a:rPr>
              <a:t>y =</a:t>
            </a:r>
            <a:r>
              <a:rPr>
                <a:latin typeface="Courier"/>
              </a:rPr>
              <a:t> </a:t>
            </a:r>
            <a:r>
              <a:rPr>
                <a:solidFill>
                  <a:srgbClr val="4070A0"/>
                </a:solidFill>
                <a:latin typeface="Courier"/>
              </a:rPr>
              <a:t>"Number of Protons"</a:t>
            </a:r>
            <a:br/>
            <a:r>
              <a:rPr>
                <a:latin typeface="Courier"/>
              </a:rPr>
              <a:t>  ) </a:t>
            </a:r>
            <a:r>
              <a:rPr>
                <a:solidFill>
                  <a:srgbClr val="4070A0"/>
                </a:solidFill>
                <a:latin typeface="Courier"/>
              </a:rPr>
              <a:t>+</a:t>
            </a:r>
            <a:br/>
            <a:r>
              <a:rPr>
                <a:latin typeface="Courier"/>
              </a:rPr>
              <a:t>  </a:t>
            </a:r>
            <a:r>
              <a:rPr>
                <a:solidFill>
                  <a:srgbClr val="06287E"/>
                </a:solidFill>
                <a:latin typeface="Courier"/>
              </a:rPr>
              <a:t>theme_minimal</a:t>
            </a:r>
            <a:r>
              <a:rPr>
                <a:latin typeface="Courier"/>
              </a:rPr>
              <a:t>(</a:t>
            </a:r>
            <a:r>
              <a:rPr>
                <a:solidFill>
                  <a:srgbClr val="7D9029"/>
                </a:solidFill>
                <a:latin typeface="Courier"/>
              </a:rPr>
              <a:t>base_size =</a:t>
            </a:r>
            <a:r>
              <a:rPr>
                <a:latin typeface="Courier"/>
              </a:rPr>
              <a:t> </a:t>
            </a:r>
            <a:r>
              <a:rPr>
                <a:solidFill>
                  <a:srgbClr val="40A070"/>
                </a:solidFill>
                <a:latin typeface="Courier"/>
              </a:rPr>
              <a:t>15</a:t>
            </a:r>
            <a:r>
              <a:rPr>
                <a:latin typeface="Courier"/>
              </a:rPr>
              <a:t>) </a:t>
            </a:r>
            <a:r>
              <a:rPr>
                <a:solidFill>
                  <a:srgbClr val="4070A0"/>
                </a:solidFill>
                <a:latin typeface="Courier"/>
              </a:rPr>
              <a:t>+</a:t>
            </a:r>
            <a:br/>
            <a:r>
              <a:rPr>
                <a:latin typeface="Courier"/>
              </a:rPr>
              <a:t>  </a:t>
            </a:r>
            <a:r>
              <a:rPr>
                <a:solidFill>
                  <a:srgbClr val="06287E"/>
                </a:solidFill>
                <a:latin typeface="Courier"/>
              </a:rPr>
              <a:t>theme</a:t>
            </a:r>
            <a:r>
              <a:rPr>
                <a:latin typeface="Courier"/>
              </a:rPr>
              <a:t>(</a:t>
            </a:r>
            <a:br/>
            <a:r>
              <a:rPr>
                <a:latin typeface="Courier"/>
              </a:rPr>
              <a:t>    </a:t>
            </a:r>
            <a:r>
              <a:rPr>
                <a:solidFill>
                  <a:srgbClr val="7D9029"/>
                </a:solidFill>
                <a:latin typeface="Courier"/>
              </a:rPr>
              <a:t>plot.title =</a:t>
            </a:r>
            <a:r>
              <a:rPr>
                <a:latin typeface="Courier"/>
              </a:rPr>
              <a:t> </a:t>
            </a:r>
            <a:r>
              <a:rPr>
                <a:solidFill>
                  <a:srgbClr val="06287E"/>
                </a:solidFill>
                <a:latin typeface="Courier"/>
              </a:rPr>
              <a:t>element_text</a:t>
            </a:r>
            <a:r>
              <a:rPr>
                <a:latin typeface="Courier"/>
              </a:rPr>
              <a:t>(</a:t>
            </a:r>
            <a:r>
              <a:rPr>
                <a:solidFill>
                  <a:srgbClr val="7D9029"/>
                </a:solidFill>
                <a:latin typeface="Courier"/>
              </a:rPr>
              <a:t>hjust =</a:t>
            </a:r>
            <a:r>
              <a:rPr>
                <a:latin typeface="Courier"/>
              </a:rPr>
              <a:t> </a:t>
            </a:r>
            <a:r>
              <a:rPr>
                <a:solidFill>
                  <a:srgbClr val="40A070"/>
                </a:solidFill>
                <a:latin typeface="Courier"/>
              </a:rPr>
              <a:t>0.5</a:t>
            </a:r>
            <a:r>
              <a:rPr>
                <a:latin typeface="Courier"/>
              </a:rPr>
              <a:t>),</a:t>
            </a:r>
            <a:br/>
            <a:r>
              <a:rPr>
                <a:latin typeface="Courier"/>
              </a:rPr>
              <a:t>    </a:t>
            </a:r>
            <a:r>
              <a:rPr>
                <a:solidFill>
                  <a:srgbClr val="7D9029"/>
                </a:solidFill>
                <a:latin typeface="Courier"/>
              </a:rPr>
              <a:t>plot.subtitle =</a:t>
            </a:r>
            <a:r>
              <a:rPr>
                <a:latin typeface="Courier"/>
              </a:rPr>
              <a:t> </a:t>
            </a:r>
            <a:r>
              <a:rPr>
                <a:solidFill>
                  <a:srgbClr val="06287E"/>
                </a:solidFill>
                <a:latin typeface="Courier"/>
              </a:rPr>
              <a:t>element_text</a:t>
            </a:r>
            <a:r>
              <a:rPr>
                <a:latin typeface="Courier"/>
              </a:rPr>
              <a:t>(</a:t>
            </a:r>
            <a:r>
              <a:rPr>
                <a:solidFill>
                  <a:srgbClr val="7D9029"/>
                </a:solidFill>
                <a:latin typeface="Courier"/>
              </a:rPr>
              <a:t>hjust =</a:t>
            </a:r>
            <a:r>
              <a:rPr>
                <a:latin typeface="Courier"/>
              </a:rPr>
              <a:t> </a:t>
            </a:r>
            <a:r>
              <a:rPr>
                <a:solidFill>
                  <a:srgbClr val="40A070"/>
                </a:solidFill>
                <a:latin typeface="Courier"/>
              </a:rPr>
              <a:t>0.5</a:t>
            </a:r>
            <a:r>
              <a:rPr>
                <a:latin typeface="Courier"/>
              </a:rPr>
              <a:t>),</a:t>
            </a:r>
            <a:br/>
            <a:r>
              <a:rPr>
                <a:latin typeface="Courier"/>
              </a:rPr>
              <a:t>    </a:t>
            </a:r>
            <a:r>
              <a:rPr>
                <a:solidFill>
                  <a:srgbClr val="7D9029"/>
                </a:solidFill>
                <a:latin typeface="Courier"/>
              </a:rPr>
              <a:t>legend.position =</a:t>
            </a:r>
            <a:r>
              <a:rPr>
                <a:latin typeface="Courier"/>
              </a:rPr>
              <a:t> </a:t>
            </a:r>
            <a:r>
              <a:rPr>
                <a:solidFill>
                  <a:srgbClr val="4070A0"/>
                </a:solidFill>
                <a:latin typeface="Courier"/>
              </a:rPr>
              <a:t>"none"</a:t>
            </a:r>
            <a:br/>
            <a:r>
              <a:rPr>
                <a:latin typeface="Courier"/>
              </a:rPr>
              <a:t>  )</a:t>
            </a:r>
          </a:p>
        </p:txBody>
      </p:sp>
      <p:pic>
        <p:nvPicPr>
          <p:cNvPr descr="MRI_Physics_I_files/figure-pptx/boltzmann_code-1.pn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Visual: Boltzmann Polarization</a:t>
            </a:r>
          </a:p>
        </p:txBody>
      </p:sp>
      <p:pic>
        <p:nvPicPr>
          <p:cNvPr descr="MRI_Physics_I_files/figure-pptx/boltzmann_plot-1.png" id="0" name="Picture 1"/>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Visual: Zooming In on the Excess</a:t>
            </a:r>
          </a:p>
        </p:txBody>
      </p:sp>
      <p:pic>
        <p:nvPicPr>
          <p:cNvPr descr="MRI_Physics_I_files/figure-pptx/boltzmann_zoom_plot-1.png" id="0" name="Picture 1"/>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Hyperpolarization (Breaking the Limit)</a:t>
            </a:r>
          </a:p>
        </p:txBody>
      </p:sp>
      <p:sp>
        <p:nvSpPr>
          <p:cNvPr id="3" name="Content Placeholder 2"/>
          <p:cNvSpPr>
            <a:spLocks noGrp="1"/>
          </p:cNvSpPr>
          <p:nvPr>
            <p:ph idx="1"/>
          </p:nvPr>
        </p:nvSpPr>
        <p:spPr/>
        <p:txBody>
          <a:bodyPr/>
          <a:lstStyle/>
          <a:p>
            <a:pPr lvl="0"/>
            <a:r>
              <a:rPr b="1"/>
              <a:t>Thermal Equilibrium:</a:t>
            </a:r>
            <a:r>
              <a:rPr/>
              <a:t> Limited by Boltzmann’s law (low signal).</a:t>
            </a:r>
          </a:p>
          <a:p>
            <a:pPr lvl="0"/>
            <a:r>
              <a:rPr b="1"/>
              <a:t>Hyperpolarization:</a:t>
            </a:r>
            <a:r>
              <a:rPr/>
              <a:t> Techniques to align up to 50% of spins (vs. 0.0003%).</a:t>
            </a:r>
          </a:p>
          <a:p>
            <a:pPr lvl="0"/>
            <a:r>
              <a:rPr b="1"/>
              <a:t>Applications:</a:t>
            </a:r>
            <a:r>
              <a:rPr/>
              <a:t> Inhaled noble gases (He-3, Xe-129) to image lung function and ventilation.</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Looking Ahead: Spatial Encoding</a:t>
            </a:r>
          </a:p>
        </p:txBody>
      </p:sp>
      <p:sp>
        <p:nvSpPr>
          <p:cNvPr id="3" name="Content Placeholder 2"/>
          <p:cNvSpPr>
            <a:spLocks noGrp="1"/>
          </p:cNvSpPr>
          <p:nvPr>
            <p:ph idx="1"/>
          </p:nvPr>
        </p:nvSpPr>
        <p:spPr/>
        <p:txBody>
          <a:bodyPr/>
          <a:lstStyle/>
          <a:p>
            <a:pPr lvl="0"/>
            <a:r>
              <a:rPr/>
              <a:t>Summary: We understand signal generation and contrast (T1/T2).</a:t>
            </a:r>
          </a:p>
          <a:p>
            <a:pPr lvl="0"/>
            <a:r>
              <a:rPr/>
              <a:t>Next Challenge: How do we know </a:t>
            </a:r>
            <a:r>
              <a:rPr i="1"/>
              <a:t>where</a:t>
            </a:r>
            <a:r>
              <a:rPr/>
              <a:t> the signal is coming from?.</a:t>
            </a:r>
          </a:p>
          <a:p>
            <a:pPr lvl="0"/>
            <a:r>
              <a:rPr b="1"/>
              <a:t>Preview:</a:t>
            </a:r>
            <a:r>
              <a:rPr/>
              <a:t> Part 2 will cover Gradients, K-Space, and Fourier Transforms.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MRI Physics I: The Fundamentals of Nuclear Magnetic Resonance</dc:title>
  <dc:creator>Professor Jules</dc:creator>
  <cp:keywords/>
  <dcterms:created xsi:type="dcterms:W3CDTF">2025-12-18T14:47:24Z</dcterms:created>
  <dcterms:modified xsi:type="dcterms:W3CDTF">2025-12-18T14:47:24Z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2025-12-18</vt:lpwstr>
  </property>
  <property fmtid="{D5CDD505-2E9C-101B-9397-08002B2CF9AE}" pid="3" name="output">
    <vt:lpwstr>powerpoint_presentation</vt:lpwstr>
  </property>
</Properties>
</file>